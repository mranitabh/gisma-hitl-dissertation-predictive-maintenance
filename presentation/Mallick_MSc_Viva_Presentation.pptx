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Presentation" id="{f4c8bd60-1c6b-11c6-8eaf-94f3b4441c03}">
          <p14:sldIdLst>
            <p14:sldId id="256"/>
            <p14:sldId id="257"/>
            <p14:sldId id="258"/>
            <p14:sldId id="259"/>
            <p14:sldId id="260"/>
            <p14:sldId id="261"/>
            <p14:sldId id="262"/>
            <p14:sldId id="263"/>
            <p14:sldId id="264"/>
            <p14:sldId id="265"/>
            <p14:sldId id="266"/>
            <p14:sldId id="267"/>
          </p14:sldIdLst>
        </p14:section>
        <p14:section name="Backup Slides" id="{5a578f25-1059-a0e0-98f3-dd173133b673}">
          <p14:sldIdLst>
            <p14:sldId id="268"/>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A6A7E"/>
                </a:solidFill>
                <a:latin typeface="+mn-lt"/>
              </a:defRPr>
            </a:pPr>
            <a:r>
              <a:rPr sz="1100" b="0" i="0" u="none" strike="noStrike">
                <a:solidFill>
                  <a:srgbClr val="5A6A7E"/>
                </a:solidFill>
                <a:latin typeface="+mn-lt"/>
              </a:rPr>
              <a:t>Mean engine RMSE (cycles)</a:t>
            </a:r>
          </a:p>
        </c:rich>
      </c:tx>
      <c:layout/>
      <c:overlay val="0"/>
    </c:title>
    <c:autoTitleDeleted val="0"/>
    <c:plotArea>
      <c:layout/>
      <c:barChart>
        <c:barDir val="bar"/>
        <c:grouping val="clustered"/>
        <c:varyColors val="0"/>
        <c:ser>
          <c:idx val="0"/>
          <c:order val="0"/>
          <c:tx>
            <c:strRef>
              <c:f>Sheet1!$B$1</c:f>
              <c:strCache>
                <c:ptCount val="1"/>
                <c:pt idx="0">
                  <c:v>RMSE</c:v>
                </c:pt>
              </c:strCache>
            </c:strRef>
          </c:tx>
          <c:spPr>
            <a:solidFill>
              <a:srgbClr val="0891B2"/>
            </a:solidFill>
            <a:effectLst/>
          </c:spPr>
          <c:invertIfNegative val="0"/>
          <c:dLbls>
            <c:numFmt formatCode="0.000" sourceLinked="0"/>
            <c:txPr>
              <a:bodyPr/>
              <a:lstStyle/>
              <a:p>
                <a:pPr>
                  <a:defRPr b="0" i="0" strike="noStrike" sz="1100" u="none">
                    <a:solidFill>
                      <a:srgbClr val="1A2332"/>
                    </a:solidFill>
                    <a:latin typeface="+mn-lt"/>
                  </a:defRPr>
                </a:pPr>
              </a:p>
            </c:txPr>
            <c:showLegendKey val="0"/>
            <c:showVal val="1"/>
            <c:showCatName val="0"/>
            <c:showSerName val="0"/>
            <c:showPercent val="0"/>
            <c:showBubbleSize val="0"/>
            <c:showLeaderLines val="0"/>
          </c:dLbls>
          <c:cat>
            <c:multiLvlStrRef>
              <c:f>Sheet1!$A$2:$A$5</c:f>
              <c:multiLvlStrCache>
                <c:ptCount val="4"/>
                <c:lvl>
                  <c:pt idx="0">
                    <c:v>Random Forest</c:v>
                  </c:pt>
                  <c:pt idx="1">
                    <c:v>Naive age-only</c:v>
                  </c:pt>
                  <c:pt idx="2">
                    <c:v>XGBoost</c:v>
                  </c:pt>
                  <c:pt idx="3">
                    <c:v>Ridge</c:v>
                  </c:pt>
                </c:lvl>
              </c:multiLvlStrCache>
            </c:multiLvlStrRef>
          </c:cat>
          <c:val>
            <c:numRef>
              <c:f>Sheet1!$B$2:$B$5</c:f>
              <c:numCache>
                <c:formatCode>General</c:formatCode>
                <c:ptCount val="4"/>
                <c:pt idx="0">
                  <c:v>29.479</c:v>
                </c:pt>
                <c:pt idx="1">
                  <c:v>29.556</c:v>
                </c:pt>
                <c:pt idx="2">
                  <c:v>31.156</c:v>
                </c:pt>
                <c:pt idx="3">
                  <c:v>31.516</c:v>
                </c:pt>
              </c:numCache>
            </c:numRef>
          </c:val>
        </c:ser>
        <c:dLbls>
          <c:numFmt formatCode="0.000" sourceLinked="0"/>
          <c:txPr>
            <a:bodyPr/>
            <a:lstStyle/>
            <a:p>
              <a:pPr>
                <a:defRPr b="0" i="0" strike="noStrike" sz="1100" u="none">
                  <a:solidFill>
                    <a:srgbClr val="1A233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A2332"/>
                </a:solidFill>
                <a:latin typeface="Arial"/>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A6A7E"/>
                </a:solidFill>
                <a:latin typeface="+mn-lt"/>
              </a:defRPr>
            </a:pPr>
            <a:r>
              <a:rPr sz="1100" b="0" i="0" u="none" strike="noStrike">
                <a:solidFill>
                  <a:srgbClr val="5A6A7E"/>
                </a:solidFill>
                <a:latin typeface="+mn-lt"/>
              </a:rPr>
              <a:t>Mean PHM penalty</a:t>
            </a:r>
          </a:p>
        </c:rich>
      </c:tx>
      <c:layout/>
      <c:overlay val="0"/>
    </c:title>
    <c:autoTitleDeleted val="0"/>
    <c:plotArea>
      <c:layout/>
      <c:barChart>
        <c:barDir val="bar"/>
        <c:grouping val="clustered"/>
        <c:varyColors val="0"/>
        <c:ser>
          <c:idx val="0"/>
          <c:order val="0"/>
          <c:tx>
            <c:strRef>
              <c:f>Sheet1!$B$1</c:f>
              <c:strCache>
                <c:ptCount val="1"/>
                <c:pt idx="0">
                  <c:v>PHM</c:v>
                </c:pt>
              </c:strCache>
            </c:strRef>
          </c:tx>
          <c:spPr>
            <a:solidFill>
              <a:srgbClr val="0891B2"/>
            </a:solidFill>
            <a:effectLst/>
          </c:spPr>
          <c:invertIfNegative val="0"/>
          <c:dLbls>
            <c:numFmt formatCode="0.0" sourceLinked="0"/>
            <c:txPr>
              <a:bodyPr/>
              <a:lstStyle/>
              <a:p>
                <a:pPr>
                  <a:defRPr b="0" i="0" strike="noStrike" sz="1100" u="none">
                    <a:solidFill>
                      <a:srgbClr val="1A2332"/>
                    </a:solidFill>
                    <a:latin typeface="+mn-lt"/>
                  </a:defRPr>
                </a:pPr>
              </a:p>
            </c:txPr>
            <c:showLegendKey val="0"/>
            <c:showVal val="1"/>
            <c:showCatName val="0"/>
            <c:showSerName val="0"/>
            <c:showPercent val="0"/>
            <c:showBubbleSize val="0"/>
            <c:showLeaderLines val="0"/>
          </c:dLbls>
          <c:cat>
            <c:multiLvlStrRef>
              <c:f>Sheet1!$A$2:$A$5</c:f>
              <c:multiLvlStrCache>
                <c:ptCount val="4"/>
                <c:lvl>
                  <c:pt idx="0">
                    <c:v>Random Forest</c:v>
                  </c:pt>
                  <c:pt idx="1">
                    <c:v>Naive age-only</c:v>
                  </c:pt>
                  <c:pt idx="2">
                    <c:v>XGBoost</c:v>
                  </c:pt>
                  <c:pt idx="3">
                    <c:v>Ridge</c:v>
                  </c:pt>
                </c:lvl>
              </c:multiLvlStrCache>
            </c:multiLvlStrRef>
          </c:cat>
          <c:val>
            <c:numRef>
              <c:f>Sheet1!$B$2:$B$5</c:f>
              <c:numCache>
                <c:formatCode>General</c:formatCode>
                <c:ptCount val="4"/>
                <c:pt idx="0">
                  <c:v>83.67</c:v>
                </c:pt>
                <c:pt idx="1">
                  <c:v>156.44</c:v>
                </c:pt>
                <c:pt idx="2">
                  <c:v>101.15</c:v>
                </c:pt>
                <c:pt idx="3">
                  <c:v>157.53</c:v>
                </c:pt>
              </c:numCache>
            </c:numRef>
          </c:val>
        </c:ser>
        <c:dLbls>
          <c:numFmt formatCode="0.0" sourceLinked="0"/>
          <c:txPr>
            <a:bodyPr/>
            <a:lstStyle/>
            <a:p>
              <a:pPr>
                <a:defRPr b="0" i="0" strike="noStrike" sz="1100" u="none">
                  <a:solidFill>
                    <a:srgbClr val="1A233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A2332"/>
                </a:solidFill>
                <a:latin typeface="Arial"/>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5A6A7E"/>
                </a:solidFill>
                <a:latin typeface="+mn-lt"/>
              </a:defRPr>
            </a:pPr>
            <a:r>
              <a:rPr sz="1000" b="0" i="0" u="none" strike="noStrike">
                <a:solidFill>
                  <a:srgbClr val="5A6A7E"/>
                </a:solidFill>
                <a:latin typeface="+mn-lt"/>
              </a:rPr>
              <a:t>Mean bias by true-RUL group (cycles, +ve = optimistic)</a:t>
            </a:r>
          </a:p>
        </c:rich>
      </c:tx>
      <c:layout/>
      <c:overlay val="0"/>
    </c:title>
    <c:autoTitleDeleted val="0"/>
    <c:plotArea>
      <c:layout/>
      <c:barChart>
        <c:barDir val="bar"/>
        <c:grouping val="clustered"/>
        <c:varyColors val="0"/>
        <c:ser>
          <c:idx val="0"/>
          <c:order val="0"/>
          <c:tx>
            <c:strRef>
              <c:f>Sheet1!$B$1</c:f>
              <c:strCache>
                <c:ptCount val="1"/>
                <c:pt idx="0">
                  <c:v>Bias</c:v>
                </c:pt>
              </c:strCache>
            </c:strRef>
          </c:tx>
          <c:spPr>
            <a:solidFill>
              <a:srgbClr val="DC2626"/>
            </a:solidFill>
            <a:effectLst/>
          </c:spPr>
          <c:invertIfNegative val="0"/>
          <c:dLbls>
            <c:numFmt formatCode="+0.00" sourceLinked="0"/>
            <c:txPr>
              <a:bodyPr/>
              <a:lstStyle/>
              <a:p>
                <a:pPr>
                  <a:defRPr b="0" i="0" strike="noStrike" sz="1000" u="none">
                    <a:solidFill>
                      <a:srgbClr val="1A2332"/>
                    </a:solidFill>
                    <a:latin typeface="+mn-lt"/>
                  </a:defRPr>
                </a:pPr>
              </a:p>
            </c:txPr>
            <c:showLegendKey val="0"/>
            <c:showVal val="1"/>
            <c:showCatName val="0"/>
            <c:showSerName val="0"/>
            <c:showPercent val="0"/>
            <c:showBubbleSize val="0"/>
            <c:showLeaderLines val="0"/>
          </c:dLbls>
          <c:cat>
            <c:multiLvlStrRef>
              <c:f>Sheet1!$A$2:$A$5</c:f>
              <c:multiLvlStrCache>
                <c:ptCount val="4"/>
                <c:lvl>
                  <c:pt idx="0">
                    <c:v>Critical 0–30 (n=25)</c:v>
                  </c:pt>
                  <c:pt idx="1">
                    <c:v>Near-term 31–60 (n=14)</c:v>
                  </c:pt>
                  <c:pt idx="2">
                    <c:v>Mid-life 61–130 (n=53)</c:v>
                  </c:pt>
                  <c:pt idx="3">
                    <c:v>Early &gt;130 (n=8)</c:v>
                  </c:pt>
                </c:lvl>
              </c:multiLvlStrCache>
            </c:multiLvlStrRef>
          </c:cat>
          <c:val>
            <c:numRef>
              <c:f>Sheet1!$B$2:$B$5</c:f>
              <c:numCache>
                <c:formatCode>General</c:formatCode>
                <c:ptCount val="4"/>
                <c:pt idx="0">
                  <c:v>8.97</c:v>
                </c:pt>
                <c:pt idx="1">
                  <c:v>3.95</c:v>
                </c:pt>
                <c:pt idx="2">
                  <c:v>15.2</c:v>
                </c:pt>
                <c:pt idx="3">
                  <c:v>0.53</c:v>
                </c:pt>
              </c:numCache>
            </c:numRef>
          </c:val>
        </c:ser>
        <c:dLbls>
          <c:numFmt formatCode="+0.00" sourceLinked="0"/>
          <c:txPr>
            <a:bodyPr/>
            <a:lstStyle/>
            <a:p>
              <a:pPr>
                <a:defRPr b="0" i="0" strike="noStrike" sz="1000" u="none">
                  <a:solidFill>
                    <a:srgbClr val="1A233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2332"/>
                </a:solidFill>
                <a:latin typeface="Arial"/>
              </a:defRPr>
            </a:pPr>
            <a:endParaRPr lang="en-US"/>
          </a:p>
        </c:txPr>
        <c:crossAx val="2094734552"/>
        <c:crosses val="autoZero"/>
        <c:auto val="1"/>
        <c:lblAlgn val="ctr"/>
        <c:noMultiLvlLbl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A6A7E"/>
                </a:solidFill>
                <a:latin typeface="+mn-lt"/>
              </a:defRPr>
            </a:pPr>
            <a:r>
              <a:rPr sz="1100" b="0" i="0" u="none" strike="noStrike">
                <a:solidFill>
                  <a:srgbClr val="5A6A7E"/>
                </a:solidFill>
                <a:latin typeface="+mn-lt"/>
              </a:rPr>
              <a:t>Mean |SHAP| at 100 official endpoints (cycles, top 7)</a:t>
            </a:r>
          </a:p>
        </c:rich>
      </c:tx>
      <c:layout/>
      <c:overlay val="0"/>
    </c:title>
    <c:autoTitleDeleted val="0"/>
    <c:plotArea>
      <c:layout/>
      <c:barChart>
        <c:barDir val="bar"/>
        <c:grouping val="clustered"/>
        <c:varyColors val="0"/>
        <c:ser>
          <c:idx val="0"/>
          <c:order val="0"/>
          <c:tx>
            <c:strRef>
              <c:f>Sheet1!$B$1</c:f>
              <c:strCache>
                <c:ptCount val="1"/>
                <c:pt idx="0">
                  <c:v>Mean |SHAP|</c:v>
                </c:pt>
              </c:strCache>
            </c:strRef>
          </c:tx>
          <c:spPr>
            <a:solidFill>
              <a:srgbClr val="0891B2"/>
            </a:solidFill>
            <a:effectLst/>
          </c:spPr>
          <c:invertIfNegative val="0"/>
          <c:dLbls>
            <c:numFmt formatCode="0.00" sourceLinked="0"/>
            <c:txPr>
              <a:bodyPr/>
              <a:lstStyle/>
              <a:p>
                <a:pPr>
                  <a:defRPr b="0" i="0" strike="noStrike" sz="1000" u="none">
                    <a:solidFill>
                      <a:srgbClr val="1A2332"/>
                    </a:solidFill>
                    <a:latin typeface="+mn-lt"/>
                  </a:defRPr>
                </a:pPr>
              </a:p>
            </c:txPr>
            <c:showLegendKey val="0"/>
            <c:showVal val="1"/>
            <c:showCatName val="0"/>
            <c:showSerName val="0"/>
            <c:showPercent val="0"/>
            <c:showBubbleSize val="0"/>
            <c:showLeaderLines val="0"/>
          </c:dLbls>
          <c:cat>
            <c:multiLvlStrRef>
              <c:f>Sheet1!$A$2:$A$8</c:f>
              <c:multiLvlStrCache>
                <c:ptCount val="7"/>
                <c:lvl>
                  <c:pt idx="0">
                    <c:v>Age (cycles)</c:v>
                  </c:pt>
                  <c:pt idx="1">
                    <c:v>s11 Ps30 HPC static P</c:v>
                  </c:pt>
                  <c:pt idx="2">
                    <c:v>s4 T50 LPT temp</c:v>
                  </c:pt>
                  <c:pt idx="3">
                    <c:v>s9 Nc core speed</c:v>
                  </c:pt>
                  <c:pt idx="4">
                    <c:v>s14 NRc corr. core speed</c:v>
                  </c:pt>
                  <c:pt idx="5">
                    <c:v>s12 phi</c:v>
                  </c:pt>
                  <c:pt idx="6">
                    <c:v>s7 P30 HPC pressure</c:v>
                  </c:pt>
                </c:lvl>
              </c:multiLvlStrCache>
            </c:multiLvlStrRef>
          </c:cat>
          <c:val>
            <c:numRef>
              <c:f>Sheet1!$B$2:$B$8</c:f>
              <c:numCache>
                <c:formatCode>General</c:formatCode>
                <c:ptCount val="7"/>
                <c:pt idx="0">
                  <c:v>24.76</c:v>
                </c:pt>
                <c:pt idx="1">
                  <c:v>12.87</c:v>
                </c:pt>
                <c:pt idx="2">
                  <c:v>7.45</c:v>
                </c:pt>
                <c:pt idx="3">
                  <c:v>6.05</c:v>
                </c:pt>
                <c:pt idx="4">
                  <c:v>5.3</c:v>
                </c:pt>
                <c:pt idx="5">
                  <c:v>4.39</c:v>
                </c:pt>
                <c:pt idx="6">
                  <c:v>3.59</c:v>
                </c:pt>
              </c:numCache>
            </c:numRef>
          </c:val>
        </c:ser>
        <c:dLbls>
          <c:numFmt formatCode="0.00" sourceLinked="0"/>
          <c:txPr>
            <a:bodyPr/>
            <a:lstStyle/>
            <a:p>
              <a:pPr>
                <a:defRPr b="0" i="0" strike="noStrike" sz="1000" u="none">
                  <a:solidFill>
                    <a:srgbClr val="1A233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A2332"/>
                </a:solidFill>
                <a:latin typeface="Arial"/>
              </a:defRPr>
            </a:pPr>
            <a:endParaRPr lang="en-US"/>
          </a:p>
        </c:txPr>
        <c:crossAx val="2094734552"/>
        <c:crosses val="autoZero"/>
        <c:auto val="1"/>
        <c:lblAlgn val="ctr"/>
        <c:noMultiLvlLbl val="1"/>
      </c:catAx>
      <c:valAx>
        <c:axId val="2094734552"/>
        <c:scaling>
          <c:orientation val="minMax"/>
          <c:max val="29"/>
          <c:min val="0"/>
        </c:scaling>
        <c:delete val="1"/>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A6A7E"/>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My name is Ranitabh Mallick. The research question in one sentence: Can we move beyond a bare RUL number to give a maintenance reviewer uncertainty, explanation and a structured decision path — and what does that cost? [15s]
EXAMINER Q: Why FD001? A: FD001 is a controlled single-fault benchmark isolating framework behaviour without confounding operational variability.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a maintenance planner told 'this engine has 45 cycles left'. They have no idea how confident that number is, cannot see which sensors drove it, and have no structured way to override it. That is the gap. Notably, the naive age-only baseline scored within 0.077 RMSE of Random Forest on validation — the model's value lies in what you build on top. [35s]
EXAMINER Q: Why not Bayesian uncertainty? A: Conformal prediction offers finite-sample coverage without parametric assumptions. Trade-offs discussed in Chapter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literature shows many RUL models on C-MAPSS but three persistent gaps. First, row-random splits leak future sensor values. Second, uncertainty and explanation are studied in isolation. Third, accountability is discussed but rarely implemented. My contribution integrates all six. [30s]
EXAMINER Q: This is not a systematic review — how do you know the gap is real? A: Targeted narrative review. Gap is supported by Table 3.1 sources and the absence of an integrated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100 simulated turbofan engines under one operating condition with one HPC fault mode. I partitioned by engine — 60 modelling, 20 validation, 20 calibration — preventing leakage. Uncapped RUL is primary. 100 official endpoints opened once after all policies frozen. [45s]
EXAMINER Q: Why not stratified splits? A: With 100 engines and one fault mode, stratification creates thin strata. Fixed-seed shuffle is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candidates compared. RF and naive were practically equivalent — Δ=0.077. PHM penalty tie-break selected RF. I am not claiming a dramatic accuracy advantage — the model's value is the structure it enables. [50s]
EXAMINER Q: Why not deep learning? A: Tree ensembles match deep models on tabular data (Grinsztajn et al., 2022). Interpretable pipeline was a design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Engine-block conformal: max absolute residual per calibration engine, 90th percentile rank → q̂=107.90. Coverage 100/100 but mean width 182.46 and 63% lower bounds clipped to zero. Conservative by design. [50s]
EXAMINER Q: Is exchangeability valid? A: For i.i.d. simulated units, yes. Real fleet data would need scrutiny.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Official results: MAE 18.88, RMSE 25.73, +10.90 bias — systematic overestimation, the dangerous direction. Naive endpoint MAE of 30.88 is post-closure. Mid-life engines showed +15.20 peak bias. [55s]
EXAMINER Q: +10.90 bias is unsafe? A: This is precisely why the conformal interval and offline guard exist. The bias is measured and disclosed.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ablation: removing age +24.5% RMSE; removing sensors 9/14 −4%. Conformal: narrower scores narrowed mean width 42–45% but fully covered only 8/20 validation trajectories and 96/100 endpoints. [35s]
EXAMINER Q: Why not retune after ablation? A: Ablation isolates the component effect. Retuning would confound.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TreeSHAP decomposed 100 endpoints. Age ranked first. Engine 41 case: core-speed counteracted degradation signals. SHAP supports audit but not causation. [40s]
EXAMINER Q: How do you know SHAP is faithful? A: Additivity verified — baseline plus contributions reconstruct each prediction. TreeSHAP is exact.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 practical result. Point: 62 correct, 34 under-triaged, 9/25 truly CRITICAL missed. Guard: 39/39 caught at 81% review. 47 of 81 from interval alone. Validation rows: 2,578/4,217 referred — repeated measurements, not independent. [65s]
EXAMINER Q: 81% review rate defeats purpose? A: Yes, measured limitation. Narrower valid intervals would reduce it —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22-node n8n workflow. Fixed payload, not live. Deterministic policy before LLM. APPROVE/REJECT/MODIFY. 4 audit records. Offline guard NOT in n8n. No certification claim. [75s]
EXAMINER Q: Just a demo — how does it contribute? A: Evaluated design: deterministic policy before narration, human authority, audit trail. Field effectiveness requires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conclusions: (1) Rigorous evaluation — near-tie is honest. (2) Coverage at scheduling cost — 182-cycle width. (3) Implementable human review — 39/39 at 81% burden. Future: multi-regime data, narrower intervals, live feeds, usability studies. Thank you. [45s]
EXAMINER Q: Most important finding? A: Uncertainty integrated with triage catches all critical cases point prediction misses — at a measured, currently high review cost. Measuring that cost is the contribution.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Research question to evidence mapping.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Detailed partition design and leakage prevention.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Frozen hyperparameters for all four candidate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Detailed conformal score computation and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Triage class definitions and metric denominators.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n8n workflow topology and audit record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Standards used as design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Complete limitations from Table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6309360"/>
            <a:ext cx="12191695" cy="548640"/>
          </a:xfrm>
          <a:prstGeom prst="rect">
            <a:avLst/>
          </a:prstGeom>
          <a:solidFill>
            <a:srgbClr val="0891B2">
              <a:alpha val="20000"/>
            </a:srgbClr>
          </a:solidFill>
          <a:ln/>
        </p:spPr>
      </p:sp>
      <p:sp>
        <p:nvSpPr>
          <p:cNvPr id="25" name="Slide Number Placeholder 0"/>
          <p:cNvSpPr>
            <a:spLocks noGrp="1"/>
          </p:cNvSpPr>
          <p:nvPr>
            <p:ph type="sldNum" sz="quarter" idx="4294967295"/>
          </p:nvPr>
        </p:nvSpPr>
        <p:spPr>
          <a:xfrm>
            <a:off x="1143000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FFFFFF"/>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WHIT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891B2"/>
          </a:solidFill>
          <a:ln/>
        </p:spPr>
      </p:sp>
      <p:sp>
        <p:nvSpPr>
          <p:cNvPr id="25" name="Slide Number Placeholder 0"/>
          <p:cNvSpPr>
            <a:spLocks noGrp="1"/>
          </p:cNvSpPr>
          <p:nvPr>
            <p:ph type="sldNum" sz="quarter" idx="4294967295"/>
          </p:nvPr>
        </p:nvSpPr>
        <p:spPr>
          <a:xfrm>
            <a:off x="1143000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6A7E"/>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ACKUP_WHIT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D97706"/>
          </a:solidFill>
          <a:ln/>
        </p:spPr>
      </p:sp>
      <p:sp>
        <p:nvSpPr>
          <p:cNvPr id="3" name="Text 1"/>
          <p:cNvSpPr txBox="1"/>
          <p:nvPr/>
        </p:nvSpPr>
        <p:spPr>
          <a:xfrm>
            <a:off x="10515600" y="228600"/>
            <a:ext cx="1371600" cy="274320"/>
          </a:xfrm>
          <a:prstGeom prst="rect">
            <a:avLst/>
          </a:prstGeom>
          <a:noFill/>
          <a:ln/>
        </p:spPr>
        <p:txBody>
          <a:bodyPr wrap="square" rtlCol="0" anchor="ctr"/>
          <a:lstStyle/>
          <a:p>
            <a:pPr algn="r" indent="0" marL="0">
              <a:buNone/>
            </a:pPr>
            <a:r>
              <a:rPr lang="en-US" sz="900" b="1" dirty="0">
                <a:solidFill>
                  <a:srgbClr val="D97706"/>
                </a:solidFill>
              </a:rPr>
              <a:t>BACKUP</a:t>
            </a:r>
            <a:endParaRPr lang="en-US" sz="900" dirty="0"/>
          </a:p>
        </p:txBody>
      </p:sp>
      <p:sp>
        <p:nvSpPr>
          <p:cNvPr id="25" name="Slide Number Placeholder 0"/>
          <p:cNvSpPr>
            <a:spLocks noGrp="1"/>
          </p:cNvSpPr>
          <p:nvPr>
            <p:ph type="sldNum" sz="quarter" idx="4294967295"/>
          </p:nvPr>
        </p:nvSpPr>
        <p:spPr>
          <a:xfrm>
            <a:off x="1143000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6A7E"/>
                </a:solidFil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891B2"/>
          </a:solidFill>
          <a:ln/>
        </p:spPr>
      </p:sp>
      <p:sp>
        <p:nvSpPr>
          <p:cNvPr id="25" name="Slide Number Placeholder 0"/>
          <p:cNvSpPr>
            <a:spLocks noGrp="1"/>
          </p:cNvSpPr>
          <p:nvPr>
            <p:ph type="sldNum" sz="quarter" idx="4294967295"/>
          </p:nvPr>
        </p:nvSpPr>
        <p:spPr>
          <a:xfrm>
            <a:off x="1143000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FFFFFF"/>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FFFFFF"/>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731520"/>
            <a:ext cx="7315200" cy="320040"/>
          </a:xfrm>
          <a:prstGeom prst="rect">
            <a:avLst/>
          </a:prstGeom>
          <a:noFill/>
          <a:ln/>
        </p:spPr>
        <p:txBody>
          <a:bodyPr wrap="square" lIns="0" tIns="0" rIns="0" bIns="0" rtlCol="0" anchor="ctr"/>
          <a:lstStyle/>
          <a:p>
            <a:pPr indent="0" marL="0">
              <a:buNone/>
            </a:pPr>
            <a:r>
              <a:rPr lang="en-US" sz="1100" b="1" dirty="0">
                <a:solidFill>
                  <a:srgbClr val="0891B2"/>
                </a:solidFill>
              </a:rPr>
              <a:t>MSc DISSERTATION VIVA  ·  MODULE M598</a:t>
            </a:r>
            <a:endParaRPr lang="en-US" sz="1100" dirty="0"/>
          </a:p>
        </p:txBody>
      </p:sp>
      <p:sp>
        <p:nvSpPr>
          <p:cNvPr id="3" name="Text 1"/>
          <p:cNvSpPr txBox="1"/>
          <p:nvPr/>
        </p:nvSpPr>
        <p:spPr>
          <a:xfrm>
            <a:off x="731520" y="1371600"/>
            <a:ext cx="7315200" cy="2743200"/>
          </a:xfrm>
          <a:prstGeom prst="rect">
            <a:avLst/>
          </a:prstGeom>
          <a:noFill/>
          <a:ln/>
        </p:spPr>
        <p:txBody>
          <a:bodyPr wrap="square" lIns="0" tIns="0" rIns="0" bIns="0" rtlCol="0" anchor="ctr"/>
          <a:lstStyle/>
          <a:p>
            <a:pPr indent="0" marL="0">
              <a:lnSpc>
                <a:spcPct val="110000"/>
              </a:lnSpc>
              <a:buNone/>
            </a:pPr>
            <a:r>
              <a:rPr lang="en-US" sz="3000" b="1" dirty="0">
                <a:solidFill>
                  <a:srgbClr val="FFFFFF"/>
                </a:solidFill>
              </a:rPr>
              <a:t>An Uncertainty-Aware, Explainable</a:t>
            </a:r>
            <a:endParaRPr lang="en-US" sz="3000" dirty="0"/>
          </a:p>
          <a:p>
            <a:pPr indent="0" marL="0">
              <a:lnSpc>
                <a:spcPct val="110000"/>
              </a:lnSpc>
              <a:buNone/>
            </a:pPr>
            <a:r>
              <a:rPr lang="en-US" sz="3000" b="1" dirty="0">
                <a:solidFill>
                  <a:srgbClr val="FFFFFF"/>
                </a:solidFill>
              </a:rPr>
              <a:t>and Human-Reviewed Framework for</a:t>
            </a:r>
            <a:endParaRPr lang="en-US" sz="3000" dirty="0"/>
          </a:p>
          <a:p>
            <a:pPr indent="0" marL="0">
              <a:lnSpc>
                <a:spcPct val="110000"/>
              </a:lnSpc>
              <a:buNone/>
            </a:pPr>
            <a:r>
              <a:rPr lang="en-US" sz="3000" b="1" dirty="0">
                <a:solidFill>
                  <a:srgbClr val="FFFFFF"/>
                </a:solidFill>
              </a:rPr>
              <a:t>Remaining-Useful-Life-Based</a:t>
            </a:r>
            <a:endParaRPr lang="en-US" sz="3000" dirty="0"/>
          </a:p>
          <a:p>
            <a:pPr indent="0" marL="0">
              <a:lnSpc>
                <a:spcPct val="110000"/>
              </a:lnSpc>
              <a:buNone/>
            </a:pPr>
            <a:r>
              <a:rPr lang="en-US" sz="3000" b="1" dirty="0">
                <a:solidFill>
                  <a:srgbClr val="FFFFFF"/>
                </a:solidFill>
              </a:rPr>
              <a:t>Maintenance Prioritisation</a:t>
            </a:r>
            <a:endParaRPr lang="en-US" sz="3000" dirty="0"/>
          </a:p>
        </p:txBody>
      </p:sp>
      <p:sp>
        <p:nvSpPr>
          <p:cNvPr id="4" name="Text 2"/>
          <p:cNvSpPr txBox="1"/>
          <p:nvPr/>
        </p:nvSpPr>
        <p:spPr>
          <a:xfrm>
            <a:off x="731520" y="4023360"/>
            <a:ext cx="7315200" cy="365760"/>
          </a:xfrm>
          <a:prstGeom prst="rect">
            <a:avLst/>
          </a:prstGeom>
          <a:noFill/>
          <a:ln/>
        </p:spPr>
        <p:txBody>
          <a:bodyPr wrap="square" lIns="0" tIns="0" rIns="0" bIns="0" rtlCol="0" anchor="ctr"/>
          <a:lstStyle/>
          <a:p>
            <a:pPr indent="0" marL="0">
              <a:buNone/>
            </a:pPr>
            <a:r>
              <a:rPr lang="en-US" sz="1600" dirty="0">
                <a:solidFill>
                  <a:srgbClr val="0891B2"/>
                </a:solidFill>
              </a:rPr>
              <a:t>Evidence from the NASA C-MAPSS FD001 Turbofan Dataset</a:t>
            </a:r>
            <a:endParaRPr lang="en-US" sz="1600" dirty="0"/>
          </a:p>
        </p:txBody>
      </p:sp>
      <p:sp>
        <p:nvSpPr>
          <p:cNvPr id="5" name="Text 3"/>
          <p:cNvSpPr txBox="1"/>
          <p:nvPr/>
        </p:nvSpPr>
        <p:spPr>
          <a:xfrm>
            <a:off x="731520" y="4572000"/>
            <a:ext cx="7315200" cy="1554480"/>
          </a:xfrm>
          <a:prstGeom prst="rect">
            <a:avLst/>
          </a:prstGeom>
          <a:noFill/>
          <a:ln/>
        </p:spPr>
        <p:txBody>
          <a:bodyPr wrap="square" lIns="0" tIns="0" rIns="0" bIns="0" rtlCol="0" anchor="ctr"/>
          <a:lstStyle/>
          <a:p>
            <a:pPr indent="0" marL="0">
              <a:lnSpc>
                <a:spcPct val="140000"/>
              </a:lnSpc>
              <a:buNone/>
            </a:pPr>
            <a:r>
              <a:rPr lang="en-US" sz="1400" b="1" dirty="0">
                <a:solidFill>
                  <a:srgbClr val="FFFFFF"/>
                </a:solidFill>
              </a:rPr>
              <a:t>Ranitabh Mallick</a:t>
            </a:r>
            <a:endParaRPr lang="en-US" sz="1400" dirty="0"/>
          </a:p>
          <a:p>
            <a:pPr indent="0" marL="0">
              <a:lnSpc>
                <a:spcPct val="140000"/>
              </a:lnSpc>
              <a:buNone/>
            </a:pPr>
            <a:r>
              <a:rPr lang="en-US" sz="1200" dirty="0">
                <a:solidFill>
                  <a:srgbClr val="5A6A7E"/>
                </a:solidFill>
              </a:rPr>
              <a:t>Student ID GH1047661</a:t>
            </a:r>
            <a:endParaRPr lang="en-US" sz="1400" dirty="0"/>
          </a:p>
          <a:p>
            <a:pPr indent="0" marL="0">
              <a:lnSpc>
                <a:spcPct val="140000"/>
              </a:lnSpc>
              <a:buNone/>
            </a:pPr>
            <a:r>
              <a:rPr lang="en-US" sz="1200" dirty="0">
                <a:solidFill>
                  <a:srgbClr val="5A6A7E"/>
                </a:solidFill>
              </a:rPr>
              <a:t>MSc Data Science, Artificial Intelligence and Digital Business</a:t>
            </a:r>
            <a:endParaRPr lang="en-US" sz="1400" dirty="0"/>
          </a:p>
          <a:p>
            <a:pPr indent="0" marL="0">
              <a:lnSpc>
                <a:spcPct val="140000"/>
              </a:lnSpc>
              <a:buNone/>
            </a:pPr>
            <a:r>
              <a:rPr lang="en-US" sz="1200" dirty="0">
                <a:solidFill>
                  <a:srgbClr val="5A6A7E"/>
                </a:solidFill>
              </a:rPr>
              <a:t>Supervisor: Dr Hiba Khalid</a:t>
            </a:r>
            <a:endParaRPr lang="en-US" sz="1400" dirty="0"/>
          </a:p>
          <a:p>
            <a:pPr indent="0" marL="0">
              <a:lnSpc>
                <a:spcPct val="140000"/>
              </a:lnSpc>
              <a:buNone/>
            </a:pPr>
            <a:r>
              <a:rPr lang="en-US" sz="1200" dirty="0">
                <a:solidFill>
                  <a:srgbClr val="5A6A7E"/>
                </a:solidFill>
              </a:rPr>
              <a:t>GISMA University of Applied Sciences  ·  Berlin, September 2026</a:t>
            </a:r>
            <a:endParaRPr lang="en-US" sz="1400" dirty="0"/>
          </a:p>
        </p:txBody>
      </p:sp>
      <p:sp>
        <p:nvSpPr>
          <p:cNvPr id="6" name="Shape 4"/>
          <p:cNvSpPr/>
          <p:nvPr/>
        </p:nvSpPr>
        <p:spPr>
          <a:xfrm>
            <a:off x="8686800" y="1371600"/>
            <a:ext cx="3657600" cy="3657600"/>
          </a:xfrm>
          <a:prstGeom prst="ellipse">
            <a:avLst/>
          </a:prstGeom>
          <a:solidFill>
            <a:srgbClr val="0891B2">
              <a:alpha val="8000"/>
            </a:srgbClr>
          </a:solidFill>
          <a:ln w="19050">
            <a:solidFill>
              <a:srgbClr val="0891B2">
                <a:alpha val="40000"/>
              </a:srgbClr>
            </a:solidFill>
            <a:prstDash val="solid"/>
          </a:ln>
        </p:spPr>
      </p:sp>
      <p:sp>
        <p:nvSpPr>
          <p:cNvPr id="7" name="Shape 5"/>
          <p:cNvSpPr/>
          <p:nvPr/>
        </p:nvSpPr>
        <p:spPr>
          <a:xfrm>
            <a:off x="9418320" y="2103120"/>
            <a:ext cx="2194560" cy="2194560"/>
          </a:xfrm>
          <a:prstGeom prst="ellipse">
            <a:avLst/>
          </a:prstGeom>
          <a:solidFill>
            <a:srgbClr val="000000">
              <a:alpha val="0"/>
            </a:srgbClr>
          </a:solidFill>
          <a:ln w="12700">
            <a:solidFill>
              <a:srgbClr val="0891B2">
                <a:alpha val="30000"/>
              </a:srgbClr>
            </a:solidFill>
            <a:prstDash val="solid"/>
          </a:ln>
        </p:spPr>
      </p:sp>
      <p:sp>
        <p:nvSpPr>
          <p:cNvPr id="8" name="Shape 6"/>
          <p:cNvSpPr/>
          <p:nvPr/>
        </p:nvSpPr>
        <p:spPr>
          <a:xfrm>
            <a:off x="10149840" y="2834640"/>
            <a:ext cx="731520" cy="731520"/>
          </a:xfrm>
          <a:prstGeom prst="ellipse">
            <a:avLst/>
          </a:prstGeom>
          <a:solidFill>
            <a:srgbClr val="0891B2">
              <a:alpha val="15000"/>
            </a:srgbClr>
          </a:solidFill>
          <a:ln w="12700">
            <a:solidFill>
              <a:srgbClr val="0891B2">
                <a:alpha val="50000"/>
              </a:srgbClr>
            </a:solidFill>
            <a:prstDash val="solid"/>
          </a:ln>
        </p:spPr>
      </p:sp>
      <p:sp>
        <p:nvSpPr>
          <p:cNvPr id="25" name="Slide Number Placeholder 0"/>
          <p:cNvSpPr>
            <a:spLocks noGrp="1"/>
          </p:cNvSpPr>
          <p:nvPr>
            <p:ph type="sldNum" sz="quarter" idx="4294967295"/>
          </p:nvPr>
        </p:nvSpPr>
        <p:spPr>
          <a:xfrm>
            <a:off x="1143000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FFFFFF"/>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0972800" cy="548640"/>
          </a:xfrm>
          <a:prstGeom prst="rect">
            <a:avLst/>
          </a:prstGeom>
          <a:noFill/>
          <a:ln/>
        </p:spPr>
        <p:txBody>
          <a:bodyPr wrap="square" lIns="0" tIns="0" rIns="0" bIns="0" rtlCol="0" anchor="ctr"/>
          <a:lstStyle/>
          <a:p>
            <a:pPr indent="0" marL="0">
              <a:buNone/>
            </a:pPr>
            <a:r>
              <a:rPr lang="en-US" sz="2800" b="1" dirty="0">
                <a:solidFill>
                  <a:srgbClr val="1A2332"/>
                </a:solidFill>
              </a:rPr>
              <a:t>A point RUL prediction hides what the reviewer needs most</a:t>
            </a:r>
            <a:endParaRPr lang="en-US" sz="2800" dirty="0"/>
          </a:p>
        </p:txBody>
      </p:sp>
      <p:sp>
        <p:nvSpPr>
          <p:cNvPr id="3" name="Shape 1"/>
          <p:cNvSpPr/>
          <p:nvPr/>
        </p:nvSpPr>
        <p:spPr>
          <a:xfrm>
            <a:off x="548640" y="1097280"/>
            <a:ext cx="5303520" cy="868680"/>
          </a:xfrm>
          <a:prstGeom prst="roundRect">
            <a:avLst>
              <a:gd name="adj" fmla="val 10526"/>
            </a:avLst>
          </a:prstGeom>
          <a:solidFill>
            <a:srgbClr val="FEF3C7"/>
          </a:solidFill>
          <a:ln w="19050">
            <a:solidFill>
              <a:srgbClr val="D97706"/>
            </a:solidFill>
            <a:prstDash val="solid"/>
          </a:ln>
        </p:spPr>
      </p:sp>
      <p:sp>
        <p:nvSpPr>
          <p:cNvPr id="4" name="Text 2"/>
          <p:cNvSpPr txBox="1"/>
          <p:nvPr/>
        </p:nvSpPr>
        <p:spPr>
          <a:xfrm>
            <a:off x="822960" y="1188720"/>
            <a:ext cx="4754880" cy="320040"/>
          </a:xfrm>
          <a:prstGeom prst="rect">
            <a:avLst/>
          </a:prstGeom>
          <a:noFill/>
          <a:ln/>
        </p:spPr>
        <p:txBody>
          <a:bodyPr wrap="square" lIns="0" tIns="0" rIns="0" bIns="0" rtlCol="0" anchor="ctr"/>
          <a:lstStyle/>
          <a:p>
            <a:pPr indent="0" marL="0">
              <a:buNone/>
            </a:pPr>
            <a:r>
              <a:rPr lang="en-US" sz="1500" b="1" dirty="0">
                <a:solidFill>
                  <a:srgbClr val="D97706"/>
                </a:solidFill>
              </a:rPr>
              <a:t>No uncertainty</a:t>
            </a:r>
            <a:endParaRPr lang="en-US" sz="1500" dirty="0"/>
          </a:p>
        </p:txBody>
      </p:sp>
      <p:sp>
        <p:nvSpPr>
          <p:cNvPr id="5" name="Text 3"/>
          <p:cNvSpPr txBox="1"/>
          <p:nvPr/>
        </p:nvSpPr>
        <p:spPr>
          <a:xfrm>
            <a:off x="822960" y="1508760"/>
            <a:ext cx="4754880" cy="320040"/>
          </a:xfrm>
          <a:prstGeom prst="rect">
            <a:avLst/>
          </a:prstGeom>
          <a:noFill/>
          <a:ln/>
        </p:spPr>
        <p:txBody>
          <a:bodyPr wrap="square" lIns="0" tIns="0" rIns="0" bIns="0" rtlCol="0" anchor="ctr"/>
          <a:lstStyle/>
          <a:p>
            <a:pPr indent="0" marL="0">
              <a:buNone/>
            </a:pPr>
            <a:r>
              <a:rPr lang="en-US" sz="1200" dirty="0">
                <a:solidFill>
                  <a:srgbClr val="5A6A7E"/>
                </a:solidFill>
              </a:rPr>
              <a:t>Model says 45 cycles — error could be ±108</a:t>
            </a:r>
            <a:endParaRPr lang="en-US" sz="1200" dirty="0"/>
          </a:p>
        </p:txBody>
      </p:sp>
      <p:sp>
        <p:nvSpPr>
          <p:cNvPr id="6" name="Shape 4"/>
          <p:cNvSpPr/>
          <p:nvPr/>
        </p:nvSpPr>
        <p:spPr>
          <a:xfrm>
            <a:off x="548640" y="2148840"/>
            <a:ext cx="5303520" cy="868680"/>
          </a:xfrm>
          <a:prstGeom prst="roundRect">
            <a:avLst>
              <a:gd name="adj" fmla="val 10526"/>
            </a:avLst>
          </a:prstGeom>
          <a:solidFill>
            <a:srgbClr val="E0F7FA"/>
          </a:solidFill>
          <a:ln w="19050">
            <a:solidFill>
              <a:srgbClr val="0891B2"/>
            </a:solidFill>
            <a:prstDash val="solid"/>
          </a:ln>
        </p:spPr>
      </p:sp>
      <p:sp>
        <p:nvSpPr>
          <p:cNvPr id="7" name="Text 5"/>
          <p:cNvSpPr txBox="1"/>
          <p:nvPr/>
        </p:nvSpPr>
        <p:spPr>
          <a:xfrm>
            <a:off x="822960" y="2240280"/>
            <a:ext cx="4754880" cy="320040"/>
          </a:xfrm>
          <a:prstGeom prst="rect">
            <a:avLst/>
          </a:prstGeom>
          <a:noFill/>
          <a:ln/>
        </p:spPr>
        <p:txBody>
          <a:bodyPr wrap="square" lIns="0" tIns="0" rIns="0" bIns="0" rtlCol="0" anchor="ctr"/>
          <a:lstStyle/>
          <a:p>
            <a:pPr indent="0" marL="0">
              <a:buNone/>
            </a:pPr>
            <a:r>
              <a:rPr lang="en-US" sz="1500" b="1" dirty="0">
                <a:solidFill>
                  <a:srgbClr val="0891B2"/>
                </a:solidFill>
              </a:rPr>
              <a:t>No explanation</a:t>
            </a:r>
            <a:endParaRPr lang="en-US" sz="1500" dirty="0"/>
          </a:p>
        </p:txBody>
      </p:sp>
      <p:sp>
        <p:nvSpPr>
          <p:cNvPr id="8" name="Text 6"/>
          <p:cNvSpPr txBox="1"/>
          <p:nvPr/>
        </p:nvSpPr>
        <p:spPr>
          <a:xfrm>
            <a:off x="822960" y="2560320"/>
            <a:ext cx="4754880" cy="320040"/>
          </a:xfrm>
          <a:prstGeom prst="rect">
            <a:avLst/>
          </a:prstGeom>
          <a:noFill/>
          <a:ln/>
        </p:spPr>
        <p:txBody>
          <a:bodyPr wrap="square" lIns="0" tIns="0" rIns="0" bIns="0" rtlCol="0" anchor="ctr"/>
          <a:lstStyle/>
          <a:p>
            <a:pPr indent="0" marL="0">
              <a:buNone/>
            </a:pPr>
            <a:r>
              <a:rPr lang="en-US" sz="1200" dirty="0">
                <a:solidFill>
                  <a:srgbClr val="5A6A7E"/>
                </a:solidFill>
              </a:rPr>
              <a:t>Which sensors drove that estimate?</a:t>
            </a:r>
            <a:endParaRPr lang="en-US" sz="1200" dirty="0"/>
          </a:p>
        </p:txBody>
      </p:sp>
      <p:sp>
        <p:nvSpPr>
          <p:cNvPr id="9" name="Shape 7"/>
          <p:cNvSpPr/>
          <p:nvPr/>
        </p:nvSpPr>
        <p:spPr>
          <a:xfrm>
            <a:off x="548640" y="3200400"/>
            <a:ext cx="5303520" cy="868680"/>
          </a:xfrm>
          <a:prstGeom prst="roundRect">
            <a:avLst>
              <a:gd name="adj" fmla="val 10526"/>
            </a:avLst>
          </a:prstGeom>
          <a:solidFill>
            <a:srgbClr val="FEE2E2"/>
          </a:solidFill>
          <a:ln w="19050">
            <a:solidFill>
              <a:srgbClr val="DC2626"/>
            </a:solidFill>
            <a:prstDash val="solid"/>
          </a:ln>
        </p:spPr>
      </p:sp>
      <p:sp>
        <p:nvSpPr>
          <p:cNvPr id="10" name="Text 8"/>
          <p:cNvSpPr txBox="1"/>
          <p:nvPr/>
        </p:nvSpPr>
        <p:spPr>
          <a:xfrm>
            <a:off x="822960" y="3291840"/>
            <a:ext cx="4754880" cy="320040"/>
          </a:xfrm>
          <a:prstGeom prst="rect">
            <a:avLst/>
          </a:prstGeom>
          <a:noFill/>
          <a:ln/>
        </p:spPr>
        <p:txBody>
          <a:bodyPr wrap="square" lIns="0" tIns="0" rIns="0" bIns="0" rtlCol="0" anchor="ctr"/>
          <a:lstStyle/>
          <a:p>
            <a:pPr indent="0" marL="0">
              <a:buNone/>
            </a:pPr>
            <a:r>
              <a:rPr lang="en-US" sz="1500" b="1" dirty="0">
                <a:solidFill>
                  <a:srgbClr val="DC2626"/>
                </a:solidFill>
              </a:rPr>
              <a:t>No structured review</a:t>
            </a:r>
            <a:endParaRPr lang="en-US" sz="1500" dirty="0"/>
          </a:p>
        </p:txBody>
      </p:sp>
      <p:sp>
        <p:nvSpPr>
          <p:cNvPr id="11" name="Text 9"/>
          <p:cNvSpPr txBox="1"/>
          <p:nvPr/>
        </p:nvSpPr>
        <p:spPr>
          <a:xfrm>
            <a:off x="822960" y="3611880"/>
            <a:ext cx="4754880" cy="320040"/>
          </a:xfrm>
          <a:prstGeom prst="rect">
            <a:avLst/>
          </a:prstGeom>
          <a:noFill/>
          <a:ln/>
        </p:spPr>
        <p:txBody>
          <a:bodyPr wrap="square" lIns="0" tIns="0" rIns="0" bIns="0" rtlCol="0" anchor="ctr"/>
          <a:lstStyle/>
          <a:p>
            <a:pPr indent="0" marL="0">
              <a:buNone/>
            </a:pPr>
            <a:r>
              <a:rPr lang="en-US" sz="1200" dirty="0">
                <a:solidFill>
                  <a:srgbClr val="5A6A7E"/>
                </a:solidFill>
              </a:rPr>
              <a:t>No audit trail if a human overrides</a:t>
            </a:r>
            <a:endParaRPr lang="en-US" sz="1200" dirty="0"/>
          </a:p>
        </p:txBody>
      </p:sp>
      <p:sp>
        <p:nvSpPr>
          <p:cNvPr id="12" name="Shape 10"/>
          <p:cNvSpPr/>
          <p:nvPr/>
        </p:nvSpPr>
        <p:spPr>
          <a:xfrm>
            <a:off x="6400800" y="1097280"/>
            <a:ext cx="5212080" cy="3200400"/>
          </a:xfrm>
          <a:prstGeom prst="roundRect">
            <a:avLst>
              <a:gd name="adj" fmla="val 2857"/>
            </a:avLst>
          </a:prstGeom>
          <a:solidFill>
            <a:srgbClr val="F1F5F9"/>
          </a:solidFill>
          <a:ln/>
        </p:spPr>
      </p:sp>
      <p:sp>
        <p:nvSpPr>
          <p:cNvPr id="13" name="Text 11"/>
          <p:cNvSpPr txBox="1"/>
          <p:nvPr/>
        </p:nvSpPr>
        <p:spPr>
          <a:xfrm>
            <a:off x="6675120" y="1234440"/>
            <a:ext cx="4572000" cy="320040"/>
          </a:xfrm>
          <a:prstGeom prst="rect">
            <a:avLst/>
          </a:prstGeom>
          <a:noFill/>
          <a:ln/>
        </p:spPr>
        <p:txBody>
          <a:bodyPr wrap="square" lIns="0" tIns="0" rIns="0" bIns="0" rtlCol="0" anchor="ctr"/>
          <a:lstStyle/>
          <a:p>
            <a:pPr indent="0" marL="0">
              <a:buNone/>
            </a:pPr>
            <a:r>
              <a:rPr lang="en-US" sz="1300" b="1" dirty="0">
                <a:solidFill>
                  <a:srgbClr val="1A2332"/>
                </a:solidFill>
              </a:rPr>
              <a:t>The validation near-tie</a:t>
            </a:r>
            <a:endParaRPr lang="en-US" sz="1300" dirty="0"/>
          </a:p>
        </p:txBody>
      </p:sp>
      <p:sp>
        <p:nvSpPr>
          <p:cNvPr id="14" name="Text 12"/>
          <p:cNvSpPr txBox="1"/>
          <p:nvPr/>
        </p:nvSpPr>
        <p:spPr>
          <a:xfrm>
            <a:off x="6675120" y="1691640"/>
            <a:ext cx="2743200" cy="320040"/>
          </a:xfrm>
          <a:prstGeom prst="rect">
            <a:avLst/>
          </a:prstGeom>
          <a:noFill/>
          <a:ln/>
        </p:spPr>
        <p:txBody>
          <a:bodyPr wrap="square" lIns="0" tIns="0" rIns="0" bIns="0" rtlCol="0" anchor="ctr"/>
          <a:lstStyle/>
          <a:p>
            <a:pPr indent="0" marL="0">
              <a:buNone/>
            </a:pPr>
            <a:r>
              <a:rPr lang="en-US" sz="1300" dirty="0">
                <a:solidFill>
                  <a:srgbClr val="1A2332"/>
                </a:solidFill>
              </a:rPr>
              <a:t>Random Forest</a:t>
            </a:r>
            <a:endParaRPr lang="en-US" sz="1300" dirty="0"/>
          </a:p>
        </p:txBody>
      </p:sp>
      <p:sp>
        <p:nvSpPr>
          <p:cNvPr id="15" name="Text 13"/>
          <p:cNvSpPr txBox="1"/>
          <p:nvPr/>
        </p:nvSpPr>
        <p:spPr>
          <a:xfrm>
            <a:off x="9418320" y="1691640"/>
            <a:ext cx="1828800" cy="320040"/>
          </a:xfrm>
          <a:prstGeom prst="rect">
            <a:avLst/>
          </a:prstGeom>
          <a:noFill/>
          <a:ln/>
        </p:spPr>
        <p:txBody>
          <a:bodyPr wrap="square" lIns="0" tIns="0" rIns="0" bIns="0" rtlCol="0" anchor="ctr"/>
          <a:lstStyle/>
          <a:p>
            <a:pPr algn="r" indent="0" marL="0">
              <a:buNone/>
            </a:pPr>
            <a:r>
              <a:rPr lang="en-US" sz="1800" b="1" dirty="0">
                <a:solidFill>
                  <a:srgbClr val="0891B2"/>
                </a:solidFill>
              </a:rPr>
              <a:t>29.479</a:t>
            </a:r>
            <a:endParaRPr lang="en-US" sz="1800" dirty="0"/>
          </a:p>
        </p:txBody>
      </p:sp>
      <p:sp>
        <p:nvSpPr>
          <p:cNvPr id="16" name="Text 14"/>
          <p:cNvSpPr txBox="1"/>
          <p:nvPr/>
        </p:nvSpPr>
        <p:spPr>
          <a:xfrm>
            <a:off x="6675120" y="2148840"/>
            <a:ext cx="2743200" cy="320040"/>
          </a:xfrm>
          <a:prstGeom prst="rect">
            <a:avLst/>
          </a:prstGeom>
          <a:noFill/>
          <a:ln/>
        </p:spPr>
        <p:txBody>
          <a:bodyPr wrap="square" lIns="0" tIns="0" rIns="0" bIns="0" rtlCol="0" anchor="ctr"/>
          <a:lstStyle/>
          <a:p>
            <a:pPr indent="0" marL="0">
              <a:buNone/>
            </a:pPr>
            <a:r>
              <a:rPr lang="en-US" sz="1300" dirty="0">
                <a:solidFill>
                  <a:srgbClr val="5A6A7E"/>
                </a:solidFill>
              </a:rPr>
              <a:t>Naive age-only</a:t>
            </a:r>
            <a:endParaRPr lang="en-US" sz="1300" dirty="0"/>
          </a:p>
        </p:txBody>
      </p:sp>
      <p:sp>
        <p:nvSpPr>
          <p:cNvPr id="17" name="Text 15"/>
          <p:cNvSpPr txBox="1"/>
          <p:nvPr/>
        </p:nvSpPr>
        <p:spPr>
          <a:xfrm>
            <a:off x="9418320" y="2148840"/>
            <a:ext cx="1828800" cy="320040"/>
          </a:xfrm>
          <a:prstGeom prst="rect">
            <a:avLst/>
          </a:prstGeom>
          <a:noFill/>
          <a:ln/>
        </p:spPr>
        <p:txBody>
          <a:bodyPr wrap="square" lIns="0" tIns="0" rIns="0" bIns="0" rtlCol="0" anchor="ctr"/>
          <a:lstStyle/>
          <a:p>
            <a:pPr algn="r" indent="0" marL="0">
              <a:buNone/>
            </a:pPr>
            <a:r>
              <a:rPr lang="en-US" sz="1800" b="1" dirty="0">
                <a:solidFill>
                  <a:srgbClr val="5A6A7E"/>
                </a:solidFill>
              </a:rPr>
              <a:t>29.556</a:t>
            </a:r>
            <a:endParaRPr lang="en-US" sz="1800" dirty="0"/>
          </a:p>
        </p:txBody>
      </p:sp>
      <p:sp>
        <p:nvSpPr>
          <p:cNvPr id="18" name="Shape 16"/>
          <p:cNvSpPr/>
          <p:nvPr/>
        </p:nvSpPr>
        <p:spPr>
          <a:xfrm>
            <a:off x="6675120" y="2606040"/>
            <a:ext cx="4663440" cy="0"/>
          </a:xfrm>
          <a:prstGeom prst="line">
            <a:avLst/>
          </a:prstGeom>
          <a:noFill/>
          <a:ln w="12700">
            <a:solidFill>
              <a:srgbClr val="E2E8F0"/>
            </a:solidFill>
            <a:prstDash val="solid"/>
          </a:ln>
        </p:spPr>
      </p:sp>
      <p:sp>
        <p:nvSpPr>
          <p:cNvPr id="19" name="Text 17"/>
          <p:cNvSpPr txBox="1"/>
          <p:nvPr/>
        </p:nvSpPr>
        <p:spPr>
          <a:xfrm>
            <a:off x="6675120" y="2743200"/>
            <a:ext cx="4663440" cy="1371600"/>
          </a:xfrm>
          <a:prstGeom prst="rect">
            <a:avLst/>
          </a:prstGeom>
          <a:noFill/>
          <a:ln/>
        </p:spPr>
        <p:txBody>
          <a:bodyPr wrap="square" lIns="0" tIns="0" rIns="0" bIns="0" rtlCol="0" anchor="ctr"/>
          <a:lstStyle/>
          <a:p>
            <a:pPr indent="0" marL="0">
              <a:lnSpc>
                <a:spcPct val="150000"/>
              </a:lnSpc>
              <a:buNone/>
            </a:pPr>
            <a:r>
              <a:rPr lang="en-US" sz="1100" b="1" dirty="0">
                <a:solidFill>
                  <a:srgbClr val="1A2332"/>
                </a:solidFill>
              </a:rPr>
              <a:t>Δ = 0.077 cycles mean engine RMSE</a:t>
            </a:r>
            <a:endParaRPr lang="en-US" sz="1100" dirty="0"/>
          </a:p>
          <a:p>
            <a:pPr indent="0" marL="0">
              <a:lnSpc>
                <a:spcPct val="150000"/>
              </a:lnSpc>
              <a:buNone/>
            </a:pPr>
            <a:r>
              <a:rPr lang="en-US" sz="1100" dirty="0">
                <a:solidFill>
                  <a:srgbClr val="5A6A7E"/>
                </a:solidFill>
              </a:rPr>
              <a:t>Within 1% practical-equivalence band</a:t>
            </a:r>
            <a:endParaRPr lang="en-US" sz="1100" dirty="0"/>
          </a:p>
          <a:p>
            <a:pPr indent="0" marL="0">
              <a:lnSpc>
                <a:spcPct val="150000"/>
              </a:lnSpc>
              <a:buNone/>
            </a:pPr>
            <a:r>
              <a:rPr lang="en-US" sz="1100" b="1" dirty="0">
                <a:solidFill>
                  <a:srgbClr val="0891B2"/>
                </a:solidFill>
              </a:rPr>
              <a:t>PHM tie-break selected Random Forest</a:t>
            </a:r>
            <a:endParaRPr lang="en-US" sz="1100" dirty="0"/>
          </a:p>
          <a:p>
            <a:pPr indent="0" marL="0">
              <a:lnSpc>
                <a:spcPct val="150000"/>
              </a:lnSpc>
              <a:buNone/>
            </a:pPr>
            <a:r>
              <a:rPr lang="en-US" sz="1000" dirty="0">
                <a:solidFill>
                  <a:srgbClr val="5A6A7E"/>
                </a:solidFill>
              </a:rPr>
              <a:t>20 validation engines · 4,217 rows</a:t>
            </a:r>
            <a:endParaRPr lang="en-US" sz="1100" dirty="0"/>
          </a:p>
        </p:txBody>
      </p:sp>
      <p:sp>
        <p:nvSpPr>
          <p:cNvPr id="20" name="Text 18"/>
          <p:cNvSpPr txBox="1"/>
          <p:nvPr/>
        </p:nvSpPr>
        <p:spPr>
          <a:xfrm>
            <a:off x="548640" y="6400800"/>
            <a:ext cx="9144000" cy="274320"/>
          </a:xfrm>
          <a:prstGeom prst="rect">
            <a:avLst/>
          </a:prstGeom>
          <a:noFill/>
          <a:ln/>
        </p:spPr>
        <p:txBody>
          <a:bodyPr wrap="square" lIns="0" tIns="0" rIns="0" bIns="0" rtlCol="0" anchor="ctr"/>
          <a:lstStyle/>
          <a:p>
            <a:pPr indent="0" marL="0">
              <a:buNone/>
            </a:pPr>
            <a:r>
              <a:rPr lang="en-US" sz="800" dirty="0">
                <a:solidFill>
                  <a:srgbClr val="5A6A7E"/>
                </a:solidFill>
              </a:rPr>
              <a:t>Thesis §1.2, §5.2 · Table 5.1</a:t>
            </a:r>
            <a:endParaRPr lang="en-US" sz="800" dirty="0"/>
          </a:p>
        </p:txBody>
      </p:sp>
      <p:sp>
        <p:nvSpPr>
          <p:cNvPr id="25" name="Slide Number Placeholder 0"/>
          <p:cNvSpPr>
            <a:spLocks noGrp="1"/>
          </p:cNvSpPr>
          <p:nvPr>
            <p:ph type="sldNum" sz="quarter" idx="4294967295"/>
          </p:nvPr>
        </p:nvSpPr>
        <p:spPr>
          <a:xfrm>
            <a:off x="1143000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6A7E"/>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0972800" cy="548640"/>
          </a:xfrm>
          <a:prstGeom prst="rect">
            <a:avLst/>
          </a:prstGeom>
          <a:noFill/>
          <a:ln/>
        </p:spPr>
        <p:txBody>
          <a:bodyPr wrap="square" lIns="0" tIns="0" rIns="0" bIns="0" rtlCol="0" anchor="ctr"/>
          <a:lstStyle/>
          <a:p>
            <a:pPr indent="0" marL="0">
              <a:buNone/>
            </a:pPr>
            <a:r>
              <a:rPr lang="en-US" sz="2800" b="1" dirty="0">
                <a:solidFill>
                  <a:srgbClr val="1A2332"/>
                </a:solidFill>
              </a:rPr>
              <a:t>Prior work addresses each piece — none integrates all six</a:t>
            </a:r>
            <a:endParaRPr lang="en-US" sz="2800" dirty="0"/>
          </a:p>
        </p:txBody>
      </p:sp>
      <p:sp>
        <p:nvSpPr>
          <p:cNvPr id="3" name="Shape 1"/>
          <p:cNvSpPr/>
          <p:nvPr/>
        </p:nvSpPr>
        <p:spPr>
          <a:xfrm>
            <a:off x="548640" y="1097280"/>
            <a:ext cx="3474720" cy="2011680"/>
          </a:xfrm>
          <a:prstGeom prst="roundRect">
            <a:avLst>
              <a:gd name="adj" fmla="val 4545"/>
            </a:avLst>
          </a:prstGeom>
          <a:solidFill>
            <a:srgbClr val="F1F5F9"/>
          </a:solidFill>
          <a:ln/>
        </p:spPr>
      </p:sp>
      <p:sp>
        <p:nvSpPr>
          <p:cNvPr id="4" name="Shape 2"/>
          <p:cNvSpPr/>
          <p:nvPr/>
        </p:nvSpPr>
        <p:spPr>
          <a:xfrm>
            <a:off x="731520" y="1325880"/>
            <a:ext cx="320040" cy="320040"/>
          </a:xfrm>
          <a:prstGeom prst="ellipse">
            <a:avLst/>
          </a:prstGeom>
          <a:solidFill>
            <a:srgbClr val="DC2626"/>
          </a:solidFill>
          <a:ln/>
        </p:spPr>
      </p:sp>
      <p:sp>
        <p:nvSpPr>
          <p:cNvPr id="5" name="Text 3"/>
          <p:cNvSpPr txBox="1"/>
          <p:nvPr/>
        </p:nvSpPr>
        <p:spPr>
          <a:xfrm>
            <a:off x="1188720" y="1261872"/>
            <a:ext cx="2651760" cy="320040"/>
          </a:xfrm>
          <a:prstGeom prst="rect">
            <a:avLst/>
          </a:prstGeom>
          <a:noFill/>
          <a:ln/>
        </p:spPr>
        <p:txBody>
          <a:bodyPr wrap="square" lIns="0" tIns="0" rIns="0" bIns="0" rtlCol="0" anchor="ctr"/>
          <a:lstStyle/>
          <a:p>
            <a:pPr indent="0" marL="0">
              <a:buNone/>
            </a:pPr>
            <a:r>
              <a:rPr lang="en-US" sz="1300" b="1" dirty="0">
                <a:solidFill>
                  <a:srgbClr val="DC2626"/>
                </a:solidFill>
              </a:rPr>
              <a:t>Gap 1: Leaky splits</a:t>
            </a:r>
            <a:endParaRPr lang="en-US" sz="1300" dirty="0"/>
          </a:p>
        </p:txBody>
      </p:sp>
      <p:sp>
        <p:nvSpPr>
          <p:cNvPr id="6" name="Text 4"/>
          <p:cNvSpPr txBox="1"/>
          <p:nvPr/>
        </p:nvSpPr>
        <p:spPr>
          <a:xfrm>
            <a:off x="731520" y="1828800"/>
            <a:ext cx="3108960" cy="1097280"/>
          </a:xfrm>
          <a:prstGeom prst="rect">
            <a:avLst/>
          </a:prstGeom>
          <a:noFill/>
          <a:ln/>
        </p:spPr>
        <p:txBody>
          <a:bodyPr wrap="square" lIns="0" tIns="0" rIns="0" bIns="0" rtlCol="0" anchor="ctr"/>
          <a:lstStyle/>
          <a:p>
            <a:pPr indent="0" marL="0">
              <a:lnSpc>
                <a:spcPct val="130000"/>
              </a:lnSpc>
              <a:buNone/>
            </a:pPr>
            <a:r>
              <a:rPr lang="en-US" sz="1100" dirty="0">
                <a:solidFill>
                  <a:srgbClr val="5A6A7E"/>
                </a:solidFill>
              </a:rPr>
              <a:t>Row-random partitions leak future</a:t>
            </a:r>
            <a:endParaRPr lang="en-US" sz="1100" dirty="0"/>
          </a:p>
          <a:p>
            <a:pPr indent="0" marL="0">
              <a:lnSpc>
                <a:spcPct val="130000"/>
              </a:lnSpc>
              <a:buNone/>
            </a:pPr>
            <a:r>
              <a:rPr lang="en-US" sz="1100" dirty="0">
                <a:solidFill>
                  <a:srgbClr val="5A6A7E"/>
                </a:solidFill>
              </a:rPr>
              <a:t>sensor values across engine</a:t>
            </a:r>
            <a:endParaRPr lang="en-US" sz="1100" dirty="0"/>
          </a:p>
          <a:p>
            <a:pPr indent="0" marL="0">
              <a:lnSpc>
                <a:spcPct val="130000"/>
              </a:lnSpc>
              <a:buNone/>
            </a:pPr>
            <a:r>
              <a:rPr lang="en-US" sz="1100" dirty="0">
                <a:solidFill>
                  <a:srgbClr val="5A6A7E"/>
                </a:solidFill>
              </a:rPr>
              <a:t>trajectories (Kaufman et al., 2012)</a:t>
            </a:r>
            <a:endParaRPr lang="en-US" sz="1100" dirty="0"/>
          </a:p>
        </p:txBody>
      </p:sp>
      <p:sp>
        <p:nvSpPr>
          <p:cNvPr id="7" name="Shape 5"/>
          <p:cNvSpPr/>
          <p:nvPr/>
        </p:nvSpPr>
        <p:spPr>
          <a:xfrm>
            <a:off x="4389120" y="1097280"/>
            <a:ext cx="3474720" cy="2011680"/>
          </a:xfrm>
          <a:prstGeom prst="roundRect">
            <a:avLst>
              <a:gd name="adj" fmla="val 4545"/>
            </a:avLst>
          </a:prstGeom>
          <a:solidFill>
            <a:srgbClr val="F1F5F9"/>
          </a:solidFill>
          <a:ln/>
        </p:spPr>
      </p:sp>
      <p:sp>
        <p:nvSpPr>
          <p:cNvPr id="8" name="Shape 6"/>
          <p:cNvSpPr/>
          <p:nvPr/>
        </p:nvSpPr>
        <p:spPr>
          <a:xfrm>
            <a:off x="4572000" y="1325880"/>
            <a:ext cx="320040" cy="320040"/>
          </a:xfrm>
          <a:prstGeom prst="ellipse">
            <a:avLst/>
          </a:prstGeom>
          <a:solidFill>
            <a:srgbClr val="D97706"/>
          </a:solidFill>
          <a:ln/>
        </p:spPr>
      </p:sp>
      <p:sp>
        <p:nvSpPr>
          <p:cNvPr id="9" name="Text 7"/>
          <p:cNvSpPr txBox="1"/>
          <p:nvPr/>
        </p:nvSpPr>
        <p:spPr>
          <a:xfrm>
            <a:off x="5029200" y="1261872"/>
            <a:ext cx="2651760" cy="320040"/>
          </a:xfrm>
          <a:prstGeom prst="rect">
            <a:avLst/>
          </a:prstGeom>
          <a:noFill/>
          <a:ln/>
        </p:spPr>
        <p:txBody>
          <a:bodyPr wrap="square" lIns="0" tIns="0" rIns="0" bIns="0" rtlCol="0" anchor="ctr"/>
          <a:lstStyle/>
          <a:p>
            <a:pPr indent="0" marL="0">
              <a:buNone/>
            </a:pPr>
            <a:r>
              <a:rPr lang="en-US" sz="1300" b="1" dirty="0">
                <a:solidFill>
                  <a:srgbClr val="D97706"/>
                </a:solidFill>
              </a:rPr>
              <a:t>Gap 2: Isolated treatments</a:t>
            </a:r>
            <a:endParaRPr lang="en-US" sz="1300" dirty="0"/>
          </a:p>
        </p:txBody>
      </p:sp>
      <p:sp>
        <p:nvSpPr>
          <p:cNvPr id="10" name="Text 8"/>
          <p:cNvSpPr txBox="1"/>
          <p:nvPr/>
        </p:nvSpPr>
        <p:spPr>
          <a:xfrm>
            <a:off x="4572000" y="1828800"/>
            <a:ext cx="3108960" cy="1097280"/>
          </a:xfrm>
          <a:prstGeom prst="rect">
            <a:avLst/>
          </a:prstGeom>
          <a:noFill/>
          <a:ln/>
        </p:spPr>
        <p:txBody>
          <a:bodyPr wrap="square" lIns="0" tIns="0" rIns="0" bIns="0" rtlCol="0" anchor="ctr"/>
          <a:lstStyle/>
          <a:p>
            <a:pPr indent="0" marL="0">
              <a:lnSpc>
                <a:spcPct val="130000"/>
              </a:lnSpc>
              <a:buNone/>
            </a:pPr>
            <a:r>
              <a:rPr lang="en-US" sz="1100" dirty="0">
                <a:solidFill>
                  <a:srgbClr val="5A6A7E"/>
                </a:solidFill>
              </a:rPr>
              <a:t>Uncertainty and explanation studied</a:t>
            </a:r>
            <a:endParaRPr lang="en-US" sz="1100" dirty="0"/>
          </a:p>
          <a:p>
            <a:pPr indent="0" marL="0">
              <a:lnSpc>
                <a:spcPct val="130000"/>
              </a:lnSpc>
              <a:buNone/>
            </a:pPr>
            <a:r>
              <a:rPr lang="en-US" sz="1100" dirty="0">
                <a:solidFill>
                  <a:srgbClr val="5A6A7E"/>
                </a:solidFill>
              </a:rPr>
              <a:t>separately — rarely combined with</a:t>
            </a:r>
            <a:endParaRPr lang="en-US" sz="1100" dirty="0"/>
          </a:p>
          <a:p>
            <a:pPr indent="0" marL="0">
              <a:lnSpc>
                <a:spcPct val="130000"/>
              </a:lnSpc>
              <a:buNone/>
            </a:pPr>
            <a:r>
              <a:rPr lang="en-US" sz="1100" dirty="0">
                <a:solidFill>
                  <a:srgbClr val="5A6A7E"/>
                </a:solidFill>
              </a:rPr>
              <a:t>a decision layer</a:t>
            </a:r>
            <a:endParaRPr lang="en-US" sz="1100" dirty="0"/>
          </a:p>
        </p:txBody>
      </p:sp>
      <p:sp>
        <p:nvSpPr>
          <p:cNvPr id="11" name="Shape 9"/>
          <p:cNvSpPr/>
          <p:nvPr/>
        </p:nvSpPr>
        <p:spPr>
          <a:xfrm>
            <a:off x="8229600" y="1097280"/>
            <a:ext cx="3474720" cy="2011680"/>
          </a:xfrm>
          <a:prstGeom prst="roundRect">
            <a:avLst>
              <a:gd name="adj" fmla="val 4545"/>
            </a:avLst>
          </a:prstGeom>
          <a:solidFill>
            <a:srgbClr val="F1F5F9"/>
          </a:solidFill>
          <a:ln/>
        </p:spPr>
      </p:sp>
      <p:sp>
        <p:nvSpPr>
          <p:cNvPr id="12" name="Shape 10"/>
          <p:cNvSpPr/>
          <p:nvPr/>
        </p:nvSpPr>
        <p:spPr>
          <a:xfrm>
            <a:off x="8412480" y="1325880"/>
            <a:ext cx="320040" cy="320040"/>
          </a:xfrm>
          <a:prstGeom prst="ellipse">
            <a:avLst/>
          </a:prstGeom>
          <a:solidFill>
            <a:srgbClr val="0891B2"/>
          </a:solidFill>
          <a:ln/>
        </p:spPr>
      </p:sp>
      <p:sp>
        <p:nvSpPr>
          <p:cNvPr id="13" name="Text 11"/>
          <p:cNvSpPr txBox="1"/>
          <p:nvPr/>
        </p:nvSpPr>
        <p:spPr>
          <a:xfrm>
            <a:off x="8869680" y="1261872"/>
            <a:ext cx="2651760" cy="320040"/>
          </a:xfrm>
          <a:prstGeom prst="rect">
            <a:avLst/>
          </a:prstGeom>
          <a:noFill/>
          <a:ln/>
        </p:spPr>
        <p:txBody>
          <a:bodyPr wrap="square" lIns="0" tIns="0" rIns="0" bIns="0" rtlCol="0" anchor="ctr"/>
          <a:lstStyle/>
          <a:p>
            <a:pPr indent="0" marL="0">
              <a:buNone/>
            </a:pPr>
            <a:r>
              <a:rPr lang="en-US" sz="1300" b="1" dirty="0">
                <a:solidFill>
                  <a:srgbClr val="0891B2"/>
                </a:solidFill>
              </a:rPr>
              <a:t>Gap 3: No audit</a:t>
            </a:r>
            <a:endParaRPr lang="en-US" sz="1300" dirty="0"/>
          </a:p>
        </p:txBody>
      </p:sp>
      <p:sp>
        <p:nvSpPr>
          <p:cNvPr id="14" name="Text 12"/>
          <p:cNvSpPr txBox="1"/>
          <p:nvPr/>
        </p:nvSpPr>
        <p:spPr>
          <a:xfrm>
            <a:off x="8412480" y="1828800"/>
            <a:ext cx="3108960" cy="1097280"/>
          </a:xfrm>
          <a:prstGeom prst="rect">
            <a:avLst/>
          </a:prstGeom>
          <a:noFill/>
          <a:ln/>
        </p:spPr>
        <p:txBody>
          <a:bodyPr wrap="square" lIns="0" tIns="0" rIns="0" bIns="0" rtlCol="0" anchor="ctr"/>
          <a:lstStyle/>
          <a:p>
            <a:pPr indent="0" marL="0">
              <a:lnSpc>
                <a:spcPct val="130000"/>
              </a:lnSpc>
              <a:buNone/>
            </a:pPr>
            <a:r>
              <a:rPr lang="en-US" sz="1100" dirty="0">
                <a:solidFill>
                  <a:srgbClr val="5A6A7E"/>
                </a:solidFill>
              </a:rPr>
              <a:t>Accountability discussed</a:t>
            </a:r>
            <a:endParaRPr lang="en-US" sz="1100" dirty="0"/>
          </a:p>
          <a:p>
            <a:pPr indent="0" marL="0">
              <a:lnSpc>
                <a:spcPct val="130000"/>
              </a:lnSpc>
              <a:buNone/>
            </a:pPr>
            <a:r>
              <a:rPr lang="en-US" sz="1100" dirty="0">
                <a:solidFill>
                  <a:srgbClr val="5A6A7E"/>
                </a:solidFill>
              </a:rPr>
              <a:t>conceptually but human review</a:t>
            </a:r>
            <a:endParaRPr lang="en-US" sz="1100" dirty="0"/>
          </a:p>
          <a:p>
            <a:pPr indent="0" marL="0">
              <a:lnSpc>
                <a:spcPct val="130000"/>
              </a:lnSpc>
              <a:buNone/>
            </a:pPr>
            <a:r>
              <a:rPr lang="en-US" sz="1100" dirty="0">
                <a:solidFill>
                  <a:srgbClr val="5A6A7E"/>
                </a:solidFill>
              </a:rPr>
              <a:t>rarely implemented and audited</a:t>
            </a:r>
            <a:endParaRPr lang="en-US" sz="1100" dirty="0"/>
          </a:p>
        </p:txBody>
      </p:sp>
      <p:sp>
        <p:nvSpPr>
          <p:cNvPr id="15" name="Shape 13"/>
          <p:cNvSpPr/>
          <p:nvPr/>
        </p:nvSpPr>
        <p:spPr>
          <a:xfrm>
            <a:off x="548640" y="3383280"/>
            <a:ext cx="11064240" cy="1005840"/>
          </a:xfrm>
          <a:prstGeom prst="roundRect">
            <a:avLst>
              <a:gd name="adj" fmla="val 9091"/>
            </a:avLst>
          </a:prstGeom>
          <a:solidFill>
            <a:srgbClr val="E0F7FA"/>
          </a:solidFill>
          <a:ln w="19050">
            <a:solidFill>
              <a:srgbClr val="0891B2"/>
            </a:solidFill>
            <a:prstDash val="solid"/>
          </a:ln>
        </p:spPr>
      </p:sp>
      <p:sp>
        <p:nvSpPr>
          <p:cNvPr id="16" name="Text 14"/>
          <p:cNvSpPr txBox="1"/>
          <p:nvPr/>
        </p:nvSpPr>
        <p:spPr>
          <a:xfrm>
            <a:off x="822960" y="3474720"/>
            <a:ext cx="10058400" cy="274320"/>
          </a:xfrm>
          <a:prstGeom prst="rect">
            <a:avLst/>
          </a:prstGeom>
          <a:noFill/>
          <a:ln/>
        </p:spPr>
        <p:txBody>
          <a:bodyPr wrap="square" lIns="0" tIns="0" rIns="0" bIns="0" rtlCol="0" anchor="ctr"/>
          <a:lstStyle/>
          <a:p>
            <a:pPr indent="0" marL="0">
              <a:buNone/>
            </a:pPr>
            <a:r>
              <a:rPr lang="en-US" sz="1200" b="1" dirty="0">
                <a:solidFill>
                  <a:srgbClr val="0891B2"/>
                </a:solidFill>
              </a:rPr>
              <a:t>This study's integrated contribution</a:t>
            </a:r>
            <a:endParaRPr lang="en-US" sz="1200" dirty="0"/>
          </a:p>
        </p:txBody>
      </p:sp>
      <p:sp>
        <p:nvSpPr>
          <p:cNvPr id="17" name="Text 15"/>
          <p:cNvSpPr txBox="1"/>
          <p:nvPr/>
        </p:nvSpPr>
        <p:spPr>
          <a:xfrm>
            <a:off x="822960" y="3794760"/>
            <a:ext cx="10515600" cy="457200"/>
          </a:xfrm>
          <a:prstGeom prst="rect">
            <a:avLst/>
          </a:prstGeom>
          <a:noFill/>
          <a:ln/>
        </p:spPr>
        <p:txBody>
          <a:bodyPr wrap="square" lIns="0" tIns="0" rIns="0" bIns="0" rtlCol="0" anchor="ctr"/>
          <a:lstStyle/>
          <a:p>
            <a:pPr indent="0" marL="0">
              <a:buNone/>
            </a:pPr>
            <a:r>
              <a:rPr lang="en-US" sz="1200" dirty="0">
                <a:solidFill>
                  <a:srgbClr val="1A2332"/>
                </a:solidFill>
              </a:rPr>
              <a:t>Engine-safe selection  +  naive baseline  +  whole-engine conformal intervals  +  verified SHAP  +  deterministic triage  +  separately tested HITL prototype with audit</a:t>
            </a:r>
            <a:endParaRPr lang="en-US" sz="1200" dirty="0"/>
          </a:p>
        </p:txBody>
      </p:sp>
      <p:sp>
        <p:nvSpPr>
          <p:cNvPr id="18" name="Text 16"/>
          <p:cNvSpPr txBox="1"/>
          <p:nvPr/>
        </p:nvSpPr>
        <p:spPr>
          <a:xfrm>
            <a:off x="548640" y="4663440"/>
            <a:ext cx="10972800" cy="365760"/>
          </a:xfrm>
          <a:prstGeom prst="rect">
            <a:avLst/>
          </a:prstGeom>
          <a:noFill/>
          <a:ln/>
        </p:spPr>
        <p:txBody>
          <a:bodyPr wrap="square" lIns="0" tIns="0" rIns="0" bIns="0" rtlCol="0" anchor="ctr"/>
          <a:lstStyle/>
          <a:p>
            <a:pPr indent="0" marL="0">
              <a:buNone/>
            </a:pPr>
            <a:r>
              <a:rPr lang="en-US" sz="1000" dirty="0">
                <a:solidFill>
                  <a:srgbClr val="5A6A7E"/>
                </a:solidFill>
              </a:rPr>
              <a:t>Key references: Saxena et al. (2008); Jardine, Lin &amp; Banjevic (2006); Lei et al. (2018); Angelopoulos &amp; Bates (2023); Lundberg &amp; Lee (2017); Parasuraman, Sheridan &amp; Wickens (2000)</a:t>
            </a:r>
            <a:endParaRPr lang="en-US" sz="1000" dirty="0"/>
          </a:p>
        </p:txBody>
      </p:sp>
      <p:sp>
        <p:nvSpPr>
          <p:cNvPr id="19" name="Text 17"/>
          <p:cNvSpPr txBox="1"/>
          <p:nvPr/>
        </p:nvSpPr>
        <p:spPr>
          <a:xfrm>
            <a:off x="548640" y="6400800"/>
            <a:ext cx="9144000" cy="274320"/>
          </a:xfrm>
          <a:prstGeom prst="rect">
            <a:avLst/>
          </a:prstGeom>
          <a:noFill/>
          <a:ln/>
        </p:spPr>
        <p:txBody>
          <a:bodyPr wrap="square" lIns="0" tIns="0" rIns="0" bIns="0" rtlCol="0" anchor="ctr"/>
          <a:lstStyle/>
          <a:p>
            <a:pPr indent="0" marL="0">
              <a:buNone/>
            </a:pPr>
            <a:r>
              <a:rPr lang="en-US" sz="800" dirty="0">
                <a:solidFill>
                  <a:srgbClr val="5A6A7E"/>
                </a:solidFill>
              </a:rPr>
              <a:t>Thesis §3.7 · Table 3.1</a:t>
            </a:r>
            <a:endParaRPr lang="en-US" sz="800" dirty="0"/>
          </a:p>
        </p:txBody>
      </p:sp>
      <p:sp>
        <p:nvSpPr>
          <p:cNvPr id="25" name="Slide Number Placeholder 0"/>
          <p:cNvSpPr>
            <a:spLocks noGrp="1"/>
          </p:cNvSpPr>
          <p:nvPr>
            <p:ph type="sldNum" sz="quarter" idx="4294967295"/>
          </p:nvPr>
        </p:nvSpPr>
        <p:spPr>
          <a:xfrm>
            <a:off x="1143000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6A7E"/>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0972800" cy="548640"/>
          </a:xfrm>
          <a:prstGeom prst="rect">
            <a:avLst/>
          </a:prstGeom>
          <a:noFill/>
          <a:ln/>
        </p:spPr>
        <p:txBody>
          <a:bodyPr wrap="square" lIns="0" tIns="0" rIns="0" bIns="0" rtlCol="0" anchor="ctr"/>
          <a:lstStyle/>
          <a:p>
            <a:pPr indent="0" marL="0">
              <a:buNone/>
            </a:pPr>
            <a:r>
              <a:rPr lang="en-US" sz="2800" b="1" dirty="0">
                <a:solidFill>
                  <a:srgbClr val="1A2332"/>
                </a:solidFill>
              </a:rPr>
              <a:t>FD001: one fault mode, engine-safe partitioning, one official test</a:t>
            </a:r>
            <a:endParaRPr lang="en-US" sz="2800" dirty="0"/>
          </a:p>
        </p:txBody>
      </p:sp>
      <p:sp>
        <p:nvSpPr>
          <p:cNvPr id="3" name="Text 1"/>
          <p:cNvSpPr txBox="1"/>
          <p:nvPr/>
        </p:nvSpPr>
        <p:spPr>
          <a:xfrm>
            <a:off x="548640" y="1051560"/>
            <a:ext cx="5486400" cy="320040"/>
          </a:xfrm>
          <a:prstGeom prst="rect">
            <a:avLst/>
          </a:prstGeom>
          <a:noFill/>
          <a:ln/>
        </p:spPr>
        <p:txBody>
          <a:bodyPr wrap="square" lIns="0" tIns="0" rIns="0" bIns="0" rtlCol="0" anchor="ctr"/>
          <a:lstStyle/>
          <a:p>
            <a:pPr indent="0" marL="0">
              <a:buNone/>
            </a:pPr>
            <a:r>
              <a:rPr lang="en-US" sz="1300" b="1" dirty="0">
                <a:solidFill>
                  <a:srgbClr val="1A2332"/>
                </a:solidFill>
              </a:rPr>
              <a:t>Engine-level partition (seed 42, no reroll)</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486400" cy="914400"/>
        </p:xfrm>
        <a:graphic>
          <a:graphicData uri="http://schemas.openxmlformats.org/drawingml/2006/table">
            <a:tbl>
              <a:tblPr/>
              <a:tblGrid>
                <a:gridCol w="2560320"/>
                <a:gridCol w="1463040"/>
                <a:gridCol w="1463040"/>
              </a:tblGrid>
              <a:tr h="365760">
                <a:tc>
                  <a:txBody>
                    <a:bodyPr/>
                    <a:lstStyle/>
                    <a:p>
                      <a:pPr indent="0" marL="0">
                        <a:buNone/>
                      </a:pPr>
                      <a:r>
                        <a:rPr lang="en-US" sz="1200" b="1" dirty="0">
                          <a:solidFill>
                            <a:srgbClr val="1A2332"/>
                          </a:solidFill>
                        </a:rPr>
                        <a:t>Role</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1A2332"/>
                          </a:solidFill>
                        </a:rPr>
                        <a:t>Engines</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1A2332"/>
                          </a:solidFill>
                        </a:rPr>
                        <a:t>Rows</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365760">
                <a:tc>
                  <a:txBody>
                    <a:bodyPr/>
                    <a:lstStyle/>
                    <a:p>
                      <a:pPr indent="0" marL="0">
                        <a:buNone/>
                      </a:pPr>
                      <a:r>
                        <a:rPr lang="en-US" sz="1200" dirty="0">
                          <a:solidFill>
                            <a:srgbClr val="1A2332"/>
                          </a:solidFill>
                        </a:rPr>
                        <a:t>Training (modelling)</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1A2332"/>
                          </a:solidFill>
                        </a:rPr>
                        <a:t>60</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1A2332"/>
                          </a:solidFill>
                        </a:rPr>
                        <a:t>12,310</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65760">
                <a:tc>
                  <a:txBody>
                    <a:bodyPr/>
                    <a:lstStyle/>
                    <a:p>
                      <a:pPr indent="0" marL="0">
                        <a:buNone/>
                      </a:pPr>
                      <a:r>
                        <a:rPr lang="en-US" sz="1200" dirty="0">
                          <a:solidFill>
                            <a:srgbClr val="1A2332"/>
                          </a:solidFill>
                        </a:rPr>
                        <a:t>Validation (selection)</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1A2332"/>
                          </a:solidFill>
                        </a:rPr>
                        <a:t>20</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1A2332"/>
                          </a:solidFill>
                        </a:rPr>
                        <a:t>4,217</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65760">
                <a:tc>
                  <a:txBody>
                    <a:bodyPr/>
                    <a:lstStyle/>
                    <a:p>
                      <a:pPr indent="0" marL="0">
                        <a:buNone/>
                      </a:pPr>
                      <a:r>
                        <a:rPr lang="en-US" sz="1200" dirty="0">
                          <a:solidFill>
                            <a:srgbClr val="1A2332"/>
                          </a:solidFill>
                        </a:rPr>
                        <a:t>Calibration (conformal)</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1A2332"/>
                          </a:solidFill>
                        </a:rPr>
                        <a:t>20</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1A2332"/>
                          </a:solidFill>
                        </a:rPr>
                        <a:t>4,104</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65760">
                <a:tc>
                  <a:txBody>
                    <a:bodyPr/>
                    <a:lstStyle/>
                    <a:p>
                      <a:pPr indent="0" marL="0">
                        <a:buNone/>
                      </a:pPr>
                      <a:r>
                        <a:rPr lang="en-US" sz="1200" b="1" dirty="0">
                          <a:solidFill>
                            <a:srgbClr val="1A2332"/>
                          </a:solidFill>
                        </a:rPr>
                        <a:t>Official test</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1A2332"/>
                          </a:solidFill>
                        </a:rPr>
                        <a:t>100 endpoints</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1A2332"/>
                          </a:solidFill>
                        </a:rPr>
                        <a:t>sealed</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5" name="Text 2"/>
          <p:cNvSpPr txBox="1"/>
          <p:nvPr/>
        </p:nvSpPr>
        <p:spPr>
          <a:xfrm>
            <a:off x="548640" y="3383280"/>
            <a:ext cx="5486400" cy="274320"/>
          </a:xfrm>
          <a:prstGeom prst="rect">
            <a:avLst/>
          </a:prstGeom>
          <a:noFill/>
          <a:ln/>
        </p:spPr>
        <p:txBody>
          <a:bodyPr wrap="square" lIns="0" tIns="0" rIns="0" bIns="0" rtlCol="0" anchor="ctr"/>
          <a:lstStyle/>
          <a:p>
            <a:pPr indent="0" marL="0">
              <a:buNone/>
            </a:pPr>
            <a:r>
              <a:rPr lang="en-US" sz="1100" b="1" dirty="0">
                <a:solidFill>
                  <a:srgbClr val="0891B2"/>
                </a:solidFill>
              </a:rPr>
              <a:t>Each engine has exactly one role → no leakage</a:t>
            </a:r>
            <a:endParaRPr lang="en-US" sz="1100" dirty="0"/>
          </a:p>
        </p:txBody>
      </p:sp>
      <p:sp>
        <p:nvSpPr>
          <p:cNvPr id="6" name="Shape 3"/>
          <p:cNvSpPr/>
          <p:nvPr/>
        </p:nvSpPr>
        <p:spPr>
          <a:xfrm>
            <a:off x="6583680" y="1051560"/>
            <a:ext cx="5029200" cy="1097280"/>
          </a:xfrm>
          <a:prstGeom prst="roundRect">
            <a:avLst>
              <a:gd name="adj" fmla="val 8333"/>
            </a:avLst>
          </a:prstGeom>
          <a:solidFill>
            <a:srgbClr val="F1F5F9"/>
          </a:solidFill>
          <a:ln/>
        </p:spPr>
      </p:sp>
      <p:sp>
        <p:nvSpPr>
          <p:cNvPr id="7" name="Text 4"/>
          <p:cNvSpPr txBox="1"/>
          <p:nvPr/>
        </p:nvSpPr>
        <p:spPr>
          <a:xfrm>
            <a:off x="6858000" y="1188720"/>
            <a:ext cx="4572000" cy="411480"/>
          </a:xfrm>
          <a:prstGeom prst="rect">
            <a:avLst/>
          </a:prstGeom>
          <a:noFill/>
          <a:ln/>
        </p:spPr>
        <p:txBody>
          <a:bodyPr wrap="square" lIns="0" tIns="0" rIns="0" bIns="0" rtlCol="0" anchor="ctr"/>
          <a:lstStyle/>
          <a:p>
            <a:pPr algn="ctr" indent="0" marL="0">
              <a:buNone/>
            </a:pPr>
            <a:r>
              <a:rPr lang="en-US" sz="2000" b="1" dirty="0">
                <a:solidFill>
                  <a:srgbClr val="1A2332"/>
                </a:solidFill>
              </a:rPr>
              <a:t>RUL(i, t) = Tᵢ − t</a:t>
            </a:r>
            <a:endParaRPr lang="en-US" sz="2000" dirty="0"/>
          </a:p>
        </p:txBody>
      </p:sp>
      <p:sp>
        <p:nvSpPr>
          <p:cNvPr id="8" name="Text 5"/>
          <p:cNvSpPr txBox="1"/>
          <p:nvPr/>
        </p:nvSpPr>
        <p:spPr>
          <a:xfrm>
            <a:off x="6858000" y="1691640"/>
            <a:ext cx="4572000" cy="274320"/>
          </a:xfrm>
          <a:prstGeom prst="rect">
            <a:avLst/>
          </a:prstGeom>
          <a:noFill/>
          <a:ln/>
        </p:spPr>
        <p:txBody>
          <a:bodyPr wrap="square" lIns="0" tIns="0" rIns="0" bIns="0" rtlCol="0" anchor="ctr"/>
          <a:lstStyle/>
          <a:p>
            <a:pPr algn="ctr" indent="0" marL="0">
              <a:buNone/>
            </a:pPr>
            <a:r>
              <a:rPr lang="en-US" sz="1100" dirty="0">
                <a:solidFill>
                  <a:srgbClr val="5A6A7E"/>
                </a:solidFill>
              </a:rPr>
              <a:t>Primary: uncapped  ·  Sensitivity: capped at 130</a:t>
            </a:r>
            <a:endParaRPr lang="en-US" sz="1100" dirty="0"/>
          </a:p>
        </p:txBody>
      </p:sp>
      <p:sp>
        <p:nvSpPr>
          <p:cNvPr id="9" name="Text 6"/>
          <p:cNvSpPr txBox="1"/>
          <p:nvPr/>
        </p:nvSpPr>
        <p:spPr>
          <a:xfrm>
            <a:off x="6583680" y="2423160"/>
            <a:ext cx="4572000" cy="320040"/>
          </a:xfrm>
          <a:prstGeom prst="rect">
            <a:avLst/>
          </a:prstGeom>
          <a:noFill/>
          <a:ln/>
        </p:spPr>
        <p:txBody>
          <a:bodyPr wrap="square" lIns="0" tIns="0" rIns="0" bIns="0" rtlCol="0" anchor="ctr"/>
          <a:lstStyle/>
          <a:p>
            <a:pPr indent="0" marL="0">
              <a:buNone/>
            </a:pPr>
            <a:r>
              <a:rPr lang="en-US" sz="1300" b="1" dirty="0">
                <a:solidFill>
                  <a:srgbClr val="1A2332"/>
                </a:solidFill>
              </a:rPr>
              <a:t>Dataset characteristics</a:t>
            </a:r>
            <a:endParaRPr lang="en-US" sz="1300" dirty="0"/>
          </a:p>
        </p:txBody>
      </p:sp>
      <p:sp>
        <p:nvSpPr>
          <p:cNvPr id="10" name="Shape 7"/>
          <p:cNvSpPr/>
          <p:nvPr/>
        </p:nvSpPr>
        <p:spPr>
          <a:xfrm>
            <a:off x="6766560" y="2880360"/>
            <a:ext cx="137160" cy="137160"/>
          </a:xfrm>
          <a:prstGeom prst="ellipse">
            <a:avLst/>
          </a:prstGeom>
          <a:solidFill>
            <a:srgbClr val="0891B2"/>
          </a:solidFill>
          <a:ln/>
        </p:spPr>
      </p:sp>
      <p:sp>
        <p:nvSpPr>
          <p:cNvPr id="11" name="Text 8"/>
          <p:cNvSpPr txBox="1"/>
          <p:nvPr/>
        </p:nvSpPr>
        <p:spPr>
          <a:xfrm>
            <a:off x="7132320" y="2788920"/>
            <a:ext cx="4389120" cy="320040"/>
          </a:xfrm>
          <a:prstGeom prst="rect">
            <a:avLst/>
          </a:prstGeom>
          <a:noFill/>
          <a:ln/>
        </p:spPr>
        <p:txBody>
          <a:bodyPr wrap="square" lIns="0" tIns="0" rIns="0" bIns="0" rtlCol="0" anchor="ctr"/>
          <a:lstStyle/>
          <a:p>
            <a:pPr indent="0" marL="0">
              <a:buNone/>
            </a:pPr>
            <a:r>
              <a:rPr lang="en-US" sz="1200" dirty="0">
                <a:solidFill>
                  <a:srgbClr val="5A6A7E"/>
                </a:solidFill>
              </a:rPr>
              <a:t>Single operating condition (sea level)</a:t>
            </a:r>
            <a:endParaRPr lang="en-US" sz="1200" dirty="0"/>
          </a:p>
        </p:txBody>
      </p:sp>
      <p:sp>
        <p:nvSpPr>
          <p:cNvPr id="12" name="Shape 9"/>
          <p:cNvSpPr/>
          <p:nvPr/>
        </p:nvSpPr>
        <p:spPr>
          <a:xfrm>
            <a:off x="6766560" y="3291840"/>
            <a:ext cx="137160" cy="137160"/>
          </a:xfrm>
          <a:prstGeom prst="ellipse">
            <a:avLst/>
          </a:prstGeom>
          <a:solidFill>
            <a:srgbClr val="0891B2"/>
          </a:solidFill>
          <a:ln/>
        </p:spPr>
      </p:sp>
      <p:sp>
        <p:nvSpPr>
          <p:cNvPr id="13" name="Text 10"/>
          <p:cNvSpPr txBox="1"/>
          <p:nvPr/>
        </p:nvSpPr>
        <p:spPr>
          <a:xfrm>
            <a:off x="7132320" y="3200400"/>
            <a:ext cx="4389120" cy="320040"/>
          </a:xfrm>
          <a:prstGeom prst="rect">
            <a:avLst/>
          </a:prstGeom>
          <a:noFill/>
          <a:ln/>
        </p:spPr>
        <p:txBody>
          <a:bodyPr wrap="square" lIns="0" tIns="0" rIns="0" bIns="0" rtlCol="0" anchor="ctr"/>
          <a:lstStyle/>
          <a:p>
            <a:pPr indent="0" marL="0">
              <a:buNone/>
            </a:pPr>
            <a:r>
              <a:rPr lang="en-US" sz="1200" dirty="0">
                <a:solidFill>
                  <a:srgbClr val="5A6A7E"/>
                </a:solidFill>
              </a:rPr>
              <a:t>Single fault mode (HPC degradation)</a:t>
            </a:r>
            <a:endParaRPr lang="en-US" sz="1200" dirty="0"/>
          </a:p>
        </p:txBody>
      </p:sp>
      <p:sp>
        <p:nvSpPr>
          <p:cNvPr id="14" name="Shape 11"/>
          <p:cNvSpPr/>
          <p:nvPr/>
        </p:nvSpPr>
        <p:spPr>
          <a:xfrm>
            <a:off x="6766560" y="3703320"/>
            <a:ext cx="137160" cy="137160"/>
          </a:xfrm>
          <a:prstGeom prst="ellipse">
            <a:avLst/>
          </a:prstGeom>
          <a:solidFill>
            <a:srgbClr val="0891B2"/>
          </a:solidFill>
          <a:ln/>
        </p:spPr>
      </p:sp>
      <p:sp>
        <p:nvSpPr>
          <p:cNvPr id="15" name="Text 12"/>
          <p:cNvSpPr txBox="1"/>
          <p:nvPr/>
        </p:nvSpPr>
        <p:spPr>
          <a:xfrm>
            <a:off x="7132320" y="3611880"/>
            <a:ext cx="4389120" cy="320040"/>
          </a:xfrm>
          <a:prstGeom prst="rect">
            <a:avLst/>
          </a:prstGeom>
          <a:noFill/>
          <a:ln/>
        </p:spPr>
        <p:txBody>
          <a:bodyPr wrap="square" lIns="0" tIns="0" rIns="0" bIns="0" rtlCol="0" anchor="ctr"/>
          <a:lstStyle/>
          <a:p>
            <a:pPr indent="0" marL="0">
              <a:buNone/>
            </a:pPr>
            <a:r>
              <a:rPr lang="en-US" sz="1200" dirty="0">
                <a:solidFill>
                  <a:srgbClr val="5A6A7E"/>
                </a:solidFill>
              </a:rPr>
              <a:t>Simulated, not real fleet data</a:t>
            </a:r>
            <a:endParaRPr lang="en-US" sz="1200" dirty="0"/>
          </a:p>
        </p:txBody>
      </p:sp>
      <p:sp>
        <p:nvSpPr>
          <p:cNvPr id="16" name="Shape 13"/>
          <p:cNvSpPr/>
          <p:nvPr/>
        </p:nvSpPr>
        <p:spPr>
          <a:xfrm>
            <a:off x="6766560" y="4114800"/>
            <a:ext cx="137160" cy="137160"/>
          </a:xfrm>
          <a:prstGeom prst="ellipse">
            <a:avLst/>
          </a:prstGeom>
          <a:solidFill>
            <a:srgbClr val="0891B2"/>
          </a:solidFill>
          <a:ln/>
        </p:spPr>
      </p:sp>
      <p:sp>
        <p:nvSpPr>
          <p:cNvPr id="17" name="Text 14"/>
          <p:cNvSpPr txBox="1"/>
          <p:nvPr/>
        </p:nvSpPr>
        <p:spPr>
          <a:xfrm>
            <a:off x="7132320" y="4023360"/>
            <a:ext cx="4389120" cy="320040"/>
          </a:xfrm>
          <a:prstGeom prst="rect">
            <a:avLst/>
          </a:prstGeom>
          <a:noFill/>
          <a:ln/>
        </p:spPr>
        <p:txBody>
          <a:bodyPr wrap="square" lIns="0" tIns="0" rIns="0" bIns="0" rtlCol="0" anchor="ctr"/>
          <a:lstStyle/>
          <a:p>
            <a:pPr indent="0" marL="0">
              <a:buNone/>
            </a:pPr>
            <a:r>
              <a:rPr lang="en-US" sz="1200" dirty="0">
                <a:solidFill>
                  <a:srgbClr val="5A6A7E"/>
                </a:solidFill>
              </a:rPr>
              <a:t>14 selected sensors + 3 operational + age</a:t>
            </a:r>
            <a:endParaRPr lang="en-US" sz="1200" dirty="0"/>
          </a:p>
        </p:txBody>
      </p:sp>
      <p:sp>
        <p:nvSpPr>
          <p:cNvPr id="18" name="Text 15"/>
          <p:cNvSpPr txBox="1"/>
          <p:nvPr/>
        </p:nvSpPr>
        <p:spPr>
          <a:xfrm>
            <a:off x="548640" y="6400800"/>
            <a:ext cx="9144000" cy="274320"/>
          </a:xfrm>
          <a:prstGeom prst="rect">
            <a:avLst/>
          </a:prstGeom>
          <a:noFill/>
          <a:ln/>
        </p:spPr>
        <p:txBody>
          <a:bodyPr wrap="square" lIns="0" tIns="0" rIns="0" bIns="0" rtlCol="0" anchor="ctr"/>
          <a:lstStyle/>
          <a:p>
            <a:pPr indent="0" marL="0">
              <a:buNone/>
            </a:pPr>
            <a:r>
              <a:rPr lang="en-US" sz="800" dirty="0">
                <a:solidFill>
                  <a:srgbClr val="5A6A7E"/>
                </a:solidFill>
              </a:rPr>
              <a:t>Thesis §4.3–4.5 · Table 4.1 · Saxena et al. (2008)</a:t>
            </a:r>
            <a:endParaRPr lang="en-US" sz="800" dirty="0"/>
          </a:p>
        </p:txBody>
      </p:sp>
      <p:sp>
        <p:nvSpPr>
          <p:cNvPr id="25" name="Slide Number Placeholder 0"/>
          <p:cNvSpPr>
            <a:spLocks noGrp="1"/>
          </p:cNvSpPr>
          <p:nvPr>
            <p:ph type="sldNum" sz="quarter" idx="4294967295"/>
          </p:nvPr>
        </p:nvSpPr>
        <p:spPr>
          <a:xfrm>
            <a:off x="1143000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6A7E"/>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0972800" cy="548640"/>
          </a:xfrm>
          <a:prstGeom prst="rect">
            <a:avLst/>
          </a:prstGeom>
          <a:noFill/>
          <a:ln/>
        </p:spPr>
        <p:txBody>
          <a:bodyPr wrap="square" lIns="0" tIns="0" rIns="0" bIns="0" rtlCol="0" anchor="ctr"/>
          <a:lstStyle/>
          <a:p>
            <a:pPr indent="0" marL="0">
              <a:buNone/>
            </a:pPr>
            <a:r>
              <a:rPr lang="en-US" sz="2800" b="1" dirty="0">
                <a:solidFill>
                  <a:srgbClr val="1A2332"/>
                </a:solidFill>
              </a:rPr>
              <a:t>Random Forest won a near-tie via the predeclared PHM penalty</a:t>
            </a:r>
            <a:endParaRPr lang="en-US" sz="2800" dirty="0"/>
          </a:p>
        </p:txBody>
      </p:sp>
      <p:graphicFrame>
        <p:nvGraphicFramePr>
          <p:cNvPr id="3" name="Chart 0" descr=""/>
          <p:cNvGraphicFramePr/>
          <p:nvPr/>
        </p:nvGraphicFramePr>
        <p:xfrm>
          <a:off x="548640" y="1051560"/>
          <a:ext cx="329184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3840480" y="1051560"/>
          <a:ext cx="2560320" cy="32004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548640" y="4251960"/>
            <a:ext cx="5486400" cy="228600"/>
          </a:xfrm>
          <a:prstGeom prst="rect">
            <a:avLst/>
          </a:prstGeom>
          <a:noFill/>
          <a:ln/>
        </p:spPr>
        <p:txBody>
          <a:bodyPr wrap="square" lIns="0" tIns="0" rIns="0" bIns="0" rtlCol="0" anchor="ctr"/>
          <a:lstStyle/>
          <a:p>
            <a:pPr indent="0" marL="0">
              <a:buNone/>
            </a:pPr>
            <a:r>
              <a:rPr lang="en-US" sz="900" dirty="0">
                <a:solidFill>
                  <a:srgbClr val="5A6A7E"/>
                </a:solidFill>
              </a:rPr>
              <a:t>Validation: 20 engines · 4,217 rows</a:t>
            </a:r>
            <a:endParaRPr lang="en-US" sz="900" dirty="0"/>
          </a:p>
        </p:txBody>
      </p:sp>
      <p:sp>
        <p:nvSpPr>
          <p:cNvPr id="6" name="Shape 2"/>
          <p:cNvSpPr/>
          <p:nvPr/>
        </p:nvSpPr>
        <p:spPr>
          <a:xfrm>
            <a:off x="6583680" y="1051560"/>
            <a:ext cx="5029200" cy="3200400"/>
          </a:xfrm>
          <a:prstGeom prst="roundRect">
            <a:avLst>
              <a:gd name="adj" fmla="val 2857"/>
            </a:avLst>
          </a:prstGeom>
          <a:solidFill>
            <a:srgbClr val="F1F5F9"/>
          </a:solidFill>
          <a:ln/>
        </p:spPr>
      </p:sp>
      <p:sp>
        <p:nvSpPr>
          <p:cNvPr id="7" name="Text 3"/>
          <p:cNvSpPr txBox="1"/>
          <p:nvPr/>
        </p:nvSpPr>
        <p:spPr>
          <a:xfrm>
            <a:off x="6858000" y="1188720"/>
            <a:ext cx="4572000" cy="320040"/>
          </a:xfrm>
          <a:prstGeom prst="rect">
            <a:avLst/>
          </a:prstGeom>
          <a:noFill/>
          <a:ln/>
        </p:spPr>
        <p:txBody>
          <a:bodyPr wrap="square" lIns="0" tIns="0" rIns="0" bIns="0" rtlCol="0" anchor="ctr"/>
          <a:lstStyle/>
          <a:p>
            <a:pPr indent="0" marL="0">
              <a:buNone/>
            </a:pPr>
            <a:r>
              <a:rPr lang="en-US" sz="1300" b="1" dirty="0">
                <a:solidFill>
                  <a:srgbClr val="1A2332"/>
                </a:solidFill>
              </a:rPr>
              <a:t>Selection policy (frozen before test)</a:t>
            </a:r>
            <a:endParaRPr lang="en-US" sz="1300" dirty="0"/>
          </a:p>
        </p:txBody>
      </p:sp>
      <p:sp>
        <p:nvSpPr>
          <p:cNvPr id="8" name="Text 4"/>
          <p:cNvSpPr txBox="1"/>
          <p:nvPr/>
        </p:nvSpPr>
        <p:spPr>
          <a:xfrm>
            <a:off x="6858000" y="1645920"/>
            <a:ext cx="4572000" cy="2468880"/>
          </a:xfrm>
          <a:prstGeom prst="rect">
            <a:avLst/>
          </a:prstGeom>
          <a:noFill/>
          <a:ln/>
        </p:spPr>
        <p:txBody>
          <a:bodyPr wrap="square" lIns="0" tIns="0" rIns="0" bIns="0" rtlCol="0" anchor="ctr"/>
          <a:lstStyle/>
          <a:p>
            <a:pPr indent="0" marL="0">
              <a:lnSpc>
                <a:spcPct val="120000"/>
              </a:lnSpc>
              <a:buNone/>
            </a:pPr>
            <a:r>
              <a:rPr lang="en-US" sz="1200" b="1" dirty="0">
                <a:solidFill>
                  <a:srgbClr val="0891B2"/>
                </a:solidFill>
              </a:rPr>
              <a:t>Step 1</a:t>
            </a:r>
            <a:endParaRPr lang="en-US" sz="1200" dirty="0"/>
          </a:p>
          <a:p>
            <a:pPr indent="0" marL="0">
              <a:lnSpc>
                <a:spcPct val="120000"/>
              </a:lnSpc>
              <a:buNone/>
            </a:pPr>
            <a:r>
              <a:rPr lang="en-US" sz="1100" dirty="0">
                <a:solidFill>
                  <a:srgbClr val="5A6A7E"/>
                </a:solidFill>
              </a:rPr>
              <a:t>If any model's mean engine RMSE is outside 1% of the best → eliminate.</a:t>
            </a:r>
            <a:endParaRPr lang="en-US" sz="1200" dirty="0"/>
          </a:p>
          <a:p>
            <a:pPr indent="0" marL="0">
              <a:lnSpc>
                <a:spcPct val="120000"/>
              </a:lnSpc>
              <a:buNone/>
            </a:pPr>
            <a:endParaRPr lang="en-US" sz="1200" dirty="0"/>
          </a:p>
          <a:p>
            <a:pPr indent="0" marL="0">
              <a:lnSpc>
                <a:spcPct val="120000"/>
              </a:lnSpc>
              <a:buNone/>
            </a:pPr>
            <a:r>
              <a:rPr lang="en-US" sz="1200" b="1" dirty="0">
                <a:solidFill>
                  <a:srgbClr val="0891B2"/>
                </a:solidFill>
              </a:rPr>
              <a:t>Step 2</a:t>
            </a:r>
            <a:endParaRPr lang="en-US" sz="1200" dirty="0"/>
          </a:p>
          <a:p>
            <a:pPr indent="0" marL="0">
              <a:lnSpc>
                <a:spcPct val="120000"/>
              </a:lnSpc>
              <a:buNone/>
            </a:pPr>
            <a:r>
              <a:rPr lang="en-US" sz="1100" dirty="0">
                <a:solidFill>
                  <a:srgbClr val="5A6A7E"/>
                </a:solidFill>
              </a:rPr>
              <a:t>Among survivors, pick the lowest asymmetric PHM score.</a:t>
            </a:r>
            <a:endParaRPr lang="en-US" sz="1200" dirty="0"/>
          </a:p>
          <a:p>
            <a:pPr indent="0" marL="0">
              <a:lnSpc>
                <a:spcPct val="120000"/>
              </a:lnSpc>
              <a:buNone/>
            </a:pPr>
            <a:endParaRPr lang="en-US" sz="1200" dirty="0"/>
          </a:p>
          <a:p>
            <a:pPr indent="0" marL="0">
              <a:lnSpc>
                <a:spcPct val="120000"/>
              </a:lnSpc>
              <a:buNone/>
            </a:pPr>
            <a:r>
              <a:rPr lang="en-US" sz="1200" b="1" dirty="0">
                <a:solidFill>
                  <a:srgbClr val="D97706"/>
                </a:solidFill>
              </a:rPr>
              <a:t>Rationale</a:t>
            </a:r>
            <a:endParaRPr lang="en-US" sz="1200" dirty="0"/>
          </a:p>
          <a:p>
            <a:pPr indent="0" marL="0">
              <a:lnSpc>
                <a:spcPct val="120000"/>
              </a:lnSpc>
              <a:buNone/>
            </a:pPr>
            <a:r>
              <a:rPr lang="en-US" sz="1100" dirty="0">
                <a:solidFill>
                  <a:srgbClr val="5A6A7E"/>
                </a:solidFill>
              </a:rPr>
              <a:t>PHM penalises late predictions more steeply — exp(e/10) vs exp(−e/13) — aligning with safety.</a:t>
            </a:r>
            <a:endParaRPr lang="en-US" sz="1200" dirty="0"/>
          </a:p>
        </p:txBody>
      </p:sp>
      <p:sp>
        <p:nvSpPr>
          <p:cNvPr id="9" name="Shape 5"/>
          <p:cNvSpPr/>
          <p:nvPr/>
        </p:nvSpPr>
        <p:spPr>
          <a:xfrm>
            <a:off x="548640" y="4572000"/>
            <a:ext cx="11064240" cy="640080"/>
          </a:xfrm>
          <a:prstGeom prst="roundRect">
            <a:avLst>
              <a:gd name="adj" fmla="val 14286"/>
            </a:avLst>
          </a:prstGeom>
          <a:solidFill>
            <a:srgbClr val="FEF3C7"/>
          </a:solidFill>
          <a:ln w="19050">
            <a:solidFill>
              <a:srgbClr val="D97706"/>
            </a:solidFill>
            <a:prstDash val="solid"/>
          </a:ln>
        </p:spPr>
      </p:sp>
      <p:sp>
        <p:nvSpPr>
          <p:cNvPr id="10" name="Text 6"/>
          <p:cNvSpPr txBox="1"/>
          <p:nvPr/>
        </p:nvSpPr>
        <p:spPr>
          <a:xfrm>
            <a:off x="822960" y="4663440"/>
            <a:ext cx="10515600" cy="411480"/>
          </a:xfrm>
          <a:prstGeom prst="rect">
            <a:avLst/>
          </a:prstGeom>
          <a:noFill/>
          <a:ln/>
        </p:spPr>
        <p:txBody>
          <a:bodyPr wrap="square" lIns="0" tIns="0" rIns="0" bIns="0" rtlCol="0" anchor="ctr"/>
          <a:lstStyle/>
          <a:p>
            <a:pPr indent="0" marL="0">
              <a:buNone/>
            </a:pPr>
            <a:r>
              <a:rPr lang="en-US" sz="1200" b="1" dirty="0">
                <a:solidFill>
                  <a:srgbClr val="D97706"/>
                </a:solidFill>
              </a:rPr>
              <a:t>Δ = 0.077 cycles — inside 1% equivalence band. The frozen PHM tie-break, not RMSE, determined selection.</a:t>
            </a:r>
            <a:endParaRPr lang="en-US" sz="1200" dirty="0"/>
          </a:p>
        </p:txBody>
      </p:sp>
      <p:sp>
        <p:nvSpPr>
          <p:cNvPr id="11" name="Text 7"/>
          <p:cNvSpPr txBox="1"/>
          <p:nvPr/>
        </p:nvSpPr>
        <p:spPr>
          <a:xfrm>
            <a:off x="548640" y="6400800"/>
            <a:ext cx="9144000" cy="274320"/>
          </a:xfrm>
          <a:prstGeom prst="rect">
            <a:avLst/>
          </a:prstGeom>
          <a:noFill/>
          <a:ln/>
        </p:spPr>
        <p:txBody>
          <a:bodyPr wrap="square" lIns="0" tIns="0" rIns="0" bIns="0" rtlCol="0" anchor="ctr"/>
          <a:lstStyle/>
          <a:p>
            <a:pPr indent="0" marL="0">
              <a:buNone/>
            </a:pPr>
            <a:r>
              <a:rPr lang="en-US" sz="800" dirty="0">
                <a:solidFill>
                  <a:srgbClr val="5A6A7E"/>
                </a:solidFill>
              </a:rPr>
              <a:t>Thesis §4.7, §5.2 · Tables 4.3, 5.1</a:t>
            </a:r>
            <a:endParaRPr lang="en-US" sz="800" dirty="0"/>
          </a:p>
        </p:txBody>
      </p:sp>
      <p:sp>
        <p:nvSpPr>
          <p:cNvPr id="25" name="Slide Number Placeholder 0"/>
          <p:cNvSpPr>
            <a:spLocks noGrp="1"/>
          </p:cNvSpPr>
          <p:nvPr>
            <p:ph type="sldNum" sz="quarter" idx="4294967295"/>
          </p:nvPr>
        </p:nvSpPr>
        <p:spPr>
          <a:xfrm>
            <a:off x="1143000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6A7E"/>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0972800" cy="548640"/>
          </a:xfrm>
          <a:prstGeom prst="rect">
            <a:avLst/>
          </a:prstGeom>
          <a:noFill/>
          <a:ln/>
        </p:spPr>
        <p:txBody>
          <a:bodyPr wrap="square" lIns="0" tIns="0" rIns="0" bIns="0" rtlCol="0" anchor="ctr"/>
          <a:lstStyle/>
          <a:p>
            <a:pPr indent="0" marL="0">
              <a:buNone/>
            </a:pPr>
            <a:r>
              <a:rPr lang="en-US" sz="2800" b="1" dirty="0">
                <a:solidFill>
                  <a:srgbClr val="1A2332"/>
                </a:solidFill>
              </a:rPr>
              <a:t>Engine-block conformal: valid coverage at a scheduling cost</a:t>
            </a:r>
            <a:endParaRPr lang="en-US" sz="2800" dirty="0"/>
          </a:p>
        </p:txBody>
      </p:sp>
      <p:sp>
        <p:nvSpPr>
          <p:cNvPr id="3" name="Shape 1"/>
          <p:cNvSpPr/>
          <p:nvPr/>
        </p:nvSpPr>
        <p:spPr>
          <a:xfrm>
            <a:off x="548640" y="1051560"/>
            <a:ext cx="5303520" cy="3840480"/>
          </a:xfrm>
          <a:prstGeom prst="roundRect">
            <a:avLst>
              <a:gd name="adj" fmla="val 2381"/>
            </a:avLst>
          </a:prstGeom>
          <a:solidFill>
            <a:srgbClr val="F1F5F9"/>
          </a:solidFill>
          <a:ln/>
        </p:spPr>
      </p:sp>
      <p:sp>
        <p:nvSpPr>
          <p:cNvPr id="4" name="Text 2"/>
          <p:cNvSpPr txBox="1"/>
          <p:nvPr/>
        </p:nvSpPr>
        <p:spPr>
          <a:xfrm>
            <a:off x="822960" y="1188720"/>
            <a:ext cx="4572000" cy="274320"/>
          </a:xfrm>
          <a:prstGeom prst="rect">
            <a:avLst/>
          </a:prstGeom>
          <a:noFill/>
          <a:ln/>
        </p:spPr>
        <p:txBody>
          <a:bodyPr wrap="square" lIns="0" tIns="0" rIns="0" bIns="0" rtlCol="0" anchor="ctr"/>
          <a:lstStyle/>
          <a:p>
            <a:pPr indent="0" marL="0">
              <a:buNone/>
            </a:pPr>
            <a:r>
              <a:rPr lang="en-US" sz="1300" b="1" dirty="0">
                <a:solidFill>
                  <a:srgbClr val="1A2332"/>
                </a:solidFill>
              </a:rPr>
              <a:t>Construction</a:t>
            </a:r>
            <a:endParaRPr lang="en-US" sz="1300" dirty="0"/>
          </a:p>
        </p:txBody>
      </p:sp>
      <p:sp>
        <p:nvSpPr>
          <p:cNvPr id="5" name="Shape 3"/>
          <p:cNvSpPr/>
          <p:nvPr/>
        </p:nvSpPr>
        <p:spPr>
          <a:xfrm>
            <a:off x="914400" y="1691640"/>
            <a:ext cx="320040" cy="320040"/>
          </a:xfrm>
          <a:prstGeom prst="ellipse">
            <a:avLst/>
          </a:prstGeom>
          <a:solidFill>
            <a:srgbClr val="0891B2"/>
          </a:solidFill>
          <a:ln/>
        </p:spPr>
      </p:sp>
      <p:sp>
        <p:nvSpPr>
          <p:cNvPr id="6" name="Text 4"/>
          <p:cNvSpPr txBox="1"/>
          <p:nvPr/>
        </p:nvSpPr>
        <p:spPr>
          <a:xfrm>
            <a:off x="914400" y="1691640"/>
            <a:ext cx="320040" cy="32004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7" name="Text 5"/>
          <p:cNvSpPr txBox="1"/>
          <p:nvPr/>
        </p:nvSpPr>
        <p:spPr>
          <a:xfrm>
            <a:off x="1371600" y="1645920"/>
            <a:ext cx="4114800" cy="548640"/>
          </a:xfrm>
          <a:prstGeom prst="rect">
            <a:avLst/>
          </a:prstGeom>
          <a:noFill/>
          <a:ln/>
        </p:spPr>
        <p:txBody>
          <a:bodyPr wrap="square" lIns="0" tIns="0" rIns="0" bIns="0" rtlCol="0" anchor="ctr"/>
          <a:lstStyle/>
          <a:p>
            <a:pPr indent="0" marL="0">
              <a:lnSpc>
                <a:spcPct val="120000"/>
              </a:lnSpc>
              <a:buNone/>
            </a:pPr>
            <a:r>
              <a:rPr lang="en-US" sz="1100" dirty="0">
                <a:solidFill>
                  <a:srgbClr val="1A2332"/>
                </a:solidFill>
              </a:rPr>
              <a:t>For each calibration engine, compute</a:t>
            </a:r>
            <a:endParaRPr lang="en-US" sz="1100" dirty="0"/>
          </a:p>
          <a:p>
            <a:pPr indent="0" marL="0">
              <a:lnSpc>
                <a:spcPct val="120000"/>
              </a:lnSpc>
              <a:buNone/>
            </a:pPr>
            <a:r>
              <a:rPr lang="en-US" sz="1100" dirty="0">
                <a:solidFill>
                  <a:srgbClr val="1A2332"/>
                </a:solidFill>
              </a:rPr>
              <a:t>sᵢ = maxₜ |ŷ(i,t) − y(i,t)|</a:t>
            </a:r>
            <a:endParaRPr lang="en-US" sz="1100" dirty="0"/>
          </a:p>
        </p:txBody>
      </p:sp>
      <p:sp>
        <p:nvSpPr>
          <p:cNvPr id="8" name="Shape 6"/>
          <p:cNvSpPr/>
          <p:nvPr/>
        </p:nvSpPr>
        <p:spPr>
          <a:xfrm>
            <a:off x="914400" y="2331720"/>
            <a:ext cx="320040" cy="320040"/>
          </a:xfrm>
          <a:prstGeom prst="ellipse">
            <a:avLst/>
          </a:prstGeom>
          <a:solidFill>
            <a:srgbClr val="0891B2"/>
          </a:solidFill>
          <a:ln/>
        </p:spPr>
      </p:sp>
      <p:sp>
        <p:nvSpPr>
          <p:cNvPr id="9" name="Text 7"/>
          <p:cNvSpPr txBox="1"/>
          <p:nvPr/>
        </p:nvSpPr>
        <p:spPr>
          <a:xfrm>
            <a:off x="914400" y="2331720"/>
            <a:ext cx="320040" cy="32004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0" name="Text 8"/>
          <p:cNvSpPr txBox="1"/>
          <p:nvPr/>
        </p:nvSpPr>
        <p:spPr>
          <a:xfrm>
            <a:off x="1371600" y="2286000"/>
            <a:ext cx="4114800" cy="548640"/>
          </a:xfrm>
          <a:prstGeom prst="rect">
            <a:avLst/>
          </a:prstGeom>
          <a:noFill/>
          <a:ln/>
        </p:spPr>
        <p:txBody>
          <a:bodyPr wrap="square" lIns="0" tIns="0" rIns="0" bIns="0" rtlCol="0" anchor="ctr"/>
          <a:lstStyle/>
          <a:p>
            <a:pPr indent="0" marL="0">
              <a:lnSpc>
                <a:spcPct val="120000"/>
              </a:lnSpc>
              <a:buNone/>
            </a:pPr>
            <a:r>
              <a:rPr lang="en-US" sz="1100" dirty="0">
                <a:solidFill>
                  <a:srgbClr val="1A2332"/>
                </a:solidFill>
              </a:rPr>
              <a:t>Rank 20 engine-maximum scores</a:t>
            </a:r>
            <a:endParaRPr lang="en-US" sz="1100" dirty="0"/>
          </a:p>
        </p:txBody>
      </p:sp>
      <p:sp>
        <p:nvSpPr>
          <p:cNvPr id="11" name="Shape 9"/>
          <p:cNvSpPr/>
          <p:nvPr/>
        </p:nvSpPr>
        <p:spPr>
          <a:xfrm>
            <a:off x="914400" y="2971800"/>
            <a:ext cx="320040" cy="320040"/>
          </a:xfrm>
          <a:prstGeom prst="ellipse">
            <a:avLst/>
          </a:prstGeom>
          <a:solidFill>
            <a:srgbClr val="0891B2"/>
          </a:solidFill>
          <a:ln/>
        </p:spPr>
      </p:sp>
      <p:sp>
        <p:nvSpPr>
          <p:cNvPr id="12" name="Text 10"/>
          <p:cNvSpPr txBox="1"/>
          <p:nvPr/>
        </p:nvSpPr>
        <p:spPr>
          <a:xfrm>
            <a:off x="914400" y="2971800"/>
            <a:ext cx="320040" cy="32004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3" name="Text 11"/>
          <p:cNvSpPr txBox="1"/>
          <p:nvPr/>
        </p:nvSpPr>
        <p:spPr>
          <a:xfrm>
            <a:off x="1371600" y="2926080"/>
            <a:ext cx="4114800" cy="548640"/>
          </a:xfrm>
          <a:prstGeom prst="rect">
            <a:avLst/>
          </a:prstGeom>
          <a:noFill/>
          <a:ln/>
        </p:spPr>
        <p:txBody>
          <a:bodyPr wrap="square" lIns="0" tIns="0" rIns="0" bIns="0" rtlCol="0" anchor="ctr"/>
          <a:lstStyle/>
          <a:p>
            <a:pPr indent="0" marL="0">
              <a:lnSpc>
                <a:spcPct val="120000"/>
              </a:lnSpc>
              <a:buNone/>
            </a:pPr>
            <a:r>
              <a:rPr lang="en-US" sz="1100" dirty="0">
                <a:solidFill>
                  <a:srgbClr val="1A2332"/>
                </a:solidFill>
              </a:rPr>
              <a:t>Finite-sample rank for 90% nominal</a:t>
            </a:r>
            <a:endParaRPr lang="en-US" sz="1100" dirty="0"/>
          </a:p>
          <a:p>
            <a:pPr indent="0" marL="0">
              <a:lnSpc>
                <a:spcPct val="120000"/>
              </a:lnSpc>
              <a:buNone/>
            </a:pPr>
            <a:r>
              <a:rPr lang="en-US" sz="1100" dirty="0">
                <a:solidFill>
                  <a:srgbClr val="1A2332"/>
                </a:solidFill>
              </a:rPr>
              <a:t>coverage → 19th of 20 scores</a:t>
            </a:r>
            <a:endParaRPr lang="en-US" sz="1100" dirty="0"/>
          </a:p>
        </p:txBody>
      </p:sp>
      <p:sp>
        <p:nvSpPr>
          <p:cNvPr id="14" name="Shape 12"/>
          <p:cNvSpPr/>
          <p:nvPr/>
        </p:nvSpPr>
        <p:spPr>
          <a:xfrm>
            <a:off x="914400" y="3611880"/>
            <a:ext cx="320040" cy="320040"/>
          </a:xfrm>
          <a:prstGeom prst="ellipse">
            <a:avLst/>
          </a:prstGeom>
          <a:solidFill>
            <a:srgbClr val="0891B2"/>
          </a:solidFill>
          <a:ln/>
        </p:spPr>
      </p:sp>
      <p:sp>
        <p:nvSpPr>
          <p:cNvPr id="15" name="Text 13"/>
          <p:cNvSpPr txBox="1"/>
          <p:nvPr/>
        </p:nvSpPr>
        <p:spPr>
          <a:xfrm>
            <a:off x="914400" y="3611880"/>
            <a:ext cx="320040" cy="320040"/>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16" name="Text 14"/>
          <p:cNvSpPr txBox="1"/>
          <p:nvPr/>
        </p:nvSpPr>
        <p:spPr>
          <a:xfrm>
            <a:off x="1371600" y="3566160"/>
            <a:ext cx="4114800" cy="548640"/>
          </a:xfrm>
          <a:prstGeom prst="rect">
            <a:avLst/>
          </a:prstGeom>
          <a:noFill/>
          <a:ln/>
        </p:spPr>
        <p:txBody>
          <a:bodyPr wrap="square" lIns="0" tIns="0" rIns="0" bIns="0" rtlCol="0" anchor="ctr"/>
          <a:lstStyle/>
          <a:p>
            <a:pPr indent="0" marL="0">
              <a:lnSpc>
                <a:spcPct val="120000"/>
              </a:lnSpc>
              <a:buNone/>
            </a:pPr>
            <a:r>
              <a:rPr lang="en-US" sz="1100" dirty="0">
                <a:solidFill>
                  <a:srgbClr val="1A2332"/>
                </a:solidFill>
              </a:rPr>
              <a:t>q̂ = 107.90 cycles</a:t>
            </a:r>
            <a:endParaRPr lang="en-US" sz="1100" dirty="0"/>
          </a:p>
        </p:txBody>
      </p:sp>
      <p:sp>
        <p:nvSpPr>
          <p:cNvPr id="17" name="Shape 15"/>
          <p:cNvSpPr/>
          <p:nvPr/>
        </p:nvSpPr>
        <p:spPr>
          <a:xfrm>
            <a:off x="914400" y="4251960"/>
            <a:ext cx="320040" cy="320040"/>
          </a:xfrm>
          <a:prstGeom prst="ellipse">
            <a:avLst/>
          </a:prstGeom>
          <a:solidFill>
            <a:srgbClr val="0891B2"/>
          </a:solidFill>
          <a:ln/>
        </p:spPr>
      </p:sp>
      <p:sp>
        <p:nvSpPr>
          <p:cNvPr id="18" name="Text 16"/>
          <p:cNvSpPr txBox="1"/>
          <p:nvPr/>
        </p:nvSpPr>
        <p:spPr>
          <a:xfrm>
            <a:off x="914400" y="4251960"/>
            <a:ext cx="320040" cy="320040"/>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19" name="Text 17"/>
          <p:cNvSpPr txBox="1"/>
          <p:nvPr/>
        </p:nvSpPr>
        <p:spPr>
          <a:xfrm>
            <a:off x="1371600" y="4206240"/>
            <a:ext cx="4114800" cy="548640"/>
          </a:xfrm>
          <a:prstGeom prst="rect">
            <a:avLst/>
          </a:prstGeom>
          <a:noFill/>
          <a:ln/>
        </p:spPr>
        <p:txBody>
          <a:bodyPr wrap="square" lIns="0" tIns="0" rIns="0" bIns="0" rtlCol="0" anchor="ctr"/>
          <a:lstStyle/>
          <a:p>
            <a:pPr indent="0" marL="0">
              <a:lnSpc>
                <a:spcPct val="120000"/>
              </a:lnSpc>
              <a:buNone/>
            </a:pPr>
            <a:r>
              <a:rPr lang="en-US" sz="1100" dirty="0">
                <a:solidFill>
                  <a:srgbClr val="1A2332"/>
                </a:solidFill>
              </a:rPr>
              <a:t>Interval: [ŷ − q̂, ŷ + q̂], clipped ≥ 0</a:t>
            </a:r>
            <a:endParaRPr lang="en-US" sz="1100" dirty="0"/>
          </a:p>
        </p:txBody>
      </p:sp>
      <p:sp>
        <p:nvSpPr>
          <p:cNvPr id="20" name="Shape 18"/>
          <p:cNvSpPr/>
          <p:nvPr/>
        </p:nvSpPr>
        <p:spPr>
          <a:xfrm>
            <a:off x="6400800" y="1051560"/>
            <a:ext cx="2651760" cy="1005840"/>
          </a:xfrm>
          <a:prstGeom prst="roundRect">
            <a:avLst>
              <a:gd name="adj" fmla="val 9091"/>
            </a:avLst>
          </a:prstGeom>
          <a:solidFill>
            <a:srgbClr val="F1F5F9"/>
          </a:solidFill>
          <a:ln/>
        </p:spPr>
      </p:sp>
      <p:sp>
        <p:nvSpPr>
          <p:cNvPr id="21" name="Text 19"/>
          <p:cNvSpPr txBox="1"/>
          <p:nvPr/>
        </p:nvSpPr>
        <p:spPr>
          <a:xfrm>
            <a:off x="6400800" y="1161288"/>
            <a:ext cx="2651760" cy="502920"/>
          </a:xfrm>
          <a:prstGeom prst="rect">
            <a:avLst/>
          </a:prstGeom>
          <a:noFill/>
          <a:ln/>
        </p:spPr>
        <p:txBody>
          <a:bodyPr wrap="square" lIns="0" tIns="0" rIns="0" bIns="0" rtlCol="0" anchor="ctr"/>
          <a:lstStyle/>
          <a:p>
            <a:pPr algn="ctr" indent="0" marL="0">
              <a:buNone/>
            </a:pPr>
            <a:r>
              <a:rPr lang="en-US" sz="3000" b="1" dirty="0">
                <a:solidFill>
                  <a:srgbClr val="059669"/>
                </a:solidFill>
              </a:rPr>
              <a:t>100/100</a:t>
            </a:r>
            <a:endParaRPr lang="en-US" sz="3000" dirty="0"/>
          </a:p>
        </p:txBody>
      </p:sp>
      <p:sp>
        <p:nvSpPr>
          <p:cNvPr id="22" name="Text 20"/>
          <p:cNvSpPr txBox="1"/>
          <p:nvPr/>
        </p:nvSpPr>
        <p:spPr>
          <a:xfrm>
            <a:off x="6400800" y="1645920"/>
            <a:ext cx="2651760" cy="320040"/>
          </a:xfrm>
          <a:prstGeom prst="rect">
            <a:avLst/>
          </a:prstGeom>
          <a:noFill/>
          <a:ln/>
        </p:spPr>
        <p:txBody>
          <a:bodyPr wrap="square" lIns="0" tIns="0" rIns="0" bIns="0" rtlCol="0" anchor="ctr"/>
          <a:lstStyle/>
          <a:p>
            <a:pPr algn="ctr" indent="0" marL="0">
              <a:buNone/>
            </a:pPr>
            <a:r>
              <a:rPr lang="en-US" sz="900" dirty="0">
                <a:solidFill>
                  <a:srgbClr val="5A6A7E"/>
                </a:solidFill>
              </a:rPr>
              <a:t>ENDPOINT COVERAGE</a:t>
            </a:r>
            <a:endParaRPr lang="en-US" sz="900" dirty="0"/>
          </a:p>
        </p:txBody>
      </p:sp>
      <p:sp>
        <p:nvSpPr>
          <p:cNvPr id="23" name="Shape 21"/>
          <p:cNvSpPr/>
          <p:nvPr/>
        </p:nvSpPr>
        <p:spPr>
          <a:xfrm>
            <a:off x="9326880" y="1051560"/>
            <a:ext cx="2286000" cy="1005840"/>
          </a:xfrm>
          <a:prstGeom prst="roundRect">
            <a:avLst>
              <a:gd name="adj" fmla="val 9091"/>
            </a:avLst>
          </a:prstGeom>
          <a:solidFill>
            <a:srgbClr val="F1F5F9"/>
          </a:solidFill>
          <a:ln/>
        </p:spPr>
      </p:sp>
      <p:sp>
        <p:nvSpPr>
          <p:cNvPr id="24" name="Text 22"/>
          <p:cNvSpPr txBox="1"/>
          <p:nvPr/>
        </p:nvSpPr>
        <p:spPr>
          <a:xfrm>
            <a:off x="9326880" y="1161288"/>
            <a:ext cx="2286000" cy="502920"/>
          </a:xfrm>
          <a:prstGeom prst="rect">
            <a:avLst/>
          </a:prstGeom>
          <a:noFill/>
          <a:ln/>
        </p:spPr>
        <p:txBody>
          <a:bodyPr wrap="square" lIns="0" tIns="0" rIns="0" bIns="0" rtlCol="0" anchor="ctr"/>
          <a:lstStyle/>
          <a:p>
            <a:pPr algn="ctr" indent="0" marL="0">
              <a:buNone/>
            </a:pPr>
            <a:r>
              <a:rPr lang="en-US" sz="3000" b="1" dirty="0">
                <a:solidFill>
                  <a:srgbClr val="D97706"/>
                </a:solidFill>
              </a:rPr>
              <a:t>182.46</a:t>
            </a:r>
            <a:endParaRPr lang="en-US" sz="3000" dirty="0"/>
          </a:p>
        </p:txBody>
      </p:sp>
      <p:sp>
        <p:nvSpPr>
          <p:cNvPr id="25" name="Text 23"/>
          <p:cNvSpPr txBox="1"/>
          <p:nvPr/>
        </p:nvSpPr>
        <p:spPr>
          <a:xfrm>
            <a:off x="9326880" y="1645920"/>
            <a:ext cx="2286000" cy="320040"/>
          </a:xfrm>
          <a:prstGeom prst="rect">
            <a:avLst/>
          </a:prstGeom>
          <a:noFill/>
          <a:ln/>
        </p:spPr>
        <p:txBody>
          <a:bodyPr wrap="square" lIns="0" tIns="0" rIns="0" bIns="0" rtlCol="0" anchor="ctr"/>
          <a:lstStyle/>
          <a:p>
            <a:pPr algn="ctr" indent="0" marL="0">
              <a:buNone/>
            </a:pPr>
            <a:r>
              <a:rPr lang="en-US" sz="900" dirty="0">
                <a:solidFill>
                  <a:srgbClr val="5A6A7E"/>
                </a:solidFill>
              </a:rPr>
              <a:t>MEAN WIDTH (CYCLES)</a:t>
            </a:r>
            <a:endParaRPr lang="en-US" sz="900" dirty="0"/>
          </a:p>
        </p:txBody>
      </p:sp>
      <p:sp>
        <p:nvSpPr>
          <p:cNvPr id="26" name="Shape 24"/>
          <p:cNvSpPr/>
          <p:nvPr/>
        </p:nvSpPr>
        <p:spPr>
          <a:xfrm>
            <a:off x="6400800" y="2331720"/>
            <a:ext cx="2651760" cy="1005840"/>
          </a:xfrm>
          <a:prstGeom prst="roundRect">
            <a:avLst>
              <a:gd name="adj" fmla="val 9091"/>
            </a:avLst>
          </a:prstGeom>
          <a:solidFill>
            <a:srgbClr val="F1F5F9"/>
          </a:solidFill>
          <a:ln/>
        </p:spPr>
      </p:sp>
      <p:sp>
        <p:nvSpPr>
          <p:cNvPr id="27" name="Text 25"/>
          <p:cNvSpPr txBox="1"/>
          <p:nvPr/>
        </p:nvSpPr>
        <p:spPr>
          <a:xfrm>
            <a:off x="6400800" y="2441448"/>
            <a:ext cx="2651760" cy="502920"/>
          </a:xfrm>
          <a:prstGeom prst="rect">
            <a:avLst/>
          </a:prstGeom>
          <a:noFill/>
          <a:ln/>
        </p:spPr>
        <p:txBody>
          <a:bodyPr wrap="square" lIns="0" tIns="0" rIns="0" bIns="0" rtlCol="0" anchor="ctr"/>
          <a:lstStyle/>
          <a:p>
            <a:pPr algn="ctr" indent="0" marL="0">
              <a:buNone/>
            </a:pPr>
            <a:r>
              <a:rPr lang="en-US" sz="3000" b="1" dirty="0">
                <a:solidFill>
                  <a:srgbClr val="0891B2"/>
                </a:solidFill>
              </a:rPr>
              <a:t>107.90</a:t>
            </a:r>
            <a:endParaRPr lang="en-US" sz="3000" dirty="0"/>
          </a:p>
        </p:txBody>
      </p:sp>
      <p:sp>
        <p:nvSpPr>
          <p:cNvPr id="28" name="Text 26"/>
          <p:cNvSpPr txBox="1"/>
          <p:nvPr/>
        </p:nvSpPr>
        <p:spPr>
          <a:xfrm>
            <a:off x="6400800" y="2926080"/>
            <a:ext cx="2651760" cy="320040"/>
          </a:xfrm>
          <a:prstGeom prst="rect">
            <a:avLst/>
          </a:prstGeom>
          <a:noFill/>
          <a:ln/>
        </p:spPr>
        <p:txBody>
          <a:bodyPr wrap="square" lIns="0" tIns="0" rIns="0" bIns="0" rtlCol="0" anchor="ctr"/>
          <a:lstStyle/>
          <a:p>
            <a:pPr algn="ctr" indent="0" marL="0">
              <a:buNone/>
            </a:pPr>
            <a:r>
              <a:rPr lang="en-US" sz="900" dirty="0">
                <a:solidFill>
                  <a:srgbClr val="5A6A7E"/>
                </a:solidFill>
              </a:rPr>
              <a:t>CONFORMAL q̂ (CYCLES)</a:t>
            </a:r>
            <a:endParaRPr lang="en-US" sz="900" dirty="0"/>
          </a:p>
        </p:txBody>
      </p:sp>
      <p:sp>
        <p:nvSpPr>
          <p:cNvPr id="29" name="Shape 27"/>
          <p:cNvSpPr/>
          <p:nvPr/>
        </p:nvSpPr>
        <p:spPr>
          <a:xfrm>
            <a:off x="9326880" y="2331720"/>
            <a:ext cx="2286000" cy="1005840"/>
          </a:xfrm>
          <a:prstGeom prst="roundRect">
            <a:avLst>
              <a:gd name="adj" fmla="val 9091"/>
            </a:avLst>
          </a:prstGeom>
          <a:solidFill>
            <a:srgbClr val="F1F5F9"/>
          </a:solidFill>
          <a:ln/>
        </p:spPr>
      </p:sp>
      <p:sp>
        <p:nvSpPr>
          <p:cNvPr id="30" name="Text 28"/>
          <p:cNvSpPr txBox="1"/>
          <p:nvPr/>
        </p:nvSpPr>
        <p:spPr>
          <a:xfrm>
            <a:off x="9326880" y="2441448"/>
            <a:ext cx="2286000" cy="502920"/>
          </a:xfrm>
          <a:prstGeom prst="rect">
            <a:avLst/>
          </a:prstGeom>
          <a:noFill/>
          <a:ln/>
        </p:spPr>
        <p:txBody>
          <a:bodyPr wrap="square" lIns="0" tIns="0" rIns="0" bIns="0" rtlCol="0" anchor="ctr"/>
          <a:lstStyle/>
          <a:p>
            <a:pPr algn="ctr" indent="0" marL="0">
              <a:buNone/>
            </a:pPr>
            <a:r>
              <a:rPr lang="en-US" sz="3000" b="1" dirty="0">
                <a:solidFill>
                  <a:srgbClr val="5A6A7E"/>
                </a:solidFill>
              </a:rPr>
              <a:t>63%</a:t>
            </a:r>
            <a:endParaRPr lang="en-US" sz="3000" dirty="0"/>
          </a:p>
        </p:txBody>
      </p:sp>
      <p:sp>
        <p:nvSpPr>
          <p:cNvPr id="31" name="Text 29"/>
          <p:cNvSpPr txBox="1"/>
          <p:nvPr/>
        </p:nvSpPr>
        <p:spPr>
          <a:xfrm>
            <a:off x="9326880" y="2926080"/>
            <a:ext cx="2286000" cy="320040"/>
          </a:xfrm>
          <a:prstGeom prst="rect">
            <a:avLst/>
          </a:prstGeom>
          <a:noFill/>
          <a:ln/>
        </p:spPr>
        <p:txBody>
          <a:bodyPr wrap="square" lIns="0" tIns="0" rIns="0" bIns="0" rtlCol="0" anchor="ctr"/>
          <a:lstStyle/>
          <a:p>
            <a:pPr algn="ctr" indent="0" marL="0">
              <a:buNone/>
            </a:pPr>
            <a:r>
              <a:rPr lang="en-US" sz="900" dirty="0">
                <a:solidFill>
                  <a:srgbClr val="5A6A7E"/>
                </a:solidFill>
              </a:rPr>
              <a:t>LOWER BOUNDS = 0</a:t>
            </a:r>
            <a:endParaRPr lang="en-US" sz="900" dirty="0"/>
          </a:p>
        </p:txBody>
      </p:sp>
      <p:sp>
        <p:nvSpPr>
          <p:cNvPr id="32" name="Text 30"/>
          <p:cNvSpPr txBox="1"/>
          <p:nvPr/>
        </p:nvSpPr>
        <p:spPr>
          <a:xfrm>
            <a:off x="6400800" y="3566160"/>
            <a:ext cx="5212080" cy="457200"/>
          </a:xfrm>
          <a:prstGeom prst="rect">
            <a:avLst/>
          </a:prstGeom>
          <a:noFill/>
          <a:ln/>
        </p:spPr>
        <p:txBody>
          <a:bodyPr wrap="square" lIns="0" tIns="0" rIns="0" bIns="0" rtlCol="0" anchor="ctr"/>
          <a:lstStyle/>
          <a:p>
            <a:pPr indent="0" marL="0">
              <a:buNone/>
            </a:pPr>
            <a:r>
              <a:rPr lang="en-US" sz="1000" dirty="0">
                <a:solidFill>
                  <a:srgbClr val="5A6A7E"/>
                </a:solidFill>
              </a:rPr>
              <a:t>Wilson 95% CI for coverage: [96.3%, 100%]</a:t>
            </a:r>
            <a:endParaRPr lang="en-US" sz="1000" dirty="0"/>
          </a:p>
          <a:p>
            <a:pPr indent="0" marL="0">
              <a:buNone/>
            </a:pPr>
            <a:r>
              <a:rPr lang="en-US" sz="1000" dirty="0">
                <a:solidFill>
                  <a:srgbClr val="5A6A7E"/>
                </a:solidFill>
              </a:rPr>
              <a:t>20 calibration engines · Nominal 90%</a:t>
            </a:r>
            <a:endParaRPr lang="en-US" sz="1000" dirty="0"/>
          </a:p>
        </p:txBody>
      </p:sp>
      <p:sp>
        <p:nvSpPr>
          <p:cNvPr id="33" name="Text 31"/>
          <p:cNvSpPr txBox="1"/>
          <p:nvPr/>
        </p:nvSpPr>
        <p:spPr>
          <a:xfrm>
            <a:off x="548640" y="6400800"/>
            <a:ext cx="9144000" cy="274320"/>
          </a:xfrm>
          <a:prstGeom prst="rect">
            <a:avLst/>
          </a:prstGeom>
          <a:noFill/>
          <a:ln/>
        </p:spPr>
        <p:txBody>
          <a:bodyPr wrap="square" lIns="0" tIns="0" rIns="0" bIns="0" rtlCol="0" anchor="ctr"/>
          <a:lstStyle/>
          <a:p>
            <a:pPr indent="0" marL="0">
              <a:buNone/>
            </a:pPr>
            <a:r>
              <a:rPr lang="en-US" sz="800" dirty="0">
                <a:solidFill>
                  <a:srgbClr val="5A6A7E"/>
                </a:solidFill>
              </a:rPr>
              <a:t>Thesis §4.8, §5.4 · Angelopoulos &amp; Bates (2023)</a:t>
            </a:r>
            <a:endParaRPr lang="en-US" sz="800" dirty="0"/>
          </a:p>
        </p:txBody>
      </p:sp>
      <p:sp>
        <p:nvSpPr>
          <p:cNvPr id="25" name="Slide Number Placeholder 0"/>
          <p:cNvSpPr>
            <a:spLocks noGrp="1"/>
          </p:cNvSpPr>
          <p:nvPr>
            <p:ph type="sldNum" sz="quarter" idx="4294967295"/>
          </p:nvPr>
        </p:nvSpPr>
        <p:spPr>
          <a:xfrm>
            <a:off x="1143000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6A7E"/>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0972800" cy="548640"/>
          </a:xfrm>
          <a:prstGeom prst="rect">
            <a:avLst/>
          </a:prstGeom>
          <a:noFill/>
          <a:ln/>
        </p:spPr>
        <p:txBody>
          <a:bodyPr wrap="square" lIns="0" tIns="0" rIns="0" bIns="0" rtlCol="0" anchor="ctr"/>
          <a:lstStyle/>
          <a:p>
            <a:pPr indent="0" marL="0">
              <a:buNone/>
            </a:pPr>
            <a:r>
              <a:rPr lang="en-US" sz="2800" b="1" dirty="0">
                <a:solidFill>
                  <a:srgbClr val="1A2332"/>
                </a:solidFill>
              </a:rPr>
              <a:t>Official test: useful accuracy with systematic optimistic bias</a:t>
            </a:r>
            <a:endParaRPr lang="en-US" sz="2800" dirty="0"/>
          </a:p>
        </p:txBody>
      </p:sp>
      <p:sp>
        <p:nvSpPr>
          <p:cNvPr id="3" name="Shape 1"/>
          <p:cNvSpPr/>
          <p:nvPr/>
        </p:nvSpPr>
        <p:spPr>
          <a:xfrm>
            <a:off x="548640" y="1051560"/>
            <a:ext cx="2651760" cy="1005840"/>
          </a:xfrm>
          <a:prstGeom prst="roundRect">
            <a:avLst>
              <a:gd name="adj" fmla="val 9091"/>
            </a:avLst>
          </a:prstGeom>
          <a:solidFill>
            <a:srgbClr val="F1F5F9"/>
          </a:solidFill>
          <a:ln/>
        </p:spPr>
      </p:sp>
      <p:sp>
        <p:nvSpPr>
          <p:cNvPr id="4" name="Text 2"/>
          <p:cNvSpPr txBox="1"/>
          <p:nvPr/>
        </p:nvSpPr>
        <p:spPr>
          <a:xfrm>
            <a:off x="548640" y="1161288"/>
            <a:ext cx="2651760" cy="502920"/>
          </a:xfrm>
          <a:prstGeom prst="rect">
            <a:avLst/>
          </a:prstGeom>
          <a:noFill/>
          <a:ln/>
        </p:spPr>
        <p:txBody>
          <a:bodyPr wrap="square" lIns="0" tIns="0" rIns="0" bIns="0" rtlCol="0" anchor="ctr"/>
          <a:lstStyle/>
          <a:p>
            <a:pPr algn="ctr" indent="0" marL="0">
              <a:buNone/>
            </a:pPr>
            <a:r>
              <a:rPr lang="en-US" sz="3000" b="1" dirty="0">
                <a:solidFill>
                  <a:srgbClr val="0891B2"/>
                </a:solidFill>
              </a:rPr>
              <a:t>18.88</a:t>
            </a:r>
            <a:endParaRPr lang="en-US" sz="3000" dirty="0"/>
          </a:p>
        </p:txBody>
      </p:sp>
      <p:sp>
        <p:nvSpPr>
          <p:cNvPr id="5" name="Text 3"/>
          <p:cNvSpPr txBox="1"/>
          <p:nvPr/>
        </p:nvSpPr>
        <p:spPr>
          <a:xfrm>
            <a:off x="548640" y="1645920"/>
            <a:ext cx="2651760" cy="320040"/>
          </a:xfrm>
          <a:prstGeom prst="rect">
            <a:avLst/>
          </a:prstGeom>
          <a:noFill/>
          <a:ln/>
        </p:spPr>
        <p:txBody>
          <a:bodyPr wrap="square" lIns="0" tIns="0" rIns="0" bIns="0" rtlCol="0" anchor="ctr"/>
          <a:lstStyle/>
          <a:p>
            <a:pPr algn="ctr" indent="0" marL="0">
              <a:buNone/>
            </a:pPr>
            <a:r>
              <a:rPr lang="en-US" sz="900" dirty="0">
                <a:solidFill>
                  <a:srgbClr val="5A6A7E"/>
                </a:solidFill>
              </a:rPr>
              <a:t>MAE (CYCLES)</a:t>
            </a:r>
            <a:endParaRPr lang="en-US" sz="900" dirty="0"/>
          </a:p>
        </p:txBody>
      </p:sp>
      <p:sp>
        <p:nvSpPr>
          <p:cNvPr id="6" name="Shape 4"/>
          <p:cNvSpPr/>
          <p:nvPr/>
        </p:nvSpPr>
        <p:spPr>
          <a:xfrm>
            <a:off x="3383280" y="1051560"/>
            <a:ext cx="2651760" cy="1005840"/>
          </a:xfrm>
          <a:prstGeom prst="roundRect">
            <a:avLst>
              <a:gd name="adj" fmla="val 9091"/>
            </a:avLst>
          </a:prstGeom>
          <a:solidFill>
            <a:srgbClr val="F1F5F9"/>
          </a:solidFill>
          <a:ln/>
        </p:spPr>
      </p:sp>
      <p:sp>
        <p:nvSpPr>
          <p:cNvPr id="7" name="Text 5"/>
          <p:cNvSpPr txBox="1"/>
          <p:nvPr/>
        </p:nvSpPr>
        <p:spPr>
          <a:xfrm>
            <a:off x="3383280" y="1161288"/>
            <a:ext cx="2651760" cy="502920"/>
          </a:xfrm>
          <a:prstGeom prst="rect">
            <a:avLst/>
          </a:prstGeom>
          <a:noFill/>
          <a:ln/>
        </p:spPr>
        <p:txBody>
          <a:bodyPr wrap="square" lIns="0" tIns="0" rIns="0" bIns="0" rtlCol="0" anchor="ctr"/>
          <a:lstStyle/>
          <a:p>
            <a:pPr algn="ctr" indent="0" marL="0">
              <a:buNone/>
            </a:pPr>
            <a:r>
              <a:rPr lang="en-US" sz="3000" b="1" dirty="0">
                <a:solidFill>
                  <a:srgbClr val="1A2332"/>
                </a:solidFill>
              </a:rPr>
              <a:t>25.73</a:t>
            </a:r>
            <a:endParaRPr lang="en-US" sz="3000" dirty="0"/>
          </a:p>
        </p:txBody>
      </p:sp>
      <p:sp>
        <p:nvSpPr>
          <p:cNvPr id="8" name="Text 6"/>
          <p:cNvSpPr txBox="1"/>
          <p:nvPr/>
        </p:nvSpPr>
        <p:spPr>
          <a:xfrm>
            <a:off x="3383280" y="1645920"/>
            <a:ext cx="2651760" cy="320040"/>
          </a:xfrm>
          <a:prstGeom prst="rect">
            <a:avLst/>
          </a:prstGeom>
          <a:noFill/>
          <a:ln/>
        </p:spPr>
        <p:txBody>
          <a:bodyPr wrap="square" lIns="0" tIns="0" rIns="0" bIns="0" rtlCol="0" anchor="ctr"/>
          <a:lstStyle/>
          <a:p>
            <a:pPr algn="ctr" indent="0" marL="0">
              <a:buNone/>
            </a:pPr>
            <a:r>
              <a:rPr lang="en-US" sz="900" dirty="0">
                <a:solidFill>
                  <a:srgbClr val="5A6A7E"/>
                </a:solidFill>
              </a:rPr>
              <a:t>RMSE (CYCLES)</a:t>
            </a:r>
            <a:endParaRPr lang="en-US" sz="900" dirty="0"/>
          </a:p>
        </p:txBody>
      </p:sp>
      <p:sp>
        <p:nvSpPr>
          <p:cNvPr id="9" name="Shape 7"/>
          <p:cNvSpPr/>
          <p:nvPr/>
        </p:nvSpPr>
        <p:spPr>
          <a:xfrm>
            <a:off x="6217920" y="1051560"/>
            <a:ext cx="2651760" cy="1005840"/>
          </a:xfrm>
          <a:prstGeom prst="roundRect">
            <a:avLst>
              <a:gd name="adj" fmla="val 9091"/>
            </a:avLst>
          </a:prstGeom>
          <a:solidFill>
            <a:srgbClr val="F1F5F9"/>
          </a:solidFill>
          <a:ln/>
        </p:spPr>
      </p:sp>
      <p:sp>
        <p:nvSpPr>
          <p:cNvPr id="10" name="Text 8"/>
          <p:cNvSpPr txBox="1"/>
          <p:nvPr/>
        </p:nvSpPr>
        <p:spPr>
          <a:xfrm>
            <a:off x="6217920" y="1161288"/>
            <a:ext cx="2651760" cy="502920"/>
          </a:xfrm>
          <a:prstGeom prst="rect">
            <a:avLst/>
          </a:prstGeom>
          <a:noFill/>
          <a:ln/>
        </p:spPr>
        <p:txBody>
          <a:bodyPr wrap="square" lIns="0" tIns="0" rIns="0" bIns="0" rtlCol="0" anchor="ctr"/>
          <a:lstStyle/>
          <a:p>
            <a:pPr algn="ctr" indent="0" marL="0">
              <a:buNone/>
            </a:pPr>
            <a:r>
              <a:rPr lang="en-US" sz="3000" b="1" dirty="0">
                <a:solidFill>
                  <a:srgbClr val="DC2626"/>
                </a:solidFill>
              </a:rPr>
              <a:t>+10.90</a:t>
            </a:r>
            <a:endParaRPr lang="en-US" sz="3000" dirty="0"/>
          </a:p>
        </p:txBody>
      </p:sp>
      <p:sp>
        <p:nvSpPr>
          <p:cNvPr id="11" name="Text 9"/>
          <p:cNvSpPr txBox="1"/>
          <p:nvPr/>
        </p:nvSpPr>
        <p:spPr>
          <a:xfrm>
            <a:off x="6217920" y="1645920"/>
            <a:ext cx="2651760" cy="320040"/>
          </a:xfrm>
          <a:prstGeom prst="rect">
            <a:avLst/>
          </a:prstGeom>
          <a:noFill/>
          <a:ln/>
        </p:spPr>
        <p:txBody>
          <a:bodyPr wrap="square" lIns="0" tIns="0" rIns="0" bIns="0" rtlCol="0" anchor="ctr"/>
          <a:lstStyle/>
          <a:p>
            <a:pPr algn="ctr" indent="0" marL="0">
              <a:buNone/>
            </a:pPr>
            <a:r>
              <a:rPr lang="en-US" sz="900" dirty="0">
                <a:solidFill>
                  <a:srgbClr val="5A6A7E"/>
                </a:solidFill>
              </a:rPr>
              <a:t>MEAN BIAS (OPTIMISTIC)</a:t>
            </a:r>
            <a:endParaRPr lang="en-US" sz="900" dirty="0"/>
          </a:p>
        </p:txBody>
      </p:sp>
      <p:sp>
        <p:nvSpPr>
          <p:cNvPr id="12" name="Shape 10"/>
          <p:cNvSpPr/>
          <p:nvPr/>
        </p:nvSpPr>
        <p:spPr>
          <a:xfrm>
            <a:off x="9052560" y="1051560"/>
            <a:ext cx="2651760" cy="1005840"/>
          </a:xfrm>
          <a:prstGeom prst="roundRect">
            <a:avLst>
              <a:gd name="adj" fmla="val 9091"/>
            </a:avLst>
          </a:prstGeom>
          <a:solidFill>
            <a:srgbClr val="F1F5F9"/>
          </a:solidFill>
          <a:ln/>
        </p:spPr>
      </p:sp>
      <p:sp>
        <p:nvSpPr>
          <p:cNvPr id="13" name="Text 11"/>
          <p:cNvSpPr txBox="1"/>
          <p:nvPr/>
        </p:nvSpPr>
        <p:spPr>
          <a:xfrm>
            <a:off x="9052560" y="1161288"/>
            <a:ext cx="2651760" cy="502920"/>
          </a:xfrm>
          <a:prstGeom prst="rect">
            <a:avLst/>
          </a:prstGeom>
          <a:noFill/>
          <a:ln/>
        </p:spPr>
        <p:txBody>
          <a:bodyPr wrap="square" lIns="0" tIns="0" rIns="0" bIns="0" rtlCol="0" anchor="ctr"/>
          <a:lstStyle/>
          <a:p>
            <a:pPr algn="ctr" indent="0" marL="0">
              <a:buNone/>
            </a:pPr>
            <a:r>
              <a:rPr lang="en-US" sz="3000" b="1" dirty="0">
                <a:solidFill>
                  <a:srgbClr val="0891B2"/>
                </a:solidFill>
              </a:rPr>
              <a:t>107.90</a:t>
            </a:r>
            <a:endParaRPr lang="en-US" sz="3000" dirty="0"/>
          </a:p>
        </p:txBody>
      </p:sp>
      <p:sp>
        <p:nvSpPr>
          <p:cNvPr id="14" name="Text 12"/>
          <p:cNvSpPr txBox="1"/>
          <p:nvPr/>
        </p:nvSpPr>
        <p:spPr>
          <a:xfrm>
            <a:off x="9052560" y="1645920"/>
            <a:ext cx="2651760" cy="320040"/>
          </a:xfrm>
          <a:prstGeom prst="rect">
            <a:avLst/>
          </a:prstGeom>
          <a:noFill/>
          <a:ln/>
        </p:spPr>
        <p:txBody>
          <a:bodyPr wrap="square" lIns="0" tIns="0" rIns="0" bIns="0" rtlCol="0" anchor="ctr"/>
          <a:lstStyle/>
          <a:p>
            <a:pPr algn="ctr" indent="0" marL="0">
              <a:buNone/>
            </a:pPr>
            <a:r>
              <a:rPr lang="en-US" sz="900" dirty="0">
                <a:solidFill>
                  <a:srgbClr val="5A6A7E"/>
                </a:solidFill>
              </a:rPr>
              <a:t>CONFORMAL q̂ (CYCLES)</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2468880"/>
          <a:ext cx="5943600" cy="914400"/>
        </p:xfrm>
        <a:graphic>
          <a:graphicData uri="http://schemas.openxmlformats.org/drawingml/2006/table">
            <a:tbl>
              <a:tblPr/>
              <a:tblGrid>
                <a:gridCol w="2286000"/>
                <a:gridCol w="1097280"/>
                <a:gridCol w="1097280"/>
                <a:gridCol w="1097280"/>
              </a:tblGrid>
              <a:tr h="365760">
                <a:tc>
                  <a:txBody>
                    <a:bodyPr/>
                    <a:lstStyle/>
                    <a:p>
                      <a:pPr indent="0" marL="0">
                        <a:buNone/>
                      </a:pP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1A2332"/>
                          </a:solidFill>
                        </a:rPr>
                        <a:t>MAE</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1A2332"/>
                          </a:solidFill>
                        </a:rPr>
                        <a:t>RMSE</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1A2332"/>
                          </a:solidFill>
                        </a:rPr>
                        <a:t>Bias</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365760">
                <a:tc>
                  <a:txBody>
                    <a:bodyPr/>
                    <a:lstStyle/>
                    <a:p>
                      <a:pPr indent="0" marL="0">
                        <a:buNone/>
                      </a:pPr>
                      <a:r>
                        <a:rPr lang="en-US" sz="1200" b="1" dirty="0">
                          <a:solidFill>
                            <a:srgbClr val="0891B2"/>
                          </a:solidFill>
                        </a:rPr>
                        <a:t>Random Forest</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0891B2"/>
                          </a:solidFill>
                        </a:rPr>
                        <a:t>18.88</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0891B2"/>
                          </a:solidFill>
                        </a:rPr>
                        <a:t>25.73</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DC2626"/>
                          </a:solidFill>
                        </a:rPr>
                        <a:t>+10.90</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65760">
                <a:tc>
                  <a:txBody>
                    <a:bodyPr/>
                    <a:lstStyle/>
                    <a:p>
                      <a:pPr indent="0" marL="0">
                        <a:buNone/>
                      </a:pPr>
                      <a:r>
                        <a:rPr lang="en-US" sz="1200" dirty="0">
                          <a:solidFill>
                            <a:srgbClr val="5A6A7E"/>
                          </a:solidFill>
                        </a:rPr>
                        <a:t>Naive (post-closure)</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5A6A7E"/>
                          </a:solidFill>
                        </a:rPr>
                        <a:t>30.88</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1A2332"/>
                          </a:solidFill>
                        </a:rPr>
                        <a:t>—</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1A2332"/>
                          </a:solidFill>
                        </a:rPr>
                        <a:t>—</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16" name="Shape 13"/>
          <p:cNvSpPr/>
          <p:nvPr/>
        </p:nvSpPr>
        <p:spPr>
          <a:xfrm>
            <a:off x="548640" y="3611880"/>
            <a:ext cx="5943600" cy="411480"/>
          </a:xfrm>
          <a:prstGeom prst="roundRect">
            <a:avLst>
              <a:gd name="adj" fmla="val 22222"/>
            </a:avLst>
          </a:prstGeom>
          <a:solidFill>
            <a:srgbClr val="FEF3C7"/>
          </a:solidFill>
          <a:ln/>
        </p:spPr>
      </p:sp>
      <p:sp>
        <p:nvSpPr>
          <p:cNvPr id="17" name="Text 14"/>
          <p:cNvSpPr txBox="1"/>
          <p:nvPr/>
        </p:nvSpPr>
        <p:spPr>
          <a:xfrm>
            <a:off x="731520" y="3657600"/>
            <a:ext cx="5577840" cy="274320"/>
          </a:xfrm>
          <a:prstGeom prst="rect">
            <a:avLst/>
          </a:prstGeom>
          <a:noFill/>
          <a:ln/>
        </p:spPr>
        <p:txBody>
          <a:bodyPr wrap="square" lIns="0" tIns="0" rIns="0" bIns="0" rtlCol="0" anchor="ctr"/>
          <a:lstStyle/>
          <a:p>
            <a:pPr indent="0" marL="0">
              <a:buNone/>
            </a:pPr>
            <a:r>
              <a:rPr lang="en-US" sz="1000" dirty="0">
                <a:solidFill>
                  <a:srgbClr val="D97706"/>
                </a:solidFill>
              </a:rPr>
              <a:t>⚠  Naive endpoint MAE is a post-closure reference — reuses sealed outcomes</a:t>
            </a:r>
            <a:endParaRPr lang="en-US" sz="1000" dirty="0"/>
          </a:p>
        </p:txBody>
      </p:sp>
      <p:graphicFrame>
        <p:nvGraphicFramePr>
          <p:cNvPr id="18" name="Chart 0" descr=""/>
          <p:cNvGraphicFramePr/>
          <p:nvPr/>
        </p:nvGraphicFramePr>
        <p:xfrm>
          <a:off x="6766560" y="2377440"/>
          <a:ext cx="4937760" cy="2194560"/>
        </p:xfrm>
        <a:graphic xmlns:a="http://schemas.openxmlformats.org/drawingml/2006/main">
          <a:graphicData uri="http://schemas.openxmlformats.org/drawingml/2006/chart">
            <c:chart xmlns:c="http://schemas.openxmlformats.org/drawingml/2006/chart" r:id="rId1"/>
          </a:graphicData>
        </a:graphic>
      </p:graphicFrame>
      <p:sp>
        <p:nvSpPr>
          <p:cNvPr id="19" name="Text 15"/>
          <p:cNvSpPr txBox="1"/>
          <p:nvPr/>
        </p:nvSpPr>
        <p:spPr>
          <a:xfrm>
            <a:off x="548640" y="4846320"/>
            <a:ext cx="10972800" cy="274320"/>
          </a:xfrm>
          <a:prstGeom prst="rect">
            <a:avLst/>
          </a:prstGeom>
          <a:noFill/>
          <a:ln/>
        </p:spPr>
        <p:txBody>
          <a:bodyPr wrap="square" lIns="0" tIns="0" rIns="0" bIns="0" rtlCol="0" anchor="ctr"/>
          <a:lstStyle/>
          <a:p>
            <a:pPr indent="0" marL="0">
              <a:buNone/>
            </a:pPr>
            <a:r>
              <a:rPr lang="en-US" sz="1000" dirty="0">
                <a:solidFill>
                  <a:srgbClr val="5A6A7E"/>
                </a:solidFill>
              </a:rPr>
              <a:t>Bootstrap 95% CIs (5,000 engine resamples): MAE 15.56–22.48 · RMSE 21.33–30.15 · Bias 6.47–15.57 · R² 0.617</a:t>
            </a:r>
            <a:endParaRPr lang="en-US" sz="1000" dirty="0"/>
          </a:p>
        </p:txBody>
      </p:sp>
      <p:sp>
        <p:nvSpPr>
          <p:cNvPr id="20" name="Text 16"/>
          <p:cNvSpPr txBox="1"/>
          <p:nvPr/>
        </p:nvSpPr>
        <p:spPr>
          <a:xfrm>
            <a:off x="548640" y="6400800"/>
            <a:ext cx="9144000" cy="274320"/>
          </a:xfrm>
          <a:prstGeom prst="rect">
            <a:avLst/>
          </a:prstGeom>
          <a:noFill/>
          <a:ln/>
        </p:spPr>
        <p:txBody>
          <a:bodyPr wrap="square" lIns="0" tIns="0" rIns="0" bIns="0" rtlCol="0" anchor="ctr"/>
          <a:lstStyle/>
          <a:p>
            <a:pPr indent="0" marL="0">
              <a:buNone/>
            </a:pPr>
            <a:r>
              <a:rPr lang="en-US" sz="800" dirty="0">
                <a:solidFill>
                  <a:srgbClr val="5A6A7E"/>
                </a:solidFill>
              </a:rPr>
              <a:t>Thesis §5.3 · Tables 5.2, 5.3, 5.4 · 100 official endpoints, tested once</a:t>
            </a:r>
            <a:endParaRPr lang="en-US" sz="800" dirty="0"/>
          </a:p>
        </p:txBody>
      </p:sp>
      <p:sp>
        <p:nvSpPr>
          <p:cNvPr id="25" name="Slide Number Placeholder 0"/>
          <p:cNvSpPr>
            <a:spLocks noGrp="1"/>
          </p:cNvSpPr>
          <p:nvPr>
            <p:ph type="sldNum" sz="quarter" idx="4294967295"/>
          </p:nvPr>
        </p:nvSpPr>
        <p:spPr>
          <a:xfrm>
            <a:off x="1143000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6A7E"/>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0972800" cy="548640"/>
          </a:xfrm>
          <a:prstGeom prst="rect">
            <a:avLst/>
          </a:prstGeom>
          <a:noFill/>
          <a:ln/>
        </p:spPr>
        <p:txBody>
          <a:bodyPr wrap="square" lIns="0" tIns="0" rIns="0" bIns="0" rtlCol="0" anchor="ctr"/>
          <a:lstStyle/>
          <a:p>
            <a:pPr indent="0" marL="0">
              <a:buNone/>
            </a:pPr>
            <a:r>
              <a:rPr lang="en-US" sz="2400" b="1" dirty="0">
                <a:solidFill>
                  <a:srgbClr val="1A2332"/>
                </a:solidFill>
              </a:rPr>
              <a:t>Ablations expose sensitivity: age dominates; narrower intervals lose trajectory coverage</a:t>
            </a:r>
            <a:endParaRPr lang="en-US" sz="2400" dirty="0"/>
          </a:p>
        </p:txBody>
      </p:sp>
      <p:sp>
        <p:nvSpPr>
          <p:cNvPr id="3" name="Text 1"/>
          <p:cNvSpPr txBox="1"/>
          <p:nvPr/>
        </p:nvSpPr>
        <p:spPr>
          <a:xfrm>
            <a:off x="548640" y="1005840"/>
            <a:ext cx="5486400" cy="274320"/>
          </a:xfrm>
          <a:prstGeom prst="rect">
            <a:avLst/>
          </a:prstGeom>
          <a:noFill/>
          <a:ln/>
        </p:spPr>
        <p:txBody>
          <a:bodyPr wrap="square" lIns="0" tIns="0" rIns="0" bIns="0" rtlCol="0" anchor="ctr"/>
          <a:lstStyle/>
          <a:p>
            <a:pPr indent="0" marL="0">
              <a:buNone/>
            </a:pPr>
            <a:r>
              <a:rPr lang="en-US" sz="1200" b="1" dirty="0">
                <a:solidFill>
                  <a:srgbClr val="1A2332"/>
                </a:solidFill>
              </a:rPr>
              <a:t>Feature ablation (post-closure, validation)</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5303520" cy="914400"/>
        </p:xfrm>
        <a:graphic>
          <a:graphicData uri="http://schemas.openxmlformats.org/drawingml/2006/table">
            <a:tbl>
              <a:tblPr/>
              <a:tblGrid>
                <a:gridCol w="2560320"/>
                <a:gridCol w="1371600"/>
                <a:gridCol w="1097280"/>
              </a:tblGrid>
              <a:tr h="347472">
                <a:tc>
                  <a:txBody>
                    <a:bodyPr/>
                    <a:lstStyle/>
                    <a:p>
                      <a:pPr indent="0" marL="0">
                        <a:buNone/>
                      </a:pPr>
                      <a:r>
                        <a:rPr lang="en-US" sz="1200" b="1" dirty="0">
                          <a:solidFill>
                            <a:srgbClr val="1A2332"/>
                          </a:solidFill>
                        </a:rPr>
                        <a:t>Configuration</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1A2332"/>
                          </a:solidFill>
                        </a:rPr>
                        <a:t>Pooled RMSE</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1A2332"/>
                          </a:solidFill>
                        </a:rPr>
                        <a:t>Δ</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347472">
                <a:tc>
                  <a:txBody>
                    <a:bodyPr/>
                    <a:lstStyle/>
                    <a:p>
                      <a:pPr indent="0" marL="0">
                        <a:buNone/>
                      </a:pPr>
                      <a:r>
                        <a:rPr lang="en-US" sz="1200" dirty="0">
                          <a:solidFill>
                            <a:srgbClr val="1A2332"/>
                          </a:solidFill>
                        </a:rPr>
                        <a:t>All features (baseline)</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1A2332"/>
                          </a:solidFill>
                        </a:rPr>
                        <a:t>33.07</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1A2332"/>
                          </a:solidFill>
                        </a:rPr>
                        <a:t>—</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47472">
                <a:tc>
                  <a:txBody>
                    <a:bodyPr/>
                    <a:lstStyle/>
                    <a:p>
                      <a:pPr indent="0" marL="0">
                        <a:buNone/>
                      </a:pPr>
                      <a:r>
                        <a:rPr lang="en-US" sz="1200" dirty="0">
                          <a:solidFill>
                            <a:srgbClr val="DC2626"/>
                          </a:solidFill>
                        </a:rPr>
                        <a:t>Remove age</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DC2626"/>
                          </a:solidFill>
                        </a:rPr>
                        <a:t>41.16</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DC2626"/>
                          </a:solidFill>
                        </a:rPr>
                        <a:t>+24.5%</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47472">
                <a:tc>
                  <a:txBody>
                    <a:bodyPr/>
                    <a:lstStyle/>
                    <a:p>
                      <a:pPr indent="0" marL="0">
                        <a:buNone/>
                      </a:pPr>
                      <a:r>
                        <a:rPr lang="en-US" sz="1200" dirty="0">
                          <a:solidFill>
                            <a:srgbClr val="059669"/>
                          </a:solidFill>
                        </a:rPr>
                        <a:t>Remove sensors 9/14</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059669"/>
                          </a:solidFill>
                        </a:rPr>
                        <a:t>31.76</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059669"/>
                          </a:solidFill>
                        </a:rPr>
                        <a:t>−4.0%</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5" name="Text 2"/>
          <p:cNvSpPr txBox="1"/>
          <p:nvPr/>
        </p:nvSpPr>
        <p:spPr>
          <a:xfrm>
            <a:off x="6400800" y="1005840"/>
            <a:ext cx="5486400" cy="274320"/>
          </a:xfrm>
          <a:prstGeom prst="rect">
            <a:avLst/>
          </a:prstGeom>
          <a:noFill/>
          <a:ln/>
        </p:spPr>
        <p:txBody>
          <a:bodyPr wrap="square" lIns="0" tIns="0" rIns="0" bIns="0" rtlCol="0" anchor="ctr"/>
          <a:lstStyle/>
          <a:p>
            <a:pPr indent="0" marL="0">
              <a:buNone/>
            </a:pPr>
            <a:r>
              <a:rPr lang="en-US" sz="1200" b="1" dirty="0">
                <a:solidFill>
                  <a:srgbClr val="1A2332"/>
                </a:solidFill>
              </a:rPr>
              <a:t>Conformal score comparison (post-closure)</a:t>
            </a:r>
            <a:endParaRPr lang="en-US" sz="12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400800" y="1325880"/>
          <a:ext cx="5303520" cy="914400"/>
        </p:xfrm>
        <a:graphic>
          <a:graphicData uri="http://schemas.openxmlformats.org/drawingml/2006/table">
            <a:tbl>
              <a:tblPr/>
              <a:tblGrid>
                <a:gridCol w="1463040"/>
                <a:gridCol w="1097280"/>
                <a:gridCol w="1097280"/>
                <a:gridCol w="914400"/>
              </a:tblGrid>
              <a:tr h="347472">
                <a:tc>
                  <a:txBody>
                    <a:bodyPr/>
                    <a:lstStyle/>
                    <a:p>
                      <a:pPr indent="0" marL="0">
                        <a:buNone/>
                      </a:pPr>
                      <a:r>
                        <a:rPr lang="en-US" sz="1200" b="1" dirty="0">
                          <a:solidFill>
                            <a:srgbClr val="1A2332"/>
                          </a:solidFill>
                        </a:rPr>
                        <a:t>Score</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1A2332"/>
                          </a:solidFill>
                        </a:rPr>
                        <a:t>Width</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1A2332"/>
                          </a:solidFill>
                        </a:rPr>
                        <a:t>End.Cov.</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1A2332"/>
                          </a:solidFill>
                        </a:rPr>
                        <a:t>Traj.</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347472">
                <a:tc>
                  <a:txBody>
                    <a:bodyPr/>
                    <a:lstStyle/>
                    <a:p>
                      <a:pPr indent="0" marL="0">
                        <a:buNone/>
                      </a:pPr>
                      <a:r>
                        <a:rPr lang="en-US" sz="1200" b="1" dirty="0">
                          <a:solidFill>
                            <a:srgbClr val="0891B2"/>
                          </a:solidFill>
                        </a:rPr>
                        <a:t>Engine-max</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0891B2"/>
                          </a:solidFill>
                        </a:rPr>
                        <a:t>182.46</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059669"/>
                          </a:solidFill>
                        </a:rPr>
                        <a:t>100/100</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059669"/>
                          </a:solidFill>
                        </a:rPr>
                        <a:t>20/20</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47472">
                <a:tc>
                  <a:txBody>
                    <a:bodyPr/>
                    <a:lstStyle/>
                    <a:p>
                      <a:pPr indent="0" marL="0">
                        <a:buNone/>
                      </a:pPr>
                      <a:r>
                        <a:rPr lang="en-US" sz="1200" dirty="0">
                          <a:solidFill>
                            <a:srgbClr val="1A2332"/>
                          </a:solidFill>
                        </a:rPr>
                        <a:t>Row-level</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1A2332"/>
                          </a:solidFill>
                        </a:rPr>
                        <a:t>106.34</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1A2332"/>
                          </a:solidFill>
                        </a:rPr>
                        <a:t>96/100</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DC2626"/>
                          </a:solidFill>
                        </a:rPr>
                        <a:t>8/20</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47472">
                <a:tc>
                  <a:txBody>
                    <a:bodyPr/>
                    <a:lstStyle/>
                    <a:p>
                      <a:pPr indent="0" marL="0">
                        <a:buNone/>
                      </a:pPr>
                      <a:r>
                        <a:rPr lang="en-US" sz="1200" dirty="0">
                          <a:solidFill>
                            <a:srgbClr val="1A2332"/>
                          </a:solidFill>
                        </a:rPr>
                        <a:t>Engine-mean</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1A2332"/>
                          </a:solidFill>
                        </a:rPr>
                        <a:t>100.72</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1A2332"/>
                          </a:solidFill>
                        </a:rPr>
                        <a:t>96/100</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DC2626"/>
                          </a:solidFill>
                        </a:rPr>
                        <a:t>8/20</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7" name="Shape 3"/>
          <p:cNvSpPr/>
          <p:nvPr/>
        </p:nvSpPr>
        <p:spPr>
          <a:xfrm>
            <a:off x="548640" y="3017520"/>
            <a:ext cx="11064240" cy="594360"/>
          </a:xfrm>
          <a:prstGeom prst="roundRect">
            <a:avLst>
              <a:gd name="adj" fmla="val 15385"/>
            </a:avLst>
          </a:prstGeom>
          <a:solidFill>
            <a:srgbClr val="FEF3C7"/>
          </a:solidFill>
          <a:ln w="19050">
            <a:solidFill>
              <a:srgbClr val="D97706"/>
            </a:solidFill>
            <a:prstDash val="solid"/>
          </a:ln>
        </p:spPr>
      </p:sp>
      <p:sp>
        <p:nvSpPr>
          <p:cNvPr id="8" name="Text 4"/>
          <p:cNvSpPr txBox="1"/>
          <p:nvPr/>
        </p:nvSpPr>
        <p:spPr>
          <a:xfrm>
            <a:off x="822960" y="3108960"/>
            <a:ext cx="10515600" cy="365760"/>
          </a:xfrm>
          <a:prstGeom prst="rect">
            <a:avLst/>
          </a:prstGeom>
          <a:noFill/>
          <a:ln/>
        </p:spPr>
        <p:txBody>
          <a:bodyPr wrap="square" lIns="0" tIns="0" rIns="0" bIns="0" rtlCol="0" anchor="ctr"/>
          <a:lstStyle/>
          <a:p>
            <a:pPr indent="0" marL="0">
              <a:buNone/>
            </a:pPr>
            <a:r>
              <a:rPr lang="en-US" sz="1300" b="1" dirty="0">
                <a:solidFill>
                  <a:srgbClr val="D97706"/>
                </a:solidFill>
              </a:rPr>
              <a:t>Trade-off: 42–45% narrower intervals ↔ only 8/20 validation trajectories fully covered</a:t>
            </a:r>
            <a:endParaRPr lang="en-US" sz="1300" dirty="0"/>
          </a:p>
        </p:txBody>
      </p:sp>
      <p:sp>
        <p:nvSpPr>
          <p:cNvPr id="9" name="Text 5"/>
          <p:cNvSpPr txBox="1"/>
          <p:nvPr/>
        </p:nvSpPr>
        <p:spPr>
          <a:xfrm>
            <a:off x="548640" y="3794760"/>
            <a:ext cx="10972800" cy="274320"/>
          </a:xfrm>
          <a:prstGeom prst="rect">
            <a:avLst/>
          </a:prstGeom>
          <a:noFill/>
          <a:ln/>
        </p:spPr>
        <p:txBody>
          <a:bodyPr wrap="square" lIns="0" tIns="0" rIns="0" bIns="0" rtlCol="0" anchor="ctr"/>
          <a:lstStyle/>
          <a:p>
            <a:pPr indent="0" marL="0">
              <a:buNone/>
            </a:pPr>
            <a:r>
              <a:rPr lang="en-US" sz="1000" dirty="0">
                <a:solidFill>
                  <a:srgbClr val="5A6A7E"/>
                </a:solidFill>
              </a:rPr>
              <a:t>60 modelling engines · 20 validation engines · Fixed RF configuration, no retuning</a:t>
            </a:r>
            <a:endParaRPr lang="en-US" sz="1000" dirty="0"/>
          </a:p>
        </p:txBody>
      </p:sp>
      <p:sp>
        <p:nvSpPr>
          <p:cNvPr id="10" name="Text 6"/>
          <p:cNvSpPr txBox="1"/>
          <p:nvPr/>
        </p:nvSpPr>
        <p:spPr>
          <a:xfrm>
            <a:off x="548640" y="6400800"/>
            <a:ext cx="9144000" cy="274320"/>
          </a:xfrm>
          <a:prstGeom prst="rect">
            <a:avLst/>
          </a:prstGeom>
          <a:noFill/>
          <a:ln/>
        </p:spPr>
        <p:txBody>
          <a:bodyPr wrap="square" lIns="0" tIns="0" rIns="0" bIns="0" rtlCol="0" anchor="ctr"/>
          <a:lstStyle/>
          <a:p>
            <a:pPr indent="0" marL="0">
              <a:buNone/>
            </a:pPr>
            <a:r>
              <a:rPr lang="en-US" sz="800" dirty="0">
                <a:solidFill>
                  <a:srgbClr val="5A6A7E"/>
                </a:solidFill>
              </a:rPr>
              <a:t>Thesis §5.6, §5.7 · Tables 5.6, 5.7 · Post-closure exploratory analyses</a:t>
            </a:r>
            <a:endParaRPr lang="en-US" sz="800" dirty="0"/>
          </a:p>
        </p:txBody>
      </p:sp>
      <p:sp>
        <p:nvSpPr>
          <p:cNvPr id="25" name="Slide Number Placeholder 0"/>
          <p:cNvSpPr>
            <a:spLocks noGrp="1"/>
          </p:cNvSpPr>
          <p:nvPr>
            <p:ph type="sldNum" sz="quarter" idx="4294967295"/>
          </p:nvPr>
        </p:nvSpPr>
        <p:spPr>
          <a:xfrm>
            <a:off x="1143000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6A7E"/>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0972800" cy="548640"/>
          </a:xfrm>
          <a:prstGeom prst="rect">
            <a:avLst/>
          </a:prstGeom>
          <a:noFill/>
          <a:ln/>
        </p:spPr>
        <p:txBody>
          <a:bodyPr wrap="square" lIns="0" tIns="0" rIns="0" bIns="0" rtlCol="0" anchor="ctr"/>
          <a:lstStyle/>
          <a:p>
            <a:pPr indent="0" marL="0">
              <a:buNone/>
            </a:pPr>
            <a:r>
              <a:rPr lang="en-US" sz="2800" b="1" dirty="0">
                <a:solidFill>
                  <a:srgbClr val="1A2332"/>
                </a:solidFill>
              </a:rPr>
              <a:t>SHAP audits predictions — age and HPC sensors dominate</a:t>
            </a:r>
            <a:endParaRPr lang="en-US" sz="2800" dirty="0"/>
          </a:p>
        </p:txBody>
      </p:sp>
      <p:graphicFrame>
        <p:nvGraphicFramePr>
          <p:cNvPr id="3" name="Chart 0" descr=""/>
          <p:cNvGraphicFramePr/>
          <p:nvPr/>
        </p:nvGraphicFramePr>
        <p:xfrm>
          <a:off x="548640" y="1051560"/>
          <a:ext cx="5303520" cy="28346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3931920"/>
            <a:ext cx="5029200" cy="457200"/>
          </a:xfrm>
          <a:prstGeom prst="rect">
            <a:avLst/>
          </a:prstGeom>
          <a:noFill/>
          <a:ln/>
        </p:spPr>
        <p:txBody>
          <a:bodyPr wrap="square" lIns="0" tIns="0" rIns="0" bIns="0" rtlCol="0" anchor="ctr"/>
          <a:lstStyle/>
          <a:p>
            <a:pPr indent="0" marL="0">
              <a:buNone/>
            </a:pPr>
            <a:r>
              <a:rPr lang="en-US" sz="1000" dirty="0">
                <a:solidFill>
                  <a:srgbClr val="5A6A7E"/>
                </a:solidFill>
              </a:rPr>
              <a:t>Baseline prediction: 107.84 cycles</a:t>
            </a:r>
            <a:endParaRPr lang="en-US" sz="1000" dirty="0"/>
          </a:p>
          <a:p>
            <a:pPr indent="0" marL="0">
              <a:buNone/>
            </a:pPr>
            <a:r>
              <a:rPr lang="en-US" sz="1000" dirty="0">
                <a:solidFill>
                  <a:srgbClr val="5A6A7E"/>
                </a:solidFill>
              </a:rPr>
              <a:t>Additivity verified: Σ SHAP ≈ prediction</a:t>
            </a:r>
            <a:endParaRPr lang="en-US" sz="1000" dirty="0"/>
          </a:p>
        </p:txBody>
      </p:sp>
      <p:sp>
        <p:nvSpPr>
          <p:cNvPr id="5" name="Shape 2"/>
          <p:cNvSpPr/>
          <p:nvPr/>
        </p:nvSpPr>
        <p:spPr>
          <a:xfrm>
            <a:off x="6400800" y="1051560"/>
            <a:ext cx="5212080" cy="2377440"/>
          </a:xfrm>
          <a:prstGeom prst="roundRect">
            <a:avLst>
              <a:gd name="adj" fmla="val 3846"/>
            </a:avLst>
          </a:prstGeom>
          <a:solidFill>
            <a:srgbClr val="F1F5F9"/>
          </a:solidFill>
          <a:ln/>
        </p:spPr>
      </p:sp>
      <p:sp>
        <p:nvSpPr>
          <p:cNvPr id="6" name="Text 3"/>
          <p:cNvSpPr txBox="1"/>
          <p:nvPr/>
        </p:nvSpPr>
        <p:spPr>
          <a:xfrm>
            <a:off x="6675120" y="1188720"/>
            <a:ext cx="4572000" cy="274320"/>
          </a:xfrm>
          <a:prstGeom prst="rect">
            <a:avLst/>
          </a:prstGeom>
          <a:noFill/>
          <a:ln/>
        </p:spPr>
        <p:txBody>
          <a:bodyPr wrap="square" lIns="0" tIns="0" rIns="0" bIns="0" rtlCol="0" anchor="ctr"/>
          <a:lstStyle/>
          <a:p>
            <a:pPr indent="0" marL="0">
              <a:buNone/>
            </a:pPr>
            <a:r>
              <a:rPr lang="en-US" sz="1300" b="1" dirty="0">
                <a:solidFill>
                  <a:srgbClr val="1A2332"/>
                </a:solidFill>
              </a:rPr>
              <a:t>Failure case — Engine 41</a:t>
            </a:r>
            <a:endParaRPr lang="en-US" sz="1300" dirty="0"/>
          </a:p>
        </p:txBody>
      </p:sp>
      <p:sp>
        <p:nvSpPr>
          <p:cNvPr id="7" name="Text 4"/>
          <p:cNvSpPr txBox="1"/>
          <p:nvPr/>
        </p:nvSpPr>
        <p:spPr>
          <a:xfrm>
            <a:off x="6675120" y="1554480"/>
            <a:ext cx="4663440" cy="1828800"/>
          </a:xfrm>
          <a:prstGeom prst="rect">
            <a:avLst/>
          </a:prstGeom>
          <a:noFill/>
          <a:ln/>
        </p:spPr>
        <p:txBody>
          <a:bodyPr wrap="square" lIns="0" tIns="0" rIns="0" bIns="0" rtlCol="0" anchor="ctr"/>
          <a:lstStyle/>
          <a:p>
            <a:pPr indent="0" marL="0">
              <a:lnSpc>
                <a:spcPct val="130000"/>
              </a:lnSpc>
              <a:buNone/>
            </a:pPr>
            <a:r>
              <a:rPr lang="en-US" sz="1200" b="1" dirty="0">
                <a:solidFill>
                  <a:srgbClr val="DC2626"/>
                </a:solidFill>
              </a:rPr>
              <a:t>Age 123 · true RUL 18 · predicted 60.0 cycles</a:t>
            </a:r>
            <a:endParaRPr lang="en-US" sz="1200" dirty="0"/>
          </a:p>
          <a:p>
            <a:pPr indent="0" marL="0">
              <a:lnSpc>
                <a:spcPct val="130000"/>
              </a:lnSpc>
              <a:buNone/>
            </a:pPr>
            <a:r>
              <a:rPr lang="en-US" sz="1200" dirty="0">
                <a:solidFill>
                  <a:srgbClr val="1A2332"/>
                </a:solidFill>
              </a:rPr>
              <a:t>Truly CRITICAL, point class only MEDIUM</a:t>
            </a:r>
            <a:endParaRPr lang="en-US" sz="1200" dirty="0"/>
          </a:p>
          <a:p>
            <a:pPr indent="0" marL="0">
              <a:lnSpc>
                <a:spcPct val="130000"/>
              </a:lnSpc>
              <a:buNone/>
            </a:pPr>
            <a:r>
              <a:rPr lang="en-US" sz="1100" dirty="0">
                <a:solidFill>
                  <a:srgbClr val="0891B2"/>
                </a:solidFill>
              </a:rPr>
              <a:t>Baseline 107.84  →  age −29.2  ·  T50 (s4) −11.5  ·  phi (s12) −7.9</a:t>
            </a:r>
            <a:endParaRPr lang="en-US" sz="1200" dirty="0"/>
          </a:p>
          <a:p>
            <a:pPr indent="0" marL="0">
              <a:lnSpc>
                <a:spcPct val="130000"/>
              </a:lnSpc>
              <a:buNone/>
            </a:pPr>
            <a:r>
              <a:rPr lang="en-US" sz="1100" dirty="0">
                <a:solidFill>
                  <a:srgbClr val="DC2626"/>
                </a:solidFill>
              </a:rPr>
              <a:t>Core speed Nc (s9) +4.3 partly counteracted the decline</a:t>
            </a:r>
            <a:endParaRPr lang="en-US" sz="1200" dirty="0"/>
          </a:p>
          <a:p>
            <a:pPr indent="0" marL="0">
              <a:lnSpc>
                <a:spcPct val="130000"/>
              </a:lnSpc>
              <a:buNone/>
            </a:pPr>
            <a:r>
              <a:rPr lang="en-US" sz="1100" dirty="0">
                <a:solidFill>
                  <a:srgbClr val="5A6A7E"/>
                </a:solidFill>
              </a:rPr>
              <a:t>Engine 18 shows the same pattern (true 28, predicted 64.5)</a:t>
            </a:r>
            <a:endParaRPr lang="en-US" sz="1200" dirty="0"/>
          </a:p>
        </p:txBody>
      </p:sp>
      <p:sp>
        <p:nvSpPr>
          <p:cNvPr id="8" name="Shape 5"/>
          <p:cNvSpPr/>
          <p:nvPr/>
        </p:nvSpPr>
        <p:spPr>
          <a:xfrm>
            <a:off x="6400800" y="3657600"/>
            <a:ext cx="5212080" cy="640080"/>
          </a:xfrm>
          <a:prstGeom prst="roundRect">
            <a:avLst>
              <a:gd name="adj" fmla="val 14286"/>
            </a:avLst>
          </a:prstGeom>
          <a:solidFill>
            <a:srgbClr val="FEE2E2"/>
          </a:solidFill>
          <a:ln w="19050">
            <a:solidFill>
              <a:srgbClr val="DC2626"/>
            </a:solidFill>
            <a:prstDash val="solid"/>
          </a:ln>
        </p:spPr>
      </p:sp>
      <p:sp>
        <p:nvSpPr>
          <p:cNvPr id="9" name="Text 6"/>
          <p:cNvSpPr txBox="1"/>
          <p:nvPr/>
        </p:nvSpPr>
        <p:spPr>
          <a:xfrm>
            <a:off x="6583680" y="3749040"/>
            <a:ext cx="4846320" cy="457200"/>
          </a:xfrm>
          <a:prstGeom prst="rect">
            <a:avLst/>
          </a:prstGeom>
          <a:noFill/>
          <a:ln/>
        </p:spPr>
        <p:txBody>
          <a:bodyPr wrap="square" lIns="0" tIns="0" rIns="0" bIns="0" rtlCol="0" anchor="ctr"/>
          <a:lstStyle/>
          <a:p>
            <a:pPr indent="0" marL="0">
              <a:buNone/>
            </a:pPr>
            <a:r>
              <a:rPr lang="en-US" sz="1100" b="1" dirty="0">
                <a:solidFill>
                  <a:srgbClr val="DC2626"/>
                </a:solidFill>
              </a:rPr>
              <a:t>SHAP supports numerical reconstruction — it does NOT establish physical causation. Correlated sensors can exchange credit.</a:t>
            </a:r>
            <a:endParaRPr lang="en-US" sz="1100" dirty="0"/>
          </a:p>
        </p:txBody>
      </p:sp>
      <p:sp>
        <p:nvSpPr>
          <p:cNvPr id="10" name="Text 7"/>
          <p:cNvSpPr txBox="1"/>
          <p:nvPr/>
        </p:nvSpPr>
        <p:spPr>
          <a:xfrm>
            <a:off x="548640" y="6400800"/>
            <a:ext cx="9144000" cy="274320"/>
          </a:xfrm>
          <a:prstGeom prst="rect">
            <a:avLst/>
          </a:prstGeom>
          <a:noFill/>
          <a:ln/>
        </p:spPr>
        <p:txBody>
          <a:bodyPr wrap="square" lIns="0" tIns="0" rIns="0" bIns="0" rtlCol="0" anchor="ctr"/>
          <a:lstStyle/>
          <a:p>
            <a:pPr indent="0" marL="0">
              <a:buNone/>
            </a:pPr>
            <a:r>
              <a:rPr lang="en-US" sz="800" dirty="0">
                <a:solidFill>
                  <a:srgbClr val="5A6A7E"/>
                </a:solidFill>
              </a:rPr>
              <a:t>Thesis §5.8 · Tables 5.8, 5.9 · Lundberg &amp; Lee (2017)</a:t>
            </a:r>
            <a:endParaRPr lang="en-US" sz="800" dirty="0"/>
          </a:p>
        </p:txBody>
      </p:sp>
      <p:sp>
        <p:nvSpPr>
          <p:cNvPr id="25" name="Slide Number Placeholder 0"/>
          <p:cNvSpPr>
            <a:spLocks noGrp="1"/>
          </p:cNvSpPr>
          <p:nvPr>
            <p:ph type="sldNum" sz="quarter" idx="4294967295"/>
          </p:nvPr>
        </p:nvSpPr>
        <p:spPr>
          <a:xfrm>
            <a:off x="1143000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6A7E"/>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0972800" cy="548640"/>
          </a:xfrm>
          <a:prstGeom prst="rect">
            <a:avLst/>
          </a:prstGeom>
          <a:noFill/>
          <a:ln/>
        </p:spPr>
        <p:txBody>
          <a:bodyPr wrap="square" lIns="0" tIns="0" rIns="0" bIns="0" rtlCol="0" anchor="ctr"/>
          <a:lstStyle/>
          <a:p>
            <a:pPr indent="0" marL="0">
              <a:buNone/>
            </a:pPr>
            <a:r>
              <a:rPr lang="en-US" sz="2800" b="1" dirty="0">
                <a:solidFill>
                  <a:srgbClr val="1A2332"/>
                </a:solidFill>
              </a:rPr>
              <a:t>The offline guard catches all critical engines — but reviews 81 of 100</a:t>
            </a:r>
            <a:endParaRPr lang="en-US" sz="2800" dirty="0"/>
          </a:p>
        </p:txBody>
      </p:sp>
      <p:sp>
        <p:nvSpPr>
          <p:cNvPr id="3" name="Text 1"/>
          <p:cNvSpPr txBox="1"/>
          <p:nvPr/>
        </p:nvSpPr>
        <p:spPr>
          <a:xfrm>
            <a:off x="548640" y="1005840"/>
            <a:ext cx="5486400" cy="274320"/>
          </a:xfrm>
          <a:prstGeom prst="rect">
            <a:avLst/>
          </a:prstGeom>
          <a:noFill/>
          <a:ln/>
        </p:spPr>
        <p:txBody>
          <a:bodyPr wrap="square" lIns="0" tIns="0" rIns="0" bIns="0" rtlCol="0" anchor="ctr"/>
          <a:lstStyle/>
          <a:p>
            <a:pPr indent="0" marL="0">
              <a:buNone/>
            </a:pPr>
            <a:r>
              <a:rPr lang="en-US" sz="1200" b="1" dirty="0">
                <a:solidFill>
                  <a:srgbClr val="1A2332"/>
                </a:solidFill>
              </a:rPr>
              <a:t>Point-only triage (no interval)</a:t>
            </a:r>
            <a:endParaRPr lang="en-US" sz="1200" dirty="0"/>
          </a:p>
        </p:txBody>
      </p:sp>
      <p:sp>
        <p:nvSpPr>
          <p:cNvPr id="4" name="Shape 2"/>
          <p:cNvSpPr/>
          <p:nvPr/>
        </p:nvSpPr>
        <p:spPr>
          <a:xfrm>
            <a:off x="548640" y="1371600"/>
            <a:ext cx="2468880" cy="1005840"/>
          </a:xfrm>
          <a:prstGeom prst="roundRect">
            <a:avLst>
              <a:gd name="adj" fmla="val 9091"/>
            </a:avLst>
          </a:prstGeom>
          <a:solidFill>
            <a:srgbClr val="F1F5F9"/>
          </a:solidFill>
          <a:ln/>
        </p:spPr>
      </p:sp>
      <p:sp>
        <p:nvSpPr>
          <p:cNvPr id="5" name="Text 3"/>
          <p:cNvSpPr txBox="1"/>
          <p:nvPr/>
        </p:nvSpPr>
        <p:spPr>
          <a:xfrm>
            <a:off x="548640" y="1481328"/>
            <a:ext cx="2468880" cy="502920"/>
          </a:xfrm>
          <a:prstGeom prst="rect">
            <a:avLst/>
          </a:prstGeom>
          <a:noFill/>
          <a:ln/>
        </p:spPr>
        <p:txBody>
          <a:bodyPr wrap="square" lIns="0" tIns="0" rIns="0" bIns="0" rtlCol="0" anchor="ctr"/>
          <a:lstStyle/>
          <a:p>
            <a:pPr algn="ctr" indent="0" marL="0">
              <a:buNone/>
            </a:pPr>
            <a:r>
              <a:rPr lang="en-US" sz="3000" b="1" dirty="0">
                <a:solidFill>
                  <a:srgbClr val="1A2332"/>
                </a:solidFill>
              </a:rPr>
              <a:t>62/100</a:t>
            </a:r>
            <a:endParaRPr lang="en-US" sz="3000" dirty="0"/>
          </a:p>
        </p:txBody>
      </p:sp>
      <p:sp>
        <p:nvSpPr>
          <p:cNvPr id="6" name="Text 4"/>
          <p:cNvSpPr txBox="1"/>
          <p:nvPr/>
        </p:nvSpPr>
        <p:spPr>
          <a:xfrm>
            <a:off x="548640" y="1965960"/>
            <a:ext cx="2468880" cy="320040"/>
          </a:xfrm>
          <a:prstGeom prst="rect">
            <a:avLst/>
          </a:prstGeom>
          <a:noFill/>
          <a:ln/>
        </p:spPr>
        <p:txBody>
          <a:bodyPr wrap="square" lIns="0" tIns="0" rIns="0" bIns="0" rtlCol="0" anchor="ctr"/>
          <a:lstStyle/>
          <a:p>
            <a:pPr algn="ctr" indent="0" marL="0">
              <a:buNone/>
            </a:pPr>
            <a:r>
              <a:rPr lang="en-US" sz="900" dirty="0">
                <a:solidFill>
                  <a:srgbClr val="5A6A7E"/>
                </a:solidFill>
              </a:rPr>
              <a:t>CORRECTLY CLASSIFIED</a:t>
            </a:r>
            <a:endParaRPr lang="en-US" sz="900" dirty="0"/>
          </a:p>
        </p:txBody>
      </p:sp>
      <p:sp>
        <p:nvSpPr>
          <p:cNvPr id="7" name="Shape 5"/>
          <p:cNvSpPr/>
          <p:nvPr/>
        </p:nvSpPr>
        <p:spPr>
          <a:xfrm>
            <a:off x="3200400" y="1371600"/>
            <a:ext cx="2468880" cy="1005840"/>
          </a:xfrm>
          <a:prstGeom prst="roundRect">
            <a:avLst>
              <a:gd name="adj" fmla="val 9091"/>
            </a:avLst>
          </a:prstGeom>
          <a:solidFill>
            <a:srgbClr val="F1F5F9"/>
          </a:solidFill>
          <a:ln/>
        </p:spPr>
      </p:sp>
      <p:sp>
        <p:nvSpPr>
          <p:cNvPr id="8" name="Text 6"/>
          <p:cNvSpPr txBox="1"/>
          <p:nvPr/>
        </p:nvSpPr>
        <p:spPr>
          <a:xfrm>
            <a:off x="3200400" y="1481328"/>
            <a:ext cx="2468880" cy="502920"/>
          </a:xfrm>
          <a:prstGeom prst="rect">
            <a:avLst/>
          </a:prstGeom>
          <a:noFill/>
          <a:ln/>
        </p:spPr>
        <p:txBody>
          <a:bodyPr wrap="square" lIns="0" tIns="0" rIns="0" bIns="0" rtlCol="0" anchor="ctr"/>
          <a:lstStyle/>
          <a:p>
            <a:pPr algn="ctr" indent="0" marL="0">
              <a:buNone/>
            </a:pPr>
            <a:r>
              <a:rPr lang="en-US" sz="3000" b="1" dirty="0">
                <a:solidFill>
                  <a:srgbClr val="DC2626"/>
                </a:solidFill>
              </a:rPr>
              <a:t>34/100</a:t>
            </a:r>
            <a:endParaRPr lang="en-US" sz="3000" dirty="0"/>
          </a:p>
        </p:txBody>
      </p:sp>
      <p:sp>
        <p:nvSpPr>
          <p:cNvPr id="9" name="Text 7"/>
          <p:cNvSpPr txBox="1"/>
          <p:nvPr/>
        </p:nvSpPr>
        <p:spPr>
          <a:xfrm>
            <a:off x="3200400" y="1965960"/>
            <a:ext cx="2468880" cy="320040"/>
          </a:xfrm>
          <a:prstGeom prst="rect">
            <a:avLst/>
          </a:prstGeom>
          <a:noFill/>
          <a:ln/>
        </p:spPr>
        <p:txBody>
          <a:bodyPr wrap="square" lIns="0" tIns="0" rIns="0" bIns="0" rtlCol="0" anchor="ctr"/>
          <a:lstStyle/>
          <a:p>
            <a:pPr algn="ctr" indent="0" marL="0">
              <a:buNone/>
            </a:pPr>
            <a:r>
              <a:rPr lang="en-US" sz="900" dirty="0">
                <a:solidFill>
                  <a:srgbClr val="5A6A7E"/>
                </a:solidFill>
              </a:rPr>
              <a:t>UNDER-TRIAGED</a:t>
            </a:r>
            <a:endParaRPr lang="en-US" sz="900" dirty="0"/>
          </a:p>
        </p:txBody>
      </p:sp>
      <p:sp>
        <p:nvSpPr>
          <p:cNvPr id="10" name="Shape 8"/>
          <p:cNvSpPr/>
          <p:nvPr/>
        </p:nvSpPr>
        <p:spPr>
          <a:xfrm>
            <a:off x="548640" y="2651760"/>
            <a:ext cx="5120640" cy="502920"/>
          </a:xfrm>
          <a:prstGeom prst="roundRect">
            <a:avLst>
              <a:gd name="adj" fmla="val 18182"/>
            </a:avLst>
          </a:prstGeom>
          <a:solidFill>
            <a:srgbClr val="FEE2E2"/>
          </a:solidFill>
          <a:ln w="19050">
            <a:solidFill>
              <a:srgbClr val="DC2626"/>
            </a:solidFill>
            <a:prstDash val="solid"/>
          </a:ln>
        </p:spPr>
      </p:sp>
      <p:sp>
        <p:nvSpPr>
          <p:cNvPr id="11" name="Text 9"/>
          <p:cNvSpPr txBox="1"/>
          <p:nvPr/>
        </p:nvSpPr>
        <p:spPr>
          <a:xfrm>
            <a:off x="731520" y="2697480"/>
            <a:ext cx="4754880" cy="411480"/>
          </a:xfrm>
          <a:prstGeom prst="rect">
            <a:avLst/>
          </a:prstGeom>
          <a:noFill/>
          <a:ln/>
        </p:spPr>
        <p:txBody>
          <a:bodyPr wrap="square" lIns="0" tIns="0" rIns="0" bIns="0" rtlCol="0" anchor="ctr"/>
          <a:lstStyle/>
          <a:p>
            <a:pPr indent="0" marL="0">
              <a:buNone/>
            </a:pPr>
            <a:r>
              <a:rPr lang="en-US" sz="1100" b="1" dirty="0">
                <a:solidFill>
                  <a:srgbClr val="DC2626"/>
                </a:solidFill>
              </a:rPr>
              <a:t>9 of 25 truly CRITICAL engines NOT labelled</a:t>
            </a:r>
            <a:endParaRPr lang="en-US" sz="1100" dirty="0"/>
          </a:p>
          <a:p>
            <a:pPr indent="0" marL="0">
              <a:buNone/>
            </a:pPr>
            <a:r>
              <a:rPr lang="en-US" sz="1100" b="1" dirty="0">
                <a:solidFill>
                  <a:srgbClr val="DC2626"/>
                </a:solidFill>
              </a:rPr>
              <a:t>CRITICAL by point prediction alone</a:t>
            </a:r>
            <a:endParaRPr lang="en-US" sz="1100" dirty="0"/>
          </a:p>
        </p:txBody>
      </p:sp>
      <p:sp>
        <p:nvSpPr>
          <p:cNvPr id="12" name="Text 10"/>
          <p:cNvSpPr txBox="1"/>
          <p:nvPr/>
        </p:nvSpPr>
        <p:spPr>
          <a:xfrm>
            <a:off x="6400800" y="1005840"/>
            <a:ext cx="5486400" cy="274320"/>
          </a:xfrm>
          <a:prstGeom prst="rect">
            <a:avLst/>
          </a:prstGeom>
          <a:noFill/>
          <a:ln/>
        </p:spPr>
        <p:txBody>
          <a:bodyPr wrap="square" lIns="0" tIns="0" rIns="0" bIns="0" rtlCol="0" anchor="ctr"/>
          <a:lstStyle/>
          <a:p>
            <a:pPr indent="0" marL="0">
              <a:buNone/>
            </a:pPr>
            <a:r>
              <a:rPr lang="en-US" sz="1200" b="1" dirty="0">
                <a:solidFill>
                  <a:srgbClr val="1A2332"/>
                </a:solidFill>
              </a:rPr>
              <a:t>With offline lower-bound guard</a:t>
            </a:r>
            <a:endParaRPr lang="en-US" sz="1200" dirty="0"/>
          </a:p>
        </p:txBody>
      </p:sp>
      <p:sp>
        <p:nvSpPr>
          <p:cNvPr id="13" name="Shape 11"/>
          <p:cNvSpPr/>
          <p:nvPr/>
        </p:nvSpPr>
        <p:spPr>
          <a:xfrm>
            <a:off x="6400800" y="1371600"/>
            <a:ext cx="2468880" cy="1005840"/>
          </a:xfrm>
          <a:prstGeom prst="roundRect">
            <a:avLst>
              <a:gd name="adj" fmla="val 9091"/>
            </a:avLst>
          </a:prstGeom>
          <a:solidFill>
            <a:srgbClr val="F1F5F9"/>
          </a:solidFill>
          <a:ln/>
        </p:spPr>
      </p:sp>
      <p:sp>
        <p:nvSpPr>
          <p:cNvPr id="14" name="Text 12"/>
          <p:cNvSpPr txBox="1"/>
          <p:nvPr/>
        </p:nvSpPr>
        <p:spPr>
          <a:xfrm>
            <a:off x="6400800" y="1481328"/>
            <a:ext cx="2468880" cy="502920"/>
          </a:xfrm>
          <a:prstGeom prst="rect">
            <a:avLst/>
          </a:prstGeom>
          <a:noFill/>
          <a:ln/>
        </p:spPr>
        <p:txBody>
          <a:bodyPr wrap="square" lIns="0" tIns="0" rIns="0" bIns="0" rtlCol="0" anchor="ctr"/>
          <a:lstStyle/>
          <a:p>
            <a:pPr algn="ctr" indent="0" marL="0">
              <a:buNone/>
            </a:pPr>
            <a:r>
              <a:rPr lang="en-US" sz="3000" b="1" dirty="0">
                <a:solidFill>
                  <a:srgbClr val="059669"/>
                </a:solidFill>
              </a:rPr>
              <a:t>39/39</a:t>
            </a:r>
            <a:endParaRPr lang="en-US" sz="3000" dirty="0"/>
          </a:p>
        </p:txBody>
      </p:sp>
      <p:sp>
        <p:nvSpPr>
          <p:cNvPr id="15" name="Text 13"/>
          <p:cNvSpPr txBox="1"/>
          <p:nvPr/>
        </p:nvSpPr>
        <p:spPr>
          <a:xfrm>
            <a:off x="6400800" y="1965960"/>
            <a:ext cx="2468880" cy="320040"/>
          </a:xfrm>
          <a:prstGeom prst="rect">
            <a:avLst/>
          </a:prstGeom>
          <a:noFill/>
          <a:ln/>
        </p:spPr>
        <p:txBody>
          <a:bodyPr wrap="square" lIns="0" tIns="0" rIns="0" bIns="0" rtlCol="0" anchor="ctr"/>
          <a:lstStyle/>
          <a:p>
            <a:pPr algn="ctr" indent="0" marL="0">
              <a:buNone/>
            </a:pPr>
            <a:r>
              <a:rPr lang="en-US" sz="900" dirty="0">
                <a:solidFill>
                  <a:srgbClr val="5A6A7E"/>
                </a:solidFill>
              </a:rPr>
              <a:t>CRIT+HIGH CAUGHT</a:t>
            </a:r>
            <a:endParaRPr lang="en-US" sz="900" dirty="0"/>
          </a:p>
        </p:txBody>
      </p:sp>
      <p:sp>
        <p:nvSpPr>
          <p:cNvPr id="16" name="Shape 14"/>
          <p:cNvSpPr/>
          <p:nvPr/>
        </p:nvSpPr>
        <p:spPr>
          <a:xfrm>
            <a:off x="9052560" y="1371600"/>
            <a:ext cx="2468880" cy="1005840"/>
          </a:xfrm>
          <a:prstGeom prst="roundRect">
            <a:avLst>
              <a:gd name="adj" fmla="val 9091"/>
            </a:avLst>
          </a:prstGeom>
          <a:solidFill>
            <a:srgbClr val="F1F5F9"/>
          </a:solidFill>
          <a:ln/>
        </p:spPr>
      </p:sp>
      <p:sp>
        <p:nvSpPr>
          <p:cNvPr id="17" name="Text 15"/>
          <p:cNvSpPr txBox="1"/>
          <p:nvPr/>
        </p:nvSpPr>
        <p:spPr>
          <a:xfrm>
            <a:off x="9052560" y="1481328"/>
            <a:ext cx="2468880" cy="502920"/>
          </a:xfrm>
          <a:prstGeom prst="rect">
            <a:avLst/>
          </a:prstGeom>
          <a:noFill/>
          <a:ln/>
        </p:spPr>
        <p:txBody>
          <a:bodyPr wrap="square" lIns="0" tIns="0" rIns="0" bIns="0" rtlCol="0" anchor="ctr"/>
          <a:lstStyle/>
          <a:p>
            <a:pPr algn="ctr" indent="0" marL="0">
              <a:buNone/>
            </a:pPr>
            <a:r>
              <a:rPr lang="en-US" sz="3000" b="1" dirty="0">
                <a:solidFill>
                  <a:srgbClr val="D97706"/>
                </a:solidFill>
              </a:rPr>
              <a:t>81/100</a:t>
            </a:r>
            <a:endParaRPr lang="en-US" sz="3000" dirty="0"/>
          </a:p>
        </p:txBody>
      </p:sp>
      <p:sp>
        <p:nvSpPr>
          <p:cNvPr id="18" name="Text 16"/>
          <p:cNvSpPr txBox="1"/>
          <p:nvPr/>
        </p:nvSpPr>
        <p:spPr>
          <a:xfrm>
            <a:off x="9052560" y="1965960"/>
            <a:ext cx="2468880" cy="320040"/>
          </a:xfrm>
          <a:prstGeom prst="rect">
            <a:avLst/>
          </a:prstGeom>
          <a:noFill/>
          <a:ln/>
        </p:spPr>
        <p:txBody>
          <a:bodyPr wrap="square" lIns="0" tIns="0" rIns="0" bIns="0" rtlCol="0" anchor="ctr"/>
          <a:lstStyle/>
          <a:p>
            <a:pPr algn="ctr" indent="0" marL="0">
              <a:buNone/>
            </a:pPr>
            <a:r>
              <a:rPr lang="en-US" sz="900" dirty="0">
                <a:solidFill>
                  <a:srgbClr val="5A6A7E"/>
                </a:solidFill>
              </a:rPr>
              <a:t>REFERRED TO REVIEW</a:t>
            </a:r>
            <a:endParaRPr lang="en-US" sz="900" dirty="0"/>
          </a:p>
        </p:txBody>
      </p:sp>
      <p:sp>
        <p:nvSpPr>
          <p:cNvPr id="19" name="Shape 17"/>
          <p:cNvSpPr/>
          <p:nvPr/>
        </p:nvSpPr>
        <p:spPr>
          <a:xfrm>
            <a:off x="6400800" y="2651760"/>
            <a:ext cx="5212080" cy="777240"/>
          </a:xfrm>
          <a:prstGeom prst="roundRect">
            <a:avLst>
              <a:gd name="adj" fmla="val 11765"/>
            </a:avLst>
          </a:prstGeom>
          <a:solidFill>
            <a:srgbClr val="E0F7FA"/>
          </a:solidFill>
          <a:ln w="19050">
            <a:solidFill>
              <a:srgbClr val="0891B2"/>
            </a:solidFill>
            <a:prstDash val="solid"/>
          </a:ln>
        </p:spPr>
      </p:sp>
      <p:sp>
        <p:nvSpPr>
          <p:cNvPr id="20" name="Text 18"/>
          <p:cNvSpPr txBox="1"/>
          <p:nvPr/>
        </p:nvSpPr>
        <p:spPr>
          <a:xfrm>
            <a:off x="6583680" y="2743200"/>
            <a:ext cx="4846320" cy="640080"/>
          </a:xfrm>
          <a:prstGeom prst="rect">
            <a:avLst/>
          </a:prstGeom>
          <a:noFill/>
          <a:ln/>
        </p:spPr>
        <p:txBody>
          <a:bodyPr wrap="square" lIns="0" tIns="0" rIns="0" bIns="0" rtlCol="0" anchor="ctr"/>
          <a:lstStyle/>
          <a:p>
            <a:pPr indent="0" marL="0">
              <a:lnSpc>
                <a:spcPct val="140000"/>
              </a:lnSpc>
              <a:buNone/>
            </a:pPr>
            <a:r>
              <a:rPr lang="en-US" sz="1100" dirty="0">
                <a:solidFill>
                  <a:srgbClr val="1A2332"/>
                </a:solidFill>
              </a:rPr>
              <a:t>47 of 81 entered on interval condition alone.</a:t>
            </a:r>
            <a:endParaRPr lang="en-US" sz="1100" dirty="0"/>
          </a:p>
          <a:p>
            <a:pPr indent="0" marL="0">
              <a:lnSpc>
                <a:spcPct val="140000"/>
              </a:lnSpc>
              <a:buNone/>
            </a:pPr>
            <a:r>
              <a:rPr lang="en-US" sz="1200" b="1" dirty="0">
                <a:solidFill>
                  <a:srgbClr val="0891B2"/>
                </a:solidFill>
              </a:rPr>
              <a:t>Trade-off: 100% critical recall ↔ 81% review burden.</a:t>
            </a:r>
            <a:endParaRPr lang="en-US" sz="1100" dirty="0"/>
          </a:p>
        </p:txBody>
      </p:sp>
      <p:sp>
        <p:nvSpPr>
          <p:cNvPr id="21" name="Text 19"/>
          <p:cNvSpPr txBox="1"/>
          <p:nvPr/>
        </p:nvSpPr>
        <p:spPr>
          <a:xfrm>
            <a:off x="548640" y="3749040"/>
            <a:ext cx="10972800" cy="274320"/>
          </a:xfrm>
          <a:prstGeom prst="rect">
            <a:avLst/>
          </a:prstGeom>
          <a:noFill/>
          <a:ln/>
        </p:spPr>
        <p:txBody>
          <a:bodyPr wrap="square" lIns="0" tIns="0" rIns="0" bIns="0" rtlCol="0" anchor="ctr"/>
          <a:lstStyle/>
          <a:p>
            <a:pPr indent="0" marL="0">
              <a:buNone/>
            </a:pPr>
            <a:r>
              <a:rPr lang="en-US" sz="1000" dirty="0">
                <a:solidFill>
                  <a:srgbClr val="5A6A7E"/>
                </a:solidFill>
              </a:rPr>
              <a:t>Validation rows: 2,578/4,217 referred · 2/1,220 truly critical-or-high rows missed · Repeated measurements, not independent engines.</a:t>
            </a:r>
            <a:endParaRPr lang="en-US" sz="1000" dirty="0"/>
          </a:p>
        </p:txBody>
      </p:sp>
      <p:sp>
        <p:nvSpPr>
          <p:cNvPr id="22" name="Text 20"/>
          <p:cNvSpPr txBox="1"/>
          <p:nvPr/>
        </p:nvSpPr>
        <p:spPr>
          <a:xfrm>
            <a:off x="548640" y="6400800"/>
            <a:ext cx="9144000" cy="274320"/>
          </a:xfrm>
          <a:prstGeom prst="rect">
            <a:avLst/>
          </a:prstGeom>
          <a:noFill/>
          <a:ln/>
        </p:spPr>
        <p:txBody>
          <a:bodyPr wrap="square" lIns="0" tIns="0" rIns="0" bIns="0" rtlCol="0" anchor="ctr"/>
          <a:lstStyle/>
          <a:p>
            <a:pPr indent="0" marL="0">
              <a:buNone/>
            </a:pPr>
            <a:r>
              <a:rPr lang="en-US" sz="800" dirty="0">
                <a:solidFill>
                  <a:srgbClr val="5A6A7E"/>
                </a:solidFill>
              </a:rPr>
              <a:t>Thesis §5.9 · Table 5.10 · Figure 5.10</a:t>
            </a:r>
            <a:endParaRPr lang="en-US" sz="800" dirty="0"/>
          </a:p>
        </p:txBody>
      </p:sp>
      <p:sp>
        <p:nvSpPr>
          <p:cNvPr id="25" name="Slide Number Placeholder 0"/>
          <p:cNvSpPr>
            <a:spLocks noGrp="1"/>
          </p:cNvSpPr>
          <p:nvPr>
            <p:ph type="sldNum" sz="quarter" idx="4294967295"/>
          </p:nvPr>
        </p:nvSpPr>
        <p:spPr>
          <a:xfrm>
            <a:off x="1143000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6A7E"/>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0972800" cy="548640"/>
          </a:xfrm>
          <a:prstGeom prst="rect">
            <a:avLst/>
          </a:prstGeom>
          <a:noFill/>
          <a:ln/>
        </p:spPr>
        <p:txBody>
          <a:bodyPr wrap="square" lIns="0" tIns="0" rIns="0" bIns="0" rtlCol="0" anchor="ctr"/>
          <a:lstStyle/>
          <a:p>
            <a:pPr indent="0" marL="0">
              <a:buNone/>
            </a:pPr>
            <a:r>
              <a:rPr lang="en-US" sz="2400" b="1" dirty="0">
                <a:solidFill>
                  <a:srgbClr val="1A2332"/>
                </a:solidFill>
              </a:rPr>
              <a:t>Separately tested n8n prototype: fixed payload, human authority, audit trail</a:t>
            </a:r>
            <a:endParaRPr lang="en-US" sz="2400" dirty="0"/>
          </a:p>
        </p:txBody>
      </p:sp>
      <p:sp>
        <p:nvSpPr>
          <p:cNvPr id="3" name="Shape 1"/>
          <p:cNvSpPr/>
          <p:nvPr/>
        </p:nvSpPr>
        <p:spPr>
          <a:xfrm>
            <a:off x="548640" y="1005840"/>
            <a:ext cx="11064240" cy="1005840"/>
          </a:xfrm>
          <a:prstGeom prst="roundRect">
            <a:avLst>
              <a:gd name="adj" fmla="val 9091"/>
            </a:avLst>
          </a:prstGeom>
          <a:solidFill>
            <a:srgbClr val="FFFFFF"/>
          </a:solidFill>
          <a:ln w="19050">
            <a:solidFill>
              <a:srgbClr val="0891B2"/>
            </a:solidFill>
            <a:prstDash val="solid"/>
          </a:ln>
        </p:spPr>
      </p:sp>
      <p:sp>
        <p:nvSpPr>
          <p:cNvPr id="4" name="Text 2"/>
          <p:cNvSpPr txBox="1"/>
          <p:nvPr/>
        </p:nvSpPr>
        <p:spPr>
          <a:xfrm>
            <a:off x="822960" y="1051560"/>
            <a:ext cx="10058400" cy="274320"/>
          </a:xfrm>
          <a:prstGeom prst="rect">
            <a:avLst/>
          </a:prstGeom>
          <a:noFill/>
          <a:ln/>
        </p:spPr>
        <p:txBody>
          <a:bodyPr wrap="square" lIns="0" tIns="0" rIns="0" bIns="0" rtlCol="0" anchor="ctr"/>
          <a:lstStyle/>
          <a:p>
            <a:pPr indent="0" marL="0">
              <a:buNone/>
            </a:pPr>
            <a:r>
              <a:rPr lang="en-US" sz="1000" b="1" dirty="0">
                <a:solidFill>
                  <a:srgbClr val="0891B2"/>
                </a:solidFill>
              </a:rPr>
              <a:t>TRACK 1 — Evaluated offline analytical pipeline</a:t>
            </a:r>
            <a:endParaRPr lang="en-US" sz="1000" dirty="0"/>
          </a:p>
        </p:txBody>
      </p:sp>
      <p:sp>
        <p:nvSpPr>
          <p:cNvPr id="5" name="Shape 3"/>
          <p:cNvSpPr/>
          <p:nvPr/>
        </p:nvSpPr>
        <p:spPr>
          <a:xfrm>
            <a:off x="822960" y="1417320"/>
            <a:ext cx="1371600" cy="411480"/>
          </a:xfrm>
          <a:prstGeom prst="roundRect">
            <a:avLst>
              <a:gd name="adj" fmla="val 17778"/>
            </a:avLst>
          </a:prstGeom>
          <a:solidFill>
            <a:srgbClr val="E0F7FA"/>
          </a:solidFill>
          <a:ln w="6350">
            <a:solidFill>
              <a:srgbClr val="0891B2"/>
            </a:solidFill>
            <a:prstDash val="solid"/>
          </a:ln>
        </p:spPr>
      </p:sp>
      <p:sp>
        <p:nvSpPr>
          <p:cNvPr id="6" name="Text 4"/>
          <p:cNvSpPr txBox="1"/>
          <p:nvPr/>
        </p:nvSpPr>
        <p:spPr>
          <a:xfrm>
            <a:off x="822960" y="1417320"/>
            <a:ext cx="1371600" cy="411480"/>
          </a:xfrm>
          <a:prstGeom prst="rect">
            <a:avLst/>
          </a:prstGeom>
          <a:noFill/>
          <a:ln/>
        </p:spPr>
        <p:txBody>
          <a:bodyPr wrap="square" lIns="0" tIns="0" rIns="0" bIns="0" rtlCol="0" anchor="ctr"/>
          <a:lstStyle/>
          <a:p>
            <a:pPr algn="ctr" indent="0" marL="0">
              <a:buNone/>
            </a:pPr>
            <a:r>
              <a:rPr lang="en-US" sz="900" dirty="0">
                <a:solidFill>
                  <a:srgbClr val="1A2332"/>
                </a:solidFill>
              </a:rPr>
              <a:t>FD001 Data</a:t>
            </a:r>
            <a:endParaRPr lang="en-US" sz="900" dirty="0"/>
          </a:p>
        </p:txBody>
      </p:sp>
      <p:sp>
        <p:nvSpPr>
          <p:cNvPr id="7" name="Text 5"/>
          <p:cNvSpPr txBox="1"/>
          <p:nvPr/>
        </p:nvSpPr>
        <p:spPr>
          <a:xfrm>
            <a:off x="2194560" y="1417320"/>
            <a:ext cx="365760" cy="411480"/>
          </a:xfrm>
          <a:prstGeom prst="rect">
            <a:avLst/>
          </a:prstGeom>
          <a:noFill/>
          <a:ln/>
        </p:spPr>
        <p:txBody>
          <a:bodyPr wrap="square" lIns="0" tIns="0" rIns="0" bIns="0" rtlCol="0" anchor="ctr"/>
          <a:lstStyle/>
          <a:p>
            <a:pPr algn="ctr" indent="0" marL="0">
              <a:buNone/>
            </a:pPr>
            <a:r>
              <a:rPr lang="en-US" sz="1400" dirty="0">
                <a:solidFill>
                  <a:srgbClr val="0891B2"/>
                </a:solidFill>
              </a:rPr>
              <a:t>→</a:t>
            </a:r>
            <a:endParaRPr lang="en-US" sz="1400" dirty="0"/>
          </a:p>
        </p:txBody>
      </p:sp>
      <p:sp>
        <p:nvSpPr>
          <p:cNvPr id="8" name="Shape 6"/>
          <p:cNvSpPr/>
          <p:nvPr/>
        </p:nvSpPr>
        <p:spPr>
          <a:xfrm>
            <a:off x="2560320" y="1417320"/>
            <a:ext cx="1371600" cy="411480"/>
          </a:xfrm>
          <a:prstGeom prst="roundRect">
            <a:avLst>
              <a:gd name="adj" fmla="val 17778"/>
            </a:avLst>
          </a:prstGeom>
          <a:solidFill>
            <a:srgbClr val="E0F7FA"/>
          </a:solidFill>
          <a:ln w="6350">
            <a:solidFill>
              <a:srgbClr val="0891B2"/>
            </a:solidFill>
            <a:prstDash val="solid"/>
          </a:ln>
        </p:spPr>
      </p:sp>
      <p:sp>
        <p:nvSpPr>
          <p:cNvPr id="9" name="Text 7"/>
          <p:cNvSpPr txBox="1"/>
          <p:nvPr/>
        </p:nvSpPr>
        <p:spPr>
          <a:xfrm>
            <a:off x="2560320" y="1417320"/>
            <a:ext cx="1371600" cy="411480"/>
          </a:xfrm>
          <a:prstGeom prst="rect">
            <a:avLst/>
          </a:prstGeom>
          <a:noFill/>
          <a:ln/>
        </p:spPr>
        <p:txBody>
          <a:bodyPr wrap="square" lIns="0" tIns="0" rIns="0" bIns="0" rtlCol="0" anchor="ctr"/>
          <a:lstStyle/>
          <a:p>
            <a:pPr algn="ctr" indent="0" marL="0">
              <a:buNone/>
            </a:pPr>
            <a:r>
              <a:rPr lang="en-US" sz="900" dirty="0">
                <a:solidFill>
                  <a:srgbClr val="1A2332"/>
                </a:solidFill>
              </a:rPr>
              <a:t>Engine Split</a:t>
            </a:r>
            <a:endParaRPr lang="en-US" sz="900" dirty="0"/>
          </a:p>
        </p:txBody>
      </p:sp>
      <p:sp>
        <p:nvSpPr>
          <p:cNvPr id="10" name="Text 8"/>
          <p:cNvSpPr txBox="1"/>
          <p:nvPr/>
        </p:nvSpPr>
        <p:spPr>
          <a:xfrm>
            <a:off x="3931920" y="1417320"/>
            <a:ext cx="365760" cy="411480"/>
          </a:xfrm>
          <a:prstGeom prst="rect">
            <a:avLst/>
          </a:prstGeom>
          <a:noFill/>
          <a:ln/>
        </p:spPr>
        <p:txBody>
          <a:bodyPr wrap="square" lIns="0" tIns="0" rIns="0" bIns="0" rtlCol="0" anchor="ctr"/>
          <a:lstStyle/>
          <a:p>
            <a:pPr algn="ctr" indent="0" marL="0">
              <a:buNone/>
            </a:pPr>
            <a:r>
              <a:rPr lang="en-US" sz="1400" dirty="0">
                <a:solidFill>
                  <a:srgbClr val="0891B2"/>
                </a:solidFill>
              </a:rPr>
              <a:t>→</a:t>
            </a:r>
            <a:endParaRPr lang="en-US" sz="1400" dirty="0"/>
          </a:p>
        </p:txBody>
      </p:sp>
      <p:sp>
        <p:nvSpPr>
          <p:cNvPr id="11" name="Shape 9"/>
          <p:cNvSpPr/>
          <p:nvPr/>
        </p:nvSpPr>
        <p:spPr>
          <a:xfrm>
            <a:off x="4297680" y="1417320"/>
            <a:ext cx="1371600" cy="411480"/>
          </a:xfrm>
          <a:prstGeom prst="roundRect">
            <a:avLst>
              <a:gd name="adj" fmla="val 17778"/>
            </a:avLst>
          </a:prstGeom>
          <a:solidFill>
            <a:srgbClr val="E0F7FA"/>
          </a:solidFill>
          <a:ln w="6350">
            <a:solidFill>
              <a:srgbClr val="0891B2"/>
            </a:solidFill>
            <a:prstDash val="solid"/>
          </a:ln>
        </p:spPr>
      </p:sp>
      <p:sp>
        <p:nvSpPr>
          <p:cNvPr id="12" name="Text 10"/>
          <p:cNvSpPr txBox="1"/>
          <p:nvPr/>
        </p:nvSpPr>
        <p:spPr>
          <a:xfrm>
            <a:off x="4297680" y="1417320"/>
            <a:ext cx="1371600" cy="411480"/>
          </a:xfrm>
          <a:prstGeom prst="rect">
            <a:avLst/>
          </a:prstGeom>
          <a:noFill/>
          <a:ln/>
        </p:spPr>
        <p:txBody>
          <a:bodyPr wrap="square" lIns="0" tIns="0" rIns="0" bIns="0" rtlCol="0" anchor="ctr"/>
          <a:lstStyle/>
          <a:p>
            <a:pPr algn="ctr" indent="0" marL="0">
              <a:buNone/>
            </a:pPr>
            <a:r>
              <a:rPr lang="en-US" sz="900" dirty="0">
                <a:solidFill>
                  <a:srgbClr val="1A2332"/>
                </a:solidFill>
              </a:rPr>
              <a:t>Random Forest</a:t>
            </a:r>
            <a:endParaRPr lang="en-US" sz="900" dirty="0"/>
          </a:p>
        </p:txBody>
      </p:sp>
      <p:sp>
        <p:nvSpPr>
          <p:cNvPr id="13" name="Text 11"/>
          <p:cNvSpPr txBox="1"/>
          <p:nvPr/>
        </p:nvSpPr>
        <p:spPr>
          <a:xfrm>
            <a:off x="5669280" y="1417320"/>
            <a:ext cx="365760" cy="411480"/>
          </a:xfrm>
          <a:prstGeom prst="rect">
            <a:avLst/>
          </a:prstGeom>
          <a:noFill/>
          <a:ln/>
        </p:spPr>
        <p:txBody>
          <a:bodyPr wrap="square" lIns="0" tIns="0" rIns="0" bIns="0" rtlCol="0" anchor="ctr"/>
          <a:lstStyle/>
          <a:p>
            <a:pPr algn="ctr" indent="0" marL="0">
              <a:buNone/>
            </a:pPr>
            <a:r>
              <a:rPr lang="en-US" sz="1400" dirty="0">
                <a:solidFill>
                  <a:srgbClr val="0891B2"/>
                </a:solidFill>
              </a:rPr>
              <a:t>→</a:t>
            </a:r>
            <a:endParaRPr lang="en-US" sz="1400" dirty="0"/>
          </a:p>
        </p:txBody>
      </p:sp>
      <p:sp>
        <p:nvSpPr>
          <p:cNvPr id="14" name="Shape 12"/>
          <p:cNvSpPr/>
          <p:nvPr/>
        </p:nvSpPr>
        <p:spPr>
          <a:xfrm>
            <a:off x="6035040" y="1417320"/>
            <a:ext cx="1371600" cy="411480"/>
          </a:xfrm>
          <a:prstGeom prst="roundRect">
            <a:avLst>
              <a:gd name="adj" fmla="val 17778"/>
            </a:avLst>
          </a:prstGeom>
          <a:solidFill>
            <a:srgbClr val="E0F7FA"/>
          </a:solidFill>
          <a:ln w="6350">
            <a:solidFill>
              <a:srgbClr val="0891B2"/>
            </a:solidFill>
            <a:prstDash val="solid"/>
          </a:ln>
        </p:spPr>
      </p:sp>
      <p:sp>
        <p:nvSpPr>
          <p:cNvPr id="15" name="Text 13"/>
          <p:cNvSpPr txBox="1"/>
          <p:nvPr/>
        </p:nvSpPr>
        <p:spPr>
          <a:xfrm>
            <a:off x="6035040" y="1417320"/>
            <a:ext cx="1371600" cy="411480"/>
          </a:xfrm>
          <a:prstGeom prst="rect">
            <a:avLst/>
          </a:prstGeom>
          <a:noFill/>
          <a:ln/>
        </p:spPr>
        <p:txBody>
          <a:bodyPr wrap="square" lIns="0" tIns="0" rIns="0" bIns="0" rtlCol="0" anchor="ctr"/>
          <a:lstStyle/>
          <a:p>
            <a:pPr algn="ctr" indent="0" marL="0">
              <a:buNone/>
            </a:pPr>
            <a:r>
              <a:rPr lang="en-US" sz="900" dirty="0">
                <a:solidFill>
                  <a:srgbClr val="1A2332"/>
                </a:solidFill>
              </a:rPr>
              <a:t>Conformal</a:t>
            </a:r>
            <a:endParaRPr lang="en-US" sz="900" dirty="0"/>
          </a:p>
        </p:txBody>
      </p:sp>
      <p:sp>
        <p:nvSpPr>
          <p:cNvPr id="16" name="Text 14"/>
          <p:cNvSpPr txBox="1"/>
          <p:nvPr/>
        </p:nvSpPr>
        <p:spPr>
          <a:xfrm>
            <a:off x="7406640" y="1417320"/>
            <a:ext cx="365760" cy="411480"/>
          </a:xfrm>
          <a:prstGeom prst="rect">
            <a:avLst/>
          </a:prstGeom>
          <a:noFill/>
          <a:ln/>
        </p:spPr>
        <p:txBody>
          <a:bodyPr wrap="square" lIns="0" tIns="0" rIns="0" bIns="0" rtlCol="0" anchor="ctr"/>
          <a:lstStyle/>
          <a:p>
            <a:pPr algn="ctr" indent="0" marL="0">
              <a:buNone/>
            </a:pPr>
            <a:r>
              <a:rPr lang="en-US" sz="1400" dirty="0">
                <a:solidFill>
                  <a:srgbClr val="0891B2"/>
                </a:solidFill>
              </a:rPr>
              <a:t>→</a:t>
            </a:r>
            <a:endParaRPr lang="en-US" sz="1400" dirty="0"/>
          </a:p>
        </p:txBody>
      </p:sp>
      <p:sp>
        <p:nvSpPr>
          <p:cNvPr id="17" name="Shape 15"/>
          <p:cNvSpPr/>
          <p:nvPr/>
        </p:nvSpPr>
        <p:spPr>
          <a:xfrm>
            <a:off x="7772400" y="1417320"/>
            <a:ext cx="1371600" cy="411480"/>
          </a:xfrm>
          <a:prstGeom prst="roundRect">
            <a:avLst>
              <a:gd name="adj" fmla="val 17778"/>
            </a:avLst>
          </a:prstGeom>
          <a:solidFill>
            <a:srgbClr val="E0F7FA"/>
          </a:solidFill>
          <a:ln w="6350">
            <a:solidFill>
              <a:srgbClr val="0891B2"/>
            </a:solidFill>
            <a:prstDash val="solid"/>
          </a:ln>
        </p:spPr>
      </p:sp>
      <p:sp>
        <p:nvSpPr>
          <p:cNvPr id="18" name="Text 16"/>
          <p:cNvSpPr txBox="1"/>
          <p:nvPr/>
        </p:nvSpPr>
        <p:spPr>
          <a:xfrm>
            <a:off x="7772400" y="1417320"/>
            <a:ext cx="1371600" cy="411480"/>
          </a:xfrm>
          <a:prstGeom prst="rect">
            <a:avLst/>
          </a:prstGeom>
          <a:noFill/>
          <a:ln/>
        </p:spPr>
        <p:txBody>
          <a:bodyPr wrap="square" lIns="0" tIns="0" rIns="0" bIns="0" rtlCol="0" anchor="ctr"/>
          <a:lstStyle/>
          <a:p>
            <a:pPr algn="ctr" indent="0" marL="0">
              <a:buNone/>
            </a:pPr>
            <a:r>
              <a:rPr lang="en-US" sz="900" dirty="0">
                <a:solidFill>
                  <a:srgbClr val="1A2332"/>
                </a:solidFill>
              </a:rPr>
              <a:t>SHAP</a:t>
            </a:r>
            <a:endParaRPr lang="en-US" sz="900" dirty="0"/>
          </a:p>
        </p:txBody>
      </p:sp>
      <p:sp>
        <p:nvSpPr>
          <p:cNvPr id="19" name="Text 17"/>
          <p:cNvSpPr txBox="1"/>
          <p:nvPr/>
        </p:nvSpPr>
        <p:spPr>
          <a:xfrm>
            <a:off x="9144000" y="1417320"/>
            <a:ext cx="365760" cy="411480"/>
          </a:xfrm>
          <a:prstGeom prst="rect">
            <a:avLst/>
          </a:prstGeom>
          <a:noFill/>
          <a:ln/>
        </p:spPr>
        <p:txBody>
          <a:bodyPr wrap="square" lIns="0" tIns="0" rIns="0" bIns="0" rtlCol="0" anchor="ctr"/>
          <a:lstStyle/>
          <a:p>
            <a:pPr algn="ctr" indent="0" marL="0">
              <a:buNone/>
            </a:pPr>
            <a:r>
              <a:rPr lang="en-US" sz="1400" dirty="0">
                <a:solidFill>
                  <a:srgbClr val="0891B2"/>
                </a:solidFill>
              </a:rPr>
              <a:t>→</a:t>
            </a:r>
            <a:endParaRPr lang="en-US" sz="1400" dirty="0"/>
          </a:p>
        </p:txBody>
      </p:sp>
      <p:sp>
        <p:nvSpPr>
          <p:cNvPr id="20" name="Shape 18"/>
          <p:cNvSpPr/>
          <p:nvPr/>
        </p:nvSpPr>
        <p:spPr>
          <a:xfrm>
            <a:off x="9509760" y="1417320"/>
            <a:ext cx="1371600" cy="411480"/>
          </a:xfrm>
          <a:prstGeom prst="roundRect">
            <a:avLst>
              <a:gd name="adj" fmla="val 17778"/>
            </a:avLst>
          </a:prstGeom>
          <a:solidFill>
            <a:srgbClr val="E0F7FA"/>
          </a:solidFill>
          <a:ln w="6350">
            <a:solidFill>
              <a:srgbClr val="0891B2"/>
            </a:solidFill>
            <a:prstDash val="solid"/>
          </a:ln>
        </p:spPr>
      </p:sp>
      <p:sp>
        <p:nvSpPr>
          <p:cNvPr id="21" name="Text 19"/>
          <p:cNvSpPr txBox="1"/>
          <p:nvPr/>
        </p:nvSpPr>
        <p:spPr>
          <a:xfrm>
            <a:off x="9509760" y="1417320"/>
            <a:ext cx="1371600" cy="411480"/>
          </a:xfrm>
          <a:prstGeom prst="rect">
            <a:avLst/>
          </a:prstGeom>
          <a:noFill/>
          <a:ln/>
        </p:spPr>
        <p:txBody>
          <a:bodyPr wrap="square" lIns="0" tIns="0" rIns="0" bIns="0" rtlCol="0" anchor="ctr"/>
          <a:lstStyle/>
          <a:p>
            <a:pPr algn="ctr" indent="0" marL="0">
              <a:buNone/>
            </a:pPr>
            <a:r>
              <a:rPr lang="en-US" sz="900" dirty="0">
                <a:solidFill>
                  <a:srgbClr val="1A2332"/>
                </a:solidFill>
              </a:rPr>
              <a:t>Offline Guard</a:t>
            </a:r>
            <a:endParaRPr lang="en-US" sz="900" dirty="0"/>
          </a:p>
        </p:txBody>
      </p:sp>
      <p:sp>
        <p:nvSpPr>
          <p:cNvPr id="22" name="Text 20"/>
          <p:cNvSpPr txBox="1"/>
          <p:nvPr/>
        </p:nvSpPr>
        <p:spPr>
          <a:xfrm>
            <a:off x="3200400" y="2148840"/>
            <a:ext cx="5486400" cy="274320"/>
          </a:xfrm>
          <a:prstGeom prst="rect">
            <a:avLst/>
          </a:prstGeom>
          <a:noFill/>
          <a:ln/>
        </p:spPr>
        <p:txBody>
          <a:bodyPr wrap="square" lIns="0" tIns="0" rIns="0" bIns="0" rtlCol="0" anchor="ctr"/>
          <a:lstStyle/>
          <a:p>
            <a:pPr algn="ctr" indent="0" marL="0">
              <a:buNone/>
            </a:pPr>
            <a:r>
              <a:rPr lang="en-US" sz="1000" dirty="0">
                <a:solidFill>
                  <a:srgbClr val="D97706"/>
                </a:solidFill>
              </a:rPr>
              <a:t>⚠  No implemented live connection — proposed future link</a:t>
            </a:r>
            <a:endParaRPr lang="en-US" sz="1000" dirty="0"/>
          </a:p>
        </p:txBody>
      </p:sp>
      <p:sp>
        <p:nvSpPr>
          <p:cNvPr id="23" name="Shape 21"/>
          <p:cNvSpPr/>
          <p:nvPr/>
        </p:nvSpPr>
        <p:spPr>
          <a:xfrm>
            <a:off x="548640" y="2514600"/>
            <a:ext cx="11064240" cy="1005840"/>
          </a:xfrm>
          <a:prstGeom prst="roundRect">
            <a:avLst>
              <a:gd name="adj" fmla="val 9091"/>
            </a:avLst>
          </a:prstGeom>
          <a:solidFill>
            <a:srgbClr val="FFFFFF"/>
          </a:solidFill>
          <a:ln w="19050">
            <a:solidFill>
              <a:srgbClr val="D97706"/>
            </a:solidFill>
            <a:prstDash val="solid"/>
          </a:ln>
        </p:spPr>
      </p:sp>
      <p:sp>
        <p:nvSpPr>
          <p:cNvPr id="24" name="Text 22"/>
          <p:cNvSpPr txBox="1"/>
          <p:nvPr/>
        </p:nvSpPr>
        <p:spPr>
          <a:xfrm>
            <a:off x="822960" y="2560320"/>
            <a:ext cx="10058400" cy="274320"/>
          </a:xfrm>
          <a:prstGeom prst="rect">
            <a:avLst/>
          </a:prstGeom>
          <a:noFill/>
          <a:ln/>
        </p:spPr>
        <p:txBody>
          <a:bodyPr wrap="square" lIns="0" tIns="0" rIns="0" bIns="0" rtlCol="0" anchor="ctr"/>
          <a:lstStyle/>
          <a:p>
            <a:pPr indent="0" marL="0">
              <a:buNone/>
            </a:pPr>
            <a:r>
              <a:rPr lang="en-US" sz="1000" b="1" dirty="0">
                <a:solidFill>
                  <a:srgbClr val="D97706"/>
                </a:solidFill>
              </a:rPr>
              <a:t>TRACK 2 — Separately tested fixed-payload n8n prototype (22 nodes)</a:t>
            </a:r>
            <a:endParaRPr lang="en-US" sz="1000" dirty="0"/>
          </a:p>
        </p:txBody>
      </p:sp>
      <p:sp>
        <p:nvSpPr>
          <p:cNvPr id="25" name="Shape 23"/>
          <p:cNvSpPr/>
          <p:nvPr/>
        </p:nvSpPr>
        <p:spPr>
          <a:xfrm>
            <a:off x="1097280" y="2926080"/>
            <a:ext cx="1554480" cy="411480"/>
          </a:xfrm>
          <a:prstGeom prst="roundRect">
            <a:avLst>
              <a:gd name="adj" fmla="val 17778"/>
            </a:avLst>
          </a:prstGeom>
          <a:solidFill>
            <a:srgbClr val="FEF3C7"/>
          </a:solidFill>
          <a:ln w="6350">
            <a:solidFill>
              <a:srgbClr val="D97706"/>
            </a:solidFill>
            <a:prstDash val="solid"/>
          </a:ln>
        </p:spPr>
      </p:sp>
      <p:sp>
        <p:nvSpPr>
          <p:cNvPr id="26" name="Text 24"/>
          <p:cNvSpPr txBox="1"/>
          <p:nvPr/>
        </p:nvSpPr>
        <p:spPr>
          <a:xfrm>
            <a:off x="1097280" y="2926080"/>
            <a:ext cx="1554480" cy="411480"/>
          </a:xfrm>
          <a:prstGeom prst="rect">
            <a:avLst/>
          </a:prstGeom>
          <a:noFill/>
          <a:ln/>
        </p:spPr>
        <p:txBody>
          <a:bodyPr wrap="square" lIns="0" tIns="0" rIns="0" bIns="0" rtlCol="0" anchor="ctr"/>
          <a:lstStyle/>
          <a:p>
            <a:pPr algn="ctr" indent="0" marL="0">
              <a:buNone/>
            </a:pPr>
            <a:r>
              <a:rPr lang="en-US" sz="900" dirty="0">
                <a:solidFill>
                  <a:srgbClr val="1A2332"/>
                </a:solidFill>
              </a:rPr>
              <a:t>Fixed Payload</a:t>
            </a:r>
            <a:endParaRPr lang="en-US" sz="900" dirty="0"/>
          </a:p>
        </p:txBody>
      </p:sp>
      <p:sp>
        <p:nvSpPr>
          <p:cNvPr id="27" name="Text 25"/>
          <p:cNvSpPr txBox="1"/>
          <p:nvPr/>
        </p:nvSpPr>
        <p:spPr>
          <a:xfrm>
            <a:off x="2651760" y="2926080"/>
            <a:ext cx="548640" cy="411480"/>
          </a:xfrm>
          <a:prstGeom prst="rect">
            <a:avLst/>
          </a:prstGeom>
          <a:noFill/>
          <a:ln/>
        </p:spPr>
        <p:txBody>
          <a:bodyPr wrap="square" lIns="0" tIns="0" rIns="0" bIns="0" rtlCol="0" anchor="ctr"/>
          <a:lstStyle/>
          <a:p>
            <a:pPr algn="ctr" indent="0" marL="0">
              <a:buNone/>
            </a:pPr>
            <a:r>
              <a:rPr lang="en-US" sz="1400" dirty="0">
                <a:solidFill>
                  <a:srgbClr val="D97706"/>
                </a:solidFill>
              </a:rPr>
              <a:t>→</a:t>
            </a:r>
            <a:endParaRPr lang="en-US" sz="1400" dirty="0"/>
          </a:p>
        </p:txBody>
      </p:sp>
      <p:sp>
        <p:nvSpPr>
          <p:cNvPr id="28" name="Shape 26"/>
          <p:cNvSpPr/>
          <p:nvPr/>
        </p:nvSpPr>
        <p:spPr>
          <a:xfrm>
            <a:off x="3200400" y="2926080"/>
            <a:ext cx="1554480" cy="411480"/>
          </a:xfrm>
          <a:prstGeom prst="roundRect">
            <a:avLst>
              <a:gd name="adj" fmla="val 17778"/>
            </a:avLst>
          </a:prstGeom>
          <a:solidFill>
            <a:srgbClr val="FEF3C7"/>
          </a:solidFill>
          <a:ln w="6350">
            <a:solidFill>
              <a:srgbClr val="D97706"/>
            </a:solidFill>
            <a:prstDash val="solid"/>
          </a:ln>
        </p:spPr>
      </p:sp>
      <p:sp>
        <p:nvSpPr>
          <p:cNvPr id="29" name="Text 27"/>
          <p:cNvSpPr txBox="1"/>
          <p:nvPr/>
        </p:nvSpPr>
        <p:spPr>
          <a:xfrm>
            <a:off x="3200400" y="2926080"/>
            <a:ext cx="1554480" cy="411480"/>
          </a:xfrm>
          <a:prstGeom prst="rect">
            <a:avLst/>
          </a:prstGeom>
          <a:noFill/>
          <a:ln/>
        </p:spPr>
        <p:txBody>
          <a:bodyPr wrap="square" lIns="0" tIns="0" rIns="0" bIns="0" rtlCol="0" anchor="ctr"/>
          <a:lstStyle/>
          <a:p>
            <a:pPr algn="ctr" indent="0" marL="0">
              <a:buNone/>
            </a:pPr>
            <a:r>
              <a:rPr lang="en-US" sz="900" dirty="0">
                <a:solidFill>
                  <a:srgbClr val="1A2332"/>
                </a:solidFill>
              </a:rPr>
              <a:t>Policy Engine</a:t>
            </a:r>
            <a:endParaRPr lang="en-US" sz="900" dirty="0"/>
          </a:p>
        </p:txBody>
      </p:sp>
      <p:sp>
        <p:nvSpPr>
          <p:cNvPr id="30" name="Text 28"/>
          <p:cNvSpPr txBox="1"/>
          <p:nvPr/>
        </p:nvSpPr>
        <p:spPr>
          <a:xfrm>
            <a:off x="4754880" y="2926080"/>
            <a:ext cx="548640" cy="411480"/>
          </a:xfrm>
          <a:prstGeom prst="rect">
            <a:avLst/>
          </a:prstGeom>
          <a:noFill/>
          <a:ln/>
        </p:spPr>
        <p:txBody>
          <a:bodyPr wrap="square" lIns="0" tIns="0" rIns="0" bIns="0" rtlCol="0" anchor="ctr"/>
          <a:lstStyle/>
          <a:p>
            <a:pPr algn="ctr" indent="0" marL="0">
              <a:buNone/>
            </a:pPr>
            <a:r>
              <a:rPr lang="en-US" sz="1400" dirty="0">
                <a:solidFill>
                  <a:srgbClr val="D97706"/>
                </a:solidFill>
              </a:rPr>
              <a:t>→</a:t>
            </a:r>
            <a:endParaRPr lang="en-US" sz="1400" dirty="0"/>
          </a:p>
        </p:txBody>
      </p:sp>
      <p:sp>
        <p:nvSpPr>
          <p:cNvPr id="31" name="Shape 29"/>
          <p:cNvSpPr/>
          <p:nvPr/>
        </p:nvSpPr>
        <p:spPr>
          <a:xfrm>
            <a:off x="5303520" y="2926080"/>
            <a:ext cx="1554480" cy="411480"/>
          </a:xfrm>
          <a:prstGeom prst="roundRect">
            <a:avLst>
              <a:gd name="adj" fmla="val 17778"/>
            </a:avLst>
          </a:prstGeom>
          <a:solidFill>
            <a:srgbClr val="FEF3C7"/>
          </a:solidFill>
          <a:ln w="6350">
            <a:solidFill>
              <a:srgbClr val="D97706"/>
            </a:solidFill>
            <a:prstDash val="solid"/>
          </a:ln>
        </p:spPr>
      </p:sp>
      <p:sp>
        <p:nvSpPr>
          <p:cNvPr id="32" name="Text 30"/>
          <p:cNvSpPr txBox="1"/>
          <p:nvPr/>
        </p:nvSpPr>
        <p:spPr>
          <a:xfrm>
            <a:off x="5303520" y="2926080"/>
            <a:ext cx="1554480" cy="411480"/>
          </a:xfrm>
          <a:prstGeom prst="rect">
            <a:avLst/>
          </a:prstGeom>
          <a:noFill/>
          <a:ln/>
        </p:spPr>
        <p:txBody>
          <a:bodyPr wrap="square" lIns="0" tIns="0" rIns="0" bIns="0" rtlCol="0" anchor="ctr"/>
          <a:lstStyle/>
          <a:p>
            <a:pPr algn="ctr" indent="0" marL="0">
              <a:buNone/>
            </a:pPr>
            <a:r>
              <a:rPr lang="en-US" sz="900" dirty="0">
                <a:solidFill>
                  <a:srgbClr val="1A2332"/>
                </a:solidFill>
              </a:rPr>
              <a:t>Bounded LLM</a:t>
            </a:r>
            <a:endParaRPr lang="en-US" sz="900" dirty="0"/>
          </a:p>
        </p:txBody>
      </p:sp>
      <p:sp>
        <p:nvSpPr>
          <p:cNvPr id="33" name="Text 31"/>
          <p:cNvSpPr txBox="1"/>
          <p:nvPr/>
        </p:nvSpPr>
        <p:spPr>
          <a:xfrm>
            <a:off x="6858000" y="2926080"/>
            <a:ext cx="548640" cy="411480"/>
          </a:xfrm>
          <a:prstGeom prst="rect">
            <a:avLst/>
          </a:prstGeom>
          <a:noFill/>
          <a:ln/>
        </p:spPr>
        <p:txBody>
          <a:bodyPr wrap="square" lIns="0" tIns="0" rIns="0" bIns="0" rtlCol="0" anchor="ctr"/>
          <a:lstStyle/>
          <a:p>
            <a:pPr algn="ctr" indent="0" marL="0">
              <a:buNone/>
            </a:pPr>
            <a:r>
              <a:rPr lang="en-US" sz="1400" dirty="0">
                <a:solidFill>
                  <a:srgbClr val="D97706"/>
                </a:solidFill>
              </a:rPr>
              <a:t>→</a:t>
            </a:r>
            <a:endParaRPr lang="en-US" sz="1400" dirty="0"/>
          </a:p>
        </p:txBody>
      </p:sp>
      <p:sp>
        <p:nvSpPr>
          <p:cNvPr id="34" name="Shape 32"/>
          <p:cNvSpPr/>
          <p:nvPr/>
        </p:nvSpPr>
        <p:spPr>
          <a:xfrm>
            <a:off x="7406640" y="2926080"/>
            <a:ext cx="1554480" cy="411480"/>
          </a:xfrm>
          <a:prstGeom prst="roundRect">
            <a:avLst>
              <a:gd name="adj" fmla="val 17778"/>
            </a:avLst>
          </a:prstGeom>
          <a:solidFill>
            <a:srgbClr val="FEF3C7"/>
          </a:solidFill>
          <a:ln w="6350">
            <a:solidFill>
              <a:srgbClr val="D97706"/>
            </a:solidFill>
            <a:prstDash val="solid"/>
          </a:ln>
        </p:spPr>
      </p:sp>
      <p:sp>
        <p:nvSpPr>
          <p:cNvPr id="35" name="Text 33"/>
          <p:cNvSpPr txBox="1"/>
          <p:nvPr/>
        </p:nvSpPr>
        <p:spPr>
          <a:xfrm>
            <a:off x="7406640" y="2926080"/>
            <a:ext cx="1554480" cy="411480"/>
          </a:xfrm>
          <a:prstGeom prst="rect">
            <a:avLst/>
          </a:prstGeom>
          <a:noFill/>
          <a:ln/>
        </p:spPr>
        <p:txBody>
          <a:bodyPr wrap="square" lIns="0" tIns="0" rIns="0" bIns="0" rtlCol="0" anchor="ctr"/>
          <a:lstStyle/>
          <a:p>
            <a:pPr algn="ctr" indent="0" marL="0">
              <a:buNone/>
            </a:pPr>
            <a:r>
              <a:rPr lang="en-US" sz="900" dirty="0">
                <a:solidFill>
                  <a:srgbClr val="1A2332"/>
                </a:solidFill>
              </a:rPr>
              <a:t>Human Review</a:t>
            </a:r>
            <a:endParaRPr lang="en-US" sz="900" dirty="0"/>
          </a:p>
        </p:txBody>
      </p:sp>
      <p:sp>
        <p:nvSpPr>
          <p:cNvPr id="36" name="Text 34"/>
          <p:cNvSpPr txBox="1"/>
          <p:nvPr/>
        </p:nvSpPr>
        <p:spPr>
          <a:xfrm>
            <a:off x="8961120" y="2926080"/>
            <a:ext cx="548640" cy="411480"/>
          </a:xfrm>
          <a:prstGeom prst="rect">
            <a:avLst/>
          </a:prstGeom>
          <a:noFill/>
          <a:ln/>
        </p:spPr>
        <p:txBody>
          <a:bodyPr wrap="square" lIns="0" tIns="0" rIns="0" bIns="0" rtlCol="0" anchor="ctr"/>
          <a:lstStyle/>
          <a:p>
            <a:pPr algn="ctr" indent="0" marL="0">
              <a:buNone/>
            </a:pPr>
            <a:r>
              <a:rPr lang="en-US" sz="1400" dirty="0">
                <a:solidFill>
                  <a:srgbClr val="D97706"/>
                </a:solidFill>
              </a:rPr>
              <a:t>→</a:t>
            </a:r>
            <a:endParaRPr lang="en-US" sz="1400" dirty="0"/>
          </a:p>
        </p:txBody>
      </p:sp>
      <p:sp>
        <p:nvSpPr>
          <p:cNvPr id="37" name="Shape 35"/>
          <p:cNvSpPr/>
          <p:nvPr/>
        </p:nvSpPr>
        <p:spPr>
          <a:xfrm>
            <a:off x="9509760" y="2926080"/>
            <a:ext cx="1554480" cy="411480"/>
          </a:xfrm>
          <a:prstGeom prst="roundRect">
            <a:avLst>
              <a:gd name="adj" fmla="val 17778"/>
            </a:avLst>
          </a:prstGeom>
          <a:solidFill>
            <a:srgbClr val="FEF3C7"/>
          </a:solidFill>
          <a:ln w="6350">
            <a:solidFill>
              <a:srgbClr val="D97706"/>
            </a:solidFill>
            <a:prstDash val="solid"/>
          </a:ln>
        </p:spPr>
      </p:sp>
      <p:sp>
        <p:nvSpPr>
          <p:cNvPr id="38" name="Text 36"/>
          <p:cNvSpPr txBox="1"/>
          <p:nvPr/>
        </p:nvSpPr>
        <p:spPr>
          <a:xfrm>
            <a:off x="9509760" y="2926080"/>
            <a:ext cx="1554480" cy="411480"/>
          </a:xfrm>
          <a:prstGeom prst="rect">
            <a:avLst/>
          </a:prstGeom>
          <a:noFill/>
          <a:ln/>
        </p:spPr>
        <p:txBody>
          <a:bodyPr wrap="square" lIns="0" tIns="0" rIns="0" bIns="0" rtlCol="0" anchor="ctr"/>
          <a:lstStyle/>
          <a:p>
            <a:pPr algn="ctr" indent="0" marL="0">
              <a:buNone/>
            </a:pPr>
            <a:r>
              <a:rPr lang="en-US" sz="900" dirty="0">
                <a:solidFill>
                  <a:srgbClr val="1A2332"/>
                </a:solidFill>
              </a:rPr>
              <a:t>Audit DB</a:t>
            </a:r>
            <a:endParaRPr lang="en-US" sz="900" dirty="0"/>
          </a:p>
        </p:txBody>
      </p:sp>
      <p:sp>
        <p:nvSpPr>
          <p:cNvPr id="39" name="Text 37"/>
          <p:cNvSpPr txBox="1"/>
          <p:nvPr/>
        </p:nvSpPr>
        <p:spPr>
          <a:xfrm>
            <a:off x="548640" y="3794760"/>
            <a:ext cx="2743200" cy="274320"/>
          </a:xfrm>
          <a:prstGeom prst="rect">
            <a:avLst/>
          </a:prstGeom>
          <a:noFill/>
          <a:ln/>
        </p:spPr>
        <p:txBody>
          <a:bodyPr wrap="square" lIns="0" tIns="0" rIns="0" bIns="0" rtlCol="0" anchor="ctr"/>
          <a:lstStyle/>
          <a:p>
            <a:pPr indent="0" marL="0">
              <a:buNone/>
            </a:pPr>
            <a:r>
              <a:rPr lang="en-US" sz="1200" b="1" dirty="0">
                <a:solidFill>
                  <a:srgbClr val="1A2332"/>
                </a:solidFill>
              </a:rPr>
              <a:t>Audit evidence</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4114800"/>
          <a:ext cx="5029200" cy="914400"/>
        </p:xfrm>
        <a:graphic>
          <a:graphicData uri="http://schemas.openxmlformats.org/drawingml/2006/table">
            <a:tbl>
              <a:tblPr/>
              <a:tblGrid>
                <a:gridCol w="2011680"/>
                <a:gridCol w="914400"/>
                <a:gridCol w="1828800"/>
              </a:tblGrid>
              <a:tr h="301752">
                <a:tc>
                  <a:txBody>
                    <a:bodyPr/>
                    <a:lstStyle/>
                    <a:p>
                      <a:pPr indent="0" marL="0">
                        <a:buNone/>
                      </a:pPr>
                      <a:r>
                        <a:rPr lang="en-US" sz="1100" b="1" dirty="0">
                          <a:solidFill>
                            <a:srgbClr val="1A2332"/>
                          </a:solidFill>
                        </a:rPr>
                        <a:t>Decision</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100" b="1" dirty="0">
                          <a:solidFill>
                            <a:srgbClr val="1A2332"/>
                          </a:solidFill>
                        </a:rPr>
                        <a:t>Records</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100" b="1" dirty="0">
                          <a:solidFill>
                            <a:srgbClr val="1A2332"/>
                          </a:solidFill>
                        </a:rPr>
                        <a:t>Status</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301752">
                <a:tc>
                  <a:txBody>
                    <a:bodyPr/>
                    <a:lstStyle/>
                    <a:p>
                      <a:pPr indent="0" marL="0">
                        <a:buNone/>
                      </a:pPr>
                      <a:r>
                        <a:rPr lang="en-US" sz="1100" dirty="0">
                          <a:solidFill>
                            <a:srgbClr val="059669"/>
                          </a:solidFill>
                        </a:rPr>
                        <a:t>APPROVE</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2</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059669"/>
                          </a:solidFill>
                        </a:rPr>
                        <a:t>Exported</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01752">
                <a:tc>
                  <a:txBody>
                    <a:bodyPr/>
                    <a:lstStyle/>
                    <a:p>
                      <a:pPr indent="0" marL="0">
                        <a:buNone/>
                      </a:pPr>
                      <a:r>
                        <a:rPr lang="en-US" sz="1100" dirty="0">
                          <a:solidFill>
                            <a:srgbClr val="DC2626"/>
                          </a:solidFill>
                        </a:rPr>
                        <a:t>REJECT</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1</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059669"/>
                          </a:solidFill>
                        </a:rPr>
                        <a:t>Exported</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01752">
                <a:tc>
                  <a:txBody>
                    <a:bodyPr/>
                    <a:lstStyle/>
                    <a:p>
                      <a:pPr indent="0" marL="0">
                        <a:buNone/>
                      </a:pPr>
                      <a:r>
                        <a:rPr lang="en-US" sz="1100" dirty="0">
                          <a:solidFill>
                            <a:srgbClr val="0891B2"/>
                          </a:solidFill>
                        </a:rPr>
                        <a:t>MODIFY (valid)</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1</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059669"/>
                          </a:solidFill>
                        </a:rPr>
                        <a:t>Exported</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01752">
                <a:tc>
                  <a:txBody>
                    <a:bodyPr/>
                    <a:lstStyle/>
                    <a:p>
                      <a:pPr indent="0" marL="0">
                        <a:buNone/>
                      </a:pPr>
                      <a:r>
                        <a:rPr lang="en-US" sz="1100" dirty="0">
                          <a:solidFill>
                            <a:srgbClr val="D97706"/>
                          </a:solidFill>
                        </a:rPr>
                        <a:t>MODIFY (invalid)</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D97706"/>
                          </a:solidFill>
                        </a:rPr>
                        <a:t>Route trace only</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41" name="Text 38"/>
          <p:cNvSpPr txBox="1"/>
          <p:nvPr/>
        </p:nvSpPr>
        <p:spPr>
          <a:xfrm>
            <a:off x="6400800" y="3794760"/>
            <a:ext cx="4572000" cy="274320"/>
          </a:xfrm>
          <a:prstGeom prst="rect">
            <a:avLst/>
          </a:prstGeom>
          <a:noFill/>
          <a:ln/>
        </p:spPr>
        <p:txBody>
          <a:bodyPr wrap="square" lIns="0" tIns="0" rIns="0" bIns="0" rtlCol="0" anchor="ctr"/>
          <a:lstStyle/>
          <a:p>
            <a:pPr indent="0" marL="0">
              <a:buNone/>
            </a:pPr>
            <a:r>
              <a:rPr lang="en-US" sz="1200" b="1" dirty="0">
                <a:solidFill>
                  <a:srgbClr val="1A2332"/>
                </a:solidFill>
              </a:rPr>
              <a:t>Key boundaries</a:t>
            </a:r>
            <a:endParaRPr lang="en-US" sz="1200" dirty="0"/>
          </a:p>
        </p:txBody>
      </p:sp>
      <p:sp>
        <p:nvSpPr>
          <p:cNvPr id="42" name="Shape 39"/>
          <p:cNvSpPr/>
          <p:nvPr/>
        </p:nvSpPr>
        <p:spPr>
          <a:xfrm>
            <a:off x="6583680" y="4224528"/>
            <a:ext cx="109728" cy="109728"/>
          </a:xfrm>
          <a:prstGeom prst="ellipse">
            <a:avLst/>
          </a:prstGeom>
          <a:solidFill>
            <a:srgbClr val="DC2626"/>
          </a:solidFill>
          <a:ln/>
        </p:spPr>
      </p:sp>
      <p:sp>
        <p:nvSpPr>
          <p:cNvPr id="43" name="Text 40"/>
          <p:cNvSpPr txBox="1"/>
          <p:nvPr/>
        </p:nvSpPr>
        <p:spPr>
          <a:xfrm>
            <a:off x="6858000" y="4142232"/>
            <a:ext cx="4572000" cy="292608"/>
          </a:xfrm>
          <a:prstGeom prst="rect">
            <a:avLst/>
          </a:prstGeom>
          <a:noFill/>
          <a:ln/>
        </p:spPr>
        <p:txBody>
          <a:bodyPr wrap="square" lIns="0" tIns="0" rIns="0" bIns="0" rtlCol="0" anchor="ctr"/>
          <a:lstStyle/>
          <a:p>
            <a:pPr indent="0" marL="0">
              <a:buNone/>
            </a:pPr>
            <a:r>
              <a:rPr lang="en-US" sz="1100" dirty="0">
                <a:solidFill>
                  <a:srgbClr val="5A6A7E"/>
                </a:solidFill>
              </a:rPr>
              <a:t>Fixed illustrative payload, no live feed</a:t>
            </a:r>
            <a:endParaRPr lang="en-US" sz="1100" dirty="0"/>
          </a:p>
        </p:txBody>
      </p:sp>
      <p:sp>
        <p:nvSpPr>
          <p:cNvPr id="44" name="Shape 41"/>
          <p:cNvSpPr/>
          <p:nvPr/>
        </p:nvSpPr>
        <p:spPr>
          <a:xfrm>
            <a:off x="6583680" y="4572000"/>
            <a:ext cx="109728" cy="109728"/>
          </a:xfrm>
          <a:prstGeom prst="ellipse">
            <a:avLst/>
          </a:prstGeom>
          <a:solidFill>
            <a:srgbClr val="DC2626"/>
          </a:solidFill>
          <a:ln/>
        </p:spPr>
      </p:sp>
      <p:sp>
        <p:nvSpPr>
          <p:cNvPr id="45" name="Text 42"/>
          <p:cNvSpPr txBox="1"/>
          <p:nvPr/>
        </p:nvSpPr>
        <p:spPr>
          <a:xfrm>
            <a:off x="6858000" y="4489704"/>
            <a:ext cx="4572000" cy="292608"/>
          </a:xfrm>
          <a:prstGeom prst="rect">
            <a:avLst/>
          </a:prstGeom>
          <a:noFill/>
          <a:ln/>
        </p:spPr>
        <p:txBody>
          <a:bodyPr wrap="square" lIns="0" tIns="0" rIns="0" bIns="0" rtlCol="0" anchor="ctr"/>
          <a:lstStyle/>
          <a:p>
            <a:pPr indent="0" marL="0">
              <a:buNone/>
            </a:pPr>
            <a:r>
              <a:rPr lang="en-US" sz="1100" dirty="0">
                <a:solidFill>
                  <a:srgbClr val="5A6A7E"/>
                </a:solidFill>
              </a:rPr>
              <a:t>Offline guard NOT in n8n routing</a:t>
            </a:r>
            <a:endParaRPr lang="en-US" sz="1100" dirty="0"/>
          </a:p>
        </p:txBody>
      </p:sp>
      <p:sp>
        <p:nvSpPr>
          <p:cNvPr id="46" name="Shape 43"/>
          <p:cNvSpPr/>
          <p:nvPr/>
        </p:nvSpPr>
        <p:spPr>
          <a:xfrm>
            <a:off x="6583680" y="4919472"/>
            <a:ext cx="109728" cy="109728"/>
          </a:xfrm>
          <a:prstGeom prst="ellipse">
            <a:avLst/>
          </a:prstGeom>
          <a:solidFill>
            <a:srgbClr val="DC2626"/>
          </a:solidFill>
          <a:ln/>
        </p:spPr>
      </p:sp>
      <p:sp>
        <p:nvSpPr>
          <p:cNvPr id="47" name="Text 44"/>
          <p:cNvSpPr txBox="1"/>
          <p:nvPr/>
        </p:nvSpPr>
        <p:spPr>
          <a:xfrm>
            <a:off x="6858000" y="4837176"/>
            <a:ext cx="4572000" cy="292608"/>
          </a:xfrm>
          <a:prstGeom prst="rect">
            <a:avLst/>
          </a:prstGeom>
          <a:noFill/>
          <a:ln/>
        </p:spPr>
        <p:txBody>
          <a:bodyPr wrap="square" lIns="0" tIns="0" rIns="0" bIns="0" rtlCol="0" anchor="ctr"/>
          <a:lstStyle/>
          <a:p>
            <a:pPr indent="0" marL="0">
              <a:buNone/>
            </a:pPr>
            <a:r>
              <a:rPr lang="en-US" sz="1100" dirty="0">
                <a:solidFill>
                  <a:srgbClr val="5A6A7E"/>
                </a:solidFill>
              </a:rPr>
              <a:t>LLM narrates under constraints, does not decide</a:t>
            </a:r>
            <a:endParaRPr lang="en-US" sz="1100" dirty="0"/>
          </a:p>
        </p:txBody>
      </p:sp>
      <p:sp>
        <p:nvSpPr>
          <p:cNvPr id="48" name="Shape 45"/>
          <p:cNvSpPr/>
          <p:nvPr/>
        </p:nvSpPr>
        <p:spPr>
          <a:xfrm>
            <a:off x="6583680" y="5266944"/>
            <a:ext cx="109728" cy="109728"/>
          </a:xfrm>
          <a:prstGeom prst="ellipse">
            <a:avLst/>
          </a:prstGeom>
          <a:solidFill>
            <a:srgbClr val="DC2626"/>
          </a:solidFill>
          <a:ln/>
        </p:spPr>
      </p:sp>
      <p:sp>
        <p:nvSpPr>
          <p:cNvPr id="49" name="Text 46"/>
          <p:cNvSpPr txBox="1"/>
          <p:nvPr/>
        </p:nvSpPr>
        <p:spPr>
          <a:xfrm>
            <a:off x="6858000" y="5184648"/>
            <a:ext cx="4572000" cy="292608"/>
          </a:xfrm>
          <a:prstGeom prst="rect">
            <a:avLst/>
          </a:prstGeom>
          <a:noFill/>
          <a:ln/>
        </p:spPr>
        <p:txBody>
          <a:bodyPr wrap="square" lIns="0" tIns="0" rIns="0" bIns="0" rtlCol="0" anchor="ctr"/>
          <a:lstStyle/>
          <a:p>
            <a:pPr indent="0" marL="0">
              <a:buNone/>
            </a:pPr>
            <a:r>
              <a:rPr lang="en-US" sz="1100" dirty="0">
                <a:solidFill>
                  <a:srgbClr val="5A6A7E"/>
                </a:solidFill>
              </a:rPr>
              <a:t>Deterministic policy set before narration</a:t>
            </a:r>
            <a:endParaRPr lang="en-US" sz="1100" dirty="0"/>
          </a:p>
        </p:txBody>
      </p:sp>
      <p:sp>
        <p:nvSpPr>
          <p:cNvPr id="50" name="Shape 47"/>
          <p:cNvSpPr/>
          <p:nvPr/>
        </p:nvSpPr>
        <p:spPr>
          <a:xfrm>
            <a:off x="6583680" y="5614416"/>
            <a:ext cx="109728" cy="109728"/>
          </a:xfrm>
          <a:prstGeom prst="ellipse">
            <a:avLst/>
          </a:prstGeom>
          <a:solidFill>
            <a:srgbClr val="DC2626"/>
          </a:solidFill>
          <a:ln/>
        </p:spPr>
      </p:sp>
      <p:sp>
        <p:nvSpPr>
          <p:cNvPr id="51" name="Text 48"/>
          <p:cNvSpPr txBox="1"/>
          <p:nvPr/>
        </p:nvSpPr>
        <p:spPr>
          <a:xfrm>
            <a:off x="6858000" y="5532120"/>
            <a:ext cx="4572000" cy="292608"/>
          </a:xfrm>
          <a:prstGeom prst="rect">
            <a:avLst/>
          </a:prstGeom>
          <a:noFill/>
          <a:ln/>
        </p:spPr>
        <p:txBody>
          <a:bodyPr wrap="square" lIns="0" tIns="0" rIns="0" bIns="0" rtlCol="0" anchor="ctr"/>
          <a:lstStyle/>
          <a:p>
            <a:pPr indent="0" marL="0">
              <a:buNone/>
            </a:pPr>
            <a:r>
              <a:rPr lang="en-US" sz="1100" dirty="0">
                <a:solidFill>
                  <a:srgbClr val="5A6A7E"/>
                </a:solidFill>
              </a:rPr>
              <a:t>No production readiness or certification claim</a:t>
            </a:r>
            <a:endParaRPr lang="en-US" sz="1100" dirty="0"/>
          </a:p>
        </p:txBody>
      </p:sp>
      <p:sp>
        <p:nvSpPr>
          <p:cNvPr id="52" name="Text 49"/>
          <p:cNvSpPr txBox="1"/>
          <p:nvPr/>
        </p:nvSpPr>
        <p:spPr>
          <a:xfrm>
            <a:off x="548640" y="6400800"/>
            <a:ext cx="9144000" cy="274320"/>
          </a:xfrm>
          <a:prstGeom prst="rect">
            <a:avLst/>
          </a:prstGeom>
          <a:noFill/>
          <a:ln/>
        </p:spPr>
        <p:txBody>
          <a:bodyPr wrap="square" lIns="0" tIns="0" rIns="0" bIns="0" rtlCol="0" anchor="ctr"/>
          <a:lstStyle/>
          <a:p>
            <a:pPr indent="0" marL="0">
              <a:buNone/>
            </a:pPr>
            <a:r>
              <a:rPr lang="en-US" sz="800" dirty="0">
                <a:solidFill>
                  <a:srgbClr val="5A6A7E"/>
                </a:solidFill>
              </a:rPr>
              <a:t>Thesis §4.10, §5.10 · Tables 5.11, A.1 · Figure 4.6</a:t>
            </a:r>
            <a:endParaRPr lang="en-US" sz="800" dirty="0"/>
          </a:p>
        </p:txBody>
      </p:sp>
      <p:sp>
        <p:nvSpPr>
          <p:cNvPr id="25" name="Slide Number Placeholder 0"/>
          <p:cNvSpPr>
            <a:spLocks noGrp="1"/>
          </p:cNvSpPr>
          <p:nvPr>
            <p:ph type="sldNum" sz="quarter" idx="4294967295"/>
          </p:nvPr>
        </p:nvSpPr>
        <p:spPr>
          <a:xfrm>
            <a:off x="1143000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6A7E"/>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0972800" cy="548640"/>
          </a:xfrm>
          <a:prstGeom prst="rect">
            <a:avLst/>
          </a:prstGeom>
          <a:noFill/>
          <a:ln/>
        </p:spPr>
        <p:txBody>
          <a:bodyPr wrap="square" lIns="0" tIns="0" rIns="0" bIns="0" rtlCol="0" anchor="ctr"/>
          <a:lstStyle/>
          <a:p>
            <a:pPr indent="0" marL="0">
              <a:buNone/>
            </a:pPr>
            <a:r>
              <a:rPr lang="en-US" sz="2800" b="1" dirty="0">
                <a:solidFill>
                  <a:srgbClr val="FFFFFF"/>
                </a:solidFill>
              </a:rPr>
              <a:t>Three evidence-supported conclusions — and what comes next</a:t>
            </a:r>
            <a:endParaRPr lang="en-US" sz="2800" dirty="0"/>
          </a:p>
        </p:txBody>
      </p:sp>
      <p:sp>
        <p:nvSpPr>
          <p:cNvPr id="3" name="Shape 1"/>
          <p:cNvSpPr/>
          <p:nvPr/>
        </p:nvSpPr>
        <p:spPr>
          <a:xfrm>
            <a:off x="548640" y="1051560"/>
            <a:ext cx="3566160" cy="2286000"/>
          </a:xfrm>
          <a:prstGeom prst="roundRect">
            <a:avLst>
              <a:gd name="adj" fmla="val 4000"/>
            </a:avLst>
          </a:prstGeom>
          <a:solidFill>
            <a:srgbClr val="1A2332"/>
          </a:solidFill>
          <a:ln w="19050">
            <a:solidFill>
              <a:srgbClr val="0891B2"/>
            </a:solidFill>
            <a:prstDash val="solid"/>
          </a:ln>
        </p:spPr>
      </p:sp>
      <p:sp>
        <p:nvSpPr>
          <p:cNvPr id="4" name="Text 2"/>
          <p:cNvSpPr txBox="1"/>
          <p:nvPr/>
        </p:nvSpPr>
        <p:spPr>
          <a:xfrm>
            <a:off x="731520" y="1188720"/>
            <a:ext cx="457200" cy="411480"/>
          </a:xfrm>
          <a:prstGeom prst="rect">
            <a:avLst/>
          </a:prstGeom>
          <a:noFill/>
          <a:ln/>
        </p:spPr>
        <p:txBody>
          <a:bodyPr wrap="square" lIns="0" tIns="0" rIns="0" bIns="0" rtlCol="0" anchor="ctr"/>
          <a:lstStyle/>
          <a:p>
            <a:pPr indent="0" marL="0">
              <a:buNone/>
            </a:pPr>
            <a:r>
              <a:rPr lang="en-US" sz="2200" dirty="0">
                <a:solidFill>
                  <a:srgbClr val="0891B2"/>
                </a:solidFill>
              </a:rPr>
              <a:t>1</a:t>
            </a:r>
            <a:endParaRPr lang="en-US" sz="2200" dirty="0"/>
          </a:p>
        </p:txBody>
      </p:sp>
      <p:sp>
        <p:nvSpPr>
          <p:cNvPr id="5" name="Text 3"/>
          <p:cNvSpPr txBox="1"/>
          <p:nvPr/>
        </p:nvSpPr>
        <p:spPr>
          <a:xfrm>
            <a:off x="731520" y="1645920"/>
            <a:ext cx="3200400" cy="320040"/>
          </a:xfrm>
          <a:prstGeom prst="rect">
            <a:avLst/>
          </a:prstGeom>
          <a:noFill/>
          <a:ln/>
        </p:spPr>
        <p:txBody>
          <a:bodyPr wrap="square" lIns="0" tIns="0" rIns="0" bIns="0" rtlCol="0" anchor="ctr"/>
          <a:lstStyle/>
          <a:p>
            <a:pPr indent="0" marL="0">
              <a:buNone/>
            </a:pPr>
            <a:r>
              <a:rPr lang="en-US" sz="1400" b="1" dirty="0">
                <a:solidFill>
                  <a:srgbClr val="FFFFFF"/>
                </a:solidFill>
              </a:rPr>
              <a:t>Rigorous evaluation design</a:t>
            </a:r>
            <a:endParaRPr lang="en-US" sz="1400" dirty="0"/>
          </a:p>
        </p:txBody>
      </p:sp>
      <p:sp>
        <p:nvSpPr>
          <p:cNvPr id="6" name="Text 4"/>
          <p:cNvSpPr txBox="1"/>
          <p:nvPr/>
        </p:nvSpPr>
        <p:spPr>
          <a:xfrm>
            <a:off x="731520" y="2057400"/>
            <a:ext cx="3200400" cy="1097280"/>
          </a:xfrm>
          <a:prstGeom prst="rect">
            <a:avLst/>
          </a:prstGeom>
          <a:noFill/>
          <a:ln/>
        </p:spPr>
        <p:txBody>
          <a:bodyPr wrap="square" lIns="0" tIns="0" rIns="0" bIns="0" rtlCol="0" anchor="ctr"/>
          <a:lstStyle/>
          <a:p>
            <a:pPr indent="0" marL="0">
              <a:lnSpc>
                <a:spcPct val="130000"/>
              </a:lnSpc>
              <a:buNone/>
            </a:pPr>
            <a:r>
              <a:rPr lang="en-US" sz="1100" dirty="0">
                <a:solidFill>
                  <a:srgbClr val="5A6A7E"/>
                </a:solidFill>
              </a:rPr>
              <a:t>Engine-safe RF improved on age</a:t>
            </a:r>
            <a:endParaRPr lang="en-US" sz="1100" dirty="0"/>
          </a:p>
          <a:p>
            <a:pPr indent="0" marL="0">
              <a:lnSpc>
                <a:spcPct val="130000"/>
              </a:lnSpc>
              <a:buNone/>
            </a:pPr>
            <a:r>
              <a:rPr lang="en-US" sz="1100" dirty="0">
                <a:solidFill>
                  <a:srgbClr val="5A6A7E"/>
                </a:solidFill>
              </a:rPr>
              <a:t>under PHM penalty. The near-tie</a:t>
            </a:r>
            <a:endParaRPr lang="en-US" sz="1100" dirty="0"/>
          </a:p>
          <a:p>
            <a:pPr indent="0" marL="0">
              <a:lnSpc>
                <a:spcPct val="130000"/>
              </a:lnSpc>
              <a:buNone/>
            </a:pPr>
            <a:r>
              <a:rPr lang="en-US" sz="1100" dirty="0">
                <a:solidFill>
                  <a:srgbClr val="5A6A7E"/>
                </a:solidFill>
              </a:rPr>
              <a:t>in RMSE is an honest finding.</a:t>
            </a:r>
            <a:endParaRPr lang="en-US" sz="1100" dirty="0"/>
          </a:p>
        </p:txBody>
      </p:sp>
      <p:sp>
        <p:nvSpPr>
          <p:cNvPr id="7" name="Shape 5"/>
          <p:cNvSpPr/>
          <p:nvPr/>
        </p:nvSpPr>
        <p:spPr>
          <a:xfrm>
            <a:off x="4389120" y="1051560"/>
            <a:ext cx="3566160" cy="2286000"/>
          </a:xfrm>
          <a:prstGeom prst="roundRect">
            <a:avLst>
              <a:gd name="adj" fmla="val 4000"/>
            </a:avLst>
          </a:prstGeom>
          <a:solidFill>
            <a:srgbClr val="1A2332"/>
          </a:solidFill>
          <a:ln w="19050">
            <a:solidFill>
              <a:srgbClr val="D97706"/>
            </a:solidFill>
            <a:prstDash val="solid"/>
          </a:ln>
        </p:spPr>
      </p:sp>
      <p:sp>
        <p:nvSpPr>
          <p:cNvPr id="8" name="Text 6"/>
          <p:cNvSpPr txBox="1"/>
          <p:nvPr/>
        </p:nvSpPr>
        <p:spPr>
          <a:xfrm>
            <a:off x="4572000" y="1188720"/>
            <a:ext cx="457200" cy="411480"/>
          </a:xfrm>
          <a:prstGeom prst="rect">
            <a:avLst/>
          </a:prstGeom>
          <a:noFill/>
          <a:ln/>
        </p:spPr>
        <p:txBody>
          <a:bodyPr wrap="square" lIns="0" tIns="0" rIns="0" bIns="0" rtlCol="0" anchor="ctr"/>
          <a:lstStyle/>
          <a:p>
            <a:pPr indent="0" marL="0">
              <a:buNone/>
            </a:pPr>
            <a:r>
              <a:rPr lang="en-US" sz="2200" dirty="0">
                <a:solidFill>
                  <a:srgbClr val="D97706"/>
                </a:solidFill>
              </a:rPr>
              <a:t>2</a:t>
            </a:r>
            <a:endParaRPr lang="en-US" sz="2200" dirty="0"/>
          </a:p>
        </p:txBody>
      </p:sp>
      <p:sp>
        <p:nvSpPr>
          <p:cNvPr id="9" name="Text 7"/>
          <p:cNvSpPr txBox="1"/>
          <p:nvPr/>
        </p:nvSpPr>
        <p:spPr>
          <a:xfrm>
            <a:off x="4572000" y="1645920"/>
            <a:ext cx="3200400" cy="320040"/>
          </a:xfrm>
          <a:prstGeom prst="rect">
            <a:avLst/>
          </a:prstGeom>
          <a:noFill/>
          <a:ln/>
        </p:spPr>
        <p:txBody>
          <a:bodyPr wrap="square" lIns="0" tIns="0" rIns="0" bIns="0" rtlCol="0" anchor="ctr"/>
          <a:lstStyle/>
          <a:p>
            <a:pPr indent="0" marL="0">
              <a:buNone/>
            </a:pPr>
            <a:r>
              <a:rPr lang="en-US" sz="1400" b="1" dirty="0">
                <a:solidFill>
                  <a:srgbClr val="FFFFFF"/>
                </a:solidFill>
              </a:rPr>
              <a:t>Coverage at a scheduling cost</a:t>
            </a:r>
            <a:endParaRPr lang="en-US" sz="1400" dirty="0"/>
          </a:p>
        </p:txBody>
      </p:sp>
      <p:sp>
        <p:nvSpPr>
          <p:cNvPr id="10" name="Text 8"/>
          <p:cNvSpPr txBox="1"/>
          <p:nvPr/>
        </p:nvSpPr>
        <p:spPr>
          <a:xfrm>
            <a:off x="4572000" y="2057400"/>
            <a:ext cx="3200400" cy="1097280"/>
          </a:xfrm>
          <a:prstGeom prst="rect">
            <a:avLst/>
          </a:prstGeom>
          <a:noFill/>
          <a:ln/>
        </p:spPr>
        <p:txBody>
          <a:bodyPr wrap="square" lIns="0" tIns="0" rIns="0" bIns="0" rtlCol="0" anchor="ctr"/>
          <a:lstStyle/>
          <a:p>
            <a:pPr indent="0" marL="0">
              <a:lnSpc>
                <a:spcPct val="130000"/>
              </a:lnSpc>
              <a:buNone/>
            </a:pPr>
            <a:r>
              <a:rPr lang="en-US" sz="1100" dirty="0">
                <a:solidFill>
                  <a:srgbClr val="5A6A7E"/>
                </a:solidFill>
              </a:rPr>
              <a:t>100/100 endpoint coverage</a:t>
            </a:r>
            <a:endParaRPr lang="en-US" sz="1100" dirty="0"/>
          </a:p>
          <a:p>
            <a:pPr indent="0" marL="0">
              <a:lnSpc>
                <a:spcPct val="130000"/>
              </a:lnSpc>
              <a:buNone/>
            </a:pPr>
            <a:r>
              <a:rPr lang="en-US" sz="1100" dirty="0">
                <a:solidFill>
                  <a:srgbClr val="5A6A7E"/>
                </a:solidFill>
              </a:rPr>
              <a:t>with 182-cycle width. Narrower</a:t>
            </a:r>
            <a:endParaRPr lang="en-US" sz="1100" dirty="0"/>
          </a:p>
          <a:p>
            <a:pPr indent="0" marL="0">
              <a:lnSpc>
                <a:spcPct val="130000"/>
              </a:lnSpc>
              <a:buNone/>
            </a:pPr>
            <a:r>
              <a:rPr lang="en-US" sz="1100" dirty="0">
                <a:solidFill>
                  <a:srgbClr val="5A6A7E"/>
                </a:solidFill>
              </a:rPr>
              <a:t>alternatives lose trajectory validity.</a:t>
            </a:r>
            <a:endParaRPr lang="en-US" sz="1100" dirty="0"/>
          </a:p>
        </p:txBody>
      </p:sp>
      <p:sp>
        <p:nvSpPr>
          <p:cNvPr id="11" name="Shape 9"/>
          <p:cNvSpPr/>
          <p:nvPr/>
        </p:nvSpPr>
        <p:spPr>
          <a:xfrm>
            <a:off x="8229600" y="1051560"/>
            <a:ext cx="3566160" cy="2286000"/>
          </a:xfrm>
          <a:prstGeom prst="roundRect">
            <a:avLst>
              <a:gd name="adj" fmla="val 4000"/>
            </a:avLst>
          </a:prstGeom>
          <a:solidFill>
            <a:srgbClr val="1A2332"/>
          </a:solidFill>
          <a:ln w="19050">
            <a:solidFill>
              <a:srgbClr val="059669"/>
            </a:solidFill>
            <a:prstDash val="solid"/>
          </a:ln>
        </p:spPr>
      </p:sp>
      <p:sp>
        <p:nvSpPr>
          <p:cNvPr id="12" name="Text 10"/>
          <p:cNvSpPr txBox="1"/>
          <p:nvPr/>
        </p:nvSpPr>
        <p:spPr>
          <a:xfrm>
            <a:off x="8412480" y="1188720"/>
            <a:ext cx="457200" cy="411480"/>
          </a:xfrm>
          <a:prstGeom prst="rect">
            <a:avLst/>
          </a:prstGeom>
          <a:noFill/>
          <a:ln/>
        </p:spPr>
        <p:txBody>
          <a:bodyPr wrap="square" lIns="0" tIns="0" rIns="0" bIns="0" rtlCol="0" anchor="ctr"/>
          <a:lstStyle/>
          <a:p>
            <a:pPr indent="0" marL="0">
              <a:buNone/>
            </a:pPr>
            <a:r>
              <a:rPr lang="en-US" sz="2200" dirty="0">
                <a:solidFill>
                  <a:srgbClr val="059669"/>
                </a:solidFill>
              </a:rPr>
              <a:t>3</a:t>
            </a:r>
            <a:endParaRPr lang="en-US" sz="2200" dirty="0"/>
          </a:p>
        </p:txBody>
      </p:sp>
      <p:sp>
        <p:nvSpPr>
          <p:cNvPr id="13" name="Text 11"/>
          <p:cNvSpPr txBox="1"/>
          <p:nvPr/>
        </p:nvSpPr>
        <p:spPr>
          <a:xfrm>
            <a:off x="8412480" y="1645920"/>
            <a:ext cx="3200400" cy="320040"/>
          </a:xfrm>
          <a:prstGeom prst="rect">
            <a:avLst/>
          </a:prstGeom>
          <a:noFill/>
          <a:ln/>
        </p:spPr>
        <p:txBody>
          <a:bodyPr wrap="square" lIns="0" tIns="0" rIns="0" bIns="0" rtlCol="0" anchor="ctr"/>
          <a:lstStyle/>
          <a:p>
            <a:pPr indent="0" marL="0">
              <a:buNone/>
            </a:pPr>
            <a:r>
              <a:rPr lang="en-US" sz="1400" b="1" dirty="0">
                <a:solidFill>
                  <a:srgbClr val="FFFFFF"/>
                </a:solidFill>
              </a:rPr>
              <a:t>Implementable human review</a:t>
            </a:r>
            <a:endParaRPr lang="en-US" sz="1400" dirty="0"/>
          </a:p>
        </p:txBody>
      </p:sp>
      <p:sp>
        <p:nvSpPr>
          <p:cNvPr id="14" name="Text 12"/>
          <p:cNvSpPr txBox="1"/>
          <p:nvPr/>
        </p:nvSpPr>
        <p:spPr>
          <a:xfrm>
            <a:off x="8412480" y="2057400"/>
            <a:ext cx="3200400" cy="1097280"/>
          </a:xfrm>
          <a:prstGeom prst="rect">
            <a:avLst/>
          </a:prstGeom>
          <a:noFill/>
          <a:ln/>
        </p:spPr>
        <p:txBody>
          <a:bodyPr wrap="square" lIns="0" tIns="0" rIns="0" bIns="0" rtlCol="0" anchor="ctr"/>
          <a:lstStyle/>
          <a:p>
            <a:pPr indent="0" marL="0">
              <a:lnSpc>
                <a:spcPct val="130000"/>
              </a:lnSpc>
              <a:buNone/>
            </a:pPr>
            <a:r>
              <a:rPr lang="en-US" sz="1100" dirty="0">
                <a:solidFill>
                  <a:srgbClr val="5A6A7E"/>
                </a:solidFill>
              </a:rPr>
              <a:t>39/39 critical recall at 81%</a:t>
            </a:r>
            <a:endParaRPr lang="en-US" sz="1100" dirty="0"/>
          </a:p>
          <a:p>
            <a:pPr indent="0" marL="0">
              <a:lnSpc>
                <a:spcPct val="130000"/>
              </a:lnSpc>
              <a:buNone/>
            </a:pPr>
            <a:r>
              <a:rPr lang="en-US" sz="1100" dirty="0">
                <a:solidFill>
                  <a:srgbClr val="5A6A7E"/>
                </a:solidFill>
              </a:rPr>
              <a:t>review burden. Audit trail</a:t>
            </a:r>
            <a:endParaRPr lang="en-US" sz="1100" dirty="0"/>
          </a:p>
          <a:p>
            <a:pPr indent="0" marL="0">
              <a:lnSpc>
                <a:spcPct val="130000"/>
              </a:lnSpc>
              <a:buNone/>
            </a:pPr>
            <a:r>
              <a:rPr lang="en-US" sz="1100" dirty="0">
                <a:solidFill>
                  <a:srgbClr val="5A6A7E"/>
                </a:solidFill>
              </a:rPr>
              <a:t>demonstrates accountability.</a:t>
            </a:r>
            <a:endParaRPr lang="en-US" sz="1100" dirty="0"/>
          </a:p>
        </p:txBody>
      </p:sp>
      <p:sp>
        <p:nvSpPr>
          <p:cNvPr id="15" name="Text 13"/>
          <p:cNvSpPr txBox="1"/>
          <p:nvPr/>
        </p:nvSpPr>
        <p:spPr>
          <a:xfrm>
            <a:off x="548640" y="3657600"/>
            <a:ext cx="2743200" cy="274320"/>
          </a:xfrm>
          <a:prstGeom prst="rect">
            <a:avLst/>
          </a:prstGeom>
          <a:noFill/>
          <a:ln/>
        </p:spPr>
        <p:txBody>
          <a:bodyPr wrap="square" lIns="0" tIns="0" rIns="0" bIns="0" rtlCol="0" anchor="ctr"/>
          <a:lstStyle/>
          <a:p>
            <a:pPr indent="0" marL="0">
              <a:buNone/>
            </a:pPr>
            <a:r>
              <a:rPr lang="en-US" sz="1200" b="1" dirty="0">
                <a:solidFill>
                  <a:srgbClr val="DC2626"/>
                </a:solidFill>
              </a:rPr>
              <a:t>Limitations</a:t>
            </a:r>
            <a:endParaRPr lang="en-US" sz="1200" dirty="0"/>
          </a:p>
        </p:txBody>
      </p:sp>
      <p:sp>
        <p:nvSpPr>
          <p:cNvPr id="16" name="Text 14"/>
          <p:cNvSpPr txBox="1"/>
          <p:nvPr/>
        </p:nvSpPr>
        <p:spPr>
          <a:xfrm>
            <a:off x="548640" y="4023360"/>
            <a:ext cx="5486400" cy="256032"/>
          </a:xfrm>
          <a:prstGeom prst="rect">
            <a:avLst/>
          </a:prstGeom>
          <a:noFill/>
          <a:ln/>
        </p:spPr>
        <p:txBody>
          <a:bodyPr wrap="square" lIns="0" tIns="0" rIns="0" bIns="0" rtlCol="0" anchor="ctr"/>
          <a:lstStyle/>
          <a:p>
            <a:pPr indent="0" marL="0">
              <a:buNone/>
            </a:pPr>
            <a:r>
              <a:rPr lang="en-US" sz="1100" dirty="0">
                <a:solidFill>
                  <a:srgbClr val="5A6A7E"/>
                </a:solidFill>
              </a:rPr>
              <a:t>→  Single simulated fault mode (FD001)</a:t>
            </a:r>
            <a:endParaRPr lang="en-US" sz="1100" dirty="0"/>
          </a:p>
        </p:txBody>
      </p:sp>
      <p:sp>
        <p:nvSpPr>
          <p:cNvPr id="17" name="Text 15"/>
          <p:cNvSpPr txBox="1"/>
          <p:nvPr/>
        </p:nvSpPr>
        <p:spPr>
          <a:xfrm>
            <a:off x="548640" y="4315968"/>
            <a:ext cx="5486400" cy="256032"/>
          </a:xfrm>
          <a:prstGeom prst="rect">
            <a:avLst/>
          </a:prstGeom>
          <a:noFill/>
          <a:ln/>
        </p:spPr>
        <p:txBody>
          <a:bodyPr wrap="square" lIns="0" tIns="0" rIns="0" bIns="0" rtlCol="0" anchor="ctr"/>
          <a:lstStyle/>
          <a:p>
            <a:pPr indent="0" marL="0">
              <a:buNone/>
            </a:pPr>
            <a:r>
              <a:rPr lang="en-US" sz="1100" dirty="0">
                <a:solidFill>
                  <a:srgbClr val="5A6A7E"/>
                </a:solidFill>
              </a:rPr>
              <a:t>→  Conformal width too broad for scheduling</a:t>
            </a:r>
            <a:endParaRPr lang="en-US" sz="1100" dirty="0"/>
          </a:p>
        </p:txBody>
      </p:sp>
      <p:sp>
        <p:nvSpPr>
          <p:cNvPr id="18" name="Text 16"/>
          <p:cNvSpPr txBox="1"/>
          <p:nvPr/>
        </p:nvSpPr>
        <p:spPr>
          <a:xfrm>
            <a:off x="548640" y="4608576"/>
            <a:ext cx="5486400" cy="256032"/>
          </a:xfrm>
          <a:prstGeom prst="rect">
            <a:avLst/>
          </a:prstGeom>
          <a:noFill/>
          <a:ln/>
        </p:spPr>
        <p:txBody>
          <a:bodyPr wrap="square" lIns="0" tIns="0" rIns="0" bIns="0" rtlCol="0" anchor="ctr"/>
          <a:lstStyle/>
          <a:p>
            <a:pPr indent="0" marL="0">
              <a:buNone/>
            </a:pPr>
            <a:r>
              <a:rPr lang="en-US" sz="1100" dirty="0">
                <a:solidFill>
                  <a:srgbClr val="5A6A7E"/>
                </a:solidFill>
              </a:rPr>
              <a:t>→  No live data feed; fixed prototype payload</a:t>
            </a:r>
            <a:endParaRPr lang="en-US" sz="1100" dirty="0"/>
          </a:p>
        </p:txBody>
      </p:sp>
      <p:sp>
        <p:nvSpPr>
          <p:cNvPr id="19" name="Text 17"/>
          <p:cNvSpPr txBox="1"/>
          <p:nvPr/>
        </p:nvSpPr>
        <p:spPr>
          <a:xfrm>
            <a:off x="548640" y="4901184"/>
            <a:ext cx="5486400" cy="256032"/>
          </a:xfrm>
          <a:prstGeom prst="rect">
            <a:avLst/>
          </a:prstGeom>
          <a:noFill/>
          <a:ln/>
        </p:spPr>
        <p:txBody>
          <a:bodyPr wrap="square" lIns="0" tIns="0" rIns="0" bIns="0" rtlCol="0" anchor="ctr"/>
          <a:lstStyle/>
          <a:p>
            <a:pPr indent="0" marL="0">
              <a:buNone/>
            </a:pPr>
            <a:r>
              <a:rPr lang="en-US" sz="1100" dirty="0">
                <a:solidFill>
                  <a:srgbClr val="5A6A7E"/>
                </a:solidFill>
              </a:rPr>
              <a:t>→  Provenance discontinuities in legacy hashes</a:t>
            </a:r>
            <a:endParaRPr lang="en-US" sz="1100" dirty="0"/>
          </a:p>
        </p:txBody>
      </p:sp>
      <p:sp>
        <p:nvSpPr>
          <p:cNvPr id="20" name="Text 18"/>
          <p:cNvSpPr txBox="1"/>
          <p:nvPr/>
        </p:nvSpPr>
        <p:spPr>
          <a:xfrm>
            <a:off x="6400800" y="3657600"/>
            <a:ext cx="2743200" cy="274320"/>
          </a:xfrm>
          <a:prstGeom prst="rect">
            <a:avLst/>
          </a:prstGeom>
          <a:noFill/>
          <a:ln/>
        </p:spPr>
        <p:txBody>
          <a:bodyPr wrap="square" lIns="0" tIns="0" rIns="0" bIns="0" rtlCol="0" anchor="ctr"/>
          <a:lstStyle/>
          <a:p>
            <a:pPr indent="0" marL="0">
              <a:buNone/>
            </a:pPr>
            <a:r>
              <a:rPr lang="en-US" sz="1200" b="1" dirty="0">
                <a:solidFill>
                  <a:srgbClr val="0891B2"/>
                </a:solidFill>
              </a:rPr>
              <a:t>Future work</a:t>
            </a:r>
            <a:endParaRPr lang="en-US" sz="1200" dirty="0"/>
          </a:p>
        </p:txBody>
      </p:sp>
      <p:sp>
        <p:nvSpPr>
          <p:cNvPr id="21" name="Text 19"/>
          <p:cNvSpPr txBox="1"/>
          <p:nvPr/>
        </p:nvSpPr>
        <p:spPr>
          <a:xfrm>
            <a:off x="6400800" y="4023360"/>
            <a:ext cx="5486400" cy="256032"/>
          </a:xfrm>
          <a:prstGeom prst="rect">
            <a:avLst/>
          </a:prstGeom>
          <a:noFill/>
          <a:ln/>
        </p:spPr>
        <p:txBody>
          <a:bodyPr wrap="square" lIns="0" tIns="0" rIns="0" bIns="0" rtlCol="0" anchor="ctr"/>
          <a:lstStyle/>
          <a:p>
            <a:pPr indent="0" marL="0">
              <a:buNone/>
            </a:pPr>
            <a:r>
              <a:rPr lang="en-US" sz="1100" dirty="0">
                <a:solidFill>
                  <a:srgbClr val="5A6A7E"/>
                </a:solidFill>
              </a:rPr>
              <a:t>→  FD002–FD004 and N-CMAPSS evaluation</a:t>
            </a:r>
            <a:endParaRPr lang="en-US" sz="1100" dirty="0"/>
          </a:p>
        </p:txBody>
      </p:sp>
      <p:sp>
        <p:nvSpPr>
          <p:cNvPr id="22" name="Text 20"/>
          <p:cNvSpPr txBox="1"/>
          <p:nvPr/>
        </p:nvSpPr>
        <p:spPr>
          <a:xfrm>
            <a:off x="6400800" y="4315968"/>
            <a:ext cx="5486400" cy="256032"/>
          </a:xfrm>
          <a:prstGeom prst="rect">
            <a:avLst/>
          </a:prstGeom>
          <a:noFill/>
          <a:ln/>
        </p:spPr>
        <p:txBody>
          <a:bodyPr wrap="square" lIns="0" tIns="0" rIns="0" bIns="0" rtlCol="0" anchor="ctr"/>
          <a:lstStyle/>
          <a:p>
            <a:pPr indent="0" marL="0">
              <a:buNone/>
            </a:pPr>
            <a:r>
              <a:rPr lang="en-US" sz="1100" dirty="0">
                <a:solidFill>
                  <a:srgbClr val="5A6A7E"/>
                </a:solidFill>
              </a:rPr>
              <a:t>→  Narrower whole-engine-valid intervals</a:t>
            </a:r>
            <a:endParaRPr lang="en-US" sz="1100" dirty="0"/>
          </a:p>
        </p:txBody>
      </p:sp>
      <p:sp>
        <p:nvSpPr>
          <p:cNvPr id="23" name="Text 21"/>
          <p:cNvSpPr txBox="1"/>
          <p:nvPr/>
        </p:nvSpPr>
        <p:spPr>
          <a:xfrm>
            <a:off x="6400800" y="4608576"/>
            <a:ext cx="5486400" cy="256032"/>
          </a:xfrm>
          <a:prstGeom prst="rect">
            <a:avLst/>
          </a:prstGeom>
          <a:noFill/>
          <a:ln/>
        </p:spPr>
        <p:txBody>
          <a:bodyPr wrap="square" lIns="0" tIns="0" rIns="0" bIns="0" rtlCol="0" anchor="ctr"/>
          <a:lstStyle/>
          <a:p>
            <a:pPr indent="0" marL="0">
              <a:buNone/>
            </a:pPr>
            <a:r>
              <a:rPr lang="en-US" sz="1100" dirty="0">
                <a:solidFill>
                  <a:srgbClr val="5A6A7E"/>
                </a:solidFill>
              </a:rPr>
              <a:t>→  Live prediction service with authentication</a:t>
            </a:r>
            <a:endParaRPr lang="en-US" sz="1100" dirty="0"/>
          </a:p>
        </p:txBody>
      </p:sp>
      <p:sp>
        <p:nvSpPr>
          <p:cNvPr id="24" name="Text 22"/>
          <p:cNvSpPr txBox="1"/>
          <p:nvPr/>
        </p:nvSpPr>
        <p:spPr>
          <a:xfrm>
            <a:off x="6400800" y="4901184"/>
            <a:ext cx="5486400" cy="256032"/>
          </a:xfrm>
          <a:prstGeom prst="rect">
            <a:avLst/>
          </a:prstGeom>
          <a:noFill/>
          <a:ln/>
        </p:spPr>
        <p:txBody>
          <a:bodyPr wrap="square" lIns="0" tIns="0" rIns="0" bIns="0" rtlCol="0" anchor="ctr"/>
          <a:lstStyle/>
          <a:p>
            <a:pPr indent="0" marL="0">
              <a:buNone/>
            </a:pPr>
            <a:r>
              <a:rPr lang="en-US" sz="1100" dirty="0">
                <a:solidFill>
                  <a:srgbClr val="5A6A7E"/>
                </a:solidFill>
              </a:rPr>
              <a:t>→  Usability study with maintenance engineers</a:t>
            </a:r>
            <a:endParaRPr lang="en-US" sz="1100" dirty="0"/>
          </a:p>
        </p:txBody>
      </p:sp>
      <p:sp>
        <p:nvSpPr>
          <p:cNvPr id="25" name="Text 23"/>
          <p:cNvSpPr txBox="1"/>
          <p:nvPr/>
        </p:nvSpPr>
        <p:spPr>
          <a:xfrm>
            <a:off x="1828800" y="5303520"/>
            <a:ext cx="8229600" cy="320040"/>
          </a:xfrm>
          <a:prstGeom prst="rect">
            <a:avLst/>
          </a:prstGeom>
          <a:noFill/>
          <a:ln/>
        </p:spPr>
        <p:txBody>
          <a:bodyPr wrap="square" lIns="0" tIns="0" rIns="0" bIns="0" rtlCol="0" anchor="ctr"/>
          <a:lstStyle/>
          <a:p>
            <a:pPr algn="ctr" indent="0" marL="0">
              <a:buNone/>
            </a:pPr>
            <a:r>
              <a:rPr lang="en-US" sz="1300" dirty="0">
                <a:solidFill>
                  <a:srgbClr val="FFFFFF"/>
                </a:solidFill>
              </a:rPr>
              <a:t>Ranitabh Mallick  ·  GISMA University of Applied Sciences  ·  September 2026</a:t>
            </a:r>
            <a:endParaRPr lang="en-US" sz="1300" dirty="0"/>
          </a:p>
        </p:txBody>
      </p:sp>
      <p:sp>
        <p:nvSpPr>
          <p:cNvPr id="26" name="Text 24"/>
          <p:cNvSpPr txBox="1"/>
          <p:nvPr/>
        </p:nvSpPr>
        <p:spPr>
          <a:xfrm>
            <a:off x="1828800" y="5669280"/>
            <a:ext cx="8229600" cy="274320"/>
          </a:xfrm>
          <a:prstGeom prst="rect">
            <a:avLst/>
          </a:prstGeom>
          <a:noFill/>
          <a:ln/>
        </p:spPr>
        <p:txBody>
          <a:bodyPr wrap="square" lIns="0" tIns="0" rIns="0" bIns="0" rtlCol="0" anchor="ctr"/>
          <a:lstStyle/>
          <a:p>
            <a:pPr algn="ctr" indent="0" marL="0">
              <a:buNone/>
            </a:pPr>
            <a:r>
              <a:rPr lang="en-US" sz="1000" dirty="0">
                <a:solidFill>
                  <a:srgbClr val="5A6A7E"/>
                </a:solidFill>
              </a:rPr>
              <a:t>github.com/mranitabh/GISMA-hitl-dissertation-predictive-maintenance</a:t>
            </a:r>
            <a:endParaRPr lang="en-US" sz="1000" dirty="0"/>
          </a:p>
        </p:txBody>
      </p:sp>
      <p:sp>
        <p:nvSpPr>
          <p:cNvPr id="25" name="Slide Number Placeholder 0"/>
          <p:cNvSpPr>
            <a:spLocks noGrp="1"/>
          </p:cNvSpPr>
          <p:nvPr>
            <p:ph type="sldNum" sz="quarter" idx="4294967295"/>
          </p:nvPr>
        </p:nvSpPr>
        <p:spPr>
          <a:xfrm>
            <a:off x="1143000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FFFFFF"/>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0058400" cy="457200"/>
          </a:xfrm>
          <a:prstGeom prst="rect">
            <a:avLst/>
          </a:prstGeom>
          <a:noFill/>
          <a:ln/>
        </p:spPr>
        <p:txBody>
          <a:bodyPr wrap="square" lIns="0" tIns="0" rIns="0" bIns="0" rtlCol="0" anchor="ctr"/>
          <a:lstStyle/>
          <a:p>
            <a:pPr indent="0" marL="0">
              <a:buNone/>
            </a:pPr>
            <a:r>
              <a:rPr lang="en-US" sz="2400" b="1" dirty="0">
                <a:solidFill>
                  <a:srgbClr val="1A2332"/>
                </a:solidFill>
              </a:rPr>
              <a:t>Research questions → Evidence mapping</a:t>
            </a:r>
            <a:endParaRPr lang="en-US" sz="2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11064240" cy="914400"/>
        </p:xfrm>
        <a:graphic>
          <a:graphicData uri="http://schemas.openxmlformats.org/drawingml/2006/table">
            <a:tbl>
              <a:tblPr/>
              <a:tblGrid>
                <a:gridCol w="640080"/>
                <a:gridCol w="5486400"/>
                <a:gridCol w="4937760"/>
              </a:tblGrid>
              <a:tr h="0">
                <a:tc>
                  <a:txBody>
                    <a:bodyPr/>
                    <a:lstStyle/>
                    <a:p>
                      <a:pPr indent="0" marL="0">
                        <a:buNone/>
                      </a:pPr>
                      <a:r>
                        <a:rPr lang="en-US" sz="1100" b="1" dirty="0">
                          <a:solidFill>
                            <a:srgbClr val="1A2332"/>
                          </a:solidFill>
                        </a:rPr>
                        <a:t>RQ</a:t>
                      </a:r>
                      <a:endParaRPr lang="en-US" sz="11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100" b="1" dirty="0">
                          <a:solidFill>
                            <a:srgbClr val="1A2332"/>
                          </a:solidFill>
                        </a:rPr>
                        <a:t>Question</a:t>
                      </a:r>
                      <a:endParaRPr lang="en-US" sz="11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100" b="1" dirty="0">
                          <a:solidFill>
                            <a:srgbClr val="1A2332"/>
                          </a:solidFill>
                        </a:rPr>
                        <a:t>Evidence</a:t>
                      </a:r>
                      <a:endParaRPr lang="en-US" sz="11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0">
                <a:tc>
                  <a:txBody>
                    <a:bodyPr/>
                    <a:lstStyle/>
                    <a:p>
                      <a:pPr indent="0" marL="0">
                        <a:buNone/>
                      </a:pPr>
                      <a:r>
                        <a:rPr lang="en-US" sz="1100" b="1" dirty="0">
                          <a:solidFill>
                            <a:srgbClr val="1A2332"/>
                          </a:solidFill>
                        </a:rPr>
                        <a:t>RQ1</a:t>
                      </a:r>
                      <a:endParaRPr lang="en-US" sz="11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How accurately can lightweight ML models estimate RUL under an engine-level, leakage-controlled design, relative to a naive age-only baseline, and which feature groups drive that accuracy?</a:t>
                      </a:r>
                      <a:endParaRPr lang="en-US" sz="11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Test MAE 18.88, RMSE 25.73, bias +10.90; PHM tie-break selected RF over near-equal age-only rule (§5.2–5.3, §5.6)</a:t>
                      </a:r>
                      <a:endParaRPr lang="en-US" sz="11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0">
                <a:tc>
                  <a:txBody>
                    <a:bodyPr/>
                    <a:lstStyle/>
                    <a:p>
                      <a:pPr indent="0" marL="0">
                        <a:buNone/>
                      </a:pPr>
                      <a:r>
                        <a:rPr lang="en-US" sz="1100" b="1" dirty="0">
                          <a:solidFill>
                            <a:srgbClr val="1A2332"/>
                          </a:solidFill>
                        </a:rPr>
                        <a:t>RQ2</a:t>
                      </a:r>
                      <a:endParaRPr lang="en-US" sz="11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How can engine-block conformal prediction provide RUL intervals with a transparent finite-sample rule, and what coverage–precision trade-off does it create?</a:t>
                      </a:r>
                      <a:endParaRPr lang="en-US" sz="11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q̂ 107.90; 100/100 endpoints; mean width 182.46; narrower scores 8/20 trajectories (§5.4, §5.7)</a:t>
                      </a:r>
                      <a:endParaRPr lang="en-US" sz="11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0">
                <a:tc>
                  <a:txBody>
                    <a:bodyPr/>
                    <a:lstStyle/>
                    <a:p>
                      <a:pPr indent="0" marL="0">
                        <a:buNone/>
                      </a:pPr>
                      <a:r>
                        <a:rPr lang="en-US" sz="1100" b="1" dirty="0">
                          <a:solidFill>
                            <a:srgbClr val="1A2332"/>
                          </a:solidFill>
                        </a:rPr>
                        <a:t>RQ3</a:t>
                      </a:r>
                      <a:endParaRPr lang="en-US" sz="11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What do SHAP explanations reveal about the selected model, read against turbofan physics without causal claims?</a:t>
                      </a:r>
                      <a:endParaRPr lang="en-US" sz="11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Additive reconstruction; age dominant; local core-speed counter-contributions (§5.8)</a:t>
                      </a:r>
                      <a:endParaRPr lang="en-US" sz="11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0">
                <a:tc>
                  <a:txBody>
                    <a:bodyPr/>
                    <a:lstStyle/>
                    <a:p>
                      <a:pPr indent="0" marL="0">
                        <a:buNone/>
                      </a:pPr>
                      <a:r>
                        <a:rPr lang="en-US" sz="1100" b="1" dirty="0">
                          <a:solidFill>
                            <a:srgbClr val="1A2332"/>
                          </a:solidFill>
                        </a:rPr>
                        <a:t>RQ4</a:t>
                      </a:r>
                      <a:endParaRPr lang="en-US" sz="11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How can prediction, uncertainty and explanation become CRITICAL/HIGH/MEDIUM/LOW triage with mandatory human review — how safe and burdensome?</a:t>
                      </a:r>
                      <a:endParaRPr lang="en-US" sz="11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Point under-triage 34/100; offline guard 39/39 at 81/100 reviews; prototype records 3 decision types (§5.9–5.10)</a:t>
                      </a:r>
                      <a:endParaRPr lang="en-US" sz="11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4" name="Text 1"/>
          <p:cNvSpPr txBox="1"/>
          <p:nvPr/>
        </p:nvSpPr>
        <p:spPr>
          <a:xfrm>
            <a:off x="548640" y="6400800"/>
            <a:ext cx="9144000" cy="274320"/>
          </a:xfrm>
          <a:prstGeom prst="rect">
            <a:avLst/>
          </a:prstGeom>
          <a:noFill/>
          <a:ln/>
        </p:spPr>
        <p:txBody>
          <a:bodyPr wrap="square" lIns="0" tIns="0" rIns="0" bIns="0" rtlCol="0" anchor="ctr"/>
          <a:lstStyle/>
          <a:p>
            <a:pPr indent="0" marL="0">
              <a:buNone/>
            </a:pPr>
            <a:r>
              <a:rPr lang="en-US" sz="800" dirty="0">
                <a:solidFill>
                  <a:srgbClr val="5A6A7E"/>
                </a:solidFill>
              </a:rPr>
              <a:t>Thesis §1.3, §7.2 · Tables 1.1, 1.2</a:t>
            </a:r>
            <a:endParaRPr lang="en-US" sz="800" dirty="0"/>
          </a:p>
        </p:txBody>
      </p:sp>
      <p:sp>
        <p:nvSpPr>
          <p:cNvPr id="25" name="Slide Number Placeholder 0"/>
          <p:cNvSpPr>
            <a:spLocks noGrp="1"/>
          </p:cNvSpPr>
          <p:nvPr>
            <p:ph type="sldNum" sz="quarter" idx="4294967295"/>
          </p:nvPr>
        </p:nvSpPr>
        <p:spPr>
          <a:xfrm>
            <a:off x="1143000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6A7E"/>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0058400" cy="457200"/>
          </a:xfrm>
          <a:prstGeom prst="rect">
            <a:avLst/>
          </a:prstGeom>
          <a:noFill/>
          <a:ln/>
        </p:spPr>
        <p:txBody>
          <a:bodyPr wrap="square" lIns="0" tIns="0" rIns="0" bIns="0" rtlCol="0" anchor="ctr"/>
          <a:lstStyle/>
          <a:p>
            <a:pPr indent="0" marL="0">
              <a:buNone/>
            </a:pPr>
            <a:r>
              <a:rPr lang="en-US" sz="2400" b="1" dirty="0">
                <a:solidFill>
                  <a:srgbClr val="1A2332"/>
                </a:solidFill>
              </a:rPr>
              <a:t>Engine-level split prevents trajectory leakage</a:t>
            </a:r>
            <a:endParaRPr lang="en-US" sz="2400" dirty="0"/>
          </a:p>
        </p:txBody>
      </p:sp>
      <p:sp>
        <p:nvSpPr>
          <p:cNvPr id="3" name="Text 1"/>
          <p:cNvSpPr txBox="1"/>
          <p:nvPr/>
        </p:nvSpPr>
        <p:spPr>
          <a:xfrm>
            <a:off x="548640" y="1005840"/>
            <a:ext cx="10972800" cy="1828800"/>
          </a:xfrm>
          <a:prstGeom prst="rect">
            <a:avLst/>
          </a:prstGeom>
          <a:noFill/>
          <a:ln/>
        </p:spPr>
        <p:txBody>
          <a:bodyPr wrap="square" lIns="0" tIns="0" rIns="0" bIns="0" rtlCol="0" anchor="ctr"/>
          <a:lstStyle/>
          <a:p>
            <a:pPr indent="0" marL="0">
              <a:lnSpc>
                <a:spcPct val="150000"/>
              </a:lnSpc>
              <a:buNone/>
            </a:pPr>
            <a:r>
              <a:rPr lang="en-US" sz="1300" dirty="0">
                <a:solidFill>
                  <a:srgbClr val="1A2332"/>
                </a:solidFill>
              </a:rPr>
              <a:t>In a turbofan trajectory, consecutive cycles share autocorrelated sensor readings. A row-random split places cycle t in training and cycle t+1 in test — the model effectively sees the answer.</a:t>
            </a:r>
            <a:endParaRPr lang="en-US" sz="1300" dirty="0"/>
          </a:p>
          <a:p>
            <a:pPr indent="0" marL="0">
              <a:lnSpc>
                <a:spcPct val="150000"/>
              </a:lnSpc>
              <a:buNone/>
            </a:pPr>
            <a:endParaRPr lang="en-US" sz="1300" dirty="0"/>
          </a:p>
          <a:p>
            <a:pPr indent="0" marL="0">
              <a:lnSpc>
                <a:spcPct val="150000"/>
              </a:lnSpc>
              <a:buNone/>
            </a:pPr>
            <a:r>
              <a:rPr lang="en-US" sz="1300" dirty="0">
                <a:solidFill>
                  <a:srgbClr val="1A2332"/>
                </a:solidFill>
              </a:rPr>
              <a:t>Engine-level splitting ensures no cycle from a test engine ever appears in training. Fixed seed 42, no rerolling, no stratification. Each of 100 training engines assigned to exactly one role.</a:t>
            </a:r>
            <a:endParaRPr lang="en-US" sz="1300" dirty="0"/>
          </a:p>
        </p:txBody>
      </p:sp>
      <p:sp>
        <p:nvSpPr>
          <p:cNvPr id="4" name="Shape 2"/>
          <p:cNvSpPr/>
          <p:nvPr/>
        </p:nvSpPr>
        <p:spPr>
          <a:xfrm>
            <a:off x="548640" y="3108960"/>
            <a:ext cx="11064240" cy="548640"/>
          </a:xfrm>
          <a:prstGeom prst="roundRect">
            <a:avLst>
              <a:gd name="adj" fmla="val 16667"/>
            </a:avLst>
          </a:prstGeom>
          <a:solidFill>
            <a:srgbClr val="E0F7FA"/>
          </a:solidFill>
          <a:ln w="19050">
            <a:solidFill>
              <a:srgbClr val="0891B2"/>
            </a:solidFill>
            <a:prstDash val="solid"/>
          </a:ln>
        </p:spPr>
      </p:sp>
      <p:sp>
        <p:nvSpPr>
          <p:cNvPr id="5" name="Text 3"/>
          <p:cNvSpPr txBox="1"/>
          <p:nvPr/>
        </p:nvSpPr>
        <p:spPr>
          <a:xfrm>
            <a:off x="822960" y="3200400"/>
            <a:ext cx="10058400" cy="320040"/>
          </a:xfrm>
          <a:prstGeom prst="rect">
            <a:avLst/>
          </a:prstGeom>
          <a:noFill/>
          <a:ln/>
        </p:spPr>
        <p:txBody>
          <a:bodyPr wrap="square" lIns="0" tIns="0" rIns="0" bIns="0" rtlCol="0" anchor="ctr"/>
          <a:lstStyle/>
          <a:p>
            <a:pPr indent="0" marL="0">
              <a:buNone/>
            </a:pPr>
            <a:r>
              <a:rPr lang="en-US" sz="1200" dirty="0">
                <a:solidFill>
                  <a:srgbClr val="0891B2"/>
                </a:solidFill>
              </a:rPr>
              <a:t>Reference: Kaufman et al. (2012) on data leakage in machine learning</a:t>
            </a:r>
            <a:endParaRPr lang="en-US" sz="1200" dirty="0"/>
          </a:p>
        </p:txBody>
      </p:sp>
      <p:sp>
        <p:nvSpPr>
          <p:cNvPr id="6" name="Text 4"/>
          <p:cNvSpPr txBox="1"/>
          <p:nvPr/>
        </p:nvSpPr>
        <p:spPr>
          <a:xfrm>
            <a:off x="548640" y="6400800"/>
            <a:ext cx="9144000" cy="274320"/>
          </a:xfrm>
          <a:prstGeom prst="rect">
            <a:avLst/>
          </a:prstGeom>
          <a:noFill/>
          <a:ln/>
        </p:spPr>
        <p:txBody>
          <a:bodyPr wrap="square" lIns="0" tIns="0" rIns="0" bIns="0" rtlCol="0" anchor="ctr"/>
          <a:lstStyle/>
          <a:p>
            <a:pPr indent="0" marL="0">
              <a:buNone/>
            </a:pPr>
            <a:r>
              <a:rPr lang="en-US" sz="800" dirty="0">
                <a:solidFill>
                  <a:srgbClr val="5A6A7E"/>
                </a:solidFill>
              </a:rPr>
              <a:t>Thesis §4.5 · Table 4.1</a:t>
            </a:r>
            <a:endParaRPr lang="en-US" sz="800" dirty="0"/>
          </a:p>
        </p:txBody>
      </p:sp>
      <p:sp>
        <p:nvSpPr>
          <p:cNvPr id="25" name="Slide Number Placeholder 0"/>
          <p:cNvSpPr>
            <a:spLocks noGrp="1"/>
          </p:cNvSpPr>
          <p:nvPr>
            <p:ph type="sldNum" sz="quarter" idx="4294967295"/>
          </p:nvPr>
        </p:nvSpPr>
        <p:spPr>
          <a:xfrm>
            <a:off x="1143000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6A7E"/>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0058400" cy="457200"/>
          </a:xfrm>
          <a:prstGeom prst="rect">
            <a:avLst/>
          </a:prstGeom>
          <a:noFill/>
          <a:ln/>
        </p:spPr>
        <p:txBody>
          <a:bodyPr wrap="square" lIns="0" tIns="0" rIns="0" bIns="0" rtlCol="0" anchor="ctr"/>
          <a:lstStyle/>
          <a:p>
            <a:pPr indent="0" marL="0">
              <a:buNone/>
            </a:pPr>
            <a:r>
              <a:rPr lang="en-US" sz="2400" b="1" dirty="0">
                <a:solidFill>
                  <a:srgbClr val="1A2332"/>
                </a:solidFill>
              </a:rPr>
              <a:t>Model configurations and selection criteria</a:t>
            </a:r>
            <a:endParaRPr lang="en-US" sz="2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11064240" cy="914400"/>
        </p:xfrm>
        <a:graphic>
          <a:graphicData uri="http://schemas.openxmlformats.org/drawingml/2006/table">
            <a:tbl>
              <a:tblPr/>
              <a:tblGrid>
                <a:gridCol w="1828800"/>
                <a:gridCol w="3474720"/>
                <a:gridCol w="1828800"/>
                <a:gridCol w="2743200"/>
              </a:tblGrid>
              <a:tr h="411480">
                <a:tc>
                  <a:txBody>
                    <a:bodyPr/>
                    <a:lstStyle/>
                    <a:p>
                      <a:pPr indent="0" marL="0">
                        <a:buNone/>
                      </a:pPr>
                      <a:r>
                        <a:rPr lang="en-US" sz="1100" b="1" dirty="0">
                          <a:solidFill>
                            <a:srgbClr val="1A2332"/>
                          </a:solidFill>
                        </a:rPr>
                        <a:t>Model</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100" b="1" dirty="0">
                          <a:solidFill>
                            <a:srgbClr val="1A2332"/>
                          </a:solidFill>
                        </a:rPr>
                        <a:t>Key Parameters</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100" b="1" dirty="0">
                          <a:solidFill>
                            <a:srgbClr val="1A2332"/>
                          </a:solidFill>
                        </a:rPr>
                        <a:t>CV</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100" b="1" dirty="0">
                          <a:solidFill>
                            <a:srgbClr val="1A2332"/>
                          </a:solidFill>
                        </a:rPr>
                        <a:t>Notes</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411480">
                <a:tc>
                  <a:txBody>
                    <a:bodyPr/>
                    <a:lstStyle/>
                    <a:p>
                      <a:pPr indent="0" marL="0">
                        <a:buNone/>
                      </a:pPr>
                      <a:r>
                        <a:rPr lang="en-US" sz="1100" dirty="0">
                          <a:solidFill>
                            <a:srgbClr val="1A2332"/>
                          </a:solidFill>
                        </a:rPr>
                        <a:t>Naive age-only</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ŷ = max(195 − time_in_cycles, 0)</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Median training lifetime</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No sensors used</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11480">
                <a:tc>
                  <a:txBody>
                    <a:bodyPr/>
                    <a:lstStyle/>
                    <a:p>
                      <a:pPr indent="0" marL="0">
                        <a:buNone/>
                      </a:pPr>
                      <a:r>
                        <a:rPr lang="en-US" sz="1100" dirty="0">
                          <a:solidFill>
                            <a:srgbClr val="1A2332"/>
                          </a:solidFill>
                        </a:rPr>
                        <a:t>Ridge</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α = 0.0001 (grid boundary)</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11 α values, grouped 5-fold</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Scaler fit on training engines</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11480">
                <a:tc>
                  <a:txBody>
                    <a:bodyPr/>
                    <a:lstStyle/>
                    <a:p>
                      <a:pPr indent="0" marL="0">
                        <a:buNone/>
                      </a:pPr>
                      <a:r>
                        <a:rPr lang="en-US" sz="1100" b="1" dirty="0">
                          <a:solidFill>
                            <a:srgbClr val="0891B2"/>
                          </a:solidFill>
                        </a:rPr>
                        <a:t>Random Forest</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depth 8, min leaf 10, max_features 0.5, 500 trees</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18 candidates, grouped 5-fold</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Raw inputs</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11480">
                <a:tc>
                  <a:txBody>
                    <a:bodyPr/>
                    <a:lstStyle/>
                    <a:p>
                      <a:pPr indent="0" marL="0">
                        <a:buNone/>
                      </a:pPr>
                      <a:r>
                        <a:rPr lang="en-US" sz="1100" dirty="0">
                          <a:solidFill>
                            <a:srgbClr val="1A2332"/>
                          </a:solidFill>
                        </a:rPr>
                        <a:t>XGBoost</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depth 3, learning rate 0.03, …</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18 candidates, grouped 5-fold</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Raw inputs</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4" name="Shape 1"/>
          <p:cNvSpPr/>
          <p:nvPr/>
        </p:nvSpPr>
        <p:spPr>
          <a:xfrm>
            <a:off x="548640" y="3200400"/>
            <a:ext cx="11064240" cy="548640"/>
          </a:xfrm>
          <a:prstGeom prst="roundRect">
            <a:avLst>
              <a:gd name="adj" fmla="val 16667"/>
            </a:avLst>
          </a:prstGeom>
          <a:solidFill>
            <a:srgbClr val="E0F7FA"/>
          </a:solidFill>
          <a:ln w="19050">
            <a:solidFill>
              <a:srgbClr val="0891B2"/>
            </a:solidFill>
            <a:prstDash val="solid"/>
          </a:ln>
        </p:spPr>
      </p:sp>
      <p:sp>
        <p:nvSpPr>
          <p:cNvPr id="5" name="Text 2"/>
          <p:cNvSpPr txBox="1"/>
          <p:nvPr/>
        </p:nvSpPr>
        <p:spPr>
          <a:xfrm>
            <a:off x="822960" y="3291840"/>
            <a:ext cx="10058400" cy="320040"/>
          </a:xfrm>
          <a:prstGeom prst="rect">
            <a:avLst/>
          </a:prstGeom>
          <a:noFill/>
          <a:ln/>
        </p:spPr>
        <p:txBody>
          <a:bodyPr wrap="square" lIns="0" tIns="0" rIns="0" bIns="0" rtlCol="0" anchor="ctr"/>
          <a:lstStyle/>
          <a:p>
            <a:pPr indent="0" marL="0">
              <a:buNone/>
            </a:pPr>
            <a:r>
              <a:rPr lang="en-US" sz="1200" b="1" dirty="0">
                <a:solidFill>
                  <a:srgbClr val="0891B2"/>
                </a:solidFill>
              </a:rPr>
              <a:t>All configurations frozen before validation. Outputs clipped to ≥ 0. No retuning after model selection.</a:t>
            </a:r>
            <a:endParaRPr lang="en-US" sz="1200" dirty="0"/>
          </a:p>
        </p:txBody>
      </p:sp>
      <p:sp>
        <p:nvSpPr>
          <p:cNvPr id="6" name="Text 3"/>
          <p:cNvSpPr txBox="1"/>
          <p:nvPr/>
        </p:nvSpPr>
        <p:spPr>
          <a:xfrm>
            <a:off x="548640" y="6400800"/>
            <a:ext cx="9144000" cy="274320"/>
          </a:xfrm>
          <a:prstGeom prst="rect">
            <a:avLst/>
          </a:prstGeom>
          <a:noFill/>
          <a:ln/>
        </p:spPr>
        <p:txBody>
          <a:bodyPr wrap="square" lIns="0" tIns="0" rIns="0" bIns="0" rtlCol="0" anchor="ctr"/>
          <a:lstStyle/>
          <a:p>
            <a:pPr indent="0" marL="0">
              <a:buNone/>
            </a:pPr>
            <a:r>
              <a:rPr lang="en-US" sz="800" dirty="0">
                <a:solidFill>
                  <a:srgbClr val="5A6A7E"/>
                </a:solidFill>
              </a:rPr>
              <a:t>Thesis §4.7 · Table 4.3</a:t>
            </a:r>
            <a:endParaRPr lang="en-US" sz="800" dirty="0"/>
          </a:p>
        </p:txBody>
      </p:sp>
      <p:sp>
        <p:nvSpPr>
          <p:cNvPr id="25" name="Slide Number Placeholder 0"/>
          <p:cNvSpPr>
            <a:spLocks noGrp="1"/>
          </p:cNvSpPr>
          <p:nvPr>
            <p:ph type="sldNum" sz="quarter" idx="4294967295"/>
          </p:nvPr>
        </p:nvSpPr>
        <p:spPr>
          <a:xfrm>
            <a:off x="1143000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6A7E"/>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0058400" cy="457200"/>
          </a:xfrm>
          <a:prstGeom prst="rect">
            <a:avLst/>
          </a:prstGeom>
          <a:noFill/>
          <a:ln/>
        </p:spPr>
        <p:txBody>
          <a:bodyPr wrap="square" lIns="0" tIns="0" rIns="0" bIns="0" rtlCol="0" anchor="ctr"/>
          <a:lstStyle/>
          <a:p>
            <a:pPr indent="0" marL="0">
              <a:buNone/>
            </a:pPr>
            <a:r>
              <a:rPr lang="en-US" sz="2400" b="1" dirty="0">
                <a:solidFill>
                  <a:srgbClr val="1A2332"/>
                </a:solidFill>
              </a:rPr>
              <a:t>Conformal score: rank calculation and assumptions</a:t>
            </a:r>
            <a:endParaRPr lang="en-US" sz="2400" dirty="0"/>
          </a:p>
        </p:txBody>
      </p:sp>
      <p:sp>
        <p:nvSpPr>
          <p:cNvPr id="3" name="Text 1"/>
          <p:cNvSpPr txBox="1"/>
          <p:nvPr/>
        </p:nvSpPr>
        <p:spPr>
          <a:xfrm>
            <a:off x="548640" y="1005840"/>
            <a:ext cx="10972800" cy="4114800"/>
          </a:xfrm>
          <a:prstGeom prst="rect">
            <a:avLst/>
          </a:prstGeom>
          <a:noFill/>
          <a:ln/>
        </p:spPr>
        <p:txBody>
          <a:bodyPr wrap="square" lIns="0" tIns="0" rIns="0" bIns="0" rtlCol="0" anchor="ctr"/>
          <a:lstStyle/>
          <a:p>
            <a:pPr indent="0" marL="0">
              <a:lnSpc>
                <a:spcPct val="130000"/>
              </a:lnSpc>
              <a:buNone/>
            </a:pPr>
            <a:r>
              <a:rPr lang="en-US" sz="1300" b="1" dirty="0">
                <a:solidFill>
                  <a:srgbClr val="000000"/>
                </a:solidFill>
              </a:rPr>
              <a:t>Score computation:
</a:t>
            </a:r>
            <a:endParaRPr lang="en-US" sz="1300" dirty="0"/>
          </a:p>
          <a:p>
            <a:pPr indent="0" marL="0">
              <a:lnSpc>
                <a:spcPct val="130000"/>
              </a:lnSpc>
              <a:buNone/>
            </a:pPr>
            <a:r>
              <a:rPr lang="en-US" sz="1200" dirty="0">
                <a:solidFill>
                  <a:srgbClr val="000000"/>
                </a:solidFill>
              </a:rPr>
              <a:t>For calibration engine i:  sᵢ = maxₜ |ŷ(i,t) − y(i,t)|
Sort the 20 engine scores; finite-sample rank for 90% nominal coverage = 19th of 20
q̂ = 107.8965 cycles (reported 107.90); lower bound clipped at 0
Calibration covered 19/20 engines by construction — not independent validation
</a:t>
            </a:r>
            <a:endParaRPr lang="en-US" sz="1300" dirty="0"/>
          </a:p>
          <a:p>
            <a:pPr indent="0" marL="0">
              <a:lnSpc>
                <a:spcPct val="130000"/>
              </a:lnSpc>
              <a:buNone/>
            </a:pPr>
            <a:r>
              <a:rPr lang="en-US" sz="1300" b="1" dirty="0">
                <a:solidFill>
                  <a:srgbClr val="000000"/>
                </a:solidFill>
              </a:rPr>
              <a:t>
Key assumptions:
</a:t>
            </a:r>
            <a:endParaRPr lang="en-US" sz="1300" dirty="0"/>
          </a:p>
          <a:p>
            <a:pPr indent="0" marL="0">
              <a:lnSpc>
                <a:spcPct val="130000"/>
              </a:lnSpc>
              <a:buNone/>
            </a:pPr>
            <a:r>
              <a:rPr lang="en-US" sz="1200" dirty="0">
                <a:solidFill>
                  <a:srgbClr val="000000"/>
                </a:solidFill>
              </a:rPr>
              <a:t>→  Exchangeability of calibration and future engines
→  Coverage is marginal, not conditional
→  Not guaranteed per-engine or per-trajectory
→  Calibration separate from fitting
</a:t>
            </a:r>
            <a:endParaRPr lang="en-US" sz="1300" dirty="0"/>
          </a:p>
          <a:p>
            <a:pPr indent="0" marL="0">
              <a:lnSpc>
                <a:spcPct val="130000"/>
              </a:lnSpc>
              <a:buNone/>
            </a:pPr>
            <a:endParaRPr lang="en-US" sz="1300" dirty="0"/>
          </a:p>
          <a:p>
            <a:pPr indent="0" marL="0">
              <a:lnSpc>
                <a:spcPct val="130000"/>
              </a:lnSpc>
              <a:buNone/>
            </a:pPr>
            <a:r>
              <a:rPr lang="en-US" sz="1000" dirty="0">
                <a:solidFill>
                  <a:srgbClr val="5A6A7E"/>
                </a:solidFill>
              </a:rPr>
              <a:t>References: Vovk, Gammerman &amp; Shafer (2005); Angelopoulos &amp; Bates (2023); Lei et al. (2018a)</a:t>
            </a:r>
            <a:endParaRPr lang="en-US" sz="1300" dirty="0"/>
          </a:p>
        </p:txBody>
      </p:sp>
      <p:sp>
        <p:nvSpPr>
          <p:cNvPr id="4" name="Text 2"/>
          <p:cNvSpPr txBox="1"/>
          <p:nvPr/>
        </p:nvSpPr>
        <p:spPr>
          <a:xfrm>
            <a:off x="548640" y="6400800"/>
            <a:ext cx="9144000" cy="274320"/>
          </a:xfrm>
          <a:prstGeom prst="rect">
            <a:avLst/>
          </a:prstGeom>
          <a:noFill/>
          <a:ln/>
        </p:spPr>
        <p:txBody>
          <a:bodyPr wrap="square" lIns="0" tIns="0" rIns="0" bIns="0" rtlCol="0" anchor="ctr"/>
          <a:lstStyle/>
          <a:p>
            <a:pPr indent="0" marL="0">
              <a:buNone/>
            </a:pPr>
            <a:r>
              <a:rPr lang="en-US" sz="800" dirty="0">
                <a:solidFill>
                  <a:srgbClr val="5A6A7E"/>
                </a:solidFill>
              </a:rPr>
              <a:t>Thesis §4.8</a:t>
            </a:r>
            <a:endParaRPr lang="en-US" sz="800" dirty="0"/>
          </a:p>
        </p:txBody>
      </p:sp>
      <p:sp>
        <p:nvSpPr>
          <p:cNvPr id="25" name="Slide Number Placeholder 0"/>
          <p:cNvSpPr>
            <a:spLocks noGrp="1"/>
          </p:cNvSpPr>
          <p:nvPr>
            <p:ph type="sldNum" sz="quarter" idx="4294967295"/>
          </p:nvPr>
        </p:nvSpPr>
        <p:spPr>
          <a:xfrm>
            <a:off x="1143000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6A7E"/>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0058400" cy="457200"/>
          </a:xfrm>
          <a:prstGeom prst="rect">
            <a:avLst/>
          </a:prstGeom>
          <a:noFill/>
          <a:ln/>
        </p:spPr>
        <p:txBody>
          <a:bodyPr wrap="square" lIns="0" tIns="0" rIns="0" bIns="0" rtlCol="0" anchor="ctr"/>
          <a:lstStyle/>
          <a:p>
            <a:pPr indent="0" marL="0">
              <a:buNone/>
            </a:pPr>
            <a:r>
              <a:rPr lang="en-US" sz="2400" b="1" dirty="0">
                <a:solidFill>
                  <a:srgbClr val="1A2332"/>
                </a:solidFill>
              </a:rPr>
              <a:t>Triage policy definitions and metric denominators</a:t>
            </a:r>
            <a:endParaRPr lang="en-US" sz="2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5029200" cy="914400"/>
        </p:xfrm>
        <a:graphic>
          <a:graphicData uri="http://schemas.openxmlformats.org/drawingml/2006/table">
            <a:tbl>
              <a:tblPr/>
              <a:tblGrid>
                <a:gridCol w="1645920"/>
                <a:gridCol w="1645920"/>
                <a:gridCol w="1371600"/>
              </a:tblGrid>
              <a:tr h="384048">
                <a:tc>
                  <a:txBody>
                    <a:bodyPr/>
                    <a:lstStyle/>
                    <a:p>
                      <a:pPr indent="0" marL="0">
                        <a:buNone/>
                      </a:pPr>
                      <a:r>
                        <a:rPr lang="en-US" sz="1200" b="1" dirty="0">
                          <a:solidFill>
                            <a:srgbClr val="1A2332"/>
                          </a:solidFill>
                        </a:rPr>
                        <a:t>Class</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1A2332"/>
                          </a:solidFill>
                        </a:rPr>
                        <a:t>Rule 1 on ŷ (cycles)</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1A2332"/>
                          </a:solidFill>
                        </a:rPr>
                        <a:t>Review</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384048">
                <a:tc>
                  <a:txBody>
                    <a:bodyPr/>
                    <a:lstStyle/>
                    <a:p>
                      <a:pPr indent="0" marL="0">
                        <a:buNone/>
                      </a:pPr>
                      <a:r>
                        <a:rPr lang="en-US" sz="1200" b="1" dirty="0">
                          <a:solidFill>
                            <a:srgbClr val="DC2626"/>
                          </a:solidFill>
                        </a:rPr>
                        <a:t>CRITICAL</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1A2332"/>
                          </a:solidFill>
                        </a:rPr>
                        <a:t>ŷ ≤ 30</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1A2332"/>
                          </a:solidFill>
                        </a:rPr>
                        <a:t>Mandatory review</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84048">
                <a:tc>
                  <a:txBody>
                    <a:bodyPr/>
                    <a:lstStyle/>
                    <a:p>
                      <a:pPr indent="0" marL="0">
                        <a:buNone/>
                      </a:pPr>
                      <a:r>
                        <a:rPr lang="en-US" sz="1200" b="1" dirty="0">
                          <a:solidFill>
                            <a:srgbClr val="D97706"/>
                          </a:solidFill>
                        </a:rPr>
                        <a:t>HIGH</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1A2332"/>
                          </a:solidFill>
                        </a:rPr>
                        <a:t>30 &lt; ŷ ≤ 60</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1A2332"/>
                          </a:solidFill>
                        </a:rPr>
                        <a:t>Mandatory review</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84048">
                <a:tc>
                  <a:txBody>
                    <a:bodyPr/>
                    <a:lstStyle/>
                    <a:p>
                      <a:pPr indent="0" marL="0">
                        <a:buNone/>
                      </a:pPr>
                      <a:r>
                        <a:rPr lang="en-US" sz="1200" b="1" dirty="0">
                          <a:solidFill>
                            <a:srgbClr val="0891B2"/>
                          </a:solidFill>
                        </a:rPr>
                        <a:t>MEDIUM</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1A2332"/>
                          </a:solidFill>
                        </a:rPr>
                        <a:t>60 &lt; ŷ ≤ 130</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1A2332"/>
                          </a:solidFill>
                        </a:rPr>
                        <a:t>Routine unless Rule 2</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84048">
                <a:tc>
                  <a:txBody>
                    <a:bodyPr/>
                    <a:lstStyle/>
                    <a:p>
                      <a:pPr indent="0" marL="0">
                        <a:buNone/>
                      </a:pPr>
                      <a:r>
                        <a:rPr lang="en-US" sz="1200" b="1" dirty="0">
                          <a:solidFill>
                            <a:srgbClr val="059669"/>
                          </a:solidFill>
                        </a:rPr>
                        <a:t>LOW</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1A2332"/>
                          </a:solidFill>
                        </a:rPr>
                        <a:t>ŷ &gt; 130</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1A2332"/>
                          </a:solidFill>
                        </a:rPr>
                        <a:t>Routine unless Rule 2</a:t>
                      </a:r>
                      <a:endParaRPr lang="en-US" sz="12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4" name="Shape 1"/>
          <p:cNvSpPr/>
          <p:nvPr/>
        </p:nvSpPr>
        <p:spPr>
          <a:xfrm>
            <a:off x="548640" y="3017520"/>
            <a:ext cx="5029200" cy="457200"/>
          </a:xfrm>
          <a:prstGeom prst="roundRect">
            <a:avLst>
              <a:gd name="adj" fmla="val 20000"/>
            </a:avLst>
          </a:prstGeom>
          <a:solidFill>
            <a:srgbClr val="FEF3C7"/>
          </a:solidFill>
          <a:ln/>
        </p:spPr>
      </p:sp>
      <p:sp>
        <p:nvSpPr>
          <p:cNvPr id="5" name="Text 2"/>
          <p:cNvSpPr txBox="1"/>
          <p:nvPr/>
        </p:nvSpPr>
        <p:spPr>
          <a:xfrm>
            <a:off x="731520" y="3063240"/>
            <a:ext cx="4572000" cy="320040"/>
          </a:xfrm>
          <a:prstGeom prst="rect">
            <a:avLst/>
          </a:prstGeom>
          <a:noFill/>
          <a:ln/>
        </p:spPr>
        <p:txBody>
          <a:bodyPr wrap="square" lIns="0" tIns="0" rIns="0" bIns="0" rtlCol="0" anchor="ctr"/>
          <a:lstStyle/>
          <a:p>
            <a:pPr indent="0" marL="0">
              <a:buNone/>
            </a:pPr>
            <a:r>
              <a:rPr lang="en-US" sz="1000" dirty="0">
                <a:solidFill>
                  <a:srgbClr val="D97706"/>
                </a:solidFill>
              </a:rPr>
              <a:t>⚠  These are research assumptions, not maintenance-approved limits</a:t>
            </a:r>
            <a:endParaRPr lang="en-US" sz="1000" dirty="0"/>
          </a:p>
        </p:txBody>
      </p:sp>
      <p:sp>
        <p:nvSpPr>
          <p:cNvPr id="6" name="Text 3"/>
          <p:cNvSpPr txBox="1"/>
          <p:nvPr/>
        </p:nvSpPr>
        <p:spPr>
          <a:xfrm>
            <a:off x="6400800" y="1005840"/>
            <a:ext cx="5212080" cy="2743200"/>
          </a:xfrm>
          <a:prstGeom prst="rect">
            <a:avLst/>
          </a:prstGeom>
          <a:noFill/>
          <a:ln/>
        </p:spPr>
        <p:txBody>
          <a:bodyPr wrap="square" lIns="0" tIns="0" rIns="0" bIns="0" rtlCol="0" anchor="ctr"/>
          <a:lstStyle/>
          <a:p>
            <a:pPr indent="0" marL="0">
              <a:lnSpc>
                <a:spcPct val="130000"/>
              </a:lnSpc>
              <a:buNone/>
            </a:pPr>
            <a:r>
              <a:rPr lang="en-US" sz="1300" b="1" dirty="0">
                <a:solidFill>
                  <a:srgbClr val="000000"/>
                </a:solidFill>
              </a:rPr>
              <a:t>Metric definitions:
</a:t>
            </a:r>
            <a:endParaRPr lang="en-US" sz="1300" dirty="0"/>
          </a:p>
          <a:p>
            <a:pPr indent="0" marL="0">
              <a:lnSpc>
                <a:spcPct val="130000"/>
              </a:lnSpc>
              <a:buNone/>
            </a:pPr>
            <a:r>
              <a:rPr lang="en-US" sz="1200" dirty="0">
                <a:solidFill>
                  <a:srgbClr val="000000"/>
                </a:solidFill>
              </a:rPr>
              <a:t>Rule 2 (post-closure, offline only): refer if conformal lower bound ≤ 30 cycles</a:t>
            </a:r>
            <a:endParaRPr lang="en-US" sz="1300" dirty="0"/>
          </a:p>
          <a:p>
            <a:pPr indent="0" marL="0">
              <a:lnSpc>
                <a:spcPct val="130000"/>
              </a:lnSpc>
              <a:buNone/>
            </a:pPr>
            <a:endParaRPr lang="en-US" sz="1300" dirty="0"/>
          </a:p>
          <a:p>
            <a:pPr indent="0" marL="0">
              <a:lnSpc>
                <a:spcPct val="130000"/>
              </a:lnSpc>
              <a:buNone/>
            </a:pPr>
            <a:r>
              <a:rPr lang="en-US" sz="1200" dirty="0">
                <a:solidFill>
                  <a:srgbClr val="000000"/>
                </a:solidFill>
              </a:rPr>
              <a:t>Point-only CRITICAL recall: 64% endpoints (16/25)</a:t>
            </a:r>
            <a:endParaRPr lang="en-US" sz="1300" dirty="0"/>
          </a:p>
          <a:p>
            <a:pPr indent="0" marL="0">
              <a:lnSpc>
                <a:spcPct val="130000"/>
              </a:lnSpc>
              <a:buNone/>
            </a:pPr>
            <a:r>
              <a:rPr lang="en-US" sz="1200" dirty="0">
                <a:solidFill>
                  <a:srgbClr val="000000"/>
                </a:solidFill>
              </a:rPr>
              <a:t>CRIT+HIGH review recall: 39/39 endpoints · 1,218/1,220 val. rows</a:t>
            </a:r>
            <a:endParaRPr lang="en-US" sz="1300" dirty="0"/>
          </a:p>
          <a:p>
            <a:pPr indent="0" marL="0">
              <a:lnSpc>
                <a:spcPct val="130000"/>
              </a:lnSpc>
              <a:buNone/>
            </a:pPr>
            <a:r>
              <a:rPr lang="en-US" sz="1200" dirty="0">
                <a:solidFill>
                  <a:srgbClr val="000000"/>
                </a:solidFill>
              </a:rPr>
              <a:t>Share reviewed: 81% endpoints · 61.1% val. rows (2,578/4,217)</a:t>
            </a:r>
            <a:endParaRPr lang="en-US" sz="1300" dirty="0"/>
          </a:p>
          <a:p>
            <a:pPr indent="0" marL="0">
              <a:lnSpc>
                <a:spcPct val="130000"/>
              </a:lnSpc>
              <a:buNone/>
            </a:pPr>
            <a:r>
              <a:rPr lang="en-US" sz="1200" dirty="0">
                <a:solidFill>
                  <a:srgbClr val="000000"/>
                </a:solidFill>
              </a:rPr>
              <a:t>Reviewed cases truly CRIT/HIGH: 48.1% · Rule 2 only: 47/100</a:t>
            </a:r>
            <a:endParaRPr lang="en-US" sz="1300" dirty="0"/>
          </a:p>
          <a:p>
            <a:pPr indent="0" marL="0">
              <a:lnSpc>
                <a:spcPct val="130000"/>
              </a:lnSpc>
              <a:buNone/>
            </a:pPr>
            <a:endParaRPr lang="en-US" sz="1300" dirty="0"/>
          </a:p>
          <a:p>
            <a:pPr indent="0" marL="0">
              <a:lnSpc>
                <a:spcPct val="130000"/>
              </a:lnSpc>
              <a:buNone/>
            </a:pPr>
            <a:r>
              <a:rPr lang="en-US" sz="1200" dirty="0">
                <a:solidFill>
                  <a:srgbClr val="000000"/>
                </a:solidFill>
              </a:rPr>
              <a:t>Validation rows are repeated cycles — never pooled with endpoints</a:t>
            </a:r>
            <a:endParaRPr lang="en-US" sz="1300" dirty="0"/>
          </a:p>
        </p:txBody>
      </p:sp>
      <p:sp>
        <p:nvSpPr>
          <p:cNvPr id="7" name="Text 4"/>
          <p:cNvSpPr txBox="1"/>
          <p:nvPr/>
        </p:nvSpPr>
        <p:spPr>
          <a:xfrm>
            <a:off x="548640" y="6400800"/>
            <a:ext cx="9144000" cy="274320"/>
          </a:xfrm>
          <a:prstGeom prst="rect">
            <a:avLst/>
          </a:prstGeom>
          <a:noFill/>
          <a:ln/>
        </p:spPr>
        <p:txBody>
          <a:bodyPr wrap="square" lIns="0" tIns="0" rIns="0" bIns="0" rtlCol="0" anchor="ctr"/>
          <a:lstStyle/>
          <a:p>
            <a:pPr indent="0" marL="0">
              <a:buNone/>
            </a:pPr>
            <a:r>
              <a:rPr lang="en-US" sz="800" dirty="0">
                <a:solidFill>
                  <a:srgbClr val="5A6A7E"/>
                </a:solidFill>
              </a:rPr>
              <a:t>Thesis §4.10.2, §5.9 · Tables 4.4, 5.10</a:t>
            </a:r>
            <a:endParaRPr lang="en-US" sz="800" dirty="0"/>
          </a:p>
        </p:txBody>
      </p:sp>
      <p:sp>
        <p:nvSpPr>
          <p:cNvPr id="25" name="Slide Number Placeholder 0"/>
          <p:cNvSpPr>
            <a:spLocks noGrp="1"/>
          </p:cNvSpPr>
          <p:nvPr>
            <p:ph type="sldNum" sz="quarter" idx="4294967295"/>
          </p:nvPr>
        </p:nvSpPr>
        <p:spPr>
          <a:xfrm>
            <a:off x="1143000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6A7E"/>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0058400" cy="457200"/>
          </a:xfrm>
          <a:prstGeom prst="rect">
            <a:avLst/>
          </a:prstGeom>
          <a:noFill/>
          <a:ln/>
        </p:spPr>
        <p:txBody>
          <a:bodyPr wrap="square" lIns="0" tIns="0" rIns="0" bIns="0" rtlCol="0" anchor="ctr"/>
          <a:lstStyle/>
          <a:p>
            <a:pPr indent="0" marL="0">
              <a:buNone/>
            </a:pPr>
            <a:r>
              <a:rPr lang="en-US" sz="2400" b="1" dirty="0">
                <a:solidFill>
                  <a:srgbClr val="1A2332"/>
                </a:solidFill>
              </a:rPr>
              <a:t>n8n prototype: 22-node topology and audit record</a:t>
            </a:r>
            <a:endParaRPr lang="en-US" sz="2400" dirty="0"/>
          </a:p>
        </p:txBody>
      </p:sp>
      <p:sp>
        <p:nvSpPr>
          <p:cNvPr id="3" name="Text 1"/>
          <p:cNvSpPr txBox="1"/>
          <p:nvPr/>
        </p:nvSpPr>
        <p:spPr>
          <a:xfrm>
            <a:off x="548640" y="1005840"/>
            <a:ext cx="4572000" cy="2194560"/>
          </a:xfrm>
          <a:prstGeom prst="rect">
            <a:avLst/>
          </a:prstGeom>
          <a:noFill/>
          <a:ln/>
        </p:spPr>
        <p:txBody>
          <a:bodyPr wrap="square" lIns="0" tIns="0" rIns="0" bIns="0" rtlCol="0" anchor="ctr"/>
          <a:lstStyle/>
          <a:p>
            <a:pPr indent="0" marL="0">
              <a:lnSpc>
                <a:spcPct val="125000"/>
              </a:lnSpc>
              <a:buNone/>
            </a:pPr>
            <a:r>
              <a:rPr lang="en-US" sz="1300" b="1" dirty="0">
                <a:solidFill>
                  <a:srgbClr val="000000"/>
                </a:solidFill>
              </a:rPr>
              <a:t>Workflow THESIS_HITL_AGENTIC_V2</a:t>
            </a:r>
            <a:endParaRPr lang="en-US" sz="1300" dirty="0"/>
          </a:p>
          <a:p>
            <a:pPr indent="0" marL="0">
              <a:lnSpc>
                <a:spcPct val="125000"/>
              </a:lnSpc>
              <a:buNone/>
            </a:pPr>
            <a:r>
              <a:rPr lang="en-US" sz="1100" dirty="0">
                <a:solidFill>
                  <a:srgbClr val="000000"/>
                </a:solidFill>
              </a:rPr>
              <a:t>1  Fixed PROTOTYPE_TEST payload + provenance checks</a:t>
            </a:r>
            <a:endParaRPr lang="en-US" sz="1300" dirty="0"/>
          </a:p>
          <a:p>
            <a:pPr indent="0" marL="0">
              <a:lnSpc>
                <a:spcPct val="125000"/>
              </a:lnSpc>
              <a:buNone/>
            </a:pPr>
            <a:r>
              <a:rPr lang="en-US" sz="1100" dirty="0">
                <a:solidFill>
                  <a:srgbClr val="000000"/>
                </a:solidFill>
              </a:rPr>
              <a:t>2  Policy DEMO_POLICY_V1 (STIPULATED_RESEARCH_ASSUMPTION)</a:t>
            </a:r>
            <a:endParaRPr lang="en-US" sz="1300" dirty="0"/>
          </a:p>
          <a:p>
            <a:pPr indent="0" marL="0">
              <a:lnSpc>
                <a:spcPct val="125000"/>
              </a:lnSpc>
              <a:buNone/>
            </a:pPr>
            <a:r>
              <a:rPr lang="en-US" sz="1100" dirty="0">
                <a:solidFill>
                  <a:srgbClr val="000000"/>
                </a:solidFill>
              </a:rPr>
              <a:t>3  Local Qwen3 narration under constraints</a:t>
            </a:r>
            <a:endParaRPr lang="en-US" sz="1300" dirty="0"/>
          </a:p>
          <a:p>
            <a:pPr indent="0" marL="0">
              <a:lnSpc>
                <a:spcPct val="125000"/>
              </a:lnSpc>
              <a:buNone/>
            </a:pPr>
            <a:r>
              <a:rPr lang="en-US" sz="1100" dirty="0">
                <a:solidFill>
                  <a:srgbClr val="000000"/>
                </a:solidFill>
              </a:rPr>
              <a:t>4  Human form: APPROVE / REJECT / MODIFY</a:t>
            </a:r>
            <a:endParaRPr lang="en-US" sz="1300" dirty="0"/>
          </a:p>
          <a:p>
            <a:pPr indent="0" marL="0">
              <a:lnSpc>
                <a:spcPct val="125000"/>
              </a:lnSpc>
              <a:buNone/>
            </a:pPr>
            <a:r>
              <a:rPr lang="en-US" sz="1100" dirty="0">
                <a:solidFill>
                  <a:srgbClr val="000000"/>
                </a:solidFill>
              </a:rPr>
              <a:t>5  PostgreSQL status + JSON audit export</a:t>
            </a:r>
            <a:endParaRPr lang="en-US" sz="1300" dirty="0"/>
          </a:p>
          <a:p>
            <a:pPr indent="0" marL="0">
              <a:lnSpc>
                <a:spcPct val="125000"/>
              </a:lnSpc>
              <a:buNone/>
            </a:pPr>
            <a:r>
              <a:rPr lang="en-US" sz="1000" dirty="0">
                <a:solidFill>
                  <a:srgbClr val="5A6A7E"/>
                </a:solidFill>
              </a:rPr>
              <a:t>Policy fixes priority and action before narration.</a:t>
            </a:r>
            <a:endParaRPr lang="en-US" sz="1300" dirty="0"/>
          </a:p>
        </p:txBody>
      </p:sp>
      <p:pic>
        <p:nvPicPr>
          <p:cNvPr id="4" name="Image 0" descr="/home/user/GISMA-hitl-dissertation-predictive-maintenance/screenshots/04_n8n_Workflow_Canvas.png">    </p:cNvPr>
          <p:cNvPicPr>
            <a:picLocks noChangeAspect="1"/>
          </p:cNvPicPr>
          <p:nvPr/>
        </p:nvPicPr>
        <p:blipFill>
          <a:blip r:embed="rId1"/>
          <a:srcRect l="0" r="0" t="0" b="0"/>
          <a:stretch/>
        </p:blipFill>
        <p:spPr>
          <a:xfrm>
            <a:off x="5394960" y="1005840"/>
            <a:ext cx="6217920" cy="3108960"/>
          </a:xfrm>
          <a:prstGeom prst="rect">
            <a:avLst/>
          </a:prstGeom>
        </p:spPr>
      </p:pic>
      <p:sp>
        <p:nvSpPr>
          <p:cNvPr id="5" name="Text 2"/>
          <p:cNvSpPr txBox="1"/>
          <p:nvPr/>
        </p:nvSpPr>
        <p:spPr>
          <a:xfrm>
            <a:off x="5394960" y="4160520"/>
            <a:ext cx="6217920" cy="274320"/>
          </a:xfrm>
          <a:prstGeom prst="rect">
            <a:avLst/>
          </a:prstGeom>
          <a:noFill/>
          <a:ln/>
        </p:spPr>
        <p:txBody>
          <a:bodyPr wrap="square" lIns="0" tIns="0" rIns="0" bIns="0" rtlCol="0" anchor="ctr"/>
          <a:lstStyle/>
          <a:p>
            <a:pPr indent="0" marL="0">
              <a:buNone/>
            </a:pPr>
            <a:r>
              <a:rPr lang="en-US" sz="900" dirty="0">
                <a:solidFill>
                  <a:srgbClr val="5A6A7E"/>
                </a:solidFill>
              </a:rPr>
              <a:t>Exported workflow canvas (author's n8n editor screenshot) — topology, not a live deployment</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3383280"/>
          <a:ext cx="4572000" cy="914400"/>
        </p:xfrm>
        <a:graphic>
          <a:graphicData uri="http://schemas.openxmlformats.org/drawingml/2006/table">
            <a:tbl>
              <a:tblPr/>
              <a:tblGrid>
                <a:gridCol w="2194560"/>
                <a:gridCol w="1371600"/>
                <a:gridCol w="1005840"/>
              </a:tblGrid>
              <a:tr h="274320">
                <a:tc>
                  <a:txBody>
                    <a:bodyPr/>
                    <a:lstStyle/>
                    <a:p>
                      <a:pPr indent="0" marL="0">
                        <a:buNone/>
                      </a:pPr>
                      <a:r>
                        <a:rPr lang="en-US" sz="1000" b="1" dirty="0">
                          <a:solidFill>
                            <a:srgbClr val="1A2332"/>
                          </a:solidFill>
                        </a:rPr>
                        <a:t>Audit record</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000" b="1" dirty="0">
                          <a:solidFill>
                            <a:srgbClr val="1A2332"/>
                          </a:solidFill>
                        </a:rPr>
                        <a:t>Decision</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000" b="1" dirty="0">
                          <a:solidFill>
                            <a:srgbClr val="1A2332"/>
                          </a:solidFill>
                        </a:rPr>
                        <a:t>Override</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274320">
                <a:tc>
                  <a:txBody>
                    <a:bodyPr/>
                    <a:lstStyle/>
                    <a:p>
                      <a:pPr indent="0" marL="0">
                        <a:buNone/>
                      </a:pPr>
                      <a:r>
                        <a:rPr lang="en-US" sz="1000" dirty="0">
                          <a:solidFill>
                            <a:srgbClr val="1A2332"/>
                          </a:solidFill>
                        </a:rPr>
                        <a:t>HITL-1790096772107</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A2332"/>
                          </a:solidFill>
                        </a:rPr>
                        <a:t>APPROVE</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A2332"/>
                          </a:solidFill>
                        </a:rPr>
                        <a:t>NO</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74320">
                <a:tc>
                  <a:txBody>
                    <a:bodyPr/>
                    <a:lstStyle/>
                    <a:p>
                      <a:pPr indent="0" marL="0">
                        <a:buNone/>
                      </a:pPr>
                      <a:r>
                        <a:rPr lang="en-US" sz="1000" dirty="0">
                          <a:solidFill>
                            <a:srgbClr val="1A2332"/>
                          </a:solidFill>
                        </a:rPr>
                        <a:t>HITL-1790108329010</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A2332"/>
                          </a:solidFill>
                        </a:rPr>
                        <a:t>APPROVE</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A2332"/>
                          </a:solidFill>
                        </a:rPr>
                        <a:t>NO</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74320">
                <a:tc>
                  <a:txBody>
                    <a:bodyPr/>
                    <a:lstStyle/>
                    <a:p>
                      <a:pPr indent="0" marL="0">
                        <a:buNone/>
                      </a:pPr>
                      <a:r>
                        <a:rPr lang="en-US" sz="1000" dirty="0">
                          <a:solidFill>
                            <a:srgbClr val="1A2332"/>
                          </a:solidFill>
                        </a:rPr>
                        <a:t>HITL-1790097014976</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A2332"/>
                          </a:solidFill>
                        </a:rPr>
                        <a:t>REJECT</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A2332"/>
                          </a:solidFill>
                        </a:rPr>
                        <a:t>YES</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74320">
                <a:tc>
                  <a:txBody>
                    <a:bodyPr/>
                    <a:lstStyle/>
                    <a:p>
                      <a:pPr indent="0" marL="0">
                        <a:buNone/>
                      </a:pPr>
                      <a:r>
                        <a:rPr lang="en-US" sz="1000" dirty="0">
                          <a:solidFill>
                            <a:srgbClr val="1A2332"/>
                          </a:solidFill>
                        </a:rPr>
                        <a:t>HITL-1790094775152</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A2332"/>
                          </a:solidFill>
                        </a:rPr>
                        <a:t>MODIFY (valid)</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A2332"/>
                          </a:solidFill>
                        </a:rPr>
                        <a:t>YES</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7" name="Text 3"/>
          <p:cNvSpPr txBox="1"/>
          <p:nvPr/>
        </p:nvSpPr>
        <p:spPr>
          <a:xfrm>
            <a:off x="548640" y="4892040"/>
            <a:ext cx="10972800" cy="274320"/>
          </a:xfrm>
          <a:prstGeom prst="rect">
            <a:avLst/>
          </a:prstGeom>
          <a:noFill/>
          <a:ln/>
        </p:spPr>
        <p:txBody>
          <a:bodyPr wrap="square" lIns="0" tIns="0" rIns="0" bIns="0" rtlCol="0" anchor="ctr"/>
          <a:lstStyle/>
          <a:p>
            <a:pPr indent="0" marL="0">
              <a:buNone/>
            </a:pPr>
            <a:r>
              <a:rPr lang="en-US" sz="1000" dirty="0">
                <a:solidFill>
                  <a:srgbClr val="D97706"/>
                </a:solidFill>
              </a:rPr>
              <a:t>Invalid MODIFY: editor route trace only, no exported record of final state.</a:t>
            </a:r>
            <a:endParaRPr lang="en-US" sz="1000" dirty="0"/>
          </a:p>
        </p:txBody>
      </p:sp>
      <p:sp>
        <p:nvSpPr>
          <p:cNvPr id="8" name="Text 4"/>
          <p:cNvSpPr txBox="1"/>
          <p:nvPr/>
        </p:nvSpPr>
        <p:spPr>
          <a:xfrm>
            <a:off x="548640" y="6400800"/>
            <a:ext cx="9144000" cy="274320"/>
          </a:xfrm>
          <a:prstGeom prst="rect">
            <a:avLst/>
          </a:prstGeom>
          <a:noFill/>
          <a:ln/>
        </p:spPr>
        <p:txBody>
          <a:bodyPr wrap="square" lIns="0" tIns="0" rIns="0" bIns="0" rtlCol="0" anchor="ctr"/>
          <a:lstStyle/>
          <a:p>
            <a:pPr indent="0" marL="0">
              <a:buNone/>
            </a:pPr>
            <a:r>
              <a:rPr lang="en-US" sz="800" dirty="0">
                <a:solidFill>
                  <a:srgbClr val="5A6A7E"/>
                </a:solidFill>
              </a:rPr>
              <a:t>Thesis §4.10.3–4.10.5, Appendix A · Tables A.1, A.2</a:t>
            </a:r>
            <a:endParaRPr lang="en-US" sz="800" dirty="0"/>
          </a:p>
        </p:txBody>
      </p:sp>
      <p:sp>
        <p:nvSpPr>
          <p:cNvPr id="25" name="Slide Number Placeholder 0"/>
          <p:cNvSpPr>
            <a:spLocks noGrp="1"/>
          </p:cNvSpPr>
          <p:nvPr>
            <p:ph type="sldNum" sz="quarter" idx="4294967295"/>
          </p:nvPr>
        </p:nvSpPr>
        <p:spPr>
          <a:xfrm>
            <a:off x="1143000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6A7E"/>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0058400" cy="457200"/>
          </a:xfrm>
          <a:prstGeom prst="rect">
            <a:avLst/>
          </a:prstGeom>
          <a:noFill/>
          <a:ln/>
        </p:spPr>
        <p:txBody>
          <a:bodyPr wrap="square" lIns="0" tIns="0" rIns="0" bIns="0" rtlCol="0" anchor="ctr"/>
          <a:lstStyle/>
          <a:p>
            <a:pPr indent="0" marL="0">
              <a:buNone/>
            </a:pPr>
            <a:r>
              <a:rPr lang="en-US" sz="2400" b="1" dirty="0">
                <a:solidFill>
                  <a:srgbClr val="1A2332"/>
                </a:solidFill>
              </a:rPr>
              <a:t>Standards and frameworks — design references, not compliance claims</a:t>
            </a:r>
            <a:endParaRPr lang="en-US" sz="2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11064240" cy="914400"/>
        </p:xfrm>
        <a:graphic>
          <a:graphicData uri="http://schemas.openxmlformats.org/drawingml/2006/table">
            <a:tbl>
              <a:tblPr/>
              <a:tblGrid>
                <a:gridCol w="2286000"/>
                <a:gridCol w="7498080"/>
              </a:tblGrid>
              <a:tr h="384048">
                <a:tc>
                  <a:txBody>
                    <a:bodyPr/>
                    <a:lstStyle/>
                    <a:p>
                      <a:pPr indent="0" marL="0">
                        <a:buNone/>
                      </a:pPr>
                      <a:r>
                        <a:rPr lang="en-US" sz="1100" b="1" dirty="0">
                          <a:solidFill>
                            <a:srgbClr val="1A2332"/>
                          </a:solidFill>
                        </a:rPr>
                        <a:t>Standard</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100" b="1" dirty="0">
                          <a:solidFill>
                            <a:srgbClr val="1A2332"/>
                          </a:solidFill>
                        </a:rPr>
                        <a:t>Role in Design</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384048">
                <a:tc>
                  <a:txBody>
                    <a:bodyPr/>
                    <a:lstStyle/>
                    <a:p>
                      <a:pPr indent="0" marL="0">
                        <a:buNone/>
                      </a:pPr>
                      <a:r>
                        <a:rPr lang="en-US" sz="1100" dirty="0">
                          <a:solidFill>
                            <a:srgbClr val="1A2332"/>
                          </a:solidFill>
                        </a:rPr>
                        <a:t>ISO 13374</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Separates signal processing, health assessment, prognosis, advice</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84048">
                <a:tc>
                  <a:txBody>
                    <a:bodyPr/>
                    <a:lstStyle/>
                    <a:p>
                      <a:pPr indent="0" marL="0">
                        <a:buNone/>
                      </a:pPr>
                      <a:r>
                        <a:rPr lang="en-US" sz="1100" dirty="0">
                          <a:solidFill>
                            <a:srgbClr val="1A2332"/>
                          </a:solidFill>
                        </a:rPr>
                        <a:t>ISO 13381-1</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Frames uncertainty reporting requirements</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84048">
                <a:tc>
                  <a:txBody>
                    <a:bodyPr/>
                    <a:lstStyle/>
                    <a:p>
                      <a:pPr indent="0" marL="0">
                        <a:buNone/>
                      </a:pPr>
                      <a:r>
                        <a:rPr lang="en-US" sz="1100" dirty="0">
                          <a:solidFill>
                            <a:srgbClr val="1A2332"/>
                          </a:solidFill>
                        </a:rPr>
                        <a:t>ISO 17359</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Informs alert criteria and condition monitoring</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84048">
                <a:tc>
                  <a:txBody>
                    <a:bodyPr/>
                    <a:lstStyle/>
                    <a:p>
                      <a:pPr indent="0" marL="0">
                        <a:buNone/>
                      </a:pPr>
                      <a:r>
                        <a:rPr lang="en-US" sz="1100" dirty="0">
                          <a:solidFill>
                            <a:srgbClr val="1A2332"/>
                          </a:solidFill>
                        </a:rPr>
                        <a:t>ISO 55000</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Asset management vocabulary and principles</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84048">
                <a:tc>
                  <a:txBody>
                    <a:bodyPr/>
                    <a:lstStyle/>
                    <a:p>
                      <a:pPr indent="0" marL="0">
                        <a:buNone/>
                      </a:pPr>
                      <a:r>
                        <a:rPr lang="en-US" sz="1100" dirty="0">
                          <a:solidFill>
                            <a:srgbClr val="1A2332"/>
                          </a:solidFill>
                        </a:rPr>
                        <a:t>EN 13306</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Maintenance terminology</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84048">
                <a:tc>
                  <a:txBody>
                    <a:bodyPr/>
                    <a:lstStyle/>
                    <a:p>
                      <a:pPr indent="0" marL="0">
                        <a:buNone/>
                      </a:pPr>
                      <a:r>
                        <a:rPr lang="en-US" sz="1100" dirty="0">
                          <a:solidFill>
                            <a:srgbClr val="1A2332"/>
                          </a:solidFill>
                        </a:rPr>
                        <a:t>NIST AI RMF</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AI risk management framework</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84048">
                <a:tc>
                  <a:txBody>
                    <a:bodyPr/>
                    <a:lstStyle/>
                    <a:p>
                      <a:pPr indent="0" marL="0">
                        <a:buNone/>
                      </a:pPr>
                      <a:r>
                        <a:rPr lang="en-US" sz="1100" dirty="0">
                          <a:solidFill>
                            <a:srgbClr val="1A2332"/>
                          </a:solidFill>
                        </a:rPr>
                        <a:t>EU AI Act (2024)</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Harmonised AI rules — human oversight requirements</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84048">
                <a:tc>
                  <a:txBody>
                    <a:bodyPr/>
                    <a:lstStyle/>
                    <a:p>
                      <a:pPr indent="0" marL="0">
                        <a:buNone/>
                      </a:pPr>
                      <a:r>
                        <a:rPr lang="en-US" sz="1100" dirty="0">
                          <a:solidFill>
                            <a:srgbClr val="1A2332"/>
                          </a:solidFill>
                        </a:rPr>
                        <a:t>IEEE 1856</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PHM framework for electronic systems</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4" name="Shape 1"/>
          <p:cNvSpPr/>
          <p:nvPr/>
        </p:nvSpPr>
        <p:spPr>
          <a:xfrm>
            <a:off x="548640" y="4572000"/>
            <a:ext cx="11064240" cy="457200"/>
          </a:xfrm>
          <a:prstGeom prst="roundRect">
            <a:avLst>
              <a:gd name="adj" fmla="val 20000"/>
            </a:avLst>
          </a:prstGeom>
          <a:solidFill>
            <a:srgbClr val="FEF3C7"/>
          </a:solidFill>
          <a:ln w="19050">
            <a:solidFill>
              <a:srgbClr val="D97706"/>
            </a:solidFill>
            <a:prstDash val="solid"/>
          </a:ln>
        </p:spPr>
      </p:sp>
      <p:sp>
        <p:nvSpPr>
          <p:cNvPr id="5" name="Text 2"/>
          <p:cNvSpPr txBox="1"/>
          <p:nvPr/>
        </p:nvSpPr>
        <p:spPr>
          <a:xfrm>
            <a:off x="822960" y="4617720"/>
            <a:ext cx="10058400" cy="320040"/>
          </a:xfrm>
          <a:prstGeom prst="rect">
            <a:avLst/>
          </a:prstGeom>
          <a:noFill/>
          <a:ln/>
        </p:spPr>
        <p:txBody>
          <a:bodyPr wrap="square" lIns="0" tIns="0" rIns="0" bIns="0" rtlCol="0" anchor="ctr"/>
          <a:lstStyle/>
          <a:p>
            <a:pPr indent="0" marL="0">
              <a:buNone/>
            </a:pPr>
            <a:r>
              <a:rPr lang="en-US" sz="1100" b="1" dirty="0">
                <a:solidFill>
                  <a:srgbClr val="D97706"/>
                </a:solidFill>
              </a:rPr>
              <a:t>Standards inform design decisions — the framework does not claim formal compliance with any standard.</a:t>
            </a:r>
            <a:endParaRPr lang="en-US" sz="1100" dirty="0"/>
          </a:p>
        </p:txBody>
      </p:sp>
      <p:sp>
        <p:nvSpPr>
          <p:cNvPr id="6" name="Text 3"/>
          <p:cNvSpPr txBox="1"/>
          <p:nvPr/>
        </p:nvSpPr>
        <p:spPr>
          <a:xfrm>
            <a:off x="548640" y="6400800"/>
            <a:ext cx="9144000" cy="274320"/>
          </a:xfrm>
          <a:prstGeom prst="rect">
            <a:avLst/>
          </a:prstGeom>
          <a:noFill/>
          <a:ln/>
        </p:spPr>
        <p:txBody>
          <a:bodyPr wrap="square" lIns="0" tIns="0" rIns="0" bIns="0" rtlCol="0" anchor="ctr"/>
          <a:lstStyle/>
          <a:p>
            <a:pPr indent="0" marL="0">
              <a:buNone/>
            </a:pPr>
            <a:r>
              <a:rPr lang="en-US" sz="800" dirty="0">
                <a:solidFill>
                  <a:srgbClr val="5A6A7E"/>
                </a:solidFill>
              </a:rPr>
              <a:t>Thesis §2.6 · Table 2.3</a:t>
            </a:r>
            <a:endParaRPr lang="en-US" sz="800" dirty="0"/>
          </a:p>
        </p:txBody>
      </p:sp>
      <p:sp>
        <p:nvSpPr>
          <p:cNvPr id="25" name="Slide Number Placeholder 0"/>
          <p:cNvSpPr>
            <a:spLocks noGrp="1"/>
          </p:cNvSpPr>
          <p:nvPr>
            <p:ph type="sldNum" sz="quarter" idx="4294967295"/>
          </p:nvPr>
        </p:nvSpPr>
        <p:spPr>
          <a:xfrm>
            <a:off x="1143000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6A7E"/>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0058400" cy="457200"/>
          </a:xfrm>
          <a:prstGeom prst="rect">
            <a:avLst/>
          </a:prstGeom>
          <a:noFill/>
          <a:ln/>
        </p:spPr>
        <p:txBody>
          <a:bodyPr wrap="square" lIns="0" tIns="0" rIns="0" bIns="0" rtlCol="0" anchor="ctr"/>
          <a:lstStyle/>
          <a:p>
            <a:pPr indent="0" marL="0">
              <a:buNone/>
            </a:pPr>
            <a:r>
              <a:rPr lang="en-US" sz="2400" b="1" dirty="0">
                <a:solidFill>
                  <a:srgbClr val="1A2332"/>
                </a:solidFill>
              </a:rPr>
              <a:t>Limitations and their consequences</a:t>
            </a:r>
            <a:endParaRPr lang="en-US" sz="2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11064240" cy="914400"/>
        </p:xfrm>
        <a:graphic>
          <a:graphicData uri="http://schemas.openxmlformats.org/drawingml/2006/table">
            <a:tbl>
              <a:tblPr/>
              <a:tblGrid>
                <a:gridCol w="4114800"/>
                <a:gridCol w="5669280"/>
              </a:tblGrid>
              <a:tr h="411480">
                <a:tc>
                  <a:txBody>
                    <a:bodyPr/>
                    <a:lstStyle/>
                    <a:p>
                      <a:pPr indent="0" marL="0">
                        <a:buNone/>
                      </a:pPr>
                      <a:r>
                        <a:rPr lang="en-US" sz="1100" b="1" dirty="0">
                          <a:solidFill>
                            <a:srgbClr val="1A2332"/>
                          </a:solidFill>
                        </a:rPr>
                        <a:t>Limitation</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100" b="1" dirty="0">
                          <a:solidFill>
                            <a:srgbClr val="1A2332"/>
                          </a:solidFill>
                        </a:rPr>
                        <a:t>Consequence</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411480">
                <a:tc>
                  <a:txBody>
                    <a:bodyPr/>
                    <a:lstStyle/>
                    <a:p>
                      <a:pPr indent="0" marL="0">
                        <a:buNone/>
                      </a:pPr>
                      <a:r>
                        <a:rPr lang="en-US" sz="1100" dirty="0">
                          <a:solidFill>
                            <a:srgbClr val="1A2332"/>
                          </a:solidFill>
                        </a:rPr>
                        <a:t>FD001: single fault, single regime, simulated</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No claim of generalisability to real engines</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11480">
                <a:tc>
                  <a:txBody>
                    <a:bodyPr/>
                    <a:lstStyle/>
                    <a:p>
                      <a:pPr indent="0" marL="0">
                        <a:buNone/>
                      </a:pPr>
                      <a:r>
                        <a:rPr lang="en-US" sz="1100" dirty="0">
                          <a:solidFill>
                            <a:srgbClr val="1A2332"/>
                          </a:solidFill>
                        </a:rPr>
                        <a:t>Engine-max conformal width (182.46 cycles)</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Too broad for precise scheduling</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11480">
                <a:tc>
                  <a:txBody>
                    <a:bodyPr/>
                    <a:lstStyle/>
                    <a:p>
                      <a:pPr indent="0" marL="0">
                        <a:buNone/>
                      </a:pPr>
                      <a:r>
                        <a:rPr lang="en-US" sz="1100" dirty="0">
                          <a:solidFill>
                            <a:srgbClr val="1A2332"/>
                          </a:solidFill>
                        </a:rPr>
                        <a:t>Optimistic bias (+10.90 cycles)</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Systematic overestimation — dangerous direction</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11480">
                <a:tc>
                  <a:txBody>
                    <a:bodyPr/>
                    <a:lstStyle/>
                    <a:p>
                      <a:pPr indent="0" marL="0">
                        <a:buNone/>
                      </a:pPr>
                      <a:r>
                        <a:rPr lang="en-US" sz="1100" dirty="0">
                          <a:solidFill>
                            <a:srgbClr val="1A2332"/>
                          </a:solidFill>
                        </a:rPr>
                        <a:t>Fixed prototype payload</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No live sensor feed, no live model integration</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11480">
                <a:tc>
                  <a:txBody>
                    <a:bodyPr/>
                    <a:lstStyle/>
                    <a:p>
                      <a:pPr indent="0" marL="0">
                        <a:buNone/>
                      </a:pPr>
                      <a:r>
                        <a:rPr lang="en-US" sz="1100" dirty="0">
                          <a:solidFill>
                            <a:srgbClr val="1A2332"/>
                          </a:solidFill>
                        </a:rPr>
                        <a:t>Offline guard not in n8n routing</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Interval-based referral evaluated offline only</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11480">
                <a:tc>
                  <a:txBody>
                    <a:bodyPr/>
                    <a:lstStyle/>
                    <a:p>
                      <a:pPr indent="0" marL="0">
                        <a:buNone/>
                      </a:pPr>
                      <a:r>
                        <a:rPr lang="en-US" sz="1100" dirty="0">
                          <a:solidFill>
                            <a:srgbClr val="1A2332"/>
                          </a:solidFill>
                        </a:rPr>
                        <a:t>4 audit records, manually seeded</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Demonstrates architecture, not statistical reliability</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11480">
                <a:tc>
                  <a:txBody>
                    <a:bodyPr/>
                    <a:lstStyle/>
                    <a:p>
                      <a:pPr indent="0" marL="0">
                        <a:buNone/>
                      </a:pPr>
                      <a:r>
                        <a:rPr lang="en-US" sz="1100" dirty="0">
                          <a:solidFill>
                            <a:srgbClr val="1A2332"/>
                          </a:solidFill>
                        </a:rPr>
                        <a:t>Legacy hash discontinuities</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Reproduced numerically but not all provenance</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11480">
                <a:tc>
                  <a:txBody>
                    <a:bodyPr/>
                    <a:lstStyle/>
                    <a:p>
                      <a:pPr indent="0" marL="0">
                        <a:buNone/>
                      </a:pPr>
                      <a:r>
                        <a:rPr lang="en-US" sz="1100" dirty="0">
                          <a:solidFill>
                            <a:srgbClr val="1A2332"/>
                          </a:solidFill>
                        </a:rPr>
                        <a:t>SHAP correlation sensitivity</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Correlated sensors exchange credit; no causal claims</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11480">
                <a:tc>
                  <a:txBody>
                    <a:bodyPr/>
                    <a:lstStyle/>
                    <a:p>
                      <a:pPr indent="0" marL="0">
                        <a:buNone/>
                      </a:pPr>
                      <a:r>
                        <a:rPr lang="en-US" sz="1100" dirty="0">
                          <a:solidFill>
                            <a:srgbClr val="1A2332"/>
                          </a:solidFill>
                        </a:rPr>
                        <a:t>No real technician study</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A2332"/>
                          </a:solidFill>
                        </a:rPr>
                        <a:t>No usability, trust or decision-quality evidence</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4" name="Text 1"/>
          <p:cNvSpPr txBox="1"/>
          <p:nvPr/>
        </p:nvSpPr>
        <p:spPr>
          <a:xfrm>
            <a:off x="548640" y="6400800"/>
            <a:ext cx="9144000" cy="274320"/>
          </a:xfrm>
          <a:prstGeom prst="rect">
            <a:avLst/>
          </a:prstGeom>
          <a:noFill/>
          <a:ln/>
        </p:spPr>
        <p:txBody>
          <a:bodyPr wrap="square" lIns="0" tIns="0" rIns="0" bIns="0" rtlCol="0" anchor="ctr"/>
          <a:lstStyle/>
          <a:p>
            <a:pPr indent="0" marL="0">
              <a:buNone/>
            </a:pPr>
            <a:r>
              <a:rPr lang="en-US" sz="800" dirty="0">
                <a:solidFill>
                  <a:srgbClr val="5A6A7E"/>
                </a:solidFill>
              </a:rPr>
              <a:t>Thesis §6.6 · Table 6.1</a:t>
            </a:r>
            <a:endParaRPr lang="en-US" sz="800" dirty="0"/>
          </a:p>
        </p:txBody>
      </p:sp>
      <p:sp>
        <p:nvSpPr>
          <p:cNvPr id="25" name="Slide Number Placeholder 0"/>
          <p:cNvSpPr>
            <a:spLocks noGrp="1"/>
          </p:cNvSpPr>
          <p:nvPr>
            <p:ph type="sldNum" sz="quarter" idx="4294967295"/>
          </p:nvPr>
        </p:nvSpPr>
        <p:spPr>
          <a:xfrm>
            <a:off x="1143000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6A7E"/>
                </a:solidFill>
              </a:defRPr>
            </a:lvl1pPr>
          </a:lstStyle>
          <a:p>
            <a:pPr algn="l"/>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RUL Framework">
  <a:themeElements>
    <a:clrScheme name="RUL Framework">
      <a:dk1>
        <a:srgbClr val="1A2332"/>
      </a:dk1>
      <a:lt1>
        <a:srgbClr val="FFFFFF"/>
      </a:lt1>
      <a:dk2>
        <a:srgbClr val="5A6A7E"/>
      </a:dk2>
      <a:lt2>
        <a:srgbClr val="F1F5F9"/>
      </a:lt2>
      <a:accent1>
        <a:srgbClr val="0891B2"/>
      </a:accent1>
      <a:accent2>
        <a:srgbClr val="D97706"/>
      </a:accent2>
      <a:accent3>
        <a:srgbClr val="DC2626"/>
      </a:accent3>
      <a:accent4>
        <a:srgbClr val="059669"/>
      </a:accent4>
      <a:accent5>
        <a:srgbClr val="0E7490"/>
      </a:accent5>
      <a:accent6>
        <a:srgbClr val="334155"/>
      </a:accent6>
      <a:hlink>
        <a:srgbClr val="0891B2"/>
      </a:hlink>
      <a:folHlink>
        <a:srgbClr val="5A6A7E"/>
      </a:folHlink>
    </a:clrScheme>
    <a:fontScheme name="RUL Framework">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MSc Viva — RUL Framework</dc:title>
  <dc:subject>Uncertainty-Aware RUL Maintenance Prioritisation</dc:subject>
  <dc:creator>Ranitabh Mallick</dc:creator>
  <cp:lastModifiedBy>Ranitabh Mallick</cp:lastModifiedBy>
  <cp:revision>1</cp:revision>
  <dcterms:created xsi:type="dcterms:W3CDTF">2026-10-02T10:49:42Z</dcterms:created>
  <dcterms:modified xsi:type="dcterms:W3CDTF">2026-10-02T10:49:42Z</dcterms:modified>
</cp:coreProperties>
</file>