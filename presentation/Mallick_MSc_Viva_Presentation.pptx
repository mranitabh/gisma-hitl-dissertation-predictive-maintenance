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morning/afternoon. My name is Ranitabh Mallick. The research question: Can we move beyond a bare RUL number to give a maintenance reviewer uncertainty, explanation and a structured decision path — and what does that cost? [15s]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 prediction hides uncertainty, gives no explanation, and leaves no audit trail. The naive age-only baseline scored within 0.08 RMSE of Random Forest on validation — motivating the question: what does the model actually add beyond time? [35s]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literature shows many RUL models but three persistent gaps: leaky row-random splits, isolated uncertainty/explanation treatments, and unimplemented accountability. My contribution integrates all six components. [30s]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FD001: 100 simulated turbofan engines, single HPC fault. Partitioned by engine — 60 training, 20 validation, 20 calibration — preventing leakage. Official test opened once after policies frozen. [45s]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 Forest and naive rule were practically equivalent (Δ=0.077 RMSE). The predeclared PHM penalty tie-break selected Random Forest. The model's value lies in what you build on top — uncertainty and explanation. [50s]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Engine-block conformal: compute max absolute residual per calibration engine, take 90th percentile rank → q̂=107.90. Coverage 100/100 but mean width 182.46 cycles and 63% lower bounds clipped to zero. Conservative by design. [50s]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Official test: MAE 18.88, RMSE 25.73, and +10.90 bias — systematic overestimation, the dangerous direction. The naive endpoint MAE of 30.88 is a post-closure reference. Mid-life engines showed peak +15.20 bias. [55s]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 ablation: removing age increased RMSE 24.5%; removing sensors 9/14 reduced it 4%. Conformal ablation: narrower scores halved width but covered only 8/20 trajectories and 96/100 endpoints. Trade-off is real. [35s]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TreeSHAP decomposed 100 endpoints. Age ranked first. Engine 41 case: core-speed contributions counteracted degradation signals, causing under-triage. SHAP supports audit but does not prove causation. [40s]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triage: 62/100 correct, 34/100 under-triaged, 9/25 truly CRITICAL missed. Offline guard: 39/39 critical+high caught, but 81/100 reviewed. 100% critical recall at 81% review burden. [65s]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n8n prototype: 22 nodes, fixed payload, deterministic policy before LLM narration, human APPROVE/REJECT/MODIFY, audit DB. Four records. Offline guard NOT in n8n. No live feed. No certification claim. [75s]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conclusions: (1) Rigorous evaluation — near-tie is honest. (2) Coverage at scheduling cost — 182-cycle width. (3) Implementable human review — 39/39 at 81% burden. Future: FD002-FD004, narrower intervals, live feeds, usability studies. [45s]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27432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MSc DISSERTATION VIVA — MODULE M598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2332"/>
                </a:solidFill>
                <a:latin typeface="Calibri"/>
              </a:defRPr>
            </a:pPr>
            <a:r>
              <a:t>An Uncertainty-Aware, Explainable and Human-Reviewed</a:t>
            </a:r>
            <a:br/>
            <a:r>
              <a:t>Framework for Remaining-Useful-Life-Based</a:t>
            </a:r>
            <a:br/>
            <a:r>
              <a:t>Maintenance Prioritisation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891B2"/>
                </a:solidFill>
                <a:latin typeface="Calibri"/>
              </a:defRPr>
            </a:pPr>
            <a:r>
              <a:t>Evidence from the NASA C-MAPSS FD001 Turbofan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A7E"/>
                </a:solidFill>
                <a:latin typeface="Calibri"/>
              </a:defRPr>
            </a:pPr>
            <a:r>
              <a:t>Ranitabh Mallick · Student ID GH1047661</a:t>
            </a:r>
            <a:br/>
            <a:r>
              <a:t>MSc Data Science, Artificial Intelligence and Digital Business</a:t>
            </a:r>
            <a:br/>
            <a:r>
              <a:t>GISMA University of Applied Sciences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Applied quantitative research · Secondary simulated data · Reproducible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A point RUL prediction hides what the reviewer needs most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</a:defRPr>
            </a:pPr>
            <a:r>
              <a:t>No uncertainty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Model says 45 cycles — error could be ±108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0292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91B2"/>
                </a:solidFill>
              </a:defRPr>
            </a:pPr>
            <a:r>
              <a:t>No explanation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Which sensors drove the estimate?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383280"/>
            <a:ext cx="502920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C2626"/>
                </a:solidFill>
              </a:defRPr>
            </a:pPr>
            <a:r>
              <a:t>No structured review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No audit trail if a human overrides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2332"/>
                </a:solidFill>
                <a:latin typeface="Calibri"/>
              </a:defRPr>
            </a:pPr>
            <a:r>
              <a:t>Validation near-tie: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891B2"/>
                </a:solidFill>
                <a:latin typeface="Consolas"/>
              </a:defRPr>
            </a:pPr>
            <a:r>
              <a:t>Random Forest    29.479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A7E"/>
                </a:solidFill>
                <a:latin typeface="Consolas"/>
              </a:defRPr>
            </a:pPr>
            <a:r>
              <a:t>Naive age-only    29.556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Δ = 0.077 cycles mean engine RMSE</a:t>
            </a:r>
            <a:br/>
            <a:r>
              <a:t>Within 1% practical-equivalence band</a:t>
            </a:r>
            <a:br/>
            <a:r>
              <a:t>PHM tie-break selected Random Forest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A7E"/>
                </a:solidFill>
                <a:latin typeface="Calibri"/>
              </a:defRPr>
            </a:pPr>
            <a:r>
              <a:t>20 validation engines · 4,217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§1.2, §5.2 · Table 5.1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Prior work addresses each piece — none integrates all six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29184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</a:defRPr>
            </a:pPr>
            <a:r>
              <a:t>Gap 1: Leaky splits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Row-random partitions leak future sensor values across engine trajectories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29184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97706"/>
                </a:solidFill>
              </a:defRPr>
            </a:pPr>
            <a:r>
              <a:t>Gap 2: Isolated treatments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Uncertainty and explanation studied separately, rarely with a decision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291840" cy="1463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891B2"/>
                </a:solidFill>
              </a:defRPr>
            </a:pPr>
            <a:r>
              <a:t>Gap 3: No audit</a:t>
            </a:r>
          </a:p>
          <a:p>
            <a:pPr>
              <a:defRPr sz="1100">
                <a:solidFill>
                  <a:srgbClr val="5A6A7E"/>
                </a:solidFill>
              </a:defRPr>
            </a:pPr>
            <a:r>
              <a:t>Accountability discussed conceptually but human review rarely implemented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698480" cy="914400"/>
          </a:xfrm>
          <a:prstGeom prst="roundRect">
            <a:avLst/>
          </a:prstGeom>
          <a:solidFill>
            <a:srgbClr val="E0F7FA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2332"/>
                </a:solidFill>
              </a:defRPr>
            </a:pPr>
            <a:r>
              <a:t>This study's integrated contribution: engine-safe selection + naive baseline + whole-engine conformal intervals + verified SHAP + deterministic triage + separately tested HITL prototype with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§3.7 · Table 3.1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FD001: one fault mode, engine-safe partitioning, one official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4572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2332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2332"/>
                          </a:solidFill>
                        </a:defRPr>
                      </a:pPr>
                      <a:r>
                        <a:t>Engines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2332"/>
                          </a:solidFill>
                        </a:defRPr>
                      </a:pPr>
                      <a:r>
                        <a:t>Rows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Training (modelling)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12,310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Validation (selection)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4,217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Calibration (conformal)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4,104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Official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100 endpoints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2332"/>
                          </a:solidFill>
                        </a:defRPr>
                      </a:pPr>
                      <a:r>
                        <a:t>sealed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2332"/>
                </a:solidFill>
                <a:latin typeface="Consolas"/>
              </a:defRPr>
            </a:pPr>
            <a:r>
              <a:t>Target: RUL(i, t) = Tᵢ −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Primary: uncapped · Sensitivity: capped at 130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2332"/>
                </a:solidFill>
                <a:latin typeface="Calibri"/>
              </a:defRPr>
            </a:pPr>
            <a:r>
              <a:t>Dataset characteristics: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→ Single operating condition (sea level)</a:t>
            </a:r>
            <a:br/>
            <a:r>
              <a:t>→ Single fault mode (HPC degradation)</a:t>
            </a:r>
            <a:br/>
            <a:r>
              <a:t>→ Simulated, not real fleet data</a:t>
            </a:r>
            <a:br/>
            <a:r>
              <a:t>→ 14 selected sensors + 3 operational + age</a:t>
            </a:r>
            <a:br/>
            <a:r>
              <a:t>→ Each engine has exactly one role → no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§4.3–4.5 · Table 4.1 · Saxena et al. (2008)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Random Forest won a near-tie via the predeclared PHM penalty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512064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Engine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PHM Score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Naive age-only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higher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Random Forest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29.479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lowest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29.702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371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2332"/>
                </a:solidFill>
                <a:latin typeface="Calibri"/>
              </a:defRPr>
            </a:pPr>
            <a:r>
              <a:t>Selection policy (frozen before test):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Step 1: If any model's mean engine RMSE is outside</a:t>
            </a:r>
            <a:br/>
            <a:r>
              <a:t>1% of the best → eliminate.</a:t>
            </a:r>
            <a:br/>
            <a:br/>
            <a:r>
              <a:t>Step 2: Among survivors, pick the lowest</a:t>
            </a:r>
            <a:br/>
            <a:r>
              <a:t>asymmetric PHM score.</a:t>
            </a:r>
            <a:br/>
            <a:br/>
            <a:r>
              <a:t>Rationale: PHM penalises optimistic (late)</a:t>
            </a:r>
            <a:br/>
            <a:r>
              <a:t>predictions more steeply — exp(e/10) vs</a:t>
            </a:r>
            <a:br/>
            <a:r>
              <a:t>exp(−e/13) — aligning with safety preference.</a:t>
            </a:r>
            <a:br/>
            <a:br/>
            <a:r>
              <a:t>5-fold grouped CV on 60 training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§4.7, §5.2 · Tables 4.3, 5.1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Engine-block conformal: valid coverage at a scheduling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332"/>
                </a:solidFill>
                <a:latin typeface="Consolas"/>
              </a:defRPr>
            </a:pPr>
            <a:r>
              <a:t>Construction:</a:t>
            </a:r>
            <a:br/>
            <a:br/>
            <a:r>
              <a:t>1. For each calibration engine:</a:t>
            </a:r>
            <a:br/>
            <a:r>
              <a:t>   sᵢ = maxₜ |ŷ(i,t) − y(i,t)|</a:t>
            </a:r>
            <a:br/>
            <a:br/>
            <a:r>
              <a:t>2. Rank 20 engine scores</a:t>
            </a:r>
            <a:br/>
            <a:br/>
            <a:r>
              <a:t>3. Finite-sample quantile at 90%</a:t>
            </a:r>
            <a:br/>
            <a:r>
              <a:t>   → rank 19/21</a:t>
            </a:r>
            <a:br/>
            <a:br/>
            <a:r>
              <a:t>4. q̂ = 107.90 cycles</a:t>
            </a:r>
            <a:br/>
            <a:br/>
            <a:r>
              <a:t>5. Interval: [ŷ − q̂, ŷ + q̂], clipped ≥ 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280160"/>
            <a:ext cx="2286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59669"/>
                </a:solidFill>
                <a:latin typeface="Calibri"/>
              </a:defRPr>
            </a:pPr>
            <a:r>
              <a:t>100/100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ENDPOINT COVERAGE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280160"/>
            <a:ext cx="2286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182.46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MEAN WIDTH (CYCLES)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743200"/>
            <a:ext cx="2286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107.90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CONFORMAL q̂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743200"/>
            <a:ext cx="2286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A6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5A6A7E"/>
                </a:solidFill>
                <a:latin typeface="Calibri"/>
              </a:defRPr>
            </a:pPr>
            <a:r>
              <a:t>63%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LOWER BOUNDS =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A7E"/>
                </a:solidFill>
                <a:latin typeface="Calibri"/>
              </a:defRPr>
            </a:pPr>
            <a:r>
              <a:t>Wilson 95% CI for coverage: [96.3%, 100%]</a:t>
            </a:r>
            <a:br/>
            <a:r>
              <a:t>20 calibration engines · Nominal 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§4.8, §5.4 · Angelopoulos &amp; Bates (2023)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Official test: useful accuracy with systematic optimistic bias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24688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18.88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MAE (CYCLES)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280160"/>
            <a:ext cx="24688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A2332"/>
                </a:solidFill>
                <a:latin typeface="Calibri"/>
              </a:defRPr>
            </a:pPr>
            <a:r>
              <a:t>25.73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RMSE (CYCLES)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24688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DC2626"/>
                </a:solidFill>
                <a:latin typeface="Calibri"/>
              </a:defRPr>
            </a:pPr>
            <a:r>
              <a:t>+10.90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MEAN BIAS (OPTIMISTIC)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280160"/>
            <a:ext cx="24688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107.90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CONFORMAL q̂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926080"/>
          <a:ext cx="54864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Bias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18.88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25.73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+10.90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A6A7E"/>
                          </a:solidFill>
                        </a:defRPr>
                      </a:pPr>
                      <a:r>
                        <a:t>Naive (post-closure)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A6A7E"/>
                          </a:solidFill>
                        </a:defRPr>
                      </a:pPr>
                      <a:r>
                        <a:t>30.88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A6A7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A6A7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97706"/>
                </a:solidFill>
                <a:latin typeface="Calibri"/>
              </a:defRPr>
            </a:pPr>
            <a:r>
              <a:t>⚠ Naive endpoint MAE is a post-closure reference — reuses sealed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92608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332"/>
                </a:solidFill>
                <a:latin typeface="Calibri"/>
              </a:defRPr>
            </a:pPr>
            <a:r>
              <a:t>Bias by lifecycle stage:</a:t>
            </a:r>
            <a:br/>
            <a:br/>
            <a:r>
              <a:t>  LOW  Early life — moderate bias</a:t>
            </a:r>
            <a:br/>
            <a:r>
              <a:t>  MED  Mid-life — +15.20 peak bias</a:t>
            </a:r>
            <a:br/>
            <a:r>
              <a:t>  CRIT Near failure — smaller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§5.3 · Tables 5.2, 5.3, 5.4 · 100 official endpoints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2332"/>
                </a:solidFill>
                <a:latin typeface="Calibri"/>
              </a:defRPr>
            </a:pPr>
            <a:r>
              <a:t>Ablations expose sensitivity: age dominates;</a:t>
            </a:r>
            <a:br/>
            <a:r>
              <a:t>narrower intervals lose trajectory coverage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Feature ablation (post-closure, validation):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Pooled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All features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Remove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+24.5%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Remove sensors 9/14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−4.0%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Conformal score comparison (post-closure):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828800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End.Cov.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Traj.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Engine-max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182.46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100/100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891B2"/>
                          </a:solidFill>
                        </a:defRPr>
                      </a:pPr>
                      <a:r>
                        <a:t>20/20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Row-level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106.34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8/20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Engine-mean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96/100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8/20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97706"/>
                </a:solidFill>
                <a:latin typeface="Calibri"/>
              </a:defRPr>
            </a:pPr>
            <a:r>
              <a:t>Trade-off: 45% narrower intervals ↔ only 40% whole-trajectory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§5.6, §5.7 · Tables 5.6, 5.7 · Post-closure exploratory analyses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SHAP audits predictions — age and HPC sensors dominate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Global importance (top 5, 100 endpoints):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332"/>
                </a:solidFill>
                <a:latin typeface="Calibri"/>
              </a:defRPr>
            </a:pPr>
            <a:r>
              <a:t>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783080"/>
            <a:ext cx="3108960" cy="20116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332"/>
                </a:solidFill>
                <a:latin typeface="Calibri"/>
              </a:defRPr>
            </a:pPr>
            <a:r>
              <a:t>Sensor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194560"/>
            <a:ext cx="1901952" cy="20116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332"/>
                </a:solidFill>
                <a:latin typeface="Calibri"/>
              </a:defRPr>
            </a:pPr>
            <a:r>
              <a:t>Sensor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606039"/>
            <a:ext cx="1536192" cy="20116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332"/>
                </a:solidFill>
                <a:latin typeface="Calibri"/>
              </a:defRPr>
            </a:pPr>
            <a:r>
              <a:t>Sensor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017520"/>
            <a:ext cx="1280160" cy="20116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2332"/>
                </a:solidFill>
                <a:latin typeface="Calibri"/>
              </a:defRPr>
            </a:pPr>
            <a:r>
              <a:t>Sensor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3429000"/>
            <a:ext cx="1024128" cy="201168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A7E"/>
                </a:solidFill>
                <a:latin typeface="Calibri"/>
              </a:defRPr>
            </a:pPr>
            <a:r>
              <a:t>Baseline: 107.84 cycles · Additivity 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Failure case — Engine 41: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2332"/>
                </a:solidFill>
                <a:latin typeface="Calibri"/>
              </a:defRPr>
            </a:pPr>
            <a:r>
              <a:t>Truly CRITICAL (actual RUL ≈ 0)</a:t>
            </a:r>
            <a:br/>
            <a:r>
              <a:t>Triaged as MEDIUM — model overestimated</a:t>
            </a:r>
            <a:br/>
            <a:br/>
            <a:r>
              <a:t>↓ Degradation sensors pushed prediction down</a:t>
            </a:r>
            <a:br/>
            <a:r>
              <a:t>↑ Core-speed channels counteracted, pushed up</a:t>
            </a:r>
            <a:br/>
            <a:r>
              <a:t>→ Net: model missed the criticality</a:t>
            </a:r>
            <a:br/>
            <a:br/>
            <a:r>
              <a:t>SHAP supports reconstruction, NOT causation.</a:t>
            </a:r>
            <a:br/>
            <a:r>
              <a:t>Correlated sensors can exchange credit.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657600"/>
            <a:ext cx="5029200" cy="640080"/>
          </a:xfrm>
          <a:prstGeom prst="roundRect">
            <a:avLst/>
          </a:prstGeom>
          <a:solidFill>
            <a:srgbClr val="FEE2E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</a:defRPr>
            </a:pPr>
            <a:r>
              <a:t>SHAP does not establish physical causation — stated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§5.8 · Tables 5.8, 5.9 · Lundberg &amp; Lee (2017)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The offline guard catches all critical engines — but reviews 81 of 100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Point-only triage (no interval):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2860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23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A2332"/>
                </a:solidFill>
                <a:latin typeface="Calibri"/>
              </a:defRPr>
            </a:pPr>
            <a:r>
              <a:t>62/100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CORRECTLY CLASSIFIED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645920"/>
            <a:ext cx="22860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DC2626"/>
                </a:solidFill>
                <a:latin typeface="Calibri"/>
              </a:defRPr>
            </a:pPr>
            <a:r>
              <a:t>34/100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UNDER-TRIAGED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C2626"/>
                </a:solidFill>
                <a:latin typeface="Calibri"/>
              </a:defRPr>
            </a:pPr>
            <a:r>
              <a:t>9 of 25 truly CRITICAL engines NOT labelled CRITICAL</a:t>
            </a:r>
            <a:br/>
            <a:r>
              <a:t>by point prediction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2332"/>
                </a:solidFill>
                <a:latin typeface="Calibri"/>
              </a:defRPr>
            </a:pPr>
            <a:r>
              <a:t>With offline lower-bound guard: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645920"/>
            <a:ext cx="22860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59669"/>
                </a:solidFill>
                <a:latin typeface="Calibri"/>
              </a:defRPr>
            </a:pPr>
            <a:r>
              <a:t>39/39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CRIT+HIGH CAUGHT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2860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D97706"/>
                </a:solidFill>
                <a:latin typeface="Calibri"/>
              </a:defRPr>
            </a:pPr>
            <a:r>
              <a:t>81/100</a:t>
            </a:r>
          </a:p>
          <a:p>
            <a:pPr algn="ctr">
              <a:defRPr sz="900">
                <a:solidFill>
                  <a:srgbClr val="5A6A7E"/>
                </a:solidFill>
                <a:latin typeface="Calibri"/>
              </a:defRPr>
            </a:pPr>
            <a:r>
              <a:t>REFERRED TO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9260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47 of 81 entered on interval condition alone.</a:t>
            </a:r>
            <a:br/>
            <a:r>
              <a:t>Trade-off: 100% critical recall ↔ 81% review burden.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A7E"/>
                </a:solidFill>
                <a:latin typeface="Calibri"/>
              </a:defRPr>
            </a:pPr>
            <a:r>
              <a:t>Validation rows: 2,578/4,217 referred · 2/1,220 truly critical-or-high rows missed · Repeated measurements, not independent engines.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§5.9 · Table 5.10 · Figure 5.10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2332"/>
                </a:solidFill>
                <a:latin typeface="Calibri"/>
              </a:defRPr>
            </a:pPr>
            <a:r>
              <a:t>Separately tested n8n prototype: fixed payload, human authority, audit trail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698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891B2"/>
                </a:solidFill>
              </a:defRPr>
            </a:pPr>
            <a:r>
              <a:t>TRACK 1 — Evaluated offline analytical pipeline</a:t>
            </a:r>
          </a:p>
          <a:p>
            <a:pPr>
              <a:defRPr sz="1200">
                <a:solidFill>
                  <a:srgbClr val="1A2332"/>
                </a:solidFill>
              </a:defRPr>
            </a:pPr>
            <a:r>
              <a:t>FD001 Data → Engine Split → Random Forest → Conformal Interval → SHAP → Offline Triage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97706"/>
                </a:solidFill>
                <a:latin typeface="Calibri"/>
              </a:defRPr>
            </a:pPr>
            <a:r>
              <a:t>⚠ No implemented live connection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97706"/>
                </a:solidFill>
              </a:defRPr>
            </a:pPr>
            <a:r>
              <a:t>TRACK 2 — Separately tested fixed-payload n8n prototype (22 nodes)</a:t>
            </a:r>
          </a:p>
          <a:p>
            <a:pPr>
              <a:defRPr sz="1200">
                <a:solidFill>
                  <a:srgbClr val="1A2332"/>
                </a:solidFill>
              </a:defRPr>
            </a:pPr>
            <a:r>
              <a:t>Fixed Payload → Policy Engine → Bounded LLM → Human Review → Audit DB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384048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Exported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Exported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MODIFY (valid)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Exported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MODIFY (invalid)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Route trace only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38404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Key boundaries:</a:t>
            </a:r>
            <a:br/>
            <a:r>
              <a:t>→ Fixed illustrative payload, no live feed</a:t>
            </a:r>
            <a:br/>
            <a:r>
              <a:t>→ Offline guard NOT in n8n routing</a:t>
            </a:r>
            <a:br/>
            <a:r>
              <a:t>→ LLM narrates under constraints, does not decide</a:t>
            </a:r>
            <a:br/>
            <a:r>
              <a:t>→ Deterministic policy set before narration</a:t>
            </a:r>
            <a:br/>
            <a:r>
              <a:t>→ No production readiness or certification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§4.10, §5.10 · Tables 5.11, A.1 · Figure 4.6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332"/>
                </a:solidFill>
                <a:latin typeface="Calibri"/>
              </a:defRPr>
            </a:pPr>
            <a:r>
              <a:t>Three evidence-supported conclusions — and 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2918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>
                <a:solidFill>
                  <a:srgbClr val="0891B2"/>
                </a:solidFill>
              </a:defRPr>
            </a:pPr>
            <a:r>
              <a:t>1</a:t>
            </a:r>
          </a:p>
          <a:p>
            <a:pPr>
              <a:defRPr sz="1300" b="1">
                <a:solidFill>
                  <a:srgbClr val="1A2332"/>
                </a:solidFill>
              </a:defRPr>
            </a:pPr>
            <a:r>
              <a:t>Rigorous evaluation design</a:t>
            </a:r>
          </a:p>
          <a:p>
            <a:pPr>
              <a:defRPr sz="1000">
                <a:solidFill>
                  <a:srgbClr val="5A6A7E"/>
                </a:solidFill>
              </a:defRPr>
            </a:pPr>
            <a:r>
              <a:t>Engine-safe RF improved on age under</a:t>
            </a:r>
            <a:br/>
            <a:r>
              <a:t>PHM penalty. The near-tie is honest.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32918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>
                <a:solidFill>
                  <a:srgbClr val="D97706"/>
                </a:solidFill>
              </a:defRPr>
            </a:pPr>
            <a:r>
              <a:t>2</a:t>
            </a:r>
          </a:p>
          <a:p>
            <a:pPr>
              <a:defRPr sz="1300" b="1">
                <a:solidFill>
                  <a:srgbClr val="1A2332"/>
                </a:solidFill>
              </a:defRPr>
            </a:pPr>
            <a:r>
              <a:t>Coverage at a scheduling cost</a:t>
            </a:r>
          </a:p>
          <a:p>
            <a:pPr>
              <a:defRPr sz="1000">
                <a:solidFill>
                  <a:srgbClr val="5A6A7E"/>
                </a:solidFill>
              </a:defRPr>
            </a:pPr>
            <a:r>
              <a:t>100/100 endpoint coverage with</a:t>
            </a:r>
            <a:br/>
            <a:r>
              <a:t>182-cycle width. Narrower alternatives</a:t>
            </a:r>
            <a:br/>
            <a:r>
              <a:t>lose trajectory validity.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280160"/>
            <a:ext cx="329184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>
                <a:solidFill>
                  <a:srgbClr val="059669"/>
                </a:solidFill>
              </a:defRPr>
            </a:pPr>
            <a:r>
              <a:t>3</a:t>
            </a:r>
          </a:p>
          <a:p>
            <a:pPr>
              <a:defRPr sz="1300" b="1">
                <a:solidFill>
                  <a:srgbClr val="1A2332"/>
                </a:solidFill>
              </a:defRPr>
            </a:pPr>
            <a:r>
              <a:t>Implementable human review</a:t>
            </a:r>
          </a:p>
          <a:p>
            <a:pPr>
              <a:defRPr sz="1000">
                <a:solidFill>
                  <a:srgbClr val="5A6A7E"/>
                </a:solidFill>
              </a:defRPr>
            </a:pPr>
            <a:r>
              <a:t>39/39 critical recall at 81% review</a:t>
            </a:r>
            <a:br/>
            <a:r>
              <a:t>burden. Audit trail demonstrates</a:t>
            </a:r>
            <a:br/>
            <a:r>
              <a:t>accountability.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2626"/>
                </a:solidFill>
                <a:latin typeface="Calibri"/>
              </a:defRPr>
            </a:pPr>
            <a:r>
              <a:t>Limitations: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→ Single simulated fault mode (FD001)</a:t>
            </a:r>
            <a:br/>
            <a:r>
              <a:t>→ Conformal width too broad for scheduling</a:t>
            </a:r>
            <a:br/>
            <a:r>
              <a:t>→ No live data feed; fixed prototype payload</a:t>
            </a:r>
            <a:br/>
            <a:r>
              <a:t>→ Provenance discontinuities in legacy hashes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Future work: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233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A6A7E"/>
                </a:solidFill>
                <a:latin typeface="Calibri"/>
              </a:defRPr>
            </a:pPr>
            <a:r>
              <a:t>→ FD002–FD004 and N-CMAPSS evaluation</a:t>
            </a:r>
            <a:br/>
            <a:r>
              <a:t>→ Narrower whole-engine-valid intervals</a:t>
            </a:r>
            <a:br/>
            <a:r>
              <a:t>→ Live prediction service with authentication</a:t>
            </a:r>
            <a:br/>
            <a:r>
              <a:t>→ Usability study with maintenance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4864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6A7E"/>
                </a:solidFill>
                <a:latin typeface="Calibri"/>
              </a:defRPr>
            </a:pPr>
            <a:r>
              <a:t>Ranitabh Mallick · GISMA University of Applied Sciences · September 2026</a:t>
            </a:r>
            <a:br/>
            <a:r>
              <a:t>github.com/mranitabh/GISMA-hitl-dissertation-predictive-maintenance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A7E"/>
                </a:solidFill>
                <a:latin typeface="Calibri"/>
              </a:defRPr>
            </a:pPr>
            <a:r>
              <a:t>Thesis §7 · Table 6.1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