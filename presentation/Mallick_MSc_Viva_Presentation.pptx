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Good morning. My dissertation asks one question: can remaining-useful-life evidence support maintenance prioritisation without hiding uncertainty or taking authority away from the human reviewer? I answer it with NASA's simulated FD001 turbofan data.
POINT TO: The research question box.
EVIDENCE · DENOMINATOR · UNIT: Secondary, simulated data only; no real fleet.
MAIN LIMITATION: Everything that follows is conditional on one simulated dataset.
LIKELY EXAMINER QUESTION: Why FD001 and not real operator data?
ANSWER: FD001 has public run-to-failure labels, one operating condition and one fault mode, so the framework can be evaluated without confounding regimes. The price is external validity, which I state as the main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Here is why a single number is not enough. For Engine 18 the model predicted 64.5 cycles of remaining life, which falls in the MEDIUM band. [click] The observed value was 28 cycles: CRITICAL under the study's thresholds. The estimate was 36.5 cycles too optimistic. [click] A reviewer who sees only 64.5 has no error range, and a MEDIUM call does not by itself trigger a human review. These bands are research assumptions, not approved maintenance rules.
POINT TO: Cyan dot (prediction), then coral dot (observed), then the +36.5 bracket.
EVIDENCE · DENOMINATOR · UNIT: One official endpoint, Engine 18; cycles; prediction minus actual = 64.5 − 28 = +36.5.
MAIN LIMITATION: One illustrative engine, chosen as an informative failure case — not typical error (MAE is 18.88).
LIKELY EXAMINER QUESTION: Isn't Engine 18 cherry-picked?
ANSWER: Yes, deliberately, as a failure case — the dissertation reports it in Table 5.9 alongside Engine 41. The average picture is on slide 7: MAE 18.88 cycles with +10.90 bias, so optimism is systematic, not unique to this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Each ingredient already exists: RUL models on C-MAPSS, conformal uncertainty, SHAP explanations, condition-based prioritisation and human-oversight principles. [click] What is missing is an evaluated, governed combination. So my contribution is not a new algorithm. It is engine-safe modelling with an explicit age-only baseline, frozen selection, whole-engine uncertainty, checked SHAP, a measured review burden and a traceable human decision.
POINT TO: Left column, then the arrow into the contribution panel.
EVIDENCE · DENOMINATOR · UNIT: Literature mapped in Table 3.1; contribution statement §1.4 and §3.7.
MAIN LIMITATION: Targeted narrative review, not a systematic search.
LIKELY EXAMINER QUESTION: If every component exists, what is actually new?
ANSWER: The evaluation of the combination under frozen rules: engine-level separation, an explicit naive baseline, whole-trajectory interval validity and width, checked SHAP, and the measured recall-versus-workload cost of human review. I claim that bounded combination, not state-of-the-art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The data are secondary and simulated: NASA C-MAPSS FD001, one operating condition, one high-pressure-compressor fault. The key design choice is that I split by engine, not by cycle row. [click] Sixty engines, 12,310 rows, were used only for fitting and grouped cross-validation. [click] Twenty engines, 4,217 rows, only to choose the model. [click] Twenty more, 4,104 rows, only to calibrate uncertainty. [click] The 100 official test engines were opened once, one final endpoint each, after every policy was frozen. The primary target is uncapped RUL; capping at 130 cycles is only a sensitivity analysis.
POINT TO: Each block as it appears; finish on the cyan sentence in the target card.
EVIDENCE · DENOMINATOR · UNIT: Engines and rows: 60/12,310 · 20/4,217 · 20/4,104; test = 100 engines, 100 endpoints.
MAIN LIMITATION: A single seed-42 split; selection may depend on it (Table 6.1).
LIKELY EXAMINER QUESTION: Why not a row-random split — you'd have more data?
ANSWER: Consecutive cycles of one engine are strongly correlated; a row split puts neighbouring cycles of the same engine in train and test and inflates performance (Kaufman et al., 2012). Engine separation is what makes the held-out claim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I compared four candidates: an age-only rule, Ridge, Random Forest and XGBoost. On validation, Random Forest's mean engine RMSE was 29.479 cycles; the age-only rule's was 29.556. [click] A difference of 0.077 cycles — both inside the 1% practical-equivalence band fixed in advance. [click] The predeclared tie-break was the asymmetric PHM penalty, which punishes late predictions harder: 83.67 for Random Forest against 156.44. [click] So Random Forest was selected, but honestly: it won a near tie through the frozen rule, not through a large accuracy gain. That is exactly why the age-only baseline is there.
POINT TO: The two near-identical top bars; then the PHM bars; then the selection card.
EVIDENCE · DENOMINATOR · UNIT: Mean engine RMSE over 20 validation engines (cycles); mean PHM penalty (unitless).
MAIN LIMITATION: Near tie on RMSE; the age rule's pooled RMSE was worse (41.135 vs 33.073, backup B4), but selection used the frozen criterion only.
LIKELY EXAMINER QUESTION: If age alone almost matches, do the sensors add anything?
ANSWER: On mean engine RMSE, barely. The sensors matter through the asymmetric penalty and on the truncated test endpoints, where a post-closure comparison gave the age rule MAE 30.88 versus 18.88 — but that comparison reuses opened outcomes, so I report it as descriptive, not as selection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For uncertainty the unit is again the engine. Each of the 20 calibration engines contributes one score: its largest absolute error anywhere along its trajectory. [click] I sort those 20 scores. [click] For 90% nominal coverage the finite-sample rule picks the 19th of 20, giving a radius of 107.90 cycles. [click] Take Engine 18's prediction of 64.5. [click] The interval is plus or minus 107.90, and the lower bound clips at zero. Because it protects whole trajectories rather than single rows, it is deliberately conservative. Its validity is marginal and rests on exchangeable engines and a score fixed in advance — which it was.
POINT TO: The formula, the rank strip, the highlighted 19th slot, then the example interval.
EVIDENCE · DENOMINATOR · UNIT: n = 20 calibration engines; rank 19 of 20; q̂ = 107.90 cycles (107.8965).
MAIN LIMITATION: Twenty engines give a coarse order statistic; q̂ is sensitive to one engine (Table 6.1).
LIKELY EXAMINER QUESTION: Why the maximum residual instead of row residuals?
ANSWER: Rows of one engine are not independent; calibrating them as if they were inflates the effective sample size. One maximum per engine targets coverage of the complete trajectory. The cost is width — and slide 8 shows that cost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Now the once-only official test on 100 engine endpoints. [click] Mean absolute error was 18.88 cycles, bootstrap interval 15.56 to 22.48. [click] RMSE was 25.73, interval 21.33 to 30.15 — larger than MAE because a minority of errors are large. [click] The most important number is the bias: plus 10.90 cycles, interval 6.47 to 15.57. [click] Bias is prediction minus actual, so positive means the model usually predicts more life than remains; 69% of endpoints were overestimated. The whole interval sits above zero, so this is systematic, and it is the risky direction: optimism can delay review. The bootstrap reflects resampling these 100 engines, not new fleets.
POINT TO: Each tile's dot and interval bar; end on the coral bias tile.
EVIDENCE · DENOMINATOR · UNIT: n = 100 official engine endpoints; cycles; 95% bootstrap CIs from 5,000 engine resamples.
MAIN LIMITATION: Single test snapshot per engine; CIs describe sampling over these engines only.
LIKELY EXAMINER QUESTION: With a +10.90 bias, why not simply subtract it?
ANSWER: Because estimating the correction on the already-opened test set would leak test information. A bias correction must be prespecified and tested on new engines — that is listed as future work, and it is why the interval and the review guard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Coverage and width must be read together. The frozen interval covered all 100 endpoints, Wilson interval 96.3 to 100 percent — but its mean width was 182.46 cycles, and 63% of lower bounds hit zero. [click] After closure I tried narrower scores: about 101 to 106 cycles wide, still 96 of 100 endpoints covered, but only 8 of 20 validation trajectories fully covered. [click] These are exploratory comparisons, not replacements, and 100 of 100 is observed coverage, not a guarantee.
POINT TO: Top amber bar and its 20 filled dots; then the two shorter bars with 8 dots.
EVIDENCE · DENOMINATOR · UNIT: Widths over 100 endpoints (cycles); trajectories = 20 validation engines; post-closure rows labelled.
MAIN LIMITATION: Selecting a narrower score now would use already-opened test knowledge.
LIKELY EXAMINER QUESTION: Why not just adopt the narrower row-level interval?
ANSWER: It loses whole-trajectory protection — 8 of 20 engines were not fully covered — and choosing it after seeing these results would import test knowledge. Replacing the score needs fresh engines and a prespecified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TreeSHAP reconstructs every endpoint prediction exactly, to below 10 to the minus 12 cycles. For Engine 18, start from the model baseline of 107.84. [click] Age removes 28.1 cycles, Ps30 12.2 and T50 11.4. [click] But the two core-speed channels push it back up, by 5.6 and 4.6. [click] The rest nets about minus 1.8, giving 64.5 — [click] against a true value of 28. So SHAP shows how the fitted model reached an optimistic answer. It does not show what physically happened in the engine.
POINT TO: Baseline bar, the three cyan reductions, the two coral increases, then the dashed true-RUL line.
EVIDENCE · DENOMINATOR · UNIT: Contributions in cycles from Table 5.9 (rounded); ‘other 13’ is 64.5 minus the listed terms, derived.
MAIN LIMITATION: Correlated channels can exchange credit; SHAP is non-causal.
LIKELY EXAMINER QUESTION: Does this show core-speed sensors cause the error — should you drop them?
ANSWER: No causal claim. The post-closure ablation without sensors 9 and 14 lowered validation pooled RMSE from 33.07 to 31.76, about 4%, but on reused validation engines; it is a hypothesis to test on new engines, not a change to the frozen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This is the central trade-off. [click] With point predictions alone, triage was correct for 62 of 100 endpoints and 34 were under-triaged — including 9 of the 25 truly critical engines not labelled critical. [click] After closure I tested an offline guard: review an engine if its point class is critical or high, or if its interval's lower bound is 30 cycles or less. It caught all 39 truly critical-or-high endpoints — but sent 81 of 100 engines to review. [click] Of those 81, 39 were truly high-risk, and 47 entered only through the interval rule. Recall improved; workload became heavy. [click] On validation rows it referred 2,578 of 4,217 and missed 2 of 1,220 high-risk rows — but those are repeated observations of 20 engines, so I never pool them with endpoints. And 39 of 39 is an observed count under simulated labels, not a safety rate.
POINT TO: Coral segment; then the 39/39 and 81/100 tiles side by side; then the workload bar; then the warning box.
EVIDENCE · DENOMINATOR · UNIT: Endpoints n = 100 (39 truly CRITICAL-or-HIGH, 25 truly CRITICAL); validation rows n = 4,217 (1,220 truly CRITICAL-or-HIGH).
MAIN LIMITATION: Post-closure, offline; thresholds stipulated; review capacity unknown.
LIKELY EXAMINER QUESTION: Isn't 81% review just ‘review everything’? What did the guard add?
ANSWER: It is close, and I say so: only 48.1% of reviewed endpoints were truly high-risk. The value is that the cost is now measured instead of hidden. Whether 81% is acceptable depends on real inspection capacity, which needs qualified users and stakeholder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The workflow is a separate prototype, and the boundary matters. [click ×3] Track A is the evaluated analysis: data, engine-safe split, frozen forest, conformal interval, SHAP and the offline review audit. [click] There is no live connection to Track B. [click ×2] Track B is a 22-node n8n workflow driven by a fixed illustrative payload. It validates provenance and applies a deterministic policy, DEMO_POLICY_V1, which fixes priority and proposed action. Only then does a local Qwen3 1.7B model, at temperature zero, narrate the supplied evidence. [click] A human approves, rejects or modifies. The exported records show two approvals, one rejection and one valid modification; an invalid modification has an editor trace but no exported record of its final state. [click] The model cannot change values, assign priority or decide. The prototype does not call the notebook, a live model or sensors, compute SHAP, or route the offline guard. Authority stays with the policy and the reviewer.
POINT TO: Track A left to right; the coral boundary; Track B; the four route boxes; the model-constraint card.
EVIDENCE · DENOMINATOR · UNIT: 4 exported audit records (2 APPROVE, 1 REJECT, 1 valid MODIFY); invalid MODIFY = editor trace only.
MAIN LIMITATION: Manually seeded local runs; no user study, security, concurrency or reliability evaluation.
LIKELY EXAMINER QUESTION: What does the language model contribute if it can't decide anything?
ANSWER: Readability: it turns supplied numbers and drivers into a short narrative for the reviewer. It is deliberately subordinate — values, priority and action are fixed upstream. I observed it preserving the policy values, though it sometimes exceeded the requested two-sentence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timed):
Three conclusions. [click] Accuracy: Random Forest was chosen by a frozen tie-break after a near tie, with endpoint MAE of 18.88 cycles but an optimistic bias of 10.90. [click] Uncertainty: whole-engine intervals protected complete trajectories but averaged 182 cycles wide. [click] Human review: the offline guard caught all 39 observed high-risk endpoints but sent 81 of 100 to review, and the prototype kept policy deterministic and the human in charge. [click] The limits are clear — simulated FD001, one regime, stipulated thresholds, no technician study, no live connection — so no safety, production or certification claim. The next test is fresh engines with qualified reviewers. Thank you; I'm happy to take questions.
POINT TO: The three cards in turn; then the limits and next-test panels.
EVIDENCE · DENOMINATOR · UNIT: MAE 18.88 cycles (n = 100 endpoints); width 182.46 cycles; 39/39 and 81/100 endpoints.
MAIN LIMITATION: All conclusions are conditional on simulated FD001 labels and stipulated thresholds.
LIKELY EXAMINER QUESTION: What is the single most important finding?
ANSWER: That making uncertainty visible changes the decision problem: interval-aware review caught every observed high-risk endpoint the point estimate missed, but at a measured and heavy workload. Reporting that cost honestly, rather than a headline accuracy,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on this slide during questions. Use the backup index (link on this slide) to open evidence slides; each backup slide links back to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index. Click a topic to open it; every backup slide links back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 Research questions and answers. Source: Table 1.2 (§1.3); answers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 Objectives → evidence. Source: Table 1.1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B3: Partitions and leakage controls. Source: Table 4.1 (§4.5); leakage: Kaufman et al.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B4: Full model comparison. Source: Table 5.1 (§5.2) · 20 validation engines, 4,217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B5: RF and XGBoost configurations. Source: Table 4.3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B6: Equivalence band and PHM tie-break. Source: §2.4.2, §4.7, §5.2; PHM score after Saxena et al. (2008a)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B7: Conformal score and rank. Source: §2.5.1, §4.8; Vovk, Gammerman and Shafer (2005); Lei et al. (2018a); Barber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B8: Bootstrap and confidence intervals. Source: Table 5.2 (§5.3) · 100 engines · 5,000 engine resamples of the single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B9: Uncapped target vs capped sensitivity. Source: Table 5.5 (§5.5) · validation rows, actual-RUL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B10: Feature ablation. Source: Table 5.6 (§5.6) · post-closure · 60 modelling, 20 reused validation engines, no retuning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B11: Conformal-score ablation. Source: Table 5.7 (§5.7) · post-closure · original 20 calibration and 20 validation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B12: Global SHAP and additivity. Source: Table 5.8 (§5.8) · 100 official endpoints × 18 predictors · baseline 107.84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B13: Local SHAP failure cases. Source: Table 5.9 (§5.8.2) · baseline 107.84 cycles · contributions in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B14: Triage classes and denominators. Source: Table 4.4 (§4.10.2) · thresholds are research assumptions, not maintenance-approved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B15: Endpoints vs validation rows. Source: Table 5.10 (§5.9) · never pool the two columns into one safety statistic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B16: n8n topology. Source: Figure 4.7 (§4.10.4) · author's n8n editor screenshot — topology, not a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B17: Decision-route evidence. Source: Table 5.11 (§5.10) · Figure 5.11a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B18: Audit-record fields. Source: Tables A.1 and A.2 (Appendix A) · sanitised prototype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B19: Invalid-MODIFY limitation. Source: Figure 5.11b, Table 5.11 (§5.10)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B20: Reproducibility environment. Source: Table 4.6 (§4.12)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B21: Provenance limitations. Source: §6.6, Table 6.1, declaration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B22: Standards as design references. Source: Table 2.3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B23: Scope and claims boundary. Source: Table 4.5 (§4.11)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B24: Verified references. Source: Full list: dissertation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B25: Repository. Source: Repository stated in the dissertation; property of GISMA University — access must be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BA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18.xml"/><Relationship Id="rId3" Type="http://schemas.openxmlformats.org/officeDocument/2006/relationships/slide" Target="slide20.xml"/><Relationship Id="rId1" Type="http://schemas.openxmlformats.org/officeDocument/2006/relationships/image" Target="../media/image-5-1.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6.xml"/><Relationship Id="rId3" Type="http://schemas.openxmlformats.org/officeDocument/2006/relationships/slide" Target="slide27.xml"/><Relationship Id="rId1"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8.xml"/><Relationship Id="rId3" Type="http://schemas.openxmlformats.org/officeDocument/2006/relationships/slide" Target="slide29.xml"/><Relationship Id="rId1" Type="http://schemas.openxmlformats.org/officeDocument/2006/relationships/image" Target="../media/image-10-1.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30.xml"/><Relationship Id="rId3" Type="http://schemas.openxmlformats.org/officeDocument/2006/relationships/slide" Target="slide31.xml"/><Relationship Id="rId4" Type="http://schemas.openxmlformats.org/officeDocument/2006/relationships/slide" Target="slide33.xml"/><Relationship Id="rId1" Type="http://schemas.openxmlformats.org/officeDocument/2006/relationships/image" Target="../media/image-11-1.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35.xml"/><Relationship Id="rId3" Type="http://schemas.openxmlformats.org/officeDocument/2006/relationships/slide" Target="slide37.xml"/><Relationship Id="rId1" Type="http://schemas.openxmlformats.org/officeDocument/2006/relationships/image" Target="../media/image-12-1.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15.xml"/><Relationship Id="rId3" Type="http://schemas.openxmlformats.org/officeDocument/2006/relationships/slide" Target="slide16.xml"/><Relationship Id="rId4"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19.xml"/><Relationship Id="rId7" Type="http://schemas.openxmlformats.org/officeDocument/2006/relationships/slide" Target="slide20.xml"/><Relationship Id="rId8" Type="http://schemas.openxmlformats.org/officeDocument/2006/relationships/slide" Target="slide21.xml"/><Relationship Id="rId9" Type="http://schemas.openxmlformats.org/officeDocument/2006/relationships/slide" Target="slide22.xml"/><Relationship Id="rId10" Type="http://schemas.openxmlformats.org/officeDocument/2006/relationships/slide" Target="slide23.xml"/><Relationship Id="rId11" Type="http://schemas.openxmlformats.org/officeDocument/2006/relationships/slide" Target="slide24.xml"/><Relationship Id="rId12" Type="http://schemas.openxmlformats.org/officeDocument/2006/relationships/slide" Target="slide25.xml"/><Relationship Id="rId13" Type="http://schemas.openxmlformats.org/officeDocument/2006/relationships/slide" Target="slide26.xml"/><Relationship Id="rId14" Type="http://schemas.openxmlformats.org/officeDocument/2006/relationships/slide" Target="slide27.xml"/><Relationship Id="rId15" Type="http://schemas.openxmlformats.org/officeDocument/2006/relationships/slide" Target="slide28.xml"/><Relationship Id="rId16" Type="http://schemas.openxmlformats.org/officeDocument/2006/relationships/slide" Target="slide29.xml"/><Relationship Id="rId17" Type="http://schemas.openxmlformats.org/officeDocument/2006/relationships/slide" Target="slide30.xml"/><Relationship Id="rId18" Type="http://schemas.openxmlformats.org/officeDocument/2006/relationships/slide" Target="slide31.xml"/><Relationship Id="rId19" Type="http://schemas.openxmlformats.org/officeDocument/2006/relationships/slide" Target="slide32.xml"/><Relationship Id="rId20" Type="http://schemas.openxmlformats.org/officeDocument/2006/relationships/slide" Target="slide33.xml"/><Relationship Id="rId21" Type="http://schemas.openxmlformats.org/officeDocument/2006/relationships/slide" Target="slide34.xml"/><Relationship Id="rId22" Type="http://schemas.openxmlformats.org/officeDocument/2006/relationships/slide" Target="slide35.xml"/><Relationship Id="rId23" Type="http://schemas.openxmlformats.org/officeDocument/2006/relationships/slide" Target="slide36.xml"/><Relationship Id="rId24" Type="http://schemas.openxmlformats.org/officeDocument/2006/relationships/slide" Target="slide37.xml"/><Relationship Id="rId25" Type="http://schemas.openxmlformats.org/officeDocument/2006/relationships/slide" Target="slide38.xml"/><Relationship Id="rId26" Type="http://schemas.openxmlformats.org/officeDocument/2006/relationships/slide" Target="slide39.xml"/><Relationship Id="rId27" Type="http://schemas.openxmlformats.org/officeDocument/2006/relationships/slide" Target="slide12.xml"/><Relationship Id="rId28" Type="http://schemas.openxmlformats.org/officeDocument/2006/relationships/slide" Target="slide13.xml"/><Relationship Id="rId1" Type="http://schemas.openxmlformats.org/officeDocument/2006/relationships/image" Target="../media/image-14-1.png"/><Relationship Id="rId29" Type="http://schemas.openxmlformats.org/officeDocument/2006/relationships/slideLayout" Target="../slideLayouts/slideLayout2.xml"/><Relationship Id="rId3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5-1.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7-1.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19-1.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3-1.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4-1.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5-1.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6-1.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7-1.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8-1.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29-1.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1-1.png"/><Relationship Id="rId3" Type="http://schemas.openxmlformats.org/officeDocument/2006/relationships/image" Target="../media/image-31-2.png"/><Relationship Id="rId4" Type="http://schemas.openxmlformats.org/officeDocument/2006/relationships/image" Target="../media/image-31-3.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2-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3-1.png"/><Relationship Id="rId3" Type="http://schemas.openxmlformats.org/officeDocument/2006/relationships/image" Target="../media/image-33-2.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4-1.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5-1.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6-1.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7-1.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8-1.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image" Target="../media/image-39-1.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0_text_1"/>
          <p:cNvSpPr txBox="1"/>
          <p:nvPr/>
        </p:nvSpPr>
        <p:spPr>
          <a:xfrm>
            <a:off x="548640" y="411480"/>
            <a:ext cx="676656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MSc DISSERTATION VIVA  ·  M598 MASTER DISSERTATION</a:t>
            </a:r>
            <a:endParaRPr lang="en-US" sz="1200" dirty="0"/>
          </a:p>
        </p:txBody>
      </p:sp>
      <p:sp>
        <p:nvSpPr>
          <p:cNvPr id="3" name="s0_text_2"/>
          <p:cNvSpPr txBox="1"/>
          <p:nvPr/>
        </p:nvSpPr>
        <p:spPr>
          <a:xfrm>
            <a:off x="548640" y="804672"/>
            <a:ext cx="6675120" cy="2514600"/>
          </a:xfrm>
          <a:prstGeom prst="rect">
            <a:avLst/>
          </a:prstGeom>
          <a:noFill/>
          <a:ln/>
        </p:spPr>
        <p:txBody>
          <a:bodyPr wrap="square" lIns="0" tIns="0" rIns="0" bIns="0" rtlCol="0" anchor="t"/>
          <a:lstStyle/>
          <a:p>
            <a:pPr algn="l" indent="0" marL="0">
              <a:buNone/>
            </a:pPr>
            <a:r>
              <a:rPr lang="en-US" sz="3200" b="1" dirty="0">
                <a:solidFill>
                  <a:srgbClr val="102A43"/>
                </a:solidFill>
                <a:latin typeface="Aptos Display" pitchFamily="34" charset="0"/>
                <a:ea typeface="Aptos Display" pitchFamily="34" charset="-122"/>
                <a:cs typeface="Aptos Display" pitchFamily="34" charset="-120"/>
              </a:rPr>
              <a:t>An Uncertainty-Aware, Explainable and Human-Reviewed Framework for Remaining-Useful-Life-Based Maintenance Prioritisation</a:t>
            </a:r>
            <a:endParaRPr lang="en-US" sz="3200" dirty="0"/>
          </a:p>
        </p:txBody>
      </p:sp>
      <p:sp>
        <p:nvSpPr>
          <p:cNvPr id="4" name="s0_text_3"/>
          <p:cNvSpPr txBox="1"/>
          <p:nvPr/>
        </p:nvSpPr>
        <p:spPr>
          <a:xfrm>
            <a:off x="548640" y="3364992"/>
            <a:ext cx="6675120" cy="365760"/>
          </a:xfrm>
          <a:prstGeom prst="rect">
            <a:avLst/>
          </a:prstGeom>
          <a:noFill/>
          <a:ln/>
        </p:spPr>
        <p:txBody>
          <a:bodyPr wrap="square" lIns="0" tIns="0" rIns="0" bIns="0" rtlCol="0" anchor="t"/>
          <a:lstStyle/>
          <a:p>
            <a:pPr algn="l" indent="0" marL="0">
              <a:buNone/>
            </a:pPr>
            <a:r>
              <a:rPr lang="en-US" sz="1800" b="1" dirty="0">
                <a:solidFill>
                  <a:srgbClr val="00A6C8"/>
                </a:solidFill>
                <a:latin typeface="Aptos" pitchFamily="34" charset="0"/>
                <a:ea typeface="Aptos" pitchFamily="34" charset="-122"/>
                <a:cs typeface="Aptos" pitchFamily="34" charset="-120"/>
              </a:rPr>
              <a:t>Evidence from the NASA C-MAPSS FD001 Turbofan Dataset</a:t>
            </a:r>
            <a:endParaRPr lang="en-US" sz="1800" dirty="0"/>
          </a:p>
        </p:txBody>
      </p:sp>
      <p:sp>
        <p:nvSpPr>
          <p:cNvPr id="5" name="s0_rect_4"/>
          <p:cNvSpPr/>
          <p:nvPr/>
        </p:nvSpPr>
        <p:spPr>
          <a:xfrm>
            <a:off x="548640" y="3886200"/>
            <a:ext cx="6675120" cy="1024128"/>
          </a:xfrm>
          <a:prstGeom prst="roundRect">
            <a:avLst>
              <a:gd name="adj" fmla="val 7143"/>
            </a:avLst>
          </a:prstGeom>
          <a:solidFill>
            <a:srgbClr val="FFFFFF"/>
          </a:solidFill>
          <a:ln w="12700">
            <a:solidFill>
              <a:srgbClr val="D9E2EC"/>
            </a:solidFill>
            <a:prstDash val="solid"/>
          </a:ln>
        </p:spPr>
      </p:sp>
      <p:sp>
        <p:nvSpPr>
          <p:cNvPr id="6" name="s0_text_5"/>
          <p:cNvSpPr txBox="1"/>
          <p:nvPr/>
        </p:nvSpPr>
        <p:spPr>
          <a:xfrm>
            <a:off x="777240" y="3986784"/>
            <a:ext cx="6309360" cy="256032"/>
          </a:xfrm>
          <a:prstGeom prst="rect">
            <a:avLst/>
          </a:prstGeom>
          <a:noFill/>
          <a:ln/>
        </p:spPr>
        <p:txBody>
          <a:bodyPr wrap="square" lIns="0" tIns="0" rIns="0" bIns="0" rtlCol="0" anchor="t"/>
          <a:lstStyle/>
          <a:p>
            <a:pPr algn="l" indent="0" marL="0">
              <a:buNone/>
            </a:pPr>
            <a:r>
              <a:rPr lang="en-US" sz="1100" b="1" dirty="0">
                <a:solidFill>
                  <a:srgbClr val="627D98"/>
                </a:solidFill>
                <a:latin typeface="Aptos" pitchFamily="34" charset="0"/>
                <a:ea typeface="Aptos" pitchFamily="34" charset="-122"/>
                <a:cs typeface="Aptos" pitchFamily="34" charset="-120"/>
              </a:rPr>
              <a:t>RESEARCH QUESTION</a:t>
            </a:r>
            <a:endParaRPr lang="en-US" sz="1100" dirty="0"/>
          </a:p>
        </p:txBody>
      </p:sp>
      <p:sp>
        <p:nvSpPr>
          <p:cNvPr id="7" name="s0_text_6"/>
          <p:cNvSpPr txBox="1"/>
          <p:nvPr/>
        </p:nvSpPr>
        <p:spPr>
          <a:xfrm>
            <a:off x="777240" y="4242816"/>
            <a:ext cx="6309360" cy="603504"/>
          </a:xfrm>
          <a:prstGeom prst="rect">
            <a:avLst/>
          </a:prstGeom>
          <a:noFill/>
          <a:ln/>
        </p:spPr>
        <p:txBody>
          <a:bodyPr wrap="square" lIns="0" tIns="0" rIns="0" bIns="0" rtlCol="0" anchor="t"/>
          <a:lstStyle/>
          <a:p>
            <a:pPr algn="l" indent="0" marL="0">
              <a:buNone/>
            </a:pPr>
            <a:r>
              <a:rPr lang="en-US" sz="1700" dirty="0">
                <a:solidFill>
                  <a:srgbClr val="102A43"/>
                </a:solidFill>
                <a:latin typeface="Aptos" pitchFamily="34" charset="0"/>
                <a:ea typeface="Aptos" pitchFamily="34" charset="-122"/>
                <a:cs typeface="Aptos" pitchFamily="34" charset="-120"/>
              </a:rPr>
              <a:t>Can RUL evidence support maintenance prioritisation without hiding uncertainty or removing human authority?</a:t>
            </a:r>
            <a:endParaRPr lang="en-US" sz="1700" dirty="0"/>
          </a:p>
        </p:txBody>
      </p:sp>
      <p:sp>
        <p:nvSpPr>
          <p:cNvPr id="8" name="s0_text_7"/>
          <p:cNvSpPr txBox="1"/>
          <p:nvPr/>
        </p:nvSpPr>
        <p:spPr>
          <a:xfrm>
            <a:off x="548640" y="5102352"/>
            <a:ext cx="6675120" cy="1097280"/>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Ranitabh Mallick</a:t>
            </a:r>
            <a:pPr algn="l" indent="0" marL="0">
              <a:buNone/>
            </a:pPr>
            <a:r>
              <a:rPr lang="en-US" sz="1500" dirty="0">
                <a:solidFill>
                  <a:srgbClr val="102A43"/>
                </a:solidFill>
                <a:latin typeface="Aptos" pitchFamily="34" charset="0"/>
                <a:ea typeface="Aptos" pitchFamily="34" charset="-122"/>
                <a:cs typeface="Aptos" pitchFamily="34" charset="-120"/>
              </a:rPr>
              <a:t>  ·  Student ID GH1047661</a:t>
            </a:r>
            <a:endParaRPr lang="en-US" sz="1600" dirty="0"/>
          </a:p>
          <a:p>
            <a:pPr algn="l" indent="0" marL="0">
              <a:buNone/>
            </a:pPr>
            <a:r>
              <a:rPr lang="en-US" sz="1400" dirty="0">
                <a:solidFill>
                  <a:srgbClr val="627D98"/>
                </a:solidFill>
                <a:latin typeface="Aptos" pitchFamily="34" charset="0"/>
                <a:ea typeface="Aptos" pitchFamily="34" charset="-122"/>
                <a:cs typeface="Aptos" pitchFamily="34" charset="-120"/>
              </a:rPr>
              <a:t>MSc Data Science, Artificial Intelligence and Digital Business</a:t>
            </a:r>
            <a:endParaRPr lang="en-US" sz="1600" dirty="0"/>
          </a:p>
          <a:p>
            <a:pPr algn="l" indent="0" marL="0">
              <a:buNone/>
            </a:pPr>
            <a:r>
              <a:rPr lang="en-US" sz="1400" dirty="0">
                <a:solidFill>
                  <a:srgbClr val="627D98"/>
                </a:solidFill>
                <a:latin typeface="Aptos" pitchFamily="34" charset="0"/>
                <a:ea typeface="Aptos" pitchFamily="34" charset="-122"/>
                <a:cs typeface="Aptos" pitchFamily="34" charset="-120"/>
              </a:rPr>
              <a:t>Supervisor: Dr Hiba Khalid</a:t>
            </a:r>
            <a:endParaRPr lang="en-US" sz="1600" dirty="0"/>
          </a:p>
          <a:p>
            <a:pPr algn="l" indent="0" marL="0">
              <a:buNone/>
            </a:pPr>
            <a:r>
              <a:rPr lang="en-US" sz="1400" dirty="0">
                <a:solidFill>
                  <a:srgbClr val="627D98"/>
                </a:solidFill>
                <a:latin typeface="Aptos" pitchFamily="34" charset="0"/>
                <a:ea typeface="Aptos" pitchFamily="34" charset="-122"/>
                <a:cs typeface="Aptos" pitchFamily="34" charset="-120"/>
              </a:rPr>
              <a:t>GISMA University of Applied Sciences  ·  Berlin, September 2026</a:t>
            </a:r>
            <a:endParaRPr lang="en-US" sz="1600" dirty="0"/>
          </a:p>
        </p:txBody>
      </p:sp>
      <p:pic>
        <p:nvPicPr>
          <p:cNvPr id="9" name="s0_img_8" descr="Illustrative turbofan schematic, not a validated engine simulation">    </p:cNvPr>
          <p:cNvPicPr>
            <a:picLocks noChangeAspect="1"/>
          </p:cNvPicPr>
          <p:nvPr/>
        </p:nvPicPr>
        <p:blipFill>
          <a:blip r:embed="rId1"/>
          <a:stretch>
            <a:fillRect/>
          </a:stretch>
        </p:blipFill>
        <p:spPr>
          <a:xfrm>
            <a:off x="7360920" y="1417320"/>
            <a:ext cx="4572000" cy="1904695"/>
          </a:xfrm>
          <a:prstGeom prst="rect">
            <a:avLst/>
          </a:prstGeom>
        </p:spPr>
      </p:pic>
      <p:sp>
        <p:nvSpPr>
          <p:cNvPr id="10" name="s0_text_9"/>
          <p:cNvSpPr txBox="1"/>
          <p:nvPr/>
        </p:nvSpPr>
        <p:spPr>
          <a:xfrm>
            <a:off x="7360920" y="3429000"/>
            <a:ext cx="4572000" cy="274320"/>
          </a:xfrm>
          <a:prstGeom prst="rect">
            <a:avLst/>
          </a:prstGeom>
          <a:noFill/>
          <a:ln/>
        </p:spPr>
        <p:txBody>
          <a:bodyPr wrap="square" lIns="0" tIns="0" rIns="0" bIns="0" rtlCol="0" anchor="t"/>
          <a:lstStyle/>
          <a:p>
            <a:pPr algn="ctr" indent="0" marL="0">
              <a:buNone/>
            </a:pPr>
            <a:r>
              <a:rPr lang="en-US" sz="1100" i="1" dirty="0">
                <a:solidFill>
                  <a:srgbClr val="627D98"/>
                </a:solidFill>
                <a:latin typeface="Aptos" pitchFamily="34" charset="0"/>
                <a:ea typeface="Aptos" pitchFamily="34" charset="-122"/>
                <a:cs typeface="Aptos" pitchFamily="34" charset="-120"/>
              </a:rPr>
              <a:t>Illustrative turbofan schematic — not a validated engine simulation</a:t>
            </a:r>
            <a:endParaRPr lang="en-US" sz="1100" dirty="0"/>
          </a:p>
        </p:txBody>
      </p:sp>
      <p:sp>
        <p:nvSpPr>
          <p:cNvPr id="11" name="s0_line_10"/>
          <p:cNvSpPr/>
          <p:nvPr/>
        </p:nvSpPr>
        <p:spPr>
          <a:xfrm>
            <a:off x="548640" y="6291072"/>
            <a:ext cx="11091672" cy="91"/>
          </a:xfrm>
          <a:prstGeom prst="line">
            <a:avLst/>
          </a:prstGeom>
          <a:noFill/>
          <a:ln w="9525">
            <a:solidFill>
              <a:srgbClr val="D9E2EC"/>
            </a:solidFill>
            <a:prstDash val="solid"/>
          </a:ln>
        </p:spPr>
      </p:sp>
      <p:sp>
        <p:nvSpPr>
          <p:cNvPr id="12" name="s0_text_11"/>
          <p:cNvSpPr txBox="1"/>
          <p:nvPr/>
        </p:nvSpPr>
        <p:spPr>
          <a:xfrm>
            <a:off x="548640" y="6382512"/>
            <a:ext cx="91440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Applied quantitative research on secondary, simulated NASA C-MAPSS FD001 data</a:t>
            </a:r>
            <a:endParaRPr lang="en-US" sz="1100" dirty="0"/>
          </a:p>
        </p:txBody>
      </p:sp>
      <p:sp>
        <p:nvSpPr>
          <p:cNvPr id="13" name="s0_text_12"/>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1 / 13</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1 · INTRODUCTION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A point estimate can hide maintenance risk</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Source: Engine 18, official endpoint (Table 5.9); classes (Table 4.4)</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triage classes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2 / 13</a:t>
            </a:r>
            <a:endParaRPr lang="en-US" sz="1100" dirty="0"/>
          </a:p>
        </p:txBody>
      </p:sp>
      <p:sp>
        <p:nvSpPr>
          <p:cNvPr id="8" name="s0_text_7"/>
          <p:cNvSpPr txBox="1"/>
          <p:nvPr/>
        </p:nvSpPr>
        <p:spPr>
          <a:xfrm>
            <a:off x="548640" y="1325880"/>
            <a:ext cx="11064240" cy="292608"/>
          </a:xfrm>
          <a:prstGeom prst="rect">
            <a:avLst/>
          </a:prstGeom>
          <a:noFill/>
          <a:ln/>
        </p:spPr>
        <p:txBody>
          <a:bodyPr wrap="square" lIns="0" tIns="0" rIns="0" bIns="0" rtlCol="0" anchor="t"/>
          <a:lstStyle/>
          <a:p>
            <a:pPr algn="l" indent="0" marL="0">
              <a:buNone/>
            </a:pPr>
            <a:r>
              <a:rPr lang="en-US" sz="1400" i="1" dirty="0">
                <a:solidFill>
                  <a:srgbClr val="627D98"/>
                </a:solidFill>
                <a:latin typeface="Aptos" pitchFamily="34" charset="0"/>
                <a:ea typeface="Aptos" pitchFamily="34" charset="-122"/>
                <a:cs typeface="Aptos" pitchFamily="34" charset="-120"/>
              </a:rPr>
              <a:t>Class thresholds are stipulated research assumptions (Table 4.4) — not approved aircraft-maintenance rules</a:t>
            </a:r>
            <a:endParaRPr lang="en-US" sz="1400" dirty="0"/>
          </a:p>
        </p:txBody>
      </p:sp>
      <p:sp>
        <p:nvSpPr>
          <p:cNvPr id="9" name="s0_rect_8"/>
          <p:cNvSpPr/>
          <p:nvPr/>
        </p:nvSpPr>
        <p:spPr>
          <a:xfrm>
            <a:off x="822960" y="1783080"/>
            <a:ext cx="2253343" cy="1783080"/>
          </a:xfrm>
          <a:prstGeom prst="rect">
            <a:avLst/>
          </a:prstGeom>
          <a:solidFill>
            <a:srgbClr val="FCE8E8"/>
          </a:solidFill>
          <a:ln/>
        </p:spPr>
      </p:sp>
      <p:sp>
        <p:nvSpPr>
          <p:cNvPr id="10" name="s0_rect_9"/>
          <p:cNvSpPr/>
          <p:nvPr/>
        </p:nvSpPr>
        <p:spPr>
          <a:xfrm>
            <a:off x="3076303" y="1783080"/>
            <a:ext cx="2253343" cy="1783080"/>
          </a:xfrm>
          <a:prstGeom prst="rect">
            <a:avLst/>
          </a:prstGeom>
          <a:solidFill>
            <a:srgbClr val="FDF1EC"/>
          </a:solidFill>
          <a:ln/>
        </p:spPr>
      </p:sp>
      <p:sp>
        <p:nvSpPr>
          <p:cNvPr id="11" name="s0_rect_10"/>
          <p:cNvSpPr/>
          <p:nvPr/>
        </p:nvSpPr>
        <p:spPr>
          <a:xfrm>
            <a:off x="5329646" y="1783080"/>
            <a:ext cx="5257800" cy="1783080"/>
          </a:xfrm>
          <a:prstGeom prst="rect">
            <a:avLst/>
          </a:prstGeom>
          <a:solidFill>
            <a:srgbClr val="EEF2F6"/>
          </a:solidFill>
          <a:ln/>
        </p:spPr>
      </p:sp>
      <p:sp>
        <p:nvSpPr>
          <p:cNvPr id="12" name="s0_rect_11"/>
          <p:cNvSpPr/>
          <p:nvPr/>
        </p:nvSpPr>
        <p:spPr>
          <a:xfrm>
            <a:off x="10587446" y="1783080"/>
            <a:ext cx="751114" cy="1783080"/>
          </a:xfrm>
          <a:prstGeom prst="rect">
            <a:avLst/>
          </a:prstGeom>
          <a:solidFill>
            <a:srgbClr val="FFFFFF"/>
          </a:solidFill>
          <a:ln w="12700">
            <a:solidFill>
              <a:srgbClr val="D9E2EC"/>
            </a:solidFill>
            <a:prstDash val="solid"/>
          </a:ln>
        </p:spPr>
      </p:sp>
      <p:sp>
        <p:nvSpPr>
          <p:cNvPr id="13" name="s0_text_12"/>
          <p:cNvSpPr txBox="1"/>
          <p:nvPr/>
        </p:nvSpPr>
        <p:spPr>
          <a:xfrm>
            <a:off x="914400" y="1856232"/>
            <a:ext cx="2103120" cy="274320"/>
          </a:xfrm>
          <a:prstGeom prst="rect">
            <a:avLst/>
          </a:prstGeom>
          <a:noFill/>
          <a:ln/>
        </p:spPr>
        <p:txBody>
          <a:bodyPr wrap="square" lIns="0" tIns="0" rIns="0" bIns="0" rtlCol="0" anchor="t"/>
          <a:lstStyle/>
          <a:p>
            <a:pPr algn="l" indent="0" marL="0">
              <a:buNone/>
            </a:pPr>
            <a:r>
              <a:rPr lang="en-US" sz="1400" b="1" dirty="0">
                <a:solidFill>
                  <a:srgbClr val="E45756"/>
                </a:solidFill>
                <a:latin typeface="Aptos" pitchFamily="34" charset="0"/>
                <a:ea typeface="Aptos" pitchFamily="34" charset="-122"/>
                <a:cs typeface="Aptos" pitchFamily="34" charset="-120"/>
              </a:rPr>
              <a:t>CRITICAL  ŷ ≤ 30</a:t>
            </a:r>
            <a:endParaRPr lang="en-US" sz="1400" dirty="0"/>
          </a:p>
        </p:txBody>
      </p:sp>
      <p:sp>
        <p:nvSpPr>
          <p:cNvPr id="14" name="s0_text_13"/>
          <p:cNvSpPr txBox="1"/>
          <p:nvPr/>
        </p:nvSpPr>
        <p:spPr>
          <a:xfrm>
            <a:off x="3167743" y="1856232"/>
            <a:ext cx="2103120" cy="274320"/>
          </a:xfrm>
          <a:prstGeom prst="rect">
            <a:avLst/>
          </a:prstGeom>
          <a:noFill/>
          <a:ln/>
        </p:spPr>
        <p:txBody>
          <a:bodyPr wrap="square" lIns="0" tIns="0" rIns="0" bIns="0" rtlCol="0" anchor="t"/>
          <a:lstStyle/>
          <a:p>
            <a:pPr algn="l" indent="0" marL="0">
              <a:buNone/>
            </a:pPr>
            <a:r>
              <a:rPr lang="en-US" sz="1400" b="1" dirty="0">
                <a:solidFill>
                  <a:srgbClr val="B5443F"/>
                </a:solidFill>
                <a:latin typeface="Aptos" pitchFamily="34" charset="0"/>
                <a:ea typeface="Aptos" pitchFamily="34" charset="-122"/>
                <a:cs typeface="Aptos" pitchFamily="34" charset="-120"/>
              </a:rPr>
              <a:t>HIGH  30 &lt; ŷ ≤ 60</a:t>
            </a:r>
            <a:endParaRPr lang="en-US" sz="1400" dirty="0"/>
          </a:p>
        </p:txBody>
      </p:sp>
      <p:sp>
        <p:nvSpPr>
          <p:cNvPr id="15" name="s0_text_14"/>
          <p:cNvSpPr txBox="1"/>
          <p:nvPr/>
        </p:nvSpPr>
        <p:spPr>
          <a:xfrm>
            <a:off x="5421086" y="1856232"/>
            <a:ext cx="3657600" cy="274320"/>
          </a:xfrm>
          <a:prstGeom prst="rect">
            <a:avLst/>
          </a:prstGeom>
          <a:noFill/>
          <a:ln/>
        </p:spPr>
        <p:txBody>
          <a:bodyPr wrap="square" lIns="0" tIns="0" rIns="0" bIns="0" rtlCol="0" anchor="t"/>
          <a:lstStyle/>
          <a:p>
            <a:pPr algn="l" indent="0" marL="0">
              <a:buNone/>
            </a:pPr>
            <a:r>
              <a:rPr lang="en-US" sz="1400" b="1" dirty="0">
                <a:solidFill>
                  <a:srgbClr val="627D98"/>
                </a:solidFill>
                <a:latin typeface="Aptos" pitchFamily="34" charset="0"/>
                <a:ea typeface="Aptos" pitchFamily="34" charset="-122"/>
                <a:cs typeface="Aptos" pitchFamily="34" charset="-120"/>
              </a:rPr>
              <a:t>MEDIUM  60 &lt; ŷ ≤ 130</a:t>
            </a:r>
            <a:endParaRPr lang="en-US" sz="1400" dirty="0"/>
          </a:p>
        </p:txBody>
      </p:sp>
      <p:sp>
        <p:nvSpPr>
          <p:cNvPr id="16" name="s0_text_15"/>
          <p:cNvSpPr txBox="1"/>
          <p:nvPr/>
        </p:nvSpPr>
        <p:spPr>
          <a:xfrm>
            <a:off x="10624022" y="1856232"/>
            <a:ext cx="731520" cy="274320"/>
          </a:xfrm>
          <a:prstGeom prst="rect">
            <a:avLst/>
          </a:prstGeom>
          <a:noFill/>
          <a:ln/>
        </p:spPr>
        <p:txBody>
          <a:bodyPr wrap="square" lIns="0" tIns="0" rIns="0" bIns="0" rtlCol="0" anchor="t"/>
          <a:lstStyle/>
          <a:p>
            <a:pPr algn="l" indent="0" marL="0">
              <a:buNone/>
            </a:pPr>
            <a:r>
              <a:rPr lang="en-US" sz="1400" b="1" dirty="0">
                <a:solidFill>
                  <a:srgbClr val="627D98"/>
                </a:solidFill>
                <a:latin typeface="Aptos" pitchFamily="34" charset="0"/>
                <a:ea typeface="Aptos" pitchFamily="34" charset="-122"/>
                <a:cs typeface="Aptos" pitchFamily="34" charset="-120"/>
              </a:rPr>
              <a:t>LOW</a:t>
            </a:r>
            <a:endParaRPr lang="en-US" sz="1400" dirty="0"/>
          </a:p>
        </p:txBody>
      </p:sp>
      <p:sp>
        <p:nvSpPr>
          <p:cNvPr id="17" name="s0_line_16"/>
          <p:cNvSpPr/>
          <p:nvPr/>
        </p:nvSpPr>
        <p:spPr>
          <a:xfrm>
            <a:off x="822960" y="3566160"/>
            <a:ext cx="10515600" cy="91"/>
          </a:xfrm>
          <a:prstGeom prst="line">
            <a:avLst/>
          </a:prstGeom>
          <a:noFill/>
          <a:ln w="15875">
            <a:solidFill>
              <a:srgbClr val="102A43"/>
            </a:solidFill>
            <a:prstDash val="solid"/>
          </a:ln>
        </p:spPr>
      </p:sp>
      <p:sp>
        <p:nvSpPr>
          <p:cNvPr id="18" name="s0_line_17"/>
          <p:cNvSpPr/>
          <p:nvPr/>
        </p:nvSpPr>
        <p:spPr>
          <a:xfrm>
            <a:off x="822960" y="3566160"/>
            <a:ext cx="91" cy="73152"/>
          </a:xfrm>
          <a:prstGeom prst="line">
            <a:avLst/>
          </a:prstGeom>
          <a:noFill/>
          <a:ln w="12700">
            <a:solidFill>
              <a:srgbClr val="102A43"/>
            </a:solidFill>
            <a:prstDash val="solid"/>
          </a:ln>
        </p:spPr>
      </p:sp>
      <p:sp>
        <p:nvSpPr>
          <p:cNvPr id="19" name="s0_text_18"/>
          <p:cNvSpPr txBox="1"/>
          <p:nvPr/>
        </p:nvSpPr>
        <p:spPr>
          <a:xfrm>
            <a:off x="457200" y="3657600"/>
            <a:ext cx="731520" cy="274320"/>
          </a:xfrm>
          <a:prstGeom prst="rect">
            <a:avLst/>
          </a:prstGeom>
          <a:noFill/>
          <a:ln/>
        </p:spPr>
        <p:txBody>
          <a:bodyPr wrap="square" lIns="0" tIns="0" rIns="0" bIns="0" rtlCol="0" anchor="t"/>
          <a:lstStyle/>
          <a:p>
            <a:pPr algn="ctr" indent="0" marL="0">
              <a:buNone/>
            </a:pPr>
            <a:r>
              <a:rPr lang="en-US" sz="1400" dirty="0">
                <a:solidFill>
                  <a:srgbClr val="627D98"/>
                </a:solidFill>
                <a:latin typeface="Aptos" pitchFamily="34" charset="0"/>
                <a:ea typeface="Aptos" pitchFamily="34" charset="-122"/>
                <a:cs typeface="Aptos" pitchFamily="34" charset="-120"/>
              </a:rPr>
              <a:t>0</a:t>
            </a:r>
            <a:endParaRPr lang="en-US" sz="1400" dirty="0"/>
          </a:p>
        </p:txBody>
      </p:sp>
      <p:sp>
        <p:nvSpPr>
          <p:cNvPr id="20" name="s0_line_19"/>
          <p:cNvSpPr/>
          <p:nvPr/>
        </p:nvSpPr>
        <p:spPr>
          <a:xfrm>
            <a:off x="3076303" y="3566160"/>
            <a:ext cx="91" cy="73152"/>
          </a:xfrm>
          <a:prstGeom prst="line">
            <a:avLst/>
          </a:prstGeom>
          <a:noFill/>
          <a:ln w="12700">
            <a:solidFill>
              <a:srgbClr val="102A43"/>
            </a:solidFill>
            <a:prstDash val="solid"/>
          </a:ln>
        </p:spPr>
      </p:sp>
      <p:sp>
        <p:nvSpPr>
          <p:cNvPr id="21" name="s0_text_20"/>
          <p:cNvSpPr txBox="1"/>
          <p:nvPr/>
        </p:nvSpPr>
        <p:spPr>
          <a:xfrm>
            <a:off x="2710543" y="3657600"/>
            <a:ext cx="731520" cy="274320"/>
          </a:xfrm>
          <a:prstGeom prst="rect">
            <a:avLst/>
          </a:prstGeom>
          <a:noFill/>
          <a:ln/>
        </p:spPr>
        <p:txBody>
          <a:bodyPr wrap="square" lIns="0" tIns="0" rIns="0" bIns="0" rtlCol="0" anchor="t"/>
          <a:lstStyle/>
          <a:p>
            <a:pPr algn="ctr" indent="0" marL="0">
              <a:buNone/>
            </a:pPr>
            <a:r>
              <a:rPr lang="en-US" sz="1400" dirty="0">
                <a:solidFill>
                  <a:srgbClr val="627D98"/>
                </a:solidFill>
                <a:latin typeface="Aptos" pitchFamily="34" charset="0"/>
                <a:ea typeface="Aptos" pitchFamily="34" charset="-122"/>
                <a:cs typeface="Aptos" pitchFamily="34" charset="-120"/>
              </a:rPr>
              <a:t>30</a:t>
            </a:r>
            <a:endParaRPr lang="en-US" sz="1400" dirty="0"/>
          </a:p>
        </p:txBody>
      </p:sp>
      <p:sp>
        <p:nvSpPr>
          <p:cNvPr id="22" name="s0_line_21"/>
          <p:cNvSpPr/>
          <p:nvPr/>
        </p:nvSpPr>
        <p:spPr>
          <a:xfrm>
            <a:off x="5329646" y="3566160"/>
            <a:ext cx="91" cy="73152"/>
          </a:xfrm>
          <a:prstGeom prst="line">
            <a:avLst/>
          </a:prstGeom>
          <a:noFill/>
          <a:ln w="12700">
            <a:solidFill>
              <a:srgbClr val="102A43"/>
            </a:solidFill>
            <a:prstDash val="solid"/>
          </a:ln>
        </p:spPr>
      </p:sp>
      <p:sp>
        <p:nvSpPr>
          <p:cNvPr id="23" name="s0_text_22"/>
          <p:cNvSpPr txBox="1"/>
          <p:nvPr/>
        </p:nvSpPr>
        <p:spPr>
          <a:xfrm>
            <a:off x="4963886" y="3657600"/>
            <a:ext cx="731520" cy="274320"/>
          </a:xfrm>
          <a:prstGeom prst="rect">
            <a:avLst/>
          </a:prstGeom>
          <a:noFill/>
          <a:ln/>
        </p:spPr>
        <p:txBody>
          <a:bodyPr wrap="square" lIns="0" tIns="0" rIns="0" bIns="0" rtlCol="0" anchor="t"/>
          <a:lstStyle/>
          <a:p>
            <a:pPr algn="ctr" indent="0" marL="0">
              <a:buNone/>
            </a:pPr>
            <a:r>
              <a:rPr lang="en-US" sz="1400" dirty="0">
                <a:solidFill>
                  <a:srgbClr val="627D98"/>
                </a:solidFill>
                <a:latin typeface="Aptos" pitchFamily="34" charset="0"/>
                <a:ea typeface="Aptos" pitchFamily="34" charset="-122"/>
                <a:cs typeface="Aptos" pitchFamily="34" charset="-120"/>
              </a:rPr>
              <a:t>60</a:t>
            </a:r>
            <a:endParaRPr lang="en-US" sz="1400" dirty="0"/>
          </a:p>
        </p:txBody>
      </p:sp>
      <p:sp>
        <p:nvSpPr>
          <p:cNvPr id="24" name="s0_line_23"/>
          <p:cNvSpPr/>
          <p:nvPr/>
        </p:nvSpPr>
        <p:spPr>
          <a:xfrm>
            <a:off x="10587446" y="3566160"/>
            <a:ext cx="91" cy="73152"/>
          </a:xfrm>
          <a:prstGeom prst="line">
            <a:avLst/>
          </a:prstGeom>
          <a:noFill/>
          <a:ln w="12700">
            <a:solidFill>
              <a:srgbClr val="102A43"/>
            </a:solidFill>
            <a:prstDash val="solid"/>
          </a:ln>
        </p:spPr>
      </p:sp>
      <p:sp>
        <p:nvSpPr>
          <p:cNvPr id="25" name="s0_text_24"/>
          <p:cNvSpPr txBox="1"/>
          <p:nvPr/>
        </p:nvSpPr>
        <p:spPr>
          <a:xfrm>
            <a:off x="10221686" y="3657600"/>
            <a:ext cx="731520" cy="274320"/>
          </a:xfrm>
          <a:prstGeom prst="rect">
            <a:avLst/>
          </a:prstGeom>
          <a:noFill/>
          <a:ln/>
        </p:spPr>
        <p:txBody>
          <a:bodyPr wrap="square" lIns="0" tIns="0" rIns="0" bIns="0" rtlCol="0" anchor="t"/>
          <a:lstStyle/>
          <a:p>
            <a:pPr algn="ctr" indent="0" marL="0">
              <a:buNone/>
            </a:pPr>
            <a:r>
              <a:rPr lang="en-US" sz="1400" dirty="0">
                <a:solidFill>
                  <a:srgbClr val="627D98"/>
                </a:solidFill>
                <a:latin typeface="Aptos" pitchFamily="34" charset="0"/>
                <a:ea typeface="Aptos" pitchFamily="34" charset="-122"/>
                <a:cs typeface="Aptos" pitchFamily="34" charset="-120"/>
              </a:rPr>
              <a:t>130</a:t>
            </a:r>
            <a:endParaRPr lang="en-US" sz="1400" dirty="0"/>
          </a:p>
        </p:txBody>
      </p:sp>
      <p:sp>
        <p:nvSpPr>
          <p:cNvPr id="26" name="s0_text_25"/>
          <p:cNvSpPr txBox="1"/>
          <p:nvPr/>
        </p:nvSpPr>
        <p:spPr>
          <a:xfrm>
            <a:off x="7227026" y="3657600"/>
            <a:ext cx="1463040" cy="274320"/>
          </a:xfrm>
          <a:prstGeom prst="rect">
            <a:avLst/>
          </a:prstGeom>
          <a:noFill/>
          <a:ln/>
        </p:spPr>
        <p:txBody>
          <a:bodyPr wrap="square" lIns="0" tIns="0" rIns="0" bIns="0" rtlCol="0" anchor="t"/>
          <a:lstStyle/>
          <a:p>
            <a:pPr algn="ctr" indent="0" marL="0">
              <a:buNone/>
            </a:pPr>
            <a:r>
              <a:rPr lang="en-US" sz="1400" dirty="0">
                <a:solidFill>
                  <a:srgbClr val="627D98"/>
                </a:solidFill>
                <a:latin typeface="Aptos" pitchFamily="34" charset="0"/>
                <a:ea typeface="Aptos" pitchFamily="34" charset="-122"/>
                <a:cs typeface="Aptos" pitchFamily="34" charset="-120"/>
              </a:rPr>
              <a:t>RUL (cycles)</a:t>
            </a:r>
            <a:endParaRPr lang="en-US" sz="1400" dirty="0"/>
          </a:p>
        </p:txBody>
      </p:sp>
      <p:sp>
        <p:nvSpPr>
          <p:cNvPr id="27" name="s0_ell_26"/>
          <p:cNvSpPr/>
          <p:nvPr/>
        </p:nvSpPr>
        <p:spPr>
          <a:xfrm>
            <a:off x="5512199" y="2395728"/>
            <a:ext cx="310896" cy="310896"/>
          </a:xfrm>
          <a:prstGeom prst="ellipse">
            <a:avLst/>
          </a:prstGeom>
          <a:solidFill>
            <a:srgbClr val="00A6C8"/>
          </a:solidFill>
          <a:ln w="25400">
            <a:solidFill>
              <a:srgbClr val="FFFFFF"/>
            </a:solidFill>
            <a:prstDash val="solid"/>
          </a:ln>
        </p:spPr>
      </p:sp>
      <p:sp>
        <p:nvSpPr>
          <p:cNvPr id="28" name="s0_text_27"/>
          <p:cNvSpPr txBox="1"/>
          <p:nvPr/>
        </p:nvSpPr>
        <p:spPr>
          <a:xfrm>
            <a:off x="5941967" y="2340864"/>
            <a:ext cx="4754880" cy="411480"/>
          </a:xfrm>
          <a:prstGeom prst="rect">
            <a:avLst/>
          </a:prstGeom>
          <a:noFill/>
          <a:ln/>
        </p:spPr>
        <p:txBody>
          <a:bodyPr wrap="square" lIns="0" tIns="0" rIns="0" bIns="0" rtlCol="0" anchor="t"/>
          <a:lstStyle/>
          <a:p>
            <a:pPr algn="l" indent="0" marL="0">
              <a:buNone/>
            </a:pPr>
            <a:r>
              <a:rPr lang="en-US" sz="1800" b="1" dirty="0">
                <a:solidFill>
                  <a:srgbClr val="007E99"/>
                </a:solidFill>
                <a:latin typeface="Aptos" pitchFamily="34" charset="0"/>
                <a:ea typeface="Aptos" pitchFamily="34" charset="-122"/>
                <a:cs typeface="Aptos" pitchFamily="34" charset="-120"/>
              </a:rPr>
              <a:t>Predicted 64.5 cycles</a:t>
            </a:r>
            <a:pPr algn="l" indent="0" marL="0">
              <a:buNone/>
            </a:pPr>
            <a:r>
              <a:rPr lang="en-US" sz="1800" dirty="0">
                <a:solidFill>
                  <a:srgbClr val="007E99"/>
                </a:solidFill>
                <a:latin typeface="Aptos" pitchFamily="34" charset="0"/>
                <a:ea typeface="Aptos" pitchFamily="34" charset="-122"/>
                <a:cs typeface="Aptos" pitchFamily="34" charset="-120"/>
              </a:rPr>
              <a:t>  →  MEDIUM</a:t>
            </a:r>
            <a:endParaRPr lang="en-US" sz="1800" dirty="0"/>
          </a:p>
        </p:txBody>
      </p:sp>
      <p:sp>
        <p:nvSpPr>
          <p:cNvPr id="29" name="s1_ell_28"/>
          <p:cNvSpPr/>
          <p:nvPr/>
        </p:nvSpPr>
        <p:spPr>
          <a:xfrm>
            <a:off x="2770632" y="2999232"/>
            <a:ext cx="310896" cy="310896"/>
          </a:xfrm>
          <a:prstGeom prst="ellipse">
            <a:avLst/>
          </a:prstGeom>
          <a:solidFill>
            <a:srgbClr val="E45756"/>
          </a:solidFill>
          <a:ln w="25400">
            <a:solidFill>
              <a:srgbClr val="FFFFFF"/>
            </a:solidFill>
            <a:prstDash val="solid"/>
          </a:ln>
        </p:spPr>
      </p:sp>
      <p:sp>
        <p:nvSpPr>
          <p:cNvPr id="30" name="s1_text_29"/>
          <p:cNvSpPr txBox="1"/>
          <p:nvPr/>
        </p:nvSpPr>
        <p:spPr>
          <a:xfrm>
            <a:off x="3200400" y="2944368"/>
            <a:ext cx="5120640" cy="411480"/>
          </a:xfrm>
          <a:prstGeom prst="rect">
            <a:avLst/>
          </a:prstGeom>
          <a:noFill/>
          <a:ln/>
        </p:spPr>
        <p:txBody>
          <a:bodyPr wrap="square" lIns="0" tIns="0" rIns="0" bIns="0" rtlCol="0" anchor="t"/>
          <a:lstStyle/>
          <a:p>
            <a:pPr algn="l" indent="0" marL="0">
              <a:buNone/>
            </a:pPr>
            <a:r>
              <a:rPr lang="en-US" sz="1800" b="1" dirty="0">
                <a:solidFill>
                  <a:srgbClr val="E45756"/>
                </a:solidFill>
                <a:latin typeface="Aptos" pitchFamily="34" charset="0"/>
                <a:ea typeface="Aptos" pitchFamily="34" charset="-122"/>
                <a:cs typeface="Aptos" pitchFamily="34" charset="-120"/>
              </a:rPr>
              <a:t>Observed 28 cycles</a:t>
            </a:r>
            <a:pPr algn="l" indent="0" marL="0">
              <a:buNone/>
            </a:pPr>
            <a:r>
              <a:rPr lang="en-US" sz="1800" dirty="0">
                <a:solidFill>
                  <a:srgbClr val="E45756"/>
                </a:solidFill>
                <a:latin typeface="Aptos" pitchFamily="34" charset="0"/>
                <a:ea typeface="Aptos" pitchFamily="34" charset="-122"/>
                <a:cs typeface="Aptos" pitchFamily="34" charset="-120"/>
              </a:rPr>
              <a:t>  →  CRITICAL</a:t>
            </a:r>
            <a:endParaRPr lang="en-US" sz="1800" dirty="0"/>
          </a:p>
        </p:txBody>
      </p:sp>
      <p:sp>
        <p:nvSpPr>
          <p:cNvPr id="31" name="s1_line_30"/>
          <p:cNvSpPr/>
          <p:nvPr/>
        </p:nvSpPr>
        <p:spPr>
          <a:xfrm>
            <a:off x="2926080" y="4041648"/>
            <a:ext cx="2741567" cy="91"/>
          </a:xfrm>
          <a:prstGeom prst="line">
            <a:avLst/>
          </a:prstGeom>
          <a:noFill/>
          <a:ln w="19050">
            <a:solidFill>
              <a:srgbClr val="E45756"/>
            </a:solidFill>
            <a:prstDash val="solid"/>
          </a:ln>
        </p:spPr>
      </p:sp>
      <p:sp>
        <p:nvSpPr>
          <p:cNvPr id="32" name="s1_line_31"/>
          <p:cNvSpPr/>
          <p:nvPr/>
        </p:nvSpPr>
        <p:spPr>
          <a:xfrm>
            <a:off x="2926080" y="3950208"/>
            <a:ext cx="91" cy="182880"/>
          </a:xfrm>
          <a:prstGeom prst="line">
            <a:avLst/>
          </a:prstGeom>
          <a:noFill/>
          <a:ln w="19050">
            <a:solidFill>
              <a:srgbClr val="E45756"/>
            </a:solidFill>
            <a:prstDash val="solid"/>
          </a:ln>
        </p:spPr>
      </p:sp>
      <p:sp>
        <p:nvSpPr>
          <p:cNvPr id="33" name="s1_line_32"/>
          <p:cNvSpPr/>
          <p:nvPr/>
        </p:nvSpPr>
        <p:spPr>
          <a:xfrm>
            <a:off x="5667647" y="3950208"/>
            <a:ext cx="91" cy="182880"/>
          </a:xfrm>
          <a:prstGeom prst="line">
            <a:avLst/>
          </a:prstGeom>
          <a:noFill/>
          <a:ln w="19050">
            <a:solidFill>
              <a:srgbClr val="E45756"/>
            </a:solidFill>
            <a:prstDash val="solid"/>
          </a:ln>
        </p:spPr>
      </p:sp>
      <p:sp>
        <p:nvSpPr>
          <p:cNvPr id="34" name="s1_text_33"/>
          <p:cNvSpPr txBox="1"/>
          <p:nvPr/>
        </p:nvSpPr>
        <p:spPr>
          <a:xfrm>
            <a:off x="5850527" y="3904488"/>
            <a:ext cx="5486400" cy="329184"/>
          </a:xfrm>
          <a:prstGeom prst="rect">
            <a:avLst/>
          </a:prstGeom>
          <a:noFill/>
          <a:ln/>
        </p:spPr>
        <p:txBody>
          <a:bodyPr wrap="square" lIns="0" tIns="0" rIns="0" bIns="0" rtlCol="0" anchor="t"/>
          <a:lstStyle/>
          <a:p>
            <a:pPr algn="l" indent="0" marL="0">
              <a:buNone/>
            </a:pPr>
            <a:r>
              <a:rPr lang="en-US" sz="1600" b="1" dirty="0">
                <a:solidFill>
                  <a:srgbClr val="E45756"/>
                </a:solidFill>
                <a:latin typeface="Aptos" pitchFamily="34" charset="0"/>
                <a:ea typeface="Aptos" pitchFamily="34" charset="-122"/>
                <a:cs typeface="Aptos" pitchFamily="34" charset="-120"/>
              </a:rPr>
              <a:t>prediction − actual = +36.5 cycles (optimistic)</a:t>
            </a:r>
            <a:endParaRPr lang="en-US" sz="1600" dirty="0"/>
          </a:p>
        </p:txBody>
      </p:sp>
      <p:sp>
        <p:nvSpPr>
          <p:cNvPr id="35" name="s2_rect_34"/>
          <p:cNvSpPr/>
          <p:nvPr/>
        </p:nvSpPr>
        <p:spPr>
          <a:xfrm>
            <a:off x="548640" y="4617720"/>
            <a:ext cx="5440680" cy="1051560"/>
          </a:xfrm>
          <a:prstGeom prst="roundRect">
            <a:avLst>
              <a:gd name="adj" fmla="val 6957"/>
            </a:avLst>
          </a:prstGeom>
          <a:solidFill>
            <a:srgbClr val="FEF4DE"/>
          </a:solidFill>
          <a:ln/>
        </p:spPr>
      </p:sp>
      <p:sp>
        <p:nvSpPr>
          <p:cNvPr id="36" name="s2_text_35"/>
          <p:cNvSpPr txBox="1"/>
          <p:nvPr/>
        </p:nvSpPr>
        <p:spPr>
          <a:xfrm>
            <a:off x="777240" y="4727448"/>
            <a:ext cx="5029200" cy="1234440"/>
          </a:xfrm>
          <a:prstGeom prst="rect">
            <a:avLst/>
          </a:prstGeom>
          <a:noFill/>
          <a:ln/>
        </p:spPr>
        <p:txBody>
          <a:bodyPr wrap="square" lIns="0" tIns="0" rIns="0" bIns="0" rtlCol="0" anchor="t"/>
          <a:lstStyle/>
          <a:p>
            <a:pPr algn="l" indent="0" marL="0">
              <a:buNone/>
            </a:pPr>
            <a:r>
              <a:rPr lang="en-US" sz="1800" b="1" dirty="0">
                <a:solidFill>
                  <a:srgbClr val="9A6700"/>
                </a:solidFill>
                <a:latin typeface="Aptos" pitchFamily="34" charset="0"/>
                <a:ea typeface="Aptos" pitchFamily="34" charset="-122"/>
                <a:cs typeface="Aptos" pitchFamily="34" charset="-120"/>
              </a:rPr>
              <a:t>No interval</a:t>
            </a:r>
            <a:endParaRPr lang="en-US" sz="1800" dirty="0"/>
          </a:p>
          <a:p>
            <a:pPr algn="l" indent="0" marL="0">
              <a:buNone/>
            </a:pPr>
            <a:r>
              <a:rPr lang="en-US" sz="1600" dirty="0">
                <a:solidFill>
                  <a:srgbClr val="102A43"/>
                </a:solidFill>
                <a:latin typeface="Aptos" pitchFamily="34" charset="0"/>
                <a:ea typeface="Aptos" pitchFamily="34" charset="-122"/>
                <a:cs typeface="Aptos" pitchFamily="34" charset="-120"/>
              </a:rPr>
              <a:t>The reviewer cannot see how far 64.5 could be wrong.</a:t>
            </a:r>
            <a:endParaRPr lang="en-US" sz="1800" dirty="0"/>
          </a:p>
        </p:txBody>
      </p:sp>
      <p:sp>
        <p:nvSpPr>
          <p:cNvPr id="37" name="s2_rect_36"/>
          <p:cNvSpPr/>
          <p:nvPr/>
        </p:nvSpPr>
        <p:spPr>
          <a:xfrm>
            <a:off x="6199632" y="4617720"/>
            <a:ext cx="5440680" cy="1051560"/>
          </a:xfrm>
          <a:prstGeom prst="roundRect">
            <a:avLst>
              <a:gd name="adj" fmla="val 6957"/>
            </a:avLst>
          </a:prstGeom>
          <a:solidFill>
            <a:srgbClr val="E2F4F1"/>
          </a:solidFill>
          <a:ln/>
        </p:spPr>
      </p:sp>
      <p:sp>
        <p:nvSpPr>
          <p:cNvPr id="38" name="s2_text_37"/>
          <p:cNvSpPr txBox="1"/>
          <p:nvPr/>
        </p:nvSpPr>
        <p:spPr>
          <a:xfrm>
            <a:off x="6428232" y="4727448"/>
            <a:ext cx="5029200" cy="1234440"/>
          </a:xfrm>
          <a:prstGeom prst="rect">
            <a:avLst/>
          </a:prstGeom>
          <a:noFill/>
          <a:ln/>
        </p:spPr>
        <p:txBody>
          <a:bodyPr wrap="square" lIns="0" tIns="0" rIns="0" bIns="0" rtlCol="0" anchor="t"/>
          <a:lstStyle/>
          <a:p>
            <a:pPr algn="l" indent="0" marL="0">
              <a:buNone/>
            </a:pPr>
            <a:r>
              <a:rPr lang="en-US" sz="1800" b="1" dirty="0">
                <a:solidFill>
                  <a:srgbClr val="0B7A6A"/>
                </a:solidFill>
                <a:latin typeface="Aptos" pitchFamily="34" charset="0"/>
                <a:ea typeface="Aptos" pitchFamily="34" charset="-122"/>
                <a:cs typeface="Aptos" pitchFamily="34" charset="-120"/>
              </a:rPr>
              <a:t>No forced review</a:t>
            </a:r>
            <a:endParaRPr lang="en-US" sz="1800" dirty="0"/>
          </a:p>
          <a:p>
            <a:pPr algn="l" indent="0" marL="0">
              <a:buNone/>
            </a:pPr>
            <a:r>
              <a:rPr lang="en-US" sz="1600" dirty="0">
                <a:solidFill>
                  <a:srgbClr val="102A43"/>
                </a:solidFill>
                <a:latin typeface="Aptos" pitchFamily="34" charset="0"/>
                <a:ea typeface="Aptos" pitchFamily="34" charset="-122"/>
                <a:cs typeface="Aptos" pitchFamily="34" charset="-120"/>
              </a:rPr>
              <a:t>A MEDIUM label alone joins the routine queue — no mandatory human check.</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9"/>
                                        </p:tgtEl>
                                        <p:attrNameLst>
                                          <p:attrName>style.visibility</p:attrName>
                                        </p:attrNameLst>
                                      </p:cBhvr>
                                      <p:to>
                                        <p:strVal val="visible"/>
                                      </p:to>
                                    </p:set>
                                    <p:animEffect transition="in" filter="fade">
                                      <p:cBhvr>
                                        <p:cTn id="5" dur="400"/>
                                        <p:tgtEl>
                                          <p:spTgt spid="2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0"/>
                                        </p:tgtEl>
                                        <p:attrNameLst>
                                          <p:attrName>style.visibility</p:attrName>
                                        </p:attrNameLst>
                                      </p:cBhvr>
                                      <p:to>
                                        <p:strVal val="visible"/>
                                      </p:to>
                                    </p:set>
                                    <p:animEffect transition="in" filter="fade">
                                      <p:cBhvr>
                                        <p:cTn id="8" dur="400"/>
                                        <p:tgtEl>
                                          <p:spTgt spid="3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4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400"/>
                                        <p:tgtEl>
                                          <p:spTgt spid="3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fade">
                                      <p:cBhvr>
                                        <p:cTn id="20" dur="400"/>
                                        <p:tgtEl>
                                          <p:spTgt spid="34"/>
                                        </p:tgtEl>
                                      </p:cBhvr>
                                    </p:animEffect>
                                  </p:childTnLst>
                                </p:cTn>
                              </p:par>
                            </p:childTnLst>
                          </p:cTn>
                        </p:par>
                      </p:childTnLst>
                    </p:cTn>
                  </p:par>
                  <p:par>
                    <p:cTn id="35" fill="hold">
                      <p:stCondLst>
                        <p:cond delay="indefinite"/>
                      </p:stCondLst>
                      <p:childTnLst>
                        <p:par>
                          <p:cTn id="36"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4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40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400"/>
                                        <p:tgtEl>
                                          <p:spTgt spid="3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2 · RELATED WORK</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The gap is governed integration, not a new algorithm</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Targeted narrative review (§3.1–3.7, Table 3.1) — not a systematic review</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references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3 / 13</a:t>
            </a:r>
            <a:endParaRPr lang="en-US" sz="1100" dirty="0"/>
          </a:p>
        </p:txBody>
      </p:sp>
      <p:sp>
        <p:nvSpPr>
          <p:cNvPr id="8" name="s0_text_7"/>
          <p:cNvSpPr txBox="1"/>
          <p:nvPr/>
        </p:nvSpPr>
        <p:spPr>
          <a:xfrm>
            <a:off x="548640" y="1325880"/>
            <a:ext cx="5120640" cy="292608"/>
          </a:xfrm>
          <a:prstGeom prst="rect">
            <a:avLst/>
          </a:prstGeom>
          <a:noFill/>
          <a:ln/>
        </p:spPr>
        <p:txBody>
          <a:bodyPr wrap="square" lIns="0" tIns="0" rIns="0" bIns="0" rtlCol="0" anchor="t"/>
          <a:lstStyle/>
          <a:p>
            <a:pPr algn="l" indent="0" marL="0">
              <a:buNone/>
            </a:pPr>
            <a:r>
              <a:rPr lang="en-US" sz="1400" b="1" dirty="0">
                <a:solidFill>
                  <a:srgbClr val="627D98"/>
                </a:solidFill>
                <a:latin typeface="Aptos" pitchFamily="34" charset="0"/>
                <a:ea typeface="Aptos" pitchFamily="34" charset="-122"/>
                <a:cs typeface="Aptos" pitchFamily="34" charset="-120"/>
              </a:rPr>
              <a:t>Established components</a:t>
            </a:r>
            <a:endParaRPr lang="en-US" sz="1400" dirty="0"/>
          </a:p>
        </p:txBody>
      </p:sp>
      <p:sp>
        <p:nvSpPr>
          <p:cNvPr id="9" name="s0_rect_8"/>
          <p:cNvSpPr/>
          <p:nvPr/>
        </p:nvSpPr>
        <p:spPr>
          <a:xfrm>
            <a:off x="548640" y="1691640"/>
            <a:ext cx="5120640" cy="749808"/>
          </a:xfrm>
          <a:prstGeom prst="roundRect">
            <a:avLst>
              <a:gd name="adj" fmla="val 7317"/>
            </a:avLst>
          </a:prstGeom>
          <a:solidFill>
            <a:srgbClr val="FFFFFF"/>
          </a:solidFill>
          <a:ln w="12700">
            <a:solidFill>
              <a:srgbClr val="D9E2EC"/>
            </a:solidFill>
            <a:prstDash val="solid"/>
          </a:ln>
        </p:spPr>
      </p:sp>
      <p:sp>
        <p:nvSpPr>
          <p:cNvPr id="10" name="s0_text_9"/>
          <p:cNvSpPr txBox="1"/>
          <p:nvPr/>
        </p:nvSpPr>
        <p:spPr>
          <a:xfrm>
            <a:off x="777240" y="1773936"/>
            <a:ext cx="4754880" cy="64008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RUL prediction</a:t>
            </a:r>
            <a:endParaRPr lang="en-US" sz="1700" dirty="0"/>
          </a:p>
          <a:p>
            <a:pPr algn="l" indent="0" marL="0">
              <a:buNone/>
            </a:pPr>
            <a:r>
              <a:rPr lang="en-US" sz="1200" dirty="0">
                <a:solidFill>
                  <a:srgbClr val="627D98"/>
                </a:solidFill>
                <a:latin typeface="Aptos" pitchFamily="34" charset="0"/>
                <a:ea typeface="Aptos" pitchFamily="34" charset="-122"/>
                <a:cs typeface="Aptos" pitchFamily="34" charset="-120"/>
              </a:rPr>
              <a:t>Saxena et al. (2008a); Ramasso and Saxena (2014)</a:t>
            </a:r>
            <a:endParaRPr lang="en-US" sz="1700" dirty="0"/>
          </a:p>
        </p:txBody>
      </p:sp>
      <p:sp>
        <p:nvSpPr>
          <p:cNvPr id="11" name="s0_rect_10"/>
          <p:cNvSpPr/>
          <p:nvPr/>
        </p:nvSpPr>
        <p:spPr>
          <a:xfrm>
            <a:off x="548640" y="2560320"/>
            <a:ext cx="5120640" cy="749808"/>
          </a:xfrm>
          <a:prstGeom prst="roundRect">
            <a:avLst>
              <a:gd name="adj" fmla="val 7317"/>
            </a:avLst>
          </a:prstGeom>
          <a:solidFill>
            <a:srgbClr val="FFFFFF"/>
          </a:solidFill>
          <a:ln w="12700">
            <a:solidFill>
              <a:srgbClr val="D9E2EC"/>
            </a:solidFill>
            <a:prstDash val="solid"/>
          </a:ln>
        </p:spPr>
      </p:sp>
      <p:sp>
        <p:nvSpPr>
          <p:cNvPr id="12" name="s0_text_11"/>
          <p:cNvSpPr txBox="1"/>
          <p:nvPr/>
        </p:nvSpPr>
        <p:spPr>
          <a:xfrm>
            <a:off x="777240" y="2642616"/>
            <a:ext cx="4754880" cy="64008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Predictive uncertainty</a:t>
            </a:r>
            <a:endParaRPr lang="en-US" sz="1700" dirty="0"/>
          </a:p>
          <a:p>
            <a:pPr algn="l" indent="0" marL="0">
              <a:buNone/>
            </a:pPr>
            <a:r>
              <a:rPr lang="en-US" sz="1200" dirty="0">
                <a:solidFill>
                  <a:srgbClr val="627D98"/>
                </a:solidFill>
                <a:latin typeface="Aptos" pitchFamily="34" charset="0"/>
                <a:ea typeface="Aptos" pitchFamily="34" charset="-122"/>
                <a:cs typeface="Aptos" pitchFamily="34" charset="-120"/>
              </a:rPr>
              <a:t>Angelopoulos and Bates (2023); Javanmardi and Hüllermeier (2023)</a:t>
            </a:r>
            <a:endParaRPr lang="en-US" sz="1700" dirty="0"/>
          </a:p>
        </p:txBody>
      </p:sp>
      <p:sp>
        <p:nvSpPr>
          <p:cNvPr id="13" name="s0_rect_12"/>
          <p:cNvSpPr/>
          <p:nvPr/>
        </p:nvSpPr>
        <p:spPr>
          <a:xfrm>
            <a:off x="548640" y="3429000"/>
            <a:ext cx="5120640" cy="749808"/>
          </a:xfrm>
          <a:prstGeom prst="roundRect">
            <a:avLst>
              <a:gd name="adj" fmla="val 7317"/>
            </a:avLst>
          </a:prstGeom>
          <a:solidFill>
            <a:srgbClr val="FFFFFF"/>
          </a:solidFill>
          <a:ln w="12700">
            <a:solidFill>
              <a:srgbClr val="D9E2EC"/>
            </a:solidFill>
            <a:prstDash val="solid"/>
          </a:ln>
        </p:spPr>
      </p:sp>
      <p:sp>
        <p:nvSpPr>
          <p:cNvPr id="14" name="s0_text_13"/>
          <p:cNvSpPr txBox="1"/>
          <p:nvPr/>
        </p:nvSpPr>
        <p:spPr>
          <a:xfrm>
            <a:off x="777240" y="3511296"/>
            <a:ext cx="4754880" cy="64008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Explainability</a:t>
            </a:r>
            <a:endParaRPr lang="en-US" sz="1700" dirty="0"/>
          </a:p>
          <a:p>
            <a:pPr algn="l" indent="0" marL="0">
              <a:buNone/>
            </a:pPr>
            <a:r>
              <a:rPr lang="en-US" sz="1200" dirty="0">
                <a:solidFill>
                  <a:srgbClr val="627D98"/>
                </a:solidFill>
                <a:latin typeface="Aptos" pitchFamily="34" charset="0"/>
                <a:ea typeface="Aptos" pitchFamily="34" charset="-122"/>
                <a:cs typeface="Aptos" pitchFamily="34" charset="-120"/>
              </a:rPr>
              <a:t>Lundberg and Lee (2017); Vollert, Atzmueller and Theissler (2021)</a:t>
            </a:r>
            <a:endParaRPr lang="en-US" sz="1700" dirty="0"/>
          </a:p>
        </p:txBody>
      </p:sp>
      <p:sp>
        <p:nvSpPr>
          <p:cNvPr id="15" name="s0_rect_14"/>
          <p:cNvSpPr/>
          <p:nvPr/>
        </p:nvSpPr>
        <p:spPr>
          <a:xfrm>
            <a:off x="548640" y="4297680"/>
            <a:ext cx="5120640" cy="749808"/>
          </a:xfrm>
          <a:prstGeom prst="roundRect">
            <a:avLst>
              <a:gd name="adj" fmla="val 7317"/>
            </a:avLst>
          </a:prstGeom>
          <a:solidFill>
            <a:srgbClr val="FFFFFF"/>
          </a:solidFill>
          <a:ln w="12700">
            <a:solidFill>
              <a:srgbClr val="D9E2EC"/>
            </a:solidFill>
            <a:prstDash val="solid"/>
          </a:ln>
        </p:spPr>
      </p:sp>
      <p:sp>
        <p:nvSpPr>
          <p:cNvPr id="16" name="s0_text_15"/>
          <p:cNvSpPr txBox="1"/>
          <p:nvPr/>
        </p:nvSpPr>
        <p:spPr>
          <a:xfrm>
            <a:off x="777240" y="4379976"/>
            <a:ext cx="4754880" cy="64008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Maintenance prioritisation</a:t>
            </a:r>
            <a:endParaRPr lang="en-US" sz="1700" dirty="0"/>
          </a:p>
          <a:p>
            <a:pPr algn="l" indent="0" marL="0">
              <a:buNone/>
            </a:pPr>
            <a:r>
              <a:rPr lang="en-US" sz="1200" dirty="0">
                <a:solidFill>
                  <a:srgbClr val="627D98"/>
                </a:solidFill>
                <a:latin typeface="Aptos" pitchFamily="34" charset="0"/>
                <a:ea typeface="Aptos" pitchFamily="34" charset="-122"/>
                <a:cs typeface="Aptos" pitchFamily="34" charset="-120"/>
              </a:rPr>
              <a:t>Jardine, Lin and Banjevic (2006); ISO 17359 (ISO, 2018a)</a:t>
            </a:r>
            <a:endParaRPr lang="en-US" sz="1700" dirty="0"/>
          </a:p>
        </p:txBody>
      </p:sp>
      <p:sp>
        <p:nvSpPr>
          <p:cNvPr id="17" name="s0_rect_16"/>
          <p:cNvSpPr/>
          <p:nvPr/>
        </p:nvSpPr>
        <p:spPr>
          <a:xfrm>
            <a:off x="548640" y="5166360"/>
            <a:ext cx="5120640" cy="749808"/>
          </a:xfrm>
          <a:prstGeom prst="roundRect">
            <a:avLst>
              <a:gd name="adj" fmla="val 7317"/>
            </a:avLst>
          </a:prstGeom>
          <a:solidFill>
            <a:srgbClr val="FFFFFF"/>
          </a:solidFill>
          <a:ln w="12700">
            <a:solidFill>
              <a:srgbClr val="D9E2EC"/>
            </a:solidFill>
            <a:prstDash val="solid"/>
          </a:ln>
        </p:spPr>
      </p:sp>
      <p:sp>
        <p:nvSpPr>
          <p:cNvPr id="18" name="s0_text_17"/>
          <p:cNvSpPr txBox="1"/>
          <p:nvPr/>
        </p:nvSpPr>
        <p:spPr>
          <a:xfrm>
            <a:off x="777240" y="5248656"/>
            <a:ext cx="4754880" cy="64008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Human oversight</a:t>
            </a:r>
            <a:endParaRPr lang="en-US" sz="1700" dirty="0"/>
          </a:p>
          <a:p>
            <a:pPr algn="l" indent="0" marL="0">
              <a:buNone/>
            </a:pPr>
            <a:r>
              <a:rPr lang="en-US" sz="1200" dirty="0">
                <a:solidFill>
                  <a:srgbClr val="627D98"/>
                </a:solidFill>
                <a:latin typeface="Aptos" pitchFamily="34" charset="0"/>
                <a:ea typeface="Aptos" pitchFamily="34" charset="-122"/>
                <a:cs typeface="Aptos" pitchFamily="34" charset="-120"/>
              </a:rPr>
              <a:t>Parasuraman, Sheridan and Wickens (2000); Shneiderman (2020)</a:t>
            </a:r>
            <a:endParaRPr lang="en-US" sz="1700" dirty="0"/>
          </a:p>
        </p:txBody>
      </p:sp>
      <p:sp>
        <p:nvSpPr>
          <p:cNvPr id="19" name="s1_line_18"/>
          <p:cNvSpPr/>
          <p:nvPr/>
        </p:nvSpPr>
        <p:spPr>
          <a:xfrm>
            <a:off x="5806440" y="3794760"/>
            <a:ext cx="594360" cy="91"/>
          </a:xfrm>
          <a:prstGeom prst="line">
            <a:avLst/>
          </a:prstGeom>
          <a:noFill/>
          <a:ln w="31750">
            <a:solidFill>
              <a:srgbClr val="00A6C8"/>
            </a:solidFill>
            <a:prstDash val="solid"/>
            <a:tailEnd type="triangle"/>
          </a:ln>
        </p:spPr>
      </p:sp>
      <p:sp>
        <p:nvSpPr>
          <p:cNvPr id="20" name="s1_rect_19"/>
          <p:cNvSpPr/>
          <p:nvPr/>
        </p:nvSpPr>
        <p:spPr>
          <a:xfrm>
            <a:off x="6537960" y="1325880"/>
            <a:ext cx="5102352" cy="4773168"/>
          </a:xfrm>
          <a:prstGeom prst="roundRect">
            <a:avLst>
              <a:gd name="adj" fmla="val 1533"/>
            </a:avLst>
          </a:prstGeom>
          <a:solidFill>
            <a:srgbClr val="FFFFFF"/>
          </a:solidFill>
          <a:ln w="19050">
            <a:solidFill>
              <a:srgbClr val="00A6C8"/>
            </a:solidFill>
            <a:prstDash val="solid"/>
          </a:ln>
        </p:spPr>
      </p:sp>
      <p:sp>
        <p:nvSpPr>
          <p:cNvPr id="21" name="s1_text_20"/>
          <p:cNvSpPr txBox="1"/>
          <p:nvPr/>
        </p:nvSpPr>
        <p:spPr>
          <a:xfrm>
            <a:off x="6766560" y="1463040"/>
            <a:ext cx="4663440" cy="566928"/>
          </a:xfrm>
          <a:prstGeom prst="rect">
            <a:avLst/>
          </a:prstGeom>
          <a:noFill/>
          <a:ln/>
        </p:spPr>
        <p:txBody>
          <a:bodyPr wrap="square" lIns="0" tIns="0" rIns="0" bIns="0" rtlCol="0" anchor="t"/>
          <a:lstStyle/>
          <a:p>
            <a:pPr algn="l" indent="0" marL="0">
              <a:buNone/>
            </a:pPr>
            <a:r>
              <a:rPr lang="en-US" sz="1800" b="1" dirty="0">
                <a:solidFill>
                  <a:srgbClr val="007E99"/>
                </a:solidFill>
                <a:latin typeface="Aptos" pitchFamily="34" charset="0"/>
                <a:ea typeface="Aptos" pitchFamily="34" charset="-122"/>
                <a:cs typeface="Aptos" pitchFamily="34" charset="-120"/>
              </a:rPr>
              <a:t>Contribution: evaluated integration and governance</a:t>
            </a:r>
            <a:endParaRPr lang="en-US" sz="1800" dirty="0"/>
          </a:p>
        </p:txBody>
      </p:sp>
      <p:sp>
        <p:nvSpPr>
          <p:cNvPr id="22" name="s1_ell_21"/>
          <p:cNvSpPr/>
          <p:nvPr/>
        </p:nvSpPr>
        <p:spPr>
          <a:xfrm>
            <a:off x="6812280" y="2276856"/>
            <a:ext cx="118872" cy="118872"/>
          </a:xfrm>
          <a:prstGeom prst="ellipse">
            <a:avLst/>
          </a:prstGeom>
          <a:solidFill>
            <a:srgbClr val="00A6C8"/>
          </a:solidFill>
          <a:ln/>
        </p:spPr>
      </p:sp>
      <p:sp>
        <p:nvSpPr>
          <p:cNvPr id="23" name="s1_text_22"/>
          <p:cNvSpPr txBox="1"/>
          <p:nvPr/>
        </p:nvSpPr>
        <p:spPr>
          <a:xfrm>
            <a:off x="7059168" y="21945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Engine-safe modelling</a:t>
            </a:r>
            <a:endParaRPr lang="en-US" sz="1600" dirty="0"/>
          </a:p>
        </p:txBody>
      </p:sp>
      <p:sp>
        <p:nvSpPr>
          <p:cNvPr id="24" name="s1_ell_23"/>
          <p:cNvSpPr/>
          <p:nvPr/>
        </p:nvSpPr>
        <p:spPr>
          <a:xfrm>
            <a:off x="6812280" y="2734056"/>
            <a:ext cx="118872" cy="118872"/>
          </a:xfrm>
          <a:prstGeom prst="ellipse">
            <a:avLst/>
          </a:prstGeom>
          <a:solidFill>
            <a:srgbClr val="00A6C8"/>
          </a:solidFill>
          <a:ln/>
        </p:spPr>
      </p:sp>
      <p:sp>
        <p:nvSpPr>
          <p:cNvPr id="25" name="s1_text_24"/>
          <p:cNvSpPr txBox="1"/>
          <p:nvPr/>
        </p:nvSpPr>
        <p:spPr>
          <a:xfrm>
            <a:off x="7059168" y="26517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Explicit age-only baseline</a:t>
            </a:r>
            <a:endParaRPr lang="en-US" sz="1600" dirty="0"/>
          </a:p>
        </p:txBody>
      </p:sp>
      <p:sp>
        <p:nvSpPr>
          <p:cNvPr id="26" name="s1_ell_25"/>
          <p:cNvSpPr/>
          <p:nvPr/>
        </p:nvSpPr>
        <p:spPr>
          <a:xfrm>
            <a:off x="6812280" y="3191256"/>
            <a:ext cx="118872" cy="118872"/>
          </a:xfrm>
          <a:prstGeom prst="ellipse">
            <a:avLst/>
          </a:prstGeom>
          <a:solidFill>
            <a:srgbClr val="00A6C8"/>
          </a:solidFill>
          <a:ln/>
        </p:spPr>
      </p:sp>
      <p:sp>
        <p:nvSpPr>
          <p:cNvPr id="27" name="s1_text_26"/>
          <p:cNvSpPr txBox="1"/>
          <p:nvPr/>
        </p:nvSpPr>
        <p:spPr>
          <a:xfrm>
            <a:off x="7059168" y="31089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Frozen model selection</a:t>
            </a:r>
            <a:endParaRPr lang="en-US" sz="1600" dirty="0"/>
          </a:p>
        </p:txBody>
      </p:sp>
      <p:sp>
        <p:nvSpPr>
          <p:cNvPr id="28" name="s1_ell_27"/>
          <p:cNvSpPr/>
          <p:nvPr/>
        </p:nvSpPr>
        <p:spPr>
          <a:xfrm>
            <a:off x="6812280" y="3648456"/>
            <a:ext cx="118872" cy="118872"/>
          </a:xfrm>
          <a:prstGeom prst="ellipse">
            <a:avLst/>
          </a:prstGeom>
          <a:solidFill>
            <a:srgbClr val="00A6C8"/>
          </a:solidFill>
          <a:ln/>
        </p:spPr>
      </p:sp>
      <p:sp>
        <p:nvSpPr>
          <p:cNvPr id="29" name="s1_text_28"/>
          <p:cNvSpPr txBox="1"/>
          <p:nvPr/>
        </p:nvSpPr>
        <p:spPr>
          <a:xfrm>
            <a:off x="7059168" y="35661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Whole-engine uncertainty</a:t>
            </a:r>
            <a:endParaRPr lang="en-US" sz="1600" dirty="0"/>
          </a:p>
        </p:txBody>
      </p:sp>
      <p:sp>
        <p:nvSpPr>
          <p:cNvPr id="30" name="s1_ell_29"/>
          <p:cNvSpPr/>
          <p:nvPr/>
        </p:nvSpPr>
        <p:spPr>
          <a:xfrm>
            <a:off x="6812280" y="4105656"/>
            <a:ext cx="118872" cy="118872"/>
          </a:xfrm>
          <a:prstGeom prst="ellipse">
            <a:avLst/>
          </a:prstGeom>
          <a:solidFill>
            <a:srgbClr val="0E9F8A"/>
          </a:solidFill>
          <a:ln/>
        </p:spPr>
      </p:sp>
      <p:sp>
        <p:nvSpPr>
          <p:cNvPr id="31" name="s1_text_30"/>
          <p:cNvSpPr txBox="1"/>
          <p:nvPr/>
        </p:nvSpPr>
        <p:spPr>
          <a:xfrm>
            <a:off x="7059168" y="40233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Checked SHAP interpretation</a:t>
            </a:r>
            <a:endParaRPr lang="en-US" sz="1600" dirty="0"/>
          </a:p>
        </p:txBody>
      </p:sp>
      <p:sp>
        <p:nvSpPr>
          <p:cNvPr id="32" name="s1_ell_31"/>
          <p:cNvSpPr/>
          <p:nvPr/>
        </p:nvSpPr>
        <p:spPr>
          <a:xfrm>
            <a:off x="6812280" y="4562856"/>
            <a:ext cx="118872" cy="118872"/>
          </a:xfrm>
          <a:prstGeom prst="ellipse">
            <a:avLst/>
          </a:prstGeom>
          <a:solidFill>
            <a:srgbClr val="0E9F8A"/>
          </a:solidFill>
          <a:ln/>
        </p:spPr>
      </p:sp>
      <p:sp>
        <p:nvSpPr>
          <p:cNvPr id="33" name="s1_text_32"/>
          <p:cNvSpPr txBox="1"/>
          <p:nvPr/>
        </p:nvSpPr>
        <p:spPr>
          <a:xfrm>
            <a:off x="7059168" y="44805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Review-burden measurement</a:t>
            </a:r>
            <a:endParaRPr lang="en-US" sz="1600" dirty="0"/>
          </a:p>
        </p:txBody>
      </p:sp>
      <p:sp>
        <p:nvSpPr>
          <p:cNvPr id="34" name="s1_ell_33"/>
          <p:cNvSpPr/>
          <p:nvPr/>
        </p:nvSpPr>
        <p:spPr>
          <a:xfrm>
            <a:off x="6812280" y="5020056"/>
            <a:ext cx="118872" cy="118872"/>
          </a:xfrm>
          <a:prstGeom prst="ellipse">
            <a:avLst/>
          </a:prstGeom>
          <a:solidFill>
            <a:srgbClr val="0E9F8A"/>
          </a:solidFill>
          <a:ln/>
        </p:spPr>
      </p:sp>
      <p:sp>
        <p:nvSpPr>
          <p:cNvPr id="35" name="s1_text_34"/>
          <p:cNvSpPr txBox="1"/>
          <p:nvPr/>
        </p:nvSpPr>
        <p:spPr>
          <a:xfrm>
            <a:off x="7059168" y="4937760"/>
            <a:ext cx="4480560" cy="310896"/>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Traceable human authority</a:t>
            </a:r>
            <a:endParaRPr lang="en-US" sz="1600" dirty="0"/>
          </a:p>
        </p:txBody>
      </p:sp>
      <p:sp>
        <p:nvSpPr>
          <p:cNvPr id="36" name="s1_text_35"/>
          <p:cNvSpPr txBox="1"/>
          <p:nvPr/>
        </p:nvSpPr>
        <p:spPr>
          <a:xfrm>
            <a:off x="6766560" y="5440680"/>
            <a:ext cx="4663440" cy="566928"/>
          </a:xfrm>
          <a:prstGeom prst="rect">
            <a:avLst/>
          </a:prstGeom>
          <a:noFill/>
          <a:ln/>
        </p:spPr>
        <p:txBody>
          <a:bodyPr wrap="square" lIns="0" tIns="0" rIns="0" bIns="0" rtlCol="0" anchor="t"/>
          <a:lstStyle/>
          <a:p>
            <a:pPr algn="l" indent="0" marL="0">
              <a:buNone/>
            </a:pPr>
            <a:r>
              <a:rPr lang="en-US" sz="1300" i="1" dirty="0">
                <a:solidFill>
                  <a:srgbClr val="627D98"/>
                </a:solidFill>
                <a:latin typeface="Aptos" pitchFamily="34" charset="0"/>
                <a:ea typeface="Aptos" pitchFamily="34" charset="-122"/>
                <a:cs typeface="Aptos" pitchFamily="34" charset="-120"/>
              </a:rPr>
              <a:t>Claimed: a transparent, bounded combination and its measured limits — not state-of-the-art accuracy (§3.7)</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400"/>
                                        <p:tgtEl>
                                          <p:spTgt spid="2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00"/>
                                        <p:tgtEl>
                                          <p:spTgt spid="3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400"/>
                                        <p:tgtEl>
                                          <p:spTgt spid="3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00"/>
                                        <p:tgtEl>
                                          <p:spTgt spid="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3 · APPROACH</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Separation by engine, not by cycle row</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Partitions: Table 4.1 (§4.5) · data: Saxena and Goebel (2008)</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partitions &amp; leakage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4 / 13</a:t>
            </a:r>
            <a:endParaRPr lang="en-US" sz="1100" dirty="0"/>
          </a:p>
        </p:txBody>
      </p:sp>
      <p:sp>
        <p:nvSpPr>
          <p:cNvPr id="8" name="s0_text_7"/>
          <p:cNvSpPr txBox="1"/>
          <p:nvPr/>
        </p:nvSpPr>
        <p:spPr>
          <a:xfrm>
            <a:off x="548640" y="1298448"/>
            <a:ext cx="11064240" cy="310896"/>
          </a:xfrm>
          <a:prstGeom prst="rect">
            <a:avLst/>
          </a:prstGeom>
          <a:noFill/>
          <a:ln/>
        </p:spPr>
        <p:txBody>
          <a:bodyPr wrap="square" lIns="0" tIns="0" rIns="0" bIns="0" rtlCol="0" anchor="t"/>
          <a:lstStyle/>
          <a:p>
            <a:pPr algn="l" indent="0" marL="0">
              <a:buNone/>
            </a:pPr>
            <a:r>
              <a:rPr lang="en-US" sz="1500" dirty="0">
                <a:solidFill>
                  <a:srgbClr val="627D98"/>
                </a:solidFill>
                <a:latin typeface="Aptos" pitchFamily="34" charset="0"/>
                <a:ea typeface="Aptos" pitchFamily="34" charset="-122"/>
                <a:cs typeface="Aptos" pitchFamily="34" charset="-120"/>
              </a:rPr>
              <a:t>Secondary, simulated NASA C-MAPSS FD001  ·  high-pressure-compressor degradation  ·  one operating condition</a:t>
            </a:r>
            <a:endParaRPr lang="en-US" sz="1500" dirty="0"/>
          </a:p>
        </p:txBody>
      </p:sp>
      <p:sp>
        <p:nvSpPr>
          <p:cNvPr id="9" name="s1_rect_8"/>
          <p:cNvSpPr/>
          <p:nvPr/>
        </p:nvSpPr>
        <p:spPr>
          <a:xfrm>
            <a:off x="548640" y="1828800"/>
            <a:ext cx="187452" cy="187452"/>
          </a:xfrm>
          <a:prstGeom prst="roundRect">
            <a:avLst>
              <a:gd name="adj" fmla="val 14634"/>
            </a:avLst>
          </a:prstGeom>
          <a:solidFill>
            <a:srgbClr val="00A6C8"/>
          </a:solidFill>
          <a:ln/>
        </p:spPr>
      </p:sp>
      <p:sp>
        <p:nvSpPr>
          <p:cNvPr id="10" name="s1_rect_9"/>
          <p:cNvSpPr/>
          <p:nvPr/>
        </p:nvSpPr>
        <p:spPr>
          <a:xfrm>
            <a:off x="788213" y="1828800"/>
            <a:ext cx="187452" cy="187452"/>
          </a:xfrm>
          <a:prstGeom prst="roundRect">
            <a:avLst>
              <a:gd name="adj" fmla="val 14634"/>
            </a:avLst>
          </a:prstGeom>
          <a:solidFill>
            <a:srgbClr val="00A6C8"/>
          </a:solidFill>
          <a:ln/>
        </p:spPr>
      </p:sp>
      <p:sp>
        <p:nvSpPr>
          <p:cNvPr id="11" name="s1_rect_10"/>
          <p:cNvSpPr/>
          <p:nvPr/>
        </p:nvSpPr>
        <p:spPr>
          <a:xfrm>
            <a:off x="1027786" y="1828800"/>
            <a:ext cx="187452" cy="187452"/>
          </a:xfrm>
          <a:prstGeom prst="roundRect">
            <a:avLst>
              <a:gd name="adj" fmla="val 14634"/>
            </a:avLst>
          </a:prstGeom>
          <a:solidFill>
            <a:srgbClr val="00A6C8"/>
          </a:solidFill>
          <a:ln/>
        </p:spPr>
      </p:sp>
      <p:sp>
        <p:nvSpPr>
          <p:cNvPr id="12" name="s1_rect_11"/>
          <p:cNvSpPr/>
          <p:nvPr/>
        </p:nvSpPr>
        <p:spPr>
          <a:xfrm>
            <a:off x="1267358" y="1828800"/>
            <a:ext cx="187452" cy="187452"/>
          </a:xfrm>
          <a:prstGeom prst="roundRect">
            <a:avLst>
              <a:gd name="adj" fmla="val 14634"/>
            </a:avLst>
          </a:prstGeom>
          <a:solidFill>
            <a:srgbClr val="00A6C8"/>
          </a:solidFill>
          <a:ln/>
        </p:spPr>
      </p:sp>
      <p:sp>
        <p:nvSpPr>
          <p:cNvPr id="13" name="s1_rect_12"/>
          <p:cNvSpPr/>
          <p:nvPr/>
        </p:nvSpPr>
        <p:spPr>
          <a:xfrm>
            <a:off x="1506931" y="1828800"/>
            <a:ext cx="187452" cy="187452"/>
          </a:xfrm>
          <a:prstGeom prst="roundRect">
            <a:avLst>
              <a:gd name="adj" fmla="val 14634"/>
            </a:avLst>
          </a:prstGeom>
          <a:solidFill>
            <a:srgbClr val="00A6C8"/>
          </a:solidFill>
          <a:ln/>
        </p:spPr>
      </p:sp>
      <p:sp>
        <p:nvSpPr>
          <p:cNvPr id="14" name="s1_rect_13"/>
          <p:cNvSpPr/>
          <p:nvPr/>
        </p:nvSpPr>
        <p:spPr>
          <a:xfrm>
            <a:off x="1746504" y="1828800"/>
            <a:ext cx="187452" cy="187452"/>
          </a:xfrm>
          <a:prstGeom prst="roundRect">
            <a:avLst>
              <a:gd name="adj" fmla="val 14634"/>
            </a:avLst>
          </a:prstGeom>
          <a:solidFill>
            <a:srgbClr val="00A6C8"/>
          </a:solidFill>
          <a:ln/>
        </p:spPr>
      </p:sp>
      <p:sp>
        <p:nvSpPr>
          <p:cNvPr id="15" name="s1_rect_14"/>
          <p:cNvSpPr/>
          <p:nvPr/>
        </p:nvSpPr>
        <p:spPr>
          <a:xfrm>
            <a:off x="1986077" y="1828800"/>
            <a:ext cx="187452" cy="187452"/>
          </a:xfrm>
          <a:prstGeom prst="roundRect">
            <a:avLst>
              <a:gd name="adj" fmla="val 14634"/>
            </a:avLst>
          </a:prstGeom>
          <a:solidFill>
            <a:srgbClr val="00A6C8"/>
          </a:solidFill>
          <a:ln/>
        </p:spPr>
      </p:sp>
      <p:sp>
        <p:nvSpPr>
          <p:cNvPr id="16" name="s1_rect_15"/>
          <p:cNvSpPr/>
          <p:nvPr/>
        </p:nvSpPr>
        <p:spPr>
          <a:xfrm>
            <a:off x="2225650" y="1828800"/>
            <a:ext cx="187452" cy="187452"/>
          </a:xfrm>
          <a:prstGeom prst="roundRect">
            <a:avLst>
              <a:gd name="adj" fmla="val 14634"/>
            </a:avLst>
          </a:prstGeom>
          <a:solidFill>
            <a:srgbClr val="00A6C8"/>
          </a:solidFill>
          <a:ln/>
        </p:spPr>
      </p:sp>
      <p:sp>
        <p:nvSpPr>
          <p:cNvPr id="17" name="s1_rect_16"/>
          <p:cNvSpPr/>
          <p:nvPr/>
        </p:nvSpPr>
        <p:spPr>
          <a:xfrm>
            <a:off x="2465222" y="1828800"/>
            <a:ext cx="187452" cy="187452"/>
          </a:xfrm>
          <a:prstGeom prst="roundRect">
            <a:avLst>
              <a:gd name="adj" fmla="val 14634"/>
            </a:avLst>
          </a:prstGeom>
          <a:solidFill>
            <a:srgbClr val="00A6C8"/>
          </a:solidFill>
          <a:ln/>
        </p:spPr>
      </p:sp>
      <p:sp>
        <p:nvSpPr>
          <p:cNvPr id="18" name="s1_rect_17"/>
          <p:cNvSpPr/>
          <p:nvPr/>
        </p:nvSpPr>
        <p:spPr>
          <a:xfrm>
            <a:off x="2704795" y="1828800"/>
            <a:ext cx="187452" cy="187452"/>
          </a:xfrm>
          <a:prstGeom prst="roundRect">
            <a:avLst>
              <a:gd name="adj" fmla="val 14634"/>
            </a:avLst>
          </a:prstGeom>
          <a:solidFill>
            <a:srgbClr val="00A6C8"/>
          </a:solidFill>
          <a:ln/>
        </p:spPr>
      </p:sp>
      <p:sp>
        <p:nvSpPr>
          <p:cNvPr id="19" name="s1_rect_18"/>
          <p:cNvSpPr/>
          <p:nvPr/>
        </p:nvSpPr>
        <p:spPr>
          <a:xfrm>
            <a:off x="2944368" y="1828800"/>
            <a:ext cx="187452" cy="187452"/>
          </a:xfrm>
          <a:prstGeom prst="roundRect">
            <a:avLst>
              <a:gd name="adj" fmla="val 14634"/>
            </a:avLst>
          </a:prstGeom>
          <a:solidFill>
            <a:srgbClr val="00A6C8"/>
          </a:solidFill>
          <a:ln/>
        </p:spPr>
      </p:sp>
      <p:sp>
        <p:nvSpPr>
          <p:cNvPr id="20" name="s1_rect_19"/>
          <p:cNvSpPr/>
          <p:nvPr/>
        </p:nvSpPr>
        <p:spPr>
          <a:xfrm>
            <a:off x="3183941" y="1828800"/>
            <a:ext cx="187452" cy="187452"/>
          </a:xfrm>
          <a:prstGeom prst="roundRect">
            <a:avLst>
              <a:gd name="adj" fmla="val 14634"/>
            </a:avLst>
          </a:prstGeom>
          <a:solidFill>
            <a:srgbClr val="00A6C8"/>
          </a:solidFill>
          <a:ln/>
        </p:spPr>
      </p:sp>
      <p:sp>
        <p:nvSpPr>
          <p:cNvPr id="21" name="s1_rect_20"/>
          <p:cNvSpPr/>
          <p:nvPr/>
        </p:nvSpPr>
        <p:spPr>
          <a:xfrm>
            <a:off x="3423514" y="1828800"/>
            <a:ext cx="187452" cy="187452"/>
          </a:xfrm>
          <a:prstGeom prst="roundRect">
            <a:avLst>
              <a:gd name="adj" fmla="val 14634"/>
            </a:avLst>
          </a:prstGeom>
          <a:solidFill>
            <a:srgbClr val="00A6C8"/>
          </a:solidFill>
          <a:ln/>
        </p:spPr>
      </p:sp>
      <p:sp>
        <p:nvSpPr>
          <p:cNvPr id="22" name="s1_rect_21"/>
          <p:cNvSpPr/>
          <p:nvPr/>
        </p:nvSpPr>
        <p:spPr>
          <a:xfrm>
            <a:off x="3663086" y="1828800"/>
            <a:ext cx="187452" cy="187452"/>
          </a:xfrm>
          <a:prstGeom prst="roundRect">
            <a:avLst>
              <a:gd name="adj" fmla="val 14634"/>
            </a:avLst>
          </a:prstGeom>
          <a:solidFill>
            <a:srgbClr val="00A6C8"/>
          </a:solidFill>
          <a:ln/>
        </p:spPr>
      </p:sp>
      <p:sp>
        <p:nvSpPr>
          <p:cNvPr id="23" name="s1_rect_22"/>
          <p:cNvSpPr/>
          <p:nvPr/>
        </p:nvSpPr>
        <p:spPr>
          <a:xfrm>
            <a:off x="3902659" y="1828800"/>
            <a:ext cx="187452" cy="187452"/>
          </a:xfrm>
          <a:prstGeom prst="roundRect">
            <a:avLst>
              <a:gd name="adj" fmla="val 14634"/>
            </a:avLst>
          </a:prstGeom>
          <a:solidFill>
            <a:srgbClr val="00A6C8"/>
          </a:solidFill>
          <a:ln/>
        </p:spPr>
      </p:sp>
      <p:sp>
        <p:nvSpPr>
          <p:cNvPr id="24" name="s1_rect_23"/>
          <p:cNvSpPr/>
          <p:nvPr/>
        </p:nvSpPr>
        <p:spPr>
          <a:xfrm>
            <a:off x="4142232" y="1828800"/>
            <a:ext cx="187452" cy="187452"/>
          </a:xfrm>
          <a:prstGeom prst="roundRect">
            <a:avLst>
              <a:gd name="adj" fmla="val 14634"/>
            </a:avLst>
          </a:prstGeom>
          <a:solidFill>
            <a:srgbClr val="00A6C8"/>
          </a:solidFill>
          <a:ln/>
        </p:spPr>
      </p:sp>
      <p:sp>
        <p:nvSpPr>
          <p:cNvPr id="25" name="s1_rect_24"/>
          <p:cNvSpPr/>
          <p:nvPr/>
        </p:nvSpPr>
        <p:spPr>
          <a:xfrm>
            <a:off x="4381805" y="1828800"/>
            <a:ext cx="187452" cy="187452"/>
          </a:xfrm>
          <a:prstGeom prst="roundRect">
            <a:avLst>
              <a:gd name="adj" fmla="val 14634"/>
            </a:avLst>
          </a:prstGeom>
          <a:solidFill>
            <a:srgbClr val="00A6C8"/>
          </a:solidFill>
          <a:ln/>
        </p:spPr>
      </p:sp>
      <p:sp>
        <p:nvSpPr>
          <p:cNvPr id="26" name="s1_rect_25"/>
          <p:cNvSpPr/>
          <p:nvPr/>
        </p:nvSpPr>
        <p:spPr>
          <a:xfrm>
            <a:off x="4621378" y="1828800"/>
            <a:ext cx="187452" cy="187452"/>
          </a:xfrm>
          <a:prstGeom prst="roundRect">
            <a:avLst>
              <a:gd name="adj" fmla="val 14634"/>
            </a:avLst>
          </a:prstGeom>
          <a:solidFill>
            <a:srgbClr val="00A6C8"/>
          </a:solidFill>
          <a:ln/>
        </p:spPr>
      </p:sp>
      <p:sp>
        <p:nvSpPr>
          <p:cNvPr id="27" name="s1_rect_26"/>
          <p:cNvSpPr/>
          <p:nvPr/>
        </p:nvSpPr>
        <p:spPr>
          <a:xfrm>
            <a:off x="4860950" y="1828800"/>
            <a:ext cx="187452" cy="187452"/>
          </a:xfrm>
          <a:prstGeom prst="roundRect">
            <a:avLst>
              <a:gd name="adj" fmla="val 14634"/>
            </a:avLst>
          </a:prstGeom>
          <a:solidFill>
            <a:srgbClr val="00A6C8"/>
          </a:solidFill>
          <a:ln/>
        </p:spPr>
      </p:sp>
      <p:sp>
        <p:nvSpPr>
          <p:cNvPr id="28" name="s1_rect_27"/>
          <p:cNvSpPr/>
          <p:nvPr/>
        </p:nvSpPr>
        <p:spPr>
          <a:xfrm>
            <a:off x="5100523" y="1828800"/>
            <a:ext cx="187452" cy="187452"/>
          </a:xfrm>
          <a:prstGeom prst="roundRect">
            <a:avLst>
              <a:gd name="adj" fmla="val 14634"/>
            </a:avLst>
          </a:prstGeom>
          <a:solidFill>
            <a:srgbClr val="00A6C8"/>
          </a:solidFill>
          <a:ln/>
        </p:spPr>
      </p:sp>
      <p:sp>
        <p:nvSpPr>
          <p:cNvPr id="29" name="s1_rect_28"/>
          <p:cNvSpPr/>
          <p:nvPr/>
        </p:nvSpPr>
        <p:spPr>
          <a:xfrm>
            <a:off x="548640" y="2068373"/>
            <a:ext cx="187452" cy="187452"/>
          </a:xfrm>
          <a:prstGeom prst="roundRect">
            <a:avLst>
              <a:gd name="adj" fmla="val 14634"/>
            </a:avLst>
          </a:prstGeom>
          <a:solidFill>
            <a:srgbClr val="00A6C8"/>
          </a:solidFill>
          <a:ln/>
        </p:spPr>
      </p:sp>
      <p:sp>
        <p:nvSpPr>
          <p:cNvPr id="30" name="s1_rect_29"/>
          <p:cNvSpPr/>
          <p:nvPr/>
        </p:nvSpPr>
        <p:spPr>
          <a:xfrm>
            <a:off x="788213" y="2068373"/>
            <a:ext cx="187452" cy="187452"/>
          </a:xfrm>
          <a:prstGeom prst="roundRect">
            <a:avLst>
              <a:gd name="adj" fmla="val 14634"/>
            </a:avLst>
          </a:prstGeom>
          <a:solidFill>
            <a:srgbClr val="00A6C8"/>
          </a:solidFill>
          <a:ln/>
        </p:spPr>
      </p:sp>
      <p:sp>
        <p:nvSpPr>
          <p:cNvPr id="31" name="s1_rect_30"/>
          <p:cNvSpPr/>
          <p:nvPr/>
        </p:nvSpPr>
        <p:spPr>
          <a:xfrm>
            <a:off x="1027786" y="2068373"/>
            <a:ext cx="187452" cy="187452"/>
          </a:xfrm>
          <a:prstGeom prst="roundRect">
            <a:avLst>
              <a:gd name="adj" fmla="val 14634"/>
            </a:avLst>
          </a:prstGeom>
          <a:solidFill>
            <a:srgbClr val="00A6C8"/>
          </a:solidFill>
          <a:ln/>
        </p:spPr>
      </p:sp>
      <p:sp>
        <p:nvSpPr>
          <p:cNvPr id="32" name="s1_rect_31"/>
          <p:cNvSpPr/>
          <p:nvPr/>
        </p:nvSpPr>
        <p:spPr>
          <a:xfrm>
            <a:off x="1267358" y="2068373"/>
            <a:ext cx="187452" cy="187452"/>
          </a:xfrm>
          <a:prstGeom prst="roundRect">
            <a:avLst>
              <a:gd name="adj" fmla="val 14634"/>
            </a:avLst>
          </a:prstGeom>
          <a:solidFill>
            <a:srgbClr val="00A6C8"/>
          </a:solidFill>
          <a:ln/>
        </p:spPr>
      </p:sp>
      <p:sp>
        <p:nvSpPr>
          <p:cNvPr id="33" name="s1_rect_32"/>
          <p:cNvSpPr/>
          <p:nvPr/>
        </p:nvSpPr>
        <p:spPr>
          <a:xfrm>
            <a:off x="1506931" y="2068373"/>
            <a:ext cx="187452" cy="187452"/>
          </a:xfrm>
          <a:prstGeom prst="roundRect">
            <a:avLst>
              <a:gd name="adj" fmla="val 14634"/>
            </a:avLst>
          </a:prstGeom>
          <a:solidFill>
            <a:srgbClr val="00A6C8"/>
          </a:solidFill>
          <a:ln/>
        </p:spPr>
      </p:sp>
      <p:sp>
        <p:nvSpPr>
          <p:cNvPr id="34" name="s1_rect_33"/>
          <p:cNvSpPr/>
          <p:nvPr/>
        </p:nvSpPr>
        <p:spPr>
          <a:xfrm>
            <a:off x="1746504" y="2068373"/>
            <a:ext cx="187452" cy="187452"/>
          </a:xfrm>
          <a:prstGeom prst="roundRect">
            <a:avLst>
              <a:gd name="adj" fmla="val 14634"/>
            </a:avLst>
          </a:prstGeom>
          <a:solidFill>
            <a:srgbClr val="00A6C8"/>
          </a:solidFill>
          <a:ln/>
        </p:spPr>
      </p:sp>
      <p:sp>
        <p:nvSpPr>
          <p:cNvPr id="35" name="s1_rect_34"/>
          <p:cNvSpPr/>
          <p:nvPr/>
        </p:nvSpPr>
        <p:spPr>
          <a:xfrm>
            <a:off x="1986077" y="2068373"/>
            <a:ext cx="187452" cy="187452"/>
          </a:xfrm>
          <a:prstGeom prst="roundRect">
            <a:avLst>
              <a:gd name="adj" fmla="val 14634"/>
            </a:avLst>
          </a:prstGeom>
          <a:solidFill>
            <a:srgbClr val="00A6C8"/>
          </a:solidFill>
          <a:ln/>
        </p:spPr>
      </p:sp>
      <p:sp>
        <p:nvSpPr>
          <p:cNvPr id="36" name="s1_rect_35"/>
          <p:cNvSpPr/>
          <p:nvPr/>
        </p:nvSpPr>
        <p:spPr>
          <a:xfrm>
            <a:off x="2225650" y="2068373"/>
            <a:ext cx="187452" cy="187452"/>
          </a:xfrm>
          <a:prstGeom prst="roundRect">
            <a:avLst>
              <a:gd name="adj" fmla="val 14634"/>
            </a:avLst>
          </a:prstGeom>
          <a:solidFill>
            <a:srgbClr val="00A6C8"/>
          </a:solidFill>
          <a:ln/>
        </p:spPr>
      </p:sp>
      <p:sp>
        <p:nvSpPr>
          <p:cNvPr id="37" name="s1_rect_36"/>
          <p:cNvSpPr/>
          <p:nvPr/>
        </p:nvSpPr>
        <p:spPr>
          <a:xfrm>
            <a:off x="2465222" y="2068373"/>
            <a:ext cx="187452" cy="187452"/>
          </a:xfrm>
          <a:prstGeom prst="roundRect">
            <a:avLst>
              <a:gd name="adj" fmla="val 14634"/>
            </a:avLst>
          </a:prstGeom>
          <a:solidFill>
            <a:srgbClr val="00A6C8"/>
          </a:solidFill>
          <a:ln/>
        </p:spPr>
      </p:sp>
      <p:sp>
        <p:nvSpPr>
          <p:cNvPr id="38" name="s1_rect_37"/>
          <p:cNvSpPr/>
          <p:nvPr/>
        </p:nvSpPr>
        <p:spPr>
          <a:xfrm>
            <a:off x="2704795" y="2068373"/>
            <a:ext cx="187452" cy="187452"/>
          </a:xfrm>
          <a:prstGeom prst="roundRect">
            <a:avLst>
              <a:gd name="adj" fmla="val 14634"/>
            </a:avLst>
          </a:prstGeom>
          <a:solidFill>
            <a:srgbClr val="00A6C8"/>
          </a:solidFill>
          <a:ln/>
        </p:spPr>
      </p:sp>
      <p:sp>
        <p:nvSpPr>
          <p:cNvPr id="39" name="s1_rect_38"/>
          <p:cNvSpPr/>
          <p:nvPr/>
        </p:nvSpPr>
        <p:spPr>
          <a:xfrm>
            <a:off x="2944368" y="2068373"/>
            <a:ext cx="187452" cy="187452"/>
          </a:xfrm>
          <a:prstGeom prst="roundRect">
            <a:avLst>
              <a:gd name="adj" fmla="val 14634"/>
            </a:avLst>
          </a:prstGeom>
          <a:solidFill>
            <a:srgbClr val="00A6C8"/>
          </a:solidFill>
          <a:ln/>
        </p:spPr>
      </p:sp>
      <p:sp>
        <p:nvSpPr>
          <p:cNvPr id="40" name="s1_rect_39"/>
          <p:cNvSpPr/>
          <p:nvPr/>
        </p:nvSpPr>
        <p:spPr>
          <a:xfrm>
            <a:off x="3183941" y="2068373"/>
            <a:ext cx="187452" cy="187452"/>
          </a:xfrm>
          <a:prstGeom prst="roundRect">
            <a:avLst>
              <a:gd name="adj" fmla="val 14634"/>
            </a:avLst>
          </a:prstGeom>
          <a:solidFill>
            <a:srgbClr val="00A6C8"/>
          </a:solidFill>
          <a:ln/>
        </p:spPr>
      </p:sp>
      <p:sp>
        <p:nvSpPr>
          <p:cNvPr id="41" name="s1_rect_40"/>
          <p:cNvSpPr/>
          <p:nvPr/>
        </p:nvSpPr>
        <p:spPr>
          <a:xfrm>
            <a:off x="3423514" y="2068373"/>
            <a:ext cx="187452" cy="187452"/>
          </a:xfrm>
          <a:prstGeom prst="roundRect">
            <a:avLst>
              <a:gd name="adj" fmla="val 14634"/>
            </a:avLst>
          </a:prstGeom>
          <a:solidFill>
            <a:srgbClr val="00A6C8"/>
          </a:solidFill>
          <a:ln/>
        </p:spPr>
      </p:sp>
      <p:sp>
        <p:nvSpPr>
          <p:cNvPr id="42" name="s1_rect_41"/>
          <p:cNvSpPr/>
          <p:nvPr/>
        </p:nvSpPr>
        <p:spPr>
          <a:xfrm>
            <a:off x="3663086" y="2068373"/>
            <a:ext cx="187452" cy="187452"/>
          </a:xfrm>
          <a:prstGeom prst="roundRect">
            <a:avLst>
              <a:gd name="adj" fmla="val 14634"/>
            </a:avLst>
          </a:prstGeom>
          <a:solidFill>
            <a:srgbClr val="00A6C8"/>
          </a:solidFill>
          <a:ln/>
        </p:spPr>
      </p:sp>
      <p:sp>
        <p:nvSpPr>
          <p:cNvPr id="43" name="s1_rect_42"/>
          <p:cNvSpPr/>
          <p:nvPr/>
        </p:nvSpPr>
        <p:spPr>
          <a:xfrm>
            <a:off x="3902659" y="2068373"/>
            <a:ext cx="187452" cy="187452"/>
          </a:xfrm>
          <a:prstGeom prst="roundRect">
            <a:avLst>
              <a:gd name="adj" fmla="val 14634"/>
            </a:avLst>
          </a:prstGeom>
          <a:solidFill>
            <a:srgbClr val="00A6C8"/>
          </a:solidFill>
          <a:ln/>
        </p:spPr>
      </p:sp>
      <p:sp>
        <p:nvSpPr>
          <p:cNvPr id="44" name="s1_rect_43"/>
          <p:cNvSpPr/>
          <p:nvPr/>
        </p:nvSpPr>
        <p:spPr>
          <a:xfrm>
            <a:off x="4142232" y="2068373"/>
            <a:ext cx="187452" cy="187452"/>
          </a:xfrm>
          <a:prstGeom prst="roundRect">
            <a:avLst>
              <a:gd name="adj" fmla="val 14634"/>
            </a:avLst>
          </a:prstGeom>
          <a:solidFill>
            <a:srgbClr val="00A6C8"/>
          </a:solidFill>
          <a:ln/>
        </p:spPr>
      </p:sp>
      <p:sp>
        <p:nvSpPr>
          <p:cNvPr id="45" name="s1_rect_44"/>
          <p:cNvSpPr/>
          <p:nvPr/>
        </p:nvSpPr>
        <p:spPr>
          <a:xfrm>
            <a:off x="4381805" y="2068373"/>
            <a:ext cx="187452" cy="187452"/>
          </a:xfrm>
          <a:prstGeom prst="roundRect">
            <a:avLst>
              <a:gd name="adj" fmla="val 14634"/>
            </a:avLst>
          </a:prstGeom>
          <a:solidFill>
            <a:srgbClr val="00A6C8"/>
          </a:solidFill>
          <a:ln/>
        </p:spPr>
      </p:sp>
      <p:sp>
        <p:nvSpPr>
          <p:cNvPr id="46" name="s1_rect_45"/>
          <p:cNvSpPr/>
          <p:nvPr/>
        </p:nvSpPr>
        <p:spPr>
          <a:xfrm>
            <a:off x="4621378" y="2068373"/>
            <a:ext cx="187452" cy="187452"/>
          </a:xfrm>
          <a:prstGeom prst="roundRect">
            <a:avLst>
              <a:gd name="adj" fmla="val 14634"/>
            </a:avLst>
          </a:prstGeom>
          <a:solidFill>
            <a:srgbClr val="00A6C8"/>
          </a:solidFill>
          <a:ln/>
        </p:spPr>
      </p:sp>
      <p:sp>
        <p:nvSpPr>
          <p:cNvPr id="47" name="s1_rect_46"/>
          <p:cNvSpPr/>
          <p:nvPr/>
        </p:nvSpPr>
        <p:spPr>
          <a:xfrm>
            <a:off x="4860950" y="2068373"/>
            <a:ext cx="187452" cy="187452"/>
          </a:xfrm>
          <a:prstGeom prst="roundRect">
            <a:avLst>
              <a:gd name="adj" fmla="val 14634"/>
            </a:avLst>
          </a:prstGeom>
          <a:solidFill>
            <a:srgbClr val="00A6C8"/>
          </a:solidFill>
          <a:ln/>
        </p:spPr>
      </p:sp>
      <p:sp>
        <p:nvSpPr>
          <p:cNvPr id="48" name="s1_rect_47"/>
          <p:cNvSpPr/>
          <p:nvPr/>
        </p:nvSpPr>
        <p:spPr>
          <a:xfrm>
            <a:off x="5100523" y="2068373"/>
            <a:ext cx="187452" cy="187452"/>
          </a:xfrm>
          <a:prstGeom prst="roundRect">
            <a:avLst>
              <a:gd name="adj" fmla="val 14634"/>
            </a:avLst>
          </a:prstGeom>
          <a:solidFill>
            <a:srgbClr val="00A6C8"/>
          </a:solidFill>
          <a:ln/>
        </p:spPr>
      </p:sp>
      <p:sp>
        <p:nvSpPr>
          <p:cNvPr id="49" name="s1_rect_48"/>
          <p:cNvSpPr/>
          <p:nvPr/>
        </p:nvSpPr>
        <p:spPr>
          <a:xfrm>
            <a:off x="548640" y="2307946"/>
            <a:ext cx="187452" cy="187452"/>
          </a:xfrm>
          <a:prstGeom prst="roundRect">
            <a:avLst>
              <a:gd name="adj" fmla="val 14634"/>
            </a:avLst>
          </a:prstGeom>
          <a:solidFill>
            <a:srgbClr val="00A6C8"/>
          </a:solidFill>
          <a:ln/>
        </p:spPr>
      </p:sp>
      <p:sp>
        <p:nvSpPr>
          <p:cNvPr id="50" name="s1_rect_49"/>
          <p:cNvSpPr/>
          <p:nvPr/>
        </p:nvSpPr>
        <p:spPr>
          <a:xfrm>
            <a:off x="788213" y="2307946"/>
            <a:ext cx="187452" cy="187452"/>
          </a:xfrm>
          <a:prstGeom prst="roundRect">
            <a:avLst>
              <a:gd name="adj" fmla="val 14634"/>
            </a:avLst>
          </a:prstGeom>
          <a:solidFill>
            <a:srgbClr val="00A6C8"/>
          </a:solidFill>
          <a:ln/>
        </p:spPr>
      </p:sp>
      <p:sp>
        <p:nvSpPr>
          <p:cNvPr id="51" name="s1_rect_50"/>
          <p:cNvSpPr/>
          <p:nvPr/>
        </p:nvSpPr>
        <p:spPr>
          <a:xfrm>
            <a:off x="1027786" y="2307946"/>
            <a:ext cx="187452" cy="187452"/>
          </a:xfrm>
          <a:prstGeom prst="roundRect">
            <a:avLst>
              <a:gd name="adj" fmla="val 14634"/>
            </a:avLst>
          </a:prstGeom>
          <a:solidFill>
            <a:srgbClr val="00A6C8"/>
          </a:solidFill>
          <a:ln/>
        </p:spPr>
      </p:sp>
      <p:sp>
        <p:nvSpPr>
          <p:cNvPr id="52" name="s1_rect_51"/>
          <p:cNvSpPr/>
          <p:nvPr/>
        </p:nvSpPr>
        <p:spPr>
          <a:xfrm>
            <a:off x="1267358" y="2307946"/>
            <a:ext cx="187452" cy="187452"/>
          </a:xfrm>
          <a:prstGeom prst="roundRect">
            <a:avLst>
              <a:gd name="adj" fmla="val 14634"/>
            </a:avLst>
          </a:prstGeom>
          <a:solidFill>
            <a:srgbClr val="00A6C8"/>
          </a:solidFill>
          <a:ln/>
        </p:spPr>
      </p:sp>
      <p:sp>
        <p:nvSpPr>
          <p:cNvPr id="53" name="s1_rect_52"/>
          <p:cNvSpPr/>
          <p:nvPr/>
        </p:nvSpPr>
        <p:spPr>
          <a:xfrm>
            <a:off x="1506931" y="2307946"/>
            <a:ext cx="187452" cy="187452"/>
          </a:xfrm>
          <a:prstGeom prst="roundRect">
            <a:avLst>
              <a:gd name="adj" fmla="val 14634"/>
            </a:avLst>
          </a:prstGeom>
          <a:solidFill>
            <a:srgbClr val="00A6C8"/>
          </a:solidFill>
          <a:ln/>
        </p:spPr>
      </p:sp>
      <p:sp>
        <p:nvSpPr>
          <p:cNvPr id="54" name="s1_rect_53"/>
          <p:cNvSpPr/>
          <p:nvPr/>
        </p:nvSpPr>
        <p:spPr>
          <a:xfrm>
            <a:off x="1746504" y="2307946"/>
            <a:ext cx="187452" cy="187452"/>
          </a:xfrm>
          <a:prstGeom prst="roundRect">
            <a:avLst>
              <a:gd name="adj" fmla="val 14634"/>
            </a:avLst>
          </a:prstGeom>
          <a:solidFill>
            <a:srgbClr val="00A6C8"/>
          </a:solidFill>
          <a:ln/>
        </p:spPr>
      </p:sp>
      <p:sp>
        <p:nvSpPr>
          <p:cNvPr id="55" name="s1_rect_54"/>
          <p:cNvSpPr/>
          <p:nvPr/>
        </p:nvSpPr>
        <p:spPr>
          <a:xfrm>
            <a:off x="1986077" y="2307946"/>
            <a:ext cx="187452" cy="187452"/>
          </a:xfrm>
          <a:prstGeom prst="roundRect">
            <a:avLst>
              <a:gd name="adj" fmla="val 14634"/>
            </a:avLst>
          </a:prstGeom>
          <a:solidFill>
            <a:srgbClr val="00A6C8"/>
          </a:solidFill>
          <a:ln/>
        </p:spPr>
      </p:sp>
      <p:sp>
        <p:nvSpPr>
          <p:cNvPr id="56" name="s1_rect_55"/>
          <p:cNvSpPr/>
          <p:nvPr/>
        </p:nvSpPr>
        <p:spPr>
          <a:xfrm>
            <a:off x="2225650" y="2307946"/>
            <a:ext cx="187452" cy="187452"/>
          </a:xfrm>
          <a:prstGeom prst="roundRect">
            <a:avLst>
              <a:gd name="adj" fmla="val 14634"/>
            </a:avLst>
          </a:prstGeom>
          <a:solidFill>
            <a:srgbClr val="00A6C8"/>
          </a:solidFill>
          <a:ln/>
        </p:spPr>
      </p:sp>
      <p:sp>
        <p:nvSpPr>
          <p:cNvPr id="57" name="s1_rect_56"/>
          <p:cNvSpPr/>
          <p:nvPr/>
        </p:nvSpPr>
        <p:spPr>
          <a:xfrm>
            <a:off x="2465222" y="2307946"/>
            <a:ext cx="187452" cy="187452"/>
          </a:xfrm>
          <a:prstGeom prst="roundRect">
            <a:avLst>
              <a:gd name="adj" fmla="val 14634"/>
            </a:avLst>
          </a:prstGeom>
          <a:solidFill>
            <a:srgbClr val="00A6C8"/>
          </a:solidFill>
          <a:ln/>
        </p:spPr>
      </p:sp>
      <p:sp>
        <p:nvSpPr>
          <p:cNvPr id="58" name="s1_rect_57"/>
          <p:cNvSpPr/>
          <p:nvPr/>
        </p:nvSpPr>
        <p:spPr>
          <a:xfrm>
            <a:off x="2704795" y="2307946"/>
            <a:ext cx="187452" cy="187452"/>
          </a:xfrm>
          <a:prstGeom prst="roundRect">
            <a:avLst>
              <a:gd name="adj" fmla="val 14634"/>
            </a:avLst>
          </a:prstGeom>
          <a:solidFill>
            <a:srgbClr val="00A6C8"/>
          </a:solidFill>
          <a:ln/>
        </p:spPr>
      </p:sp>
      <p:sp>
        <p:nvSpPr>
          <p:cNvPr id="59" name="s1_rect_58"/>
          <p:cNvSpPr/>
          <p:nvPr/>
        </p:nvSpPr>
        <p:spPr>
          <a:xfrm>
            <a:off x="2944368" y="2307946"/>
            <a:ext cx="187452" cy="187452"/>
          </a:xfrm>
          <a:prstGeom prst="roundRect">
            <a:avLst>
              <a:gd name="adj" fmla="val 14634"/>
            </a:avLst>
          </a:prstGeom>
          <a:solidFill>
            <a:srgbClr val="00A6C8"/>
          </a:solidFill>
          <a:ln/>
        </p:spPr>
      </p:sp>
      <p:sp>
        <p:nvSpPr>
          <p:cNvPr id="60" name="s1_rect_59"/>
          <p:cNvSpPr/>
          <p:nvPr/>
        </p:nvSpPr>
        <p:spPr>
          <a:xfrm>
            <a:off x="3183941" y="2307946"/>
            <a:ext cx="187452" cy="187452"/>
          </a:xfrm>
          <a:prstGeom prst="roundRect">
            <a:avLst>
              <a:gd name="adj" fmla="val 14634"/>
            </a:avLst>
          </a:prstGeom>
          <a:solidFill>
            <a:srgbClr val="00A6C8"/>
          </a:solidFill>
          <a:ln/>
        </p:spPr>
      </p:sp>
      <p:sp>
        <p:nvSpPr>
          <p:cNvPr id="61" name="s1_rect_60"/>
          <p:cNvSpPr/>
          <p:nvPr/>
        </p:nvSpPr>
        <p:spPr>
          <a:xfrm>
            <a:off x="3423514" y="2307946"/>
            <a:ext cx="187452" cy="187452"/>
          </a:xfrm>
          <a:prstGeom prst="roundRect">
            <a:avLst>
              <a:gd name="adj" fmla="val 14634"/>
            </a:avLst>
          </a:prstGeom>
          <a:solidFill>
            <a:srgbClr val="00A6C8"/>
          </a:solidFill>
          <a:ln/>
        </p:spPr>
      </p:sp>
      <p:sp>
        <p:nvSpPr>
          <p:cNvPr id="62" name="s1_rect_61"/>
          <p:cNvSpPr/>
          <p:nvPr/>
        </p:nvSpPr>
        <p:spPr>
          <a:xfrm>
            <a:off x="3663086" y="2307946"/>
            <a:ext cx="187452" cy="187452"/>
          </a:xfrm>
          <a:prstGeom prst="roundRect">
            <a:avLst>
              <a:gd name="adj" fmla="val 14634"/>
            </a:avLst>
          </a:prstGeom>
          <a:solidFill>
            <a:srgbClr val="00A6C8"/>
          </a:solidFill>
          <a:ln/>
        </p:spPr>
      </p:sp>
      <p:sp>
        <p:nvSpPr>
          <p:cNvPr id="63" name="s1_rect_62"/>
          <p:cNvSpPr/>
          <p:nvPr/>
        </p:nvSpPr>
        <p:spPr>
          <a:xfrm>
            <a:off x="3902659" y="2307946"/>
            <a:ext cx="187452" cy="187452"/>
          </a:xfrm>
          <a:prstGeom prst="roundRect">
            <a:avLst>
              <a:gd name="adj" fmla="val 14634"/>
            </a:avLst>
          </a:prstGeom>
          <a:solidFill>
            <a:srgbClr val="00A6C8"/>
          </a:solidFill>
          <a:ln/>
        </p:spPr>
      </p:sp>
      <p:sp>
        <p:nvSpPr>
          <p:cNvPr id="64" name="s1_rect_63"/>
          <p:cNvSpPr/>
          <p:nvPr/>
        </p:nvSpPr>
        <p:spPr>
          <a:xfrm>
            <a:off x="4142232" y="2307946"/>
            <a:ext cx="187452" cy="187452"/>
          </a:xfrm>
          <a:prstGeom prst="roundRect">
            <a:avLst>
              <a:gd name="adj" fmla="val 14634"/>
            </a:avLst>
          </a:prstGeom>
          <a:solidFill>
            <a:srgbClr val="00A6C8"/>
          </a:solidFill>
          <a:ln/>
        </p:spPr>
      </p:sp>
      <p:sp>
        <p:nvSpPr>
          <p:cNvPr id="65" name="s1_rect_64"/>
          <p:cNvSpPr/>
          <p:nvPr/>
        </p:nvSpPr>
        <p:spPr>
          <a:xfrm>
            <a:off x="4381805" y="2307946"/>
            <a:ext cx="187452" cy="187452"/>
          </a:xfrm>
          <a:prstGeom prst="roundRect">
            <a:avLst>
              <a:gd name="adj" fmla="val 14634"/>
            </a:avLst>
          </a:prstGeom>
          <a:solidFill>
            <a:srgbClr val="00A6C8"/>
          </a:solidFill>
          <a:ln/>
        </p:spPr>
      </p:sp>
      <p:sp>
        <p:nvSpPr>
          <p:cNvPr id="66" name="s1_rect_65"/>
          <p:cNvSpPr/>
          <p:nvPr/>
        </p:nvSpPr>
        <p:spPr>
          <a:xfrm>
            <a:off x="4621378" y="2307946"/>
            <a:ext cx="187452" cy="187452"/>
          </a:xfrm>
          <a:prstGeom prst="roundRect">
            <a:avLst>
              <a:gd name="adj" fmla="val 14634"/>
            </a:avLst>
          </a:prstGeom>
          <a:solidFill>
            <a:srgbClr val="00A6C8"/>
          </a:solidFill>
          <a:ln/>
        </p:spPr>
      </p:sp>
      <p:sp>
        <p:nvSpPr>
          <p:cNvPr id="67" name="s1_rect_66"/>
          <p:cNvSpPr/>
          <p:nvPr/>
        </p:nvSpPr>
        <p:spPr>
          <a:xfrm>
            <a:off x="4860950" y="2307946"/>
            <a:ext cx="187452" cy="187452"/>
          </a:xfrm>
          <a:prstGeom prst="roundRect">
            <a:avLst>
              <a:gd name="adj" fmla="val 14634"/>
            </a:avLst>
          </a:prstGeom>
          <a:solidFill>
            <a:srgbClr val="00A6C8"/>
          </a:solidFill>
          <a:ln/>
        </p:spPr>
      </p:sp>
      <p:sp>
        <p:nvSpPr>
          <p:cNvPr id="68" name="s1_rect_67"/>
          <p:cNvSpPr/>
          <p:nvPr/>
        </p:nvSpPr>
        <p:spPr>
          <a:xfrm>
            <a:off x="5100523" y="2307946"/>
            <a:ext cx="187452" cy="187452"/>
          </a:xfrm>
          <a:prstGeom prst="roundRect">
            <a:avLst>
              <a:gd name="adj" fmla="val 14634"/>
            </a:avLst>
          </a:prstGeom>
          <a:solidFill>
            <a:srgbClr val="00A6C8"/>
          </a:solidFill>
          <a:ln/>
        </p:spPr>
      </p:sp>
      <p:sp>
        <p:nvSpPr>
          <p:cNvPr id="69" name="s1_text_68"/>
          <p:cNvSpPr txBox="1"/>
          <p:nvPr/>
        </p:nvSpPr>
        <p:spPr>
          <a:xfrm>
            <a:off x="5486400" y="1828800"/>
            <a:ext cx="3246120" cy="68580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60 modelling engines</a:t>
            </a:r>
            <a:endParaRPr lang="en-US" sz="1700" dirty="0"/>
          </a:p>
          <a:p>
            <a:pPr algn="l" indent="0" marL="0">
              <a:buNone/>
            </a:pPr>
            <a:r>
              <a:rPr lang="en-US" sz="1400" dirty="0">
                <a:solidFill>
                  <a:srgbClr val="627D98"/>
                </a:solidFill>
                <a:latin typeface="Aptos" pitchFamily="34" charset="0"/>
                <a:ea typeface="Aptos" pitchFamily="34" charset="-122"/>
                <a:cs typeface="Aptos" pitchFamily="34" charset="-120"/>
              </a:rPr>
              <a:t>12,310 rows · fit + grouped 5-fold CV</a:t>
            </a:r>
            <a:endParaRPr lang="en-US" sz="1700" dirty="0"/>
          </a:p>
        </p:txBody>
      </p:sp>
      <p:sp>
        <p:nvSpPr>
          <p:cNvPr id="70" name="s2_rect_69"/>
          <p:cNvSpPr/>
          <p:nvPr/>
        </p:nvSpPr>
        <p:spPr>
          <a:xfrm>
            <a:off x="548640" y="2724912"/>
            <a:ext cx="187452" cy="187452"/>
          </a:xfrm>
          <a:prstGeom prst="roundRect">
            <a:avLst>
              <a:gd name="adj" fmla="val 14634"/>
            </a:avLst>
          </a:prstGeom>
          <a:solidFill>
            <a:srgbClr val="B3E5F0"/>
          </a:solidFill>
          <a:ln w="9525">
            <a:solidFill>
              <a:srgbClr val="00A6C8"/>
            </a:solidFill>
            <a:prstDash val="solid"/>
          </a:ln>
        </p:spPr>
      </p:sp>
      <p:sp>
        <p:nvSpPr>
          <p:cNvPr id="71" name="s2_rect_70"/>
          <p:cNvSpPr/>
          <p:nvPr/>
        </p:nvSpPr>
        <p:spPr>
          <a:xfrm>
            <a:off x="788213" y="2724912"/>
            <a:ext cx="187452" cy="187452"/>
          </a:xfrm>
          <a:prstGeom prst="roundRect">
            <a:avLst>
              <a:gd name="adj" fmla="val 14634"/>
            </a:avLst>
          </a:prstGeom>
          <a:solidFill>
            <a:srgbClr val="B3E5F0"/>
          </a:solidFill>
          <a:ln w="9525">
            <a:solidFill>
              <a:srgbClr val="00A6C8"/>
            </a:solidFill>
            <a:prstDash val="solid"/>
          </a:ln>
        </p:spPr>
      </p:sp>
      <p:sp>
        <p:nvSpPr>
          <p:cNvPr id="72" name="s2_rect_71"/>
          <p:cNvSpPr/>
          <p:nvPr/>
        </p:nvSpPr>
        <p:spPr>
          <a:xfrm>
            <a:off x="1027786" y="2724912"/>
            <a:ext cx="187452" cy="187452"/>
          </a:xfrm>
          <a:prstGeom prst="roundRect">
            <a:avLst>
              <a:gd name="adj" fmla="val 14634"/>
            </a:avLst>
          </a:prstGeom>
          <a:solidFill>
            <a:srgbClr val="B3E5F0"/>
          </a:solidFill>
          <a:ln w="9525">
            <a:solidFill>
              <a:srgbClr val="00A6C8"/>
            </a:solidFill>
            <a:prstDash val="solid"/>
          </a:ln>
        </p:spPr>
      </p:sp>
      <p:sp>
        <p:nvSpPr>
          <p:cNvPr id="73" name="s2_rect_72"/>
          <p:cNvSpPr/>
          <p:nvPr/>
        </p:nvSpPr>
        <p:spPr>
          <a:xfrm>
            <a:off x="1267358" y="2724912"/>
            <a:ext cx="187452" cy="187452"/>
          </a:xfrm>
          <a:prstGeom prst="roundRect">
            <a:avLst>
              <a:gd name="adj" fmla="val 14634"/>
            </a:avLst>
          </a:prstGeom>
          <a:solidFill>
            <a:srgbClr val="B3E5F0"/>
          </a:solidFill>
          <a:ln w="9525">
            <a:solidFill>
              <a:srgbClr val="00A6C8"/>
            </a:solidFill>
            <a:prstDash val="solid"/>
          </a:ln>
        </p:spPr>
      </p:sp>
      <p:sp>
        <p:nvSpPr>
          <p:cNvPr id="74" name="s2_rect_73"/>
          <p:cNvSpPr/>
          <p:nvPr/>
        </p:nvSpPr>
        <p:spPr>
          <a:xfrm>
            <a:off x="1506931" y="2724912"/>
            <a:ext cx="187452" cy="187452"/>
          </a:xfrm>
          <a:prstGeom prst="roundRect">
            <a:avLst>
              <a:gd name="adj" fmla="val 14634"/>
            </a:avLst>
          </a:prstGeom>
          <a:solidFill>
            <a:srgbClr val="B3E5F0"/>
          </a:solidFill>
          <a:ln w="9525">
            <a:solidFill>
              <a:srgbClr val="00A6C8"/>
            </a:solidFill>
            <a:prstDash val="solid"/>
          </a:ln>
        </p:spPr>
      </p:sp>
      <p:sp>
        <p:nvSpPr>
          <p:cNvPr id="75" name="s2_rect_74"/>
          <p:cNvSpPr/>
          <p:nvPr/>
        </p:nvSpPr>
        <p:spPr>
          <a:xfrm>
            <a:off x="1746504" y="2724912"/>
            <a:ext cx="187452" cy="187452"/>
          </a:xfrm>
          <a:prstGeom prst="roundRect">
            <a:avLst>
              <a:gd name="adj" fmla="val 14634"/>
            </a:avLst>
          </a:prstGeom>
          <a:solidFill>
            <a:srgbClr val="B3E5F0"/>
          </a:solidFill>
          <a:ln w="9525">
            <a:solidFill>
              <a:srgbClr val="00A6C8"/>
            </a:solidFill>
            <a:prstDash val="solid"/>
          </a:ln>
        </p:spPr>
      </p:sp>
      <p:sp>
        <p:nvSpPr>
          <p:cNvPr id="76" name="s2_rect_75"/>
          <p:cNvSpPr/>
          <p:nvPr/>
        </p:nvSpPr>
        <p:spPr>
          <a:xfrm>
            <a:off x="1986077" y="2724912"/>
            <a:ext cx="187452" cy="187452"/>
          </a:xfrm>
          <a:prstGeom prst="roundRect">
            <a:avLst>
              <a:gd name="adj" fmla="val 14634"/>
            </a:avLst>
          </a:prstGeom>
          <a:solidFill>
            <a:srgbClr val="B3E5F0"/>
          </a:solidFill>
          <a:ln w="9525">
            <a:solidFill>
              <a:srgbClr val="00A6C8"/>
            </a:solidFill>
            <a:prstDash val="solid"/>
          </a:ln>
        </p:spPr>
      </p:sp>
      <p:sp>
        <p:nvSpPr>
          <p:cNvPr id="77" name="s2_rect_76"/>
          <p:cNvSpPr/>
          <p:nvPr/>
        </p:nvSpPr>
        <p:spPr>
          <a:xfrm>
            <a:off x="2225650" y="2724912"/>
            <a:ext cx="187452" cy="187452"/>
          </a:xfrm>
          <a:prstGeom prst="roundRect">
            <a:avLst>
              <a:gd name="adj" fmla="val 14634"/>
            </a:avLst>
          </a:prstGeom>
          <a:solidFill>
            <a:srgbClr val="B3E5F0"/>
          </a:solidFill>
          <a:ln w="9525">
            <a:solidFill>
              <a:srgbClr val="00A6C8"/>
            </a:solidFill>
            <a:prstDash val="solid"/>
          </a:ln>
        </p:spPr>
      </p:sp>
      <p:sp>
        <p:nvSpPr>
          <p:cNvPr id="78" name="s2_rect_77"/>
          <p:cNvSpPr/>
          <p:nvPr/>
        </p:nvSpPr>
        <p:spPr>
          <a:xfrm>
            <a:off x="2465222" y="2724912"/>
            <a:ext cx="187452" cy="187452"/>
          </a:xfrm>
          <a:prstGeom prst="roundRect">
            <a:avLst>
              <a:gd name="adj" fmla="val 14634"/>
            </a:avLst>
          </a:prstGeom>
          <a:solidFill>
            <a:srgbClr val="B3E5F0"/>
          </a:solidFill>
          <a:ln w="9525">
            <a:solidFill>
              <a:srgbClr val="00A6C8"/>
            </a:solidFill>
            <a:prstDash val="solid"/>
          </a:ln>
        </p:spPr>
      </p:sp>
      <p:sp>
        <p:nvSpPr>
          <p:cNvPr id="79" name="s2_rect_78"/>
          <p:cNvSpPr/>
          <p:nvPr/>
        </p:nvSpPr>
        <p:spPr>
          <a:xfrm>
            <a:off x="2704795" y="2724912"/>
            <a:ext cx="187452" cy="187452"/>
          </a:xfrm>
          <a:prstGeom prst="roundRect">
            <a:avLst>
              <a:gd name="adj" fmla="val 14634"/>
            </a:avLst>
          </a:prstGeom>
          <a:solidFill>
            <a:srgbClr val="B3E5F0"/>
          </a:solidFill>
          <a:ln w="9525">
            <a:solidFill>
              <a:srgbClr val="00A6C8"/>
            </a:solidFill>
            <a:prstDash val="solid"/>
          </a:ln>
        </p:spPr>
      </p:sp>
      <p:sp>
        <p:nvSpPr>
          <p:cNvPr id="80" name="s2_rect_79"/>
          <p:cNvSpPr/>
          <p:nvPr/>
        </p:nvSpPr>
        <p:spPr>
          <a:xfrm>
            <a:off x="2944368" y="2724912"/>
            <a:ext cx="187452" cy="187452"/>
          </a:xfrm>
          <a:prstGeom prst="roundRect">
            <a:avLst>
              <a:gd name="adj" fmla="val 14634"/>
            </a:avLst>
          </a:prstGeom>
          <a:solidFill>
            <a:srgbClr val="B3E5F0"/>
          </a:solidFill>
          <a:ln w="9525">
            <a:solidFill>
              <a:srgbClr val="00A6C8"/>
            </a:solidFill>
            <a:prstDash val="solid"/>
          </a:ln>
        </p:spPr>
      </p:sp>
      <p:sp>
        <p:nvSpPr>
          <p:cNvPr id="81" name="s2_rect_80"/>
          <p:cNvSpPr/>
          <p:nvPr/>
        </p:nvSpPr>
        <p:spPr>
          <a:xfrm>
            <a:off x="3183941" y="2724912"/>
            <a:ext cx="187452" cy="187452"/>
          </a:xfrm>
          <a:prstGeom prst="roundRect">
            <a:avLst>
              <a:gd name="adj" fmla="val 14634"/>
            </a:avLst>
          </a:prstGeom>
          <a:solidFill>
            <a:srgbClr val="B3E5F0"/>
          </a:solidFill>
          <a:ln w="9525">
            <a:solidFill>
              <a:srgbClr val="00A6C8"/>
            </a:solidFill>
            <a:prstDash val="solid"/>
          </a:ln>
        </p:spPr>
      </p:sp>
      <p:sp>
        <p:nvSpPr>
          <p:cNvPr id="82" name="s2_rect_81"/>
          <p:cNvSpPr/>
          <p:nvPr/>
        </p:nvSpPr>
        <p:spPr>
          <a:xfrm>
            <a:off x="3423514" y="2724912"/>
            <a:ext cx="187452" cy="187452"/>
          </a:xfrm>
          <a:prstGeom prst="roundRect">
            <a:avLst>
              <a:gd name="adj" fmla="val 14634"/>
            </a:avLst>
          </a:prstGeom>
          <a:solidFill>
            <a:srgbClr val="B3E5F0"/>
          </a:solidFill>
          <a:ln w="9525">
            <a:solidFill>
              <a:srgbClr val="00A6C8"/>
            </a:solidFill>
            <a:prstDash val="solid"/>
          </a:ln>
        </p:spPr>
      </p:sp>
      <p:sp>
        <p:nvSpPr>
          <p:cNvPr id="83" name="s2_rect_82"/>
          <p:cNvSpPr/>
          <p:nvPr/>
        </p:nvSpPr>
        <p:spPr>
          <a:xfrm>
            <a:off x="3663086" y="2724912"/>
            <a:ext cx="187452" cy="187452"/>
          </a:xfrm>
          <a:prstGeom prst="roundRect">
            <a:avLst>
              <a:gd name="adj" fmla="val 14634"/>
            </a:avLst>
          </a:prstGeom>
          <a:solidFill>
            <a:srgbClr val="B3E5F0"/>
          </a:solidFill>
          <a:ln w="9525">
            <a:solidFill>
              <a:srgbClr val="00A6C8"/>
            </a:solidFill>
            <a:prstDash val="solid"/>
          </a:ln>
        </p:spPr>
      </p:sp>
      <p:sp>
        <p:nvSpPr>
          <p:cNvPr id="84" name="s2_rect_83"/>
          <p:cNvSpPr/>
          <p:nvPr/>
        </p:nvSpPr>
        <p:spPr>
          <a:xfrm>
            <a:off x="3902659" y="2724912"/>
            <a:ext cx="187452" cy="187452"/>
          </a:xfrm>
          <a:prstGeom prst="roundRect">
            <a:avLst>
              <a:gd name="adj" fmla="val 14634"/>
            </a:avLst>
          </a:prstGeom>
          <a:solidFill>
            <a:srgbClr val="B3E5F0"/>
          </a:solidFill>
          <a:ln w="9525">
            <a:solidFill>
              <a:srgbClr val="00A6C8"/>
            </a:solidFill>
            <a:prstDash val="solid"/>
          </a:ln>
        </p:spPr>
      </p:sp>
      <p:sp>
        <p:nvSpPr>
          <p:cNvPr id="85" name="s2_rect_84"/>
          <p:cNvSpPr/>
          <p:nvPr/>
        </p:nvSpPr>
        <p:spPr>
          <a:xfrm>
            <a:off x="4142232" y="2724912"/>
            <a:ext cx="187452" cy="187452"/>
          </a:xfrm>
          <a:prstGeom prst="roundRect">
            <a:avLst>
              <a:gd name="adj" fmla="val 14634"/>
            </a:avLst>
          </a:prstGeom>
          <a:solidFill>
            <a:srgbClr val="B3E5F0"/>
          </a:solidFill>
          <a:ln w="9525">
            <a:solidFill>
              <a:srgbClr val="00A6C8"/>
            </a:solidFill>
            <a:prstDash val="solid"/>
          </a:ln>
        </p:spPr>
      </p:sp>
      <p:sp>
        <p:nvSpPr>
          <p:cNvPr id="86" name="s2_rect_85"/>
          <p:cNvSpPr/>
          <p:nvPr/>
        </p:nvSpPr>
        <p:spPr>
          <a:xfrm>
            <a:off x="4381805" y="2724912"/>
            <a:ext cx="187452" cy="187452"/>
          </a:xfrm>
          <a:prstGeom prst="roundRect">
            <a:avLst>
              <a:gd name="adj" fmla="val 14634"/>
            </a:avLst>
          </a:prstGeom>
          <a:solidFill>
            <a:srgbClr val="B3E5F0"/>
          </a:solidFill>
          <a:ln w="9525">
            <a:solidFill>
              <a:srgbClr val="00A6C8"/>
            </a:solidFill>
            <a:prstDash val="solid"/>
          </a:ln>
        </p:spPr>
      </p:sp>
      <p:sp>
        <p:nvSpPr>
          <p:cNvPr id="87" name="s2_rect_86"/>
          <p:cNvSpPr/>
          <p:nvPr/>
        </p:nvSpPr>
        <p:spPr>
          <a:xfrm>
            <a:off x="4621378" y="2724912"/>
            <a:ext cx="187452" cy="187452"/>
          </a:xfrm>
          <a:prstGeom prst="roundRect">
            <a:avLst>
              <a:gd name="adj" fmla="val 14634"/>
            </a:avLst>
          </a:prstGeom>
          <a:solidFill>
            <a:srgbClr val="B3E5F0"/>
          </a:solidFill>
          <a:ln w="9525">
            <a:solidFill>
              <a:srgbClr val="00A6C8"/>
            </a:solidFill>
            <a:prstDash val="solid"/>
          </a:ln>
        </p:spPr>
      </p:sp>
      <p:sp>
        <p:nvSpPr>
          <p:cNvPr id="88" name="s2_rect_87"/>
          <p:cNvSpPr/>
          <p:nvPr/>
        </p:nvSpPr>
        <p:spPr>
          <a:xfrm>
            <a:off x="4860950" y="2724912"/>
            <a:ext cx="187452" cy="187452"/>
          </a:xfrm>
          <a:prstGeom prst="roundRect">
            <a:avLst>
              <a:gd name="adj" fmla="val 14634"/>
            </a:avLst>
          </a:prstGeom>
          <a:solidFill>
            <a:srgbClr val="B3E5F0"/>
          </a:solidFill>
          <a:ln w="9525">
            <a:solidFill>
              <a:srgbClr val="00A6C8"/>
            </a:solidFill>
            <a:prstDash val="solid"/>
          </a:ln>
        </p:spPr>
      </p:sp>
      <p:sp>
        <p:nvSpPr>
          <p:cNvPr id="89" name="s2_rect_88"/>
          <p:cNvSpPr/>
          <p:nvPr/>
        </p:nvSpPr>
        <p:spPr>
          <a:xfrm>
            <a:off x="5100523" y="2724912"/>
            <a:ext cx="187452" cy="187452"/>
          </a:xfrm>
          <a:prstGeom prst="roundRect">
            <a:avLst>
              <a:gd name="adj" fmla="val 14634"/>
            </a:avLst>
          </a:prstGeom>
          <a:solidFill>
            <a:srgbClr val="B3E5F0"/>
          </a:solidFill>
          <a:ln w="9525">
            <a:solidFill>
              <a:srgbClr val="00A6C8"/>
            </a:solidFill>
            <a:prstDash val="solid"/>
          </a:ln>
        </p:spPr>
      </p:sp>
      <p:sp>
        <p:nvSpPr>
          <p:cNvPr id="90" name="s2_text_89"/>
          <p:cNvSpPr txBox="1"/>
          <p:nvPr/>
        </p:nvSpPr>
        <p:spPr>
          <a:xfrm>
            <a:off x="5486400" y="2615184"/>
            <a:ext cx="3246120" cy="54864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20 validation engines</a:t>
            </a:r>
            <a:endParaRPr lang="en-US" sz="1700" dirty="0"/>
          </a:p>
          <a:p>
            <a:pPr algn="l" indent="0" marL="0">
              <a:buNone/>
            </a:pPr>
            <a:r>
              <a:rPr lang="en-US" sz="1400" dirty="0">
                <a:solidFill>
                  <a:srgbClr val="627D98"/>
                </a:solidFill>
                <a:latin typeface="Aptos" pitchFamily="34" charset="0"/>
                <a:ea typeface="Aptos" pitchFamily="34" charset="-122"/>
                <a:cs typeface="Aptos" pitchFamily="34" charset="-120"/>
              </a:rPr>
              <a:t>4,217 rows · compare and select</a:t>
            </a:r>
            <a:endParaRPr lang="en-US" sz="1700" dirty="0"/>
          </a:p>
        </p:txBody>
      </p:sp>
      <p:sp>
        <p:nvSpPr>
          <p:cNvPr id="91" name="s3_rect_90"/>
          <p:cNvSpPr/>
          <p:nvPr/>
        </p:nvSpPr>
        <p:spPr>
          <a:xfrm>
            <a:off x="548640" y="3310128"/>
            <a:ext cx="187452" cy="187452"/>
          </a:xfrm>
          <a:prstGeom prst="roundRect">
            <a:avLst>
              <a:gd name="adj" fmla="val 14634"/>
            </a:avLst>
          </a:prstGeom>
          <a:solidFill>
            <a:srgbClr val="F3A712"/>
          </a:solidFill>
          <a:ln/>
        </p:spPr>
      </p:sp>
      <p:sp>
        <p:nvSpPr>
          <p:cNvPr id="92" name="s3_rect_91"/>
          <p:cNvSpPr/>
          <p:nvPr/>
        </p:nvSpPr>
        <p:spPr>
          <a:xfrm>
            <a:off x="788213" y="3310128"/>
            <a:ext cx="187452" cy="187452"/>
          </a:xfrm>
          <a:prstGeom prst="roundRect">
            <a:avLst>
              <a:gd name="adj" fmla="val 14634"/>
            </a:avLst>
          </a:prstGeom>
          <a:solidFill>
            <a:srgbClr val="F3A712"/>
          </a:solidFill>
          <a:ln/>
        </p:spPr>
      </p:sp>
      <p:sp>
        <p:nvSpPr>
          <p:cNvPr id="93" name="s3_rect_92"/>
          <p:cNvSpPr/>
          <p:nvPr/>
        </p:nvSpPr>
        <p:spPr>
          <a:xfrm>
            <a:off x="1027786" y="3310128"/>
            <a:ext cx="187452" cy="187452"/>
          </a:xfrm>
          <a:prstGeom prst="roundRect">
            <a:avLst>
              <a:gd name="adj" fmla="val 14634"/>
            </a:avLst>
          </a:prstGeom>
          <a:solidFill>
            <a:srgbClr val="F3A712"/>
          </a:solidFill>
          <a:ln/>
        </p:spPr>
      </p:sp>
      <p:sp>
        <p:nvSpPr>
          <p:cNvPr id="94" name="s3_rect_93"/>
          <p:cNvSpPr/>
          <p:nvPr/>
        </p:nvSpPr>
        <p:spPr>
          <a:xfrm>
            <a:off x="1267358" y="3310128"/>
            <a:ext cx="187452" cy="187452"/>
          </a:xfrm>
          <a:prstGeom prst="roundRect">
            <a:avLst>
              <a:gd name="adj" fmla="val 14634"/>
            </a:avLst>
          </a:prstGeom>
          <a:solidFill>
            <a:srgbClr val="F3A712"/>
          </a:solidFill>
          <a:ln/>
        </p:spPr>
      </p:sp>
      <p:sp>
        <p:nvSpPr>
          <p:cNvPr id="95" name="s3_rect_94"/>
          <p:cNvSpPr/>
          <p:nvPr/>
        </p:nvSpPr>
        <p:spPr>
          <a:xfrm>
            <a:off x="1506931" y="3310128"/>
            <a:ext cx="187452" cy="187452"/>
          </a:xfrm>
          <a:prstGeom prst="roundRect">
            <a:avLst>
              <a:gd name="adj" fmla="val 14634"/>
            </a:avLst>
          </a:prstGeom>
          <a:solidFill>
            <a:srgbClr val="F3A712"/>
          </a:solidFill>
          <a:ln/>
        </p:spPr>
      </p:sp>
      <p:sp>
        <p:nvSpPr>
          <p:cNvPr id="96" name="s3_rect_95"/>
          <p:cNvSpPr/>
          <p:nvPr/>
        </p:nvSpPr>
        <p:spPr>
          <a:xfrm>
            <a:off x="1746504" y="3310128"/>
            <a:ext cx="187452" cy="187452"/>
          </a:xfrm>
          <a:prstGeom prst="roundRect">
            <a:avLst>
              <a:gd name="adj" fmla="val 14634"/>
            </a:avLst>
          </a:prstGeom>
          <a:solidFill>
            <a:srgbClr val="F3A712"/>
          </a:solidFill>
          <a:ln/>
        </p:spPr>
      </p:sp>
      <p:sp>
        <p:nvSpPr>
          <p:cNvPr id="97" name="s3_rect_96"/>
          <p:cNvSpPr/>
          <p:nvPr/>
        </p:nvSpPr>
        <p:spPr>
          <a:xfrm>
            <a:off x="1986077" y="3310128"/>
            <a:ext cx="187452" cy="187452"/>
          </a:xfrm>
          <a:prstGeom prst="roundRect">
            <a:avLst>
              <a:gd name="adj" fmla="val 14634"/>
            </a:avLst>
          </a:prstGeom>
          <a:solidFill>
            <a:srgbClr val="F3A712"/>
          </a:solidFill>
          <a:ln/>
        </p:spPr>
      </p:sp>
      <p:sp>
        <p:nvSpPr>
          <p:cNvPr id="98" name="s3_rect_97"/>
          <p:cNvSpPr/>
          <p:nvPr/>
        </p:nvSpPr>
        <p:spPr>
          <a:xfrm>
            <a:off x="2225650" y="3310128"/>
            <a:ext cx="187452" cy="187452"/>
          </a:xfrm>
          <a:prstGeom prst="roundRect">
            <a:avLst>
              <a:gd name="adj" fmla="val 14634"/>
            </a:avLst>
          </a:prstGeom>
          <a:solidFill>
            <a:srgbClr val="F3A712"/>
          </a:solidFill>
          <a:ln/>
        </p:spPr>
      </p:sp>
      <p:sp>
        <p:nvSpPr>
          <p:cNvPr id="99" name="s3_rect_98"/>
          <p:cNvSpPr/>
          <p:nvPr/>
        </p:nvSpPr>
        <p:spPr>
          <a:xfrm>
            <a:off x="2465222" y="3310128"/>
            <a:ext cx="187452" cy="187452"/>
          </a:xfrm>
          <a:prstGeom prst="roundRect">
            <a:avLst>
              <a:gd name="adj" fmla="val 14634"/>
            </a:avLst>
          </a:prstGeom>
          <a:solidFill>
            <a:srgbClr val="F3A712"/>
          </a:solidFill>
          <a:ln/>
        </p:spPr>
      </p:sp>
      <p:sp>
        <p:nvSpPr>
          <p:cNvPr id="100" name="s3_rect_99"/>
          <p:cNvSpPr/>
          <p:nvPr/>
        </p:nvSpPr>
        <p:spPr>
          <a:xfrm>
            <a:off x="2704795" y="3310128"/>
            <a:ext cx="187452" cy="187452"/>
          </a:xfrm>
          <a:prstGeom prst="roundRect">
            <a:avLst>
              <a:gd name="adj" fmla="val 14634"/>
            </a:avLst>
          </a:prstGeom>
          <a:solidFill>
            <a:srgbClr val="F3A712"/>
          </a:solidFill>
          <a:ln/>
        </p:spPr>
      </p:sp>
      <p:sp>
        <p:nvSpPr>
          <p:cNvPr id="101" name="s3_rect_100"/>
          <p:cNvSpPr/>
          <p:nvPr/>
        </p:nvSpPr>
        <p:spPr>
          <a:xfrm>
            <a:off x="2944368" y="3310128"/>
            <a:ext cx="187452" cy="187452"/>
          </a:xfrm>
          <a:prstGeom prst="roundRect">
            <a:avLst>
              <a:gd name="adj" fmla="val 14634"/>
            </a:avLst>
          </a:prstGeom>
          <a:solidFill>
            <a:srgbClr val="F3A712"/>
          </a:solidFill>
          <a:ln/>
        </p:spPr>
      </p:sp>
      <p:sp>
        <p:nvSpPr>
          <p:cNvPr id="102" name="s3_rect_101"/>
          <p:cNvSpPr/>
          <p:nvPr/>
        </p:nvSpPr>
        <p:spPr>
          <a:xfrm>
            <a:off x="3183941" y="3310128"/>
            <a:ext cx="187452" cy="187452"/>
          </a:xfrm>
          <a:prstGeom prst="roundRect">
            <a:avLst>
              <a:gd name="adj" fmla="val 14634"/>
            </a:avLst>
          </a:prstGeom>
          <a:solidFill>
            <a:srgbClr val="F3A712"/>
          </a:solidFill>
          <a:ln/>
        </p:spPr>
      </p:sp>
      <p:sp>
        <p:nvSpPr>
          <p:cNvPr id="103" name="s3_rect_102"/>
          <p:cNvSpPr/>
          <p:nvPr/>
        </p:nvSpPr>
        <p:spPr>
          <a:xfrm>
            <a:off x="3423514" y="3310128"/>
            <a:ext cx="187452" cy="187452"/>
          </a:xfrm>
          <a:prstGeom prst="roundRect">
            <a:avLst>
              <a:gd name="adj" fmla="val 14634"/>
            </a:avLst>
          </a:prstGeom>
          <a:solidFill>
            <a:srgbClr val="F3A712"/>
          </a:solidFill>
          <a:ln/>
        </p:spPr>
      </p:sp>
      <p:sp>
        <p:nvSpPr>
          <p:cNvPr id="104" name="s3_rect_103"/>
          <p:cNvSpPr/>
          <p:nvPr/>
        </p:nvSpPr>
        <p:spPr>
          <a:xfrm>
            <a:off x="3663086" y="3310128"/>
            <a:ext cx="187452" cy="187452"/>
          </a:xfrm>
          <a:prstGeom prst="roundRect">
            <a:avLst>
              <a:gd name="adj" fmla="val 14634"/>
            </a:avLst>
          </a:prstGeom>
          <a:solidFill>
            <a:srgbClr val="F3A712"/>
          </a:solidFill>
          <a:ln/>
        </p:spPr>
      </p:sp>
      <p:sp>
        <p:nvSpPr>
          <p:cNvPr id="105" name="s3_rect_104"/>
          <p:cNvSpPr/>
          <p:nvPr/>
        </p:nvSpPr>
        <p:spPr>
          <a:xfrm>
            <a:off x="3902659" y="3310128"/>
            <a:ext cx="187452" cy="187452"/>
          </a:xfrm>
          <a:prstGeom prst="roundRect">
            <a:avLst>
              <a:gd name="adj" fmla="val 14634"/>
            </a:avLst>
          </a:prstGeom>
          <a:solidFill>
            <a:srgbClr val="F3A712"/>
          </a:solidFill>
          <a:ln/>
        </p:spPr>
      </p:sp>
      <p:sp>
        <p:nvSpPr>
          <p:cNvPr id="106" name="s3_rect_105"/>
          <p:cNvSpPr/>
          <p:nvPr/>
        </p:nvSpPr>
        <p:spPr>
          <a:xfrm>
            <a:off x="4142232" y="3310128"/>
            <a:ext cx="187452" cy="187452"/>
          </a:xfrm>
          <a:prstGeom prst="roundRect">
            <a:avLst>
              <a:gd name="adj" fmla="val 14634"/>
            </a:avLst>
          </a:prstGeom>
          <a:solidFill>
            <a:srgbClr val="F3A712"/>
          </a:solidFill>
          <a:ln/>
        </p:spPr>
      </p:sp>
      <p:sp>
        <p:nvSpPr>
          <p:cNvPr id="107" name="s3_rect_106"/>
          <p:cNvSpPr/>
          <p:nvPr/>
        </p:nvSpPr>
        <p:spPr>
          <a:xfrm>
            <a:off x="4381805" y="3310128"/>
            <a:ext cx="187452" cy="187452"/>
          </a:xfrm>
          <a:prstGeom prst="roundRect">
            <a:avLst>
              <a:gd name="adj" fmla="val 14634"/>
            </a:avLst>
          </a:prstGeom>
          <a:solidFill>
            <a:srgbClr val="F3A712"/>
          </a:solidFill>
          <a:ln/>
        </p:spPr>
      </p:sp>
      <p:sp>
        <p:nvSpPr>
          <p:cNvPr id="108" name="s3_rect_107"/>
          <p:cNvSpPr/>
          <p:nvPr/>
        </p:nvSpPr>
        <p:spPr>
          <a:xfrm>
            <a:off x="4621378" y="3310128"/>
            <a:ext cx="187452" cy="187452"/>
          </a:xfrm>
          <a:prstGeom prst="roundRect">
            <a:avLst>
              <a:gd name="adj" fmla="val 14634"/>
            </a:avLst>
          </a:prstGeom>
          <a:solidFill>
            <a:srgbClr val="F3A712"/>
          </a:solidFill>
          <a:ln/>
        </p:spPr>
      </p:sp>
      <p:sp>
        <p:nvSpPr>
          <p:cNvPr id="109" name="s3_rect_108"/>
          <p:cNvSpPr/>
          <p:nvPr/>
        </p:nvSpPr>
        <p:spPr>
          <a:xfrm>
            <a:off x="4860950" y="3310128"/>
            <a:ext cx="187452" cy="187452"/>
          </a:xfrm>
          <a:prstGeom prst="roundRect">
            <a:avLst>
              <a:gd name="adj" fmla="val 14634"/>
            </a:avLst>
          </a:prstGeom>
          <a:solidFill>
            <a:srgbClr val="F3A712"/>
          </a:solidFill>
          <a:ln/>
        </p:spPr>
      </p:sp>
      <p:sp>
        <p:nvSpPr>
          <p:cNvPr id="110" name="s3_rect_109"/>
          <p:cNvSpPr/>
          <p:nvPr/>
        </p:nvSpPr>
        <p:spPr>
          <a:xfrm>
            <a:off x="5100523" y="3310128"/>
            <a:ext cx="187452" cy="187452"/>
          </a:xfrm>
          <a:prstGeom prst="roundRect">
            <a:avLst>
              <a:gd name="adj" fmla="val 14634"/>
            </a:avLst>
          </a:prstGeom>
          <a:solidFill>
            <a:srgbClr val="F3A712"/>
          </a:solidFill>
          <a:ln/>
        </p:spPr>
      </p:sp>
      <p:sp>
        <p:nvSpPr>
          <p:cNvPr id="111" name="s3_text_110"/>
          <p:cNvSpPr txBox="1"/>
          <p:nvPr/>
        </p:nvSpPr>
        <p:spPr>
          <a:xfrm>
            <a:off x="5486400" y="3200400"/>
            <a:ext cx="3246120" cy="54864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20 calibration engines</a:t>
            </a:r>
            <a:endParaRPr lang="en-US" sz="1700" dirty="0"/>
          </a:p>
          <a:p>
            <a:pPr algn="l" indent="0" marL="0">
              <a:buNone/>
            </a:pPr>
            <a:r>
              <a:rPr lang="en-US" sz="1400" dirty="0">
                <a:solidFill>
                  <a:srgbClr val="627D98"/>
                </a:solidFill>
                <a:latin typeface="Aptos" pitchFamily="34" charset="0"/>
                <a:ea typeface="Aptos" pitchFamily="34" charset="-122"/>
                <a:cs typeface="Aptos" pitchFamily="34" charset="-120"/>
              </a:rPr>
              <a:t>4,104 rows · one conformal score each</a:t>
            </a:r>
            <a:endParaRPr lang="en-US" sz="1700" dirty="0"/>
          </a:p>
        </p:txBody>
      </p:sp>
      <p:sp>
        <p:nvSpPr>
          <p:cNvPr id="112" name="s0_text_111"/>
          <p:cNvSpPr txBox="1"/>
          <p:nvPr/>
        </p:nvSpPr>
        <p:spPr>
          <a:xfrm>
            <a:off x="548640" y="3621024"/>
            <a:ext cx="4846320" cy="274320"/>
          </a:xfrm>
          <a:prstGeom prst="rect">
            <a:avLst/>
          </a:prstGeom>
          <a:noFill/>
          <a:ln/>
        </p:spPr>
        <p:txBody>
          <a:bodyPr wrap="square" lIns="0" tIns="0" rIns="0" bIns="0" rtlCol="0" anchor="t"/>
          <a:lstStyle/>
          <a:p>
            <a:pPr algn="l" indent="0" marL="0">
              <a:buNone/>
            </a:pPr>
            <a:r>
              <a:rPr lang="en-US" sz="1100" i="1" dirty="0">
                <a:solidFill>
                  <a:srgbClr val="627D98"/>
                </a:solidFill>
                <a:latin typeface="Aptos" pitchFamily="34" charset="0"/>
                <a:ea typeface="Aptos" pitchFamily="34" charset="-122"/>
                <a:cs typeface="Aptos" pitchFamily="34" charset="-120"/>
              </a:rPr>
              <a:t>Grouped for display; roles came from a seed-42 engine-level shuffle</a:t>
            </a:r>
            <a:endParaRPr lang="en-US" sz="1100" dirty="0"/>
          </a:p>
        </p:txBody>
      </p:sp>
      <p:sp>
        <p:nvSpPr>
          <p:cNvPr id="113" name="s4_text_112"/>
          <p:cNvSpPr txBox="1"/>
          <p:nvPr/>
        </p:nvSpPr>
        <p:spPr>
          <a:xfrm>
            <a:off x="9006840" y="1755648"/>
            <a:ext cx="2651760" cy="310896"/>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100 official test engines</a:t>
            </a:r>
            <a:endParaRPr lang="en-US" sz="1600" dirty="0"/>
          </a:p>
        </p:txBody>
      </p:sp>
      <p:sp>
        <p:nvSpPr>
          <p:cNvPr id="114" name="s4_rect_113"/>
          <p:cNvSpPr/>
          <p:nvPr/>
        </p:nvSpPr>
        <p:spPr>
          <a:xfrm>
            <a:off x="9006840" y="2121408"/>
            <a:ext cx="173736" cy="141732"/>
          </a:xfrm>
          <a:prstGeom prst="roundRect">
            <a:avLst>
              <a:gd name="adj" fmla="val 12903"/>
            </a:avLst>
          </a:prstGeom>
          <a:solidFill>
            <a:srgbClr val="FFFFFF"/>
          </a:solidFill>
          <a:ln w="9525">
            <a:solidFill>
              <a:srgbClr val="102A43"/>
            </a:solidFill>
            <a:prstDash val="solid"/>
          </a:ln>
        </p:spPr>
      </p:sp>
      <p:sp>
        <p:nvSpPr>
          <p:cNvPr id="115" name="s4_rect_114"/>
          <p:cNvSpPr/>
          <p:nvPr/>
        </p:nvSpPr>
        <p:spPr>
          <a:xfrm>
            <a:off x="9222638" y="2121408"/>
            <a:ext cx="173736" cy="141732"/>
          </a:xfrm>
          <a:prstGeom prst="roundRect">
            <a:avLst>
              <a:gd name="adj" fmla="val 12903"/>
            </a:avLst>
          </a:prstGeom>
          <a:solidFill>
            <a:srgbClr val="FFFFFF"/>
          </a:solidFill>
          <a:ln w="9525">
            <a:solidFill>
              <a:srgbClr val="102A43"/>
            </a:solidFill>
            <a:prstDash val="solid"/>
          </a:ln>
        </p:spPr>
      </p:sp>
      <p:sp>
        <p:nvSpPr>
          <p:cNvPr id="116" name="s4_rect_115"/>
          <p:cNvSpPr/>
          <p:nvPr/>
        </p:nvSpPr>
        <p:spPr>
          <a:xfrm>
            <a:off x="9438437" y="2121408"/>
            <a:ext cx="173736" cy="141732"/>
          </a:xfrm>
          <a:prstGeom prst="roundRect">
            <a:avLst>
              <a:gd name="adj" fmla="val 12903"/>
            </a:avLst>
          </a:prstGeom>
          <a:solidFill>
            <a:srgbClr val="FFFFFF"/>
          </a:solidFill>
          <a:ln w="9525">
            <a:solidFill>
              <a:srgbClr val="102A43"/>
            </a:solidFill>
            <a:prstDash val="solid"/>
          </a:ln>
        </p:spPr>
      </p:sp>
      <p:sp>
        <p:nvSpPr>
          <p:cNvPr id="117" name="s4_rect_116"/>
          <p:cNvSpPr/>
          <p:nvPr/>
        </p:nvSpPr>
        <p:spPr>
          <a:xfrm>
            <a:off x="9654235" y="2121408"/>
            <a:ext cx="173736" cy="141732"/>
          </a:xfrm>
          <a:prstGeom prst="roundRect">
            <a:avLst>
              <a:gd name="adj" fmla="val 12903"/>
            </a:avLst>
          </a:prstGeom>
          <a:solidFill>
            <a:srgbClr val="FFFFFF"/>
          </a:solidFill>
          <a:ln w="9525">
            <a:solidFill>
              <a:srgbClr val="102A43"/>
            </a:solidFill>
            <a:prstDash val="solid"/>
          </a:ln>
        </p:spPr>
      </p:sp>
      <p:sp>
        <p:nvSpPr>
          <p:cNvPr id="118" name="s4_rect_117"/>
          <p:cNvSpPr/>
          <p:nvPr/>
        </p:nvSpPr>
        <p:spPr>
          <a:xfrm>
            <a:off x="9870034" y="2121408"/>
            <a:ext cx="173736" cy="141732"/>
          </a:xfrm>
          <a:prstGeom prst="roundRect">
            <a:avLst>
              <a:gd name="adj" fmla="val 12903"/>
            </a:avLst>
          </a:prstGeom>
          <a:solidFill>
            <a:srgbClr val="FFFFFF"/>
          </a:solidFill>
          <a:ln w="9525">
            <a:solidFill>
              <a:srgbClr val="102A43"/>
            </a:solidFill>
            <a:prstDash val="solid"/>
          </a:ln>
        </p:spPr>
      </p:sp>
      <p:sp>
        <p:nvSpPr>
          <p:cNvPr id="119" name="s4_rect_118"/>
          <p:cNvSpPr/>
          <p:nvPr/>
        </p:nvSpPr>
        <p:spPr>
          <a:xfrm>
            <a:off x="10085832" y="2121408"/>
            <a:ext cx="173736" cy="141732"/>
          </a:xfrm>
          <a:prstGeom prst="roundRect">
            <a:avLst>
              <a:gd name="adj" fmla="val 12903"/>
            </a:avLst>
          </a:prstGeom>
          <a:solidFill>
            <a:srgbClr val="FFFFFF"/>
          </a:solidFill>
          <a:ln w="9525">
            <a:solidFill>
              <a:srgbClr val="102A43"/>
            </a:solidFill>
            <a:prstDash val="solid"/>
          </a:ln>
        </p:spPr>
      </p:sp>
      <p:sp>
        <p:nvSpPr>
          <p:cNvPr id="120" name="s4_rect_119"/>
          <p:cNvSpPr/>
          <p:nvPr/>
        </p:nvSpPr>
        <p:spPr>
          <a:xfrm>
            <a:off x="10301630" y="2121408"/>
            <a:ext cx="173736" cy="141732"/>
          </a:xfrm>
          <a:prstGeom prst="roundRect">
            <a:avLst>
              <a:gd name="adj" fmla="val 12903"/>
            </a:avLst>
          </a:prstGeom>
          <a:solidFill>
            <a:srgbClr val="FFFFFF"/>
          </a:solidFill>
          <a:ln w="9525">
            <a:solidFill>
              <a:srgbClr val="102A43"/>
            </a:solidFill>
            <a:prstDash val="solid"/>
          </a:ln>
        </p:spPr>
      </p:sp>
      <p:sp>
        <p:nvSpPr>
          <p:cNvPr id="121" name="s4_rect_120"/>
          <p:cNvSpPr/>
          <p:nvPr/>
        </p:nvSpPr>
        <p:spPr>
          <a:xfrm>
            <a:off x="10517429" y="2121408"/>
            <a:ext cx="173736" cy="141732"/>
          </a:xfrm>
          <a:prstGeom prst="roundRect">
            <a:avLst>
              <a:gd name="adj" fmla="val 12903"/>
            </a:avLst>
          </a:prstGeom>
          <a:solidFill>
            <a:srgbClr val="FFFFFF"/>
          </a:solidFill>
          <a:ln w="9525">
            <a:solidFill>
              <a:srgbClr val="102A43"/>
            </a:solidFill>
            <a:prstDash val="solid"/>
          </a:ln>
        </p:spPr>
      </p:sp>
      <p:sp>
        <p:nvSpPr>
          <p:cNvPr id="122" name="s4_rect_121"/>
          <p:cNvSpPr/>
          <p:nvPr/>
        </p:nvSpPr>
        <p:spPr>
          <a:xfrm>
            <a:off x="10733227" y="2121408"/>
            <a:ext cx="173736" cy="141732"/>
          </a:xfrm>
          <a:prstGeom prst="roundRect">
            <a:avLst>
              <a:gd name="adj" fmla="val 12903"/>
            </a:avLst>
          </a:prstGeom>
          <a:solidFill>
            <a:srgbClr val="FFFFFF"/>
          </a:solidFill>
          <a:ln w="9525">
            <a:solidFill>
              <a:srgbClr val="102A43"/>
            </a:solidFill>
            <a:prstDash val="solid"/>
          </a:ln>
        </p:spPr>
      </p:sp>
      <p:sp>
        <p:nvSpPr>
          <p:cNvPr id="123" name="s4_rect_122"/>
          <p:cNvSpPr/>
          <p:nvPr/>
        </p:nvSpPr>
        <p:spPr>
          <a:xfrm>
            <a:off x="10949026" y="2121408"/>
            <a:ext cx="173736" cy="141732"/>
          </a:xfrm>
          <a:prstGeom prst="roundRect">
            <a:avLst>
              <a:gd name="adj" fmla="val 12903"/>
            </a:avLst>
          </a:prstGeom>
          <a:solidFill>
            <a:srgbClr val="FFFFFF"/>
          </a:solidFill>
          <a:ln w="9525">
            <a:solidFill>
              <a:srgbClr val="102A43"/>
            </a:solidFill>
            <a:prstDash val="solid"/>
          </a:ln>
        </p:spPr>
      </p:sp>
      <p:sp>
        <p:nvSpPr>
          <p:cNvPr id="124" name="s4_rect_123"/>
          <p:cNvSpPr/>
          <p:nvPr/>
        </p:nvSpPr>
        <p:spPr>
          <a:xfrm>
            <a:off x="9006840" y="2304288"/>
            <a:ext cx="173736" cy="141732"/>
          </a:xfrm>
          <a:prstGeom prst="roundRect">
            <a:avLst>
              <a:gd name="adj" fmla="val 12903"/>
            </a:avLst>
          </a:prstGeom>
          <a:solidFill>
            <a:srgbClr val="FFFFFF"/>
          </a:solidFill>
          <a:ln w="9525">
            <a:solidFill>
              <a:srgbClr val="102A43"/>
            </a:solidFill>
            <a:prstDash val="solid"/>
          </a:ln>
        </p:spPr>
      </p:sp>
      <p:sp>
        <p:nvSpPr>
          <p:cNvPr id="125" name="s4_rect_124"/>
          <p:cNvSpPr/>
          <p:nvPr/>
        </p:nvSpPr>
        <p:spPr>
          <a:xfrm>
            <a:off x="9222638" y="2304288"/>
            <a:ext cx="173736" cy="141732"/>
          </a:xfrm>
          <a:prstGeom prst="roundRect">
            <a:avLst>
              <a:gd name="adj" fmla="val 12903"/>
            </a:avLst>
          </a:prstGeom>
          <a:solidFill>
            <a:srgbClr val="FFFFFF"/>
          </a:solidFill>
          <a:ln w="9525">
            <a:solidFill>
              <a:srgbClr val="102A43"/>
            </a:solidFill>
            <a:prstDash val="solid"/>
          </a:ln>
        </p:spPr>
      </p:sp>
      <p:sp>
        <p:nvSpPr>
          <p:cNvPr id="126" name="s4_rect_125"/>
          <p:cNvSpPr/>
          <p:nvPr/>
        </p:nvSpPr>
        <p:spPr>
          <a:xfrm>
            <a:off x="9438437" y="2304288"/>
            <a:ext cx="173736" cy="141732"/>
          </a:xfrm>
          <a:prstGeom prst="roundRect">
            <a:avLst>
              <a:gd name="adj" fmla="val 12903"/>
            </a:avLst>
          </a:prstGeom>
          <a:solidFill>
            <a:srgbClr val="FFFFFF"/>
          </a:solidFill>
          <a:ln w="9525">
            <a:solidFill>
              <a:srgbClr val="102A43"/>
            </a:solidFill>
            <a:prstDash val="solid"/>
          </a:ln>
        </p:spPr>
      </p:sp>
      <p:sp>
        <p:nvSpPr>
          <p:cNvPr id="127" name="s4_rect_126"/>
          <p:cNvSpPr/>
          <p:nvPr/>
        </p:nvSpPr>
        <p:spPr>
          <a:xfrm>
            <a:off x="9654235" y="2304288"/>
            <a:ext cx="173736" cy="141732"/>
          </a:xfrm>
          <a:prstGeom prst="roundRect">
            <a:avLst>
              <a:gd name="adj" fmla="val 12903"/>
            </a:avLst>
          </a:prstGeom>
          <a:solidFill>
            <a:srgbClr val="FFFFFF"/>
          </a:solidFill>
          <a:ln w="9525">
            <a:solidFill>
              <a:srgbClr val="102A43"/>
            </a:solidFill>
            <a:prstDash val="solid"/>
          </a:ln>
        </p:spPr>
      </p:sp>
      <p:sp>
        <p:nvSpPr>
          <p:cNvPr id="128" name="s4_rect_127"/>
          <p:cNvSpPr/>
          <p:nvPr/>
        </p:nvSpPr>
        <p:spPr>
          <a:xfrm>
            <a:off x="9870034" y="2304288"/>
            <a:ext cx="173736" cy="141732"/>
          </a:xfrm>
          <a:prstGeom prst="roundRect">
            <a:avLst>
              <a:gd name="adj" fmla="val 12903"/>
            </a:avLst>
          </a:prstGeom>
          <a:solidFill>
            <a:srgbClr val="FFFFFF"/>
          </a:solidFill>
          <a:ln w="9525">
            <a:solidFill>
              <a:srgbClr val="102A43"/>
            </a:solidFill>
            <a:prstDash val="solid"/>
          </a:ln>
        </p:spPr>
      </p:sp>
      <p:sp>
        <p:nvSpPr>
          <p:cNvPr id="129" name="s4_rect_128"/>
          <p:cNvSpPr/>
          <p:nvPr/>
        </p:nvSpPr>
        <p:spPr>
          <a:xfrm>
            <a:off x="10085832" y="2304288"/>
            <a:ext cx="173736" cy="141732"/>
          </a:xfrm>
          <a:prstGeom prst="roundRect">
            <a:avLst>
              <a:gd name="adj" fmla="val 12903"/>
            </a:avLst>
          </a:prstGeom>
          <a:solidFill>
            <a:srgbClr val="FFFFFF"/>
          </a:solidFill>
          <a:ln w="9525">
            <a:solidFill>
              <a:srgbClr val="102A43"/>
            </a:solidFill>
            <a:prstDash val="solid"/>
          </a:ln>
        </p:spPr>
      </p:sp>
      <p:sp>
        <p:nvSpPr>
          <p:cNvPr id="130" name="s4_rect_129"/>
          <p:cNvSpPr/>
          <p:nvPr/>
        </p:nvSpPr>
        <p:spPr>
          <a:xfrm>
            <a:off x="10301630" y="2304288"/>
            <a:ext cx="173736" cy="141732"/>
          </a:xfrm>
          <a:prstGeom prst="roundRect">
            <a:avLst>
              <a:gd name="adj" fmla="val 12903"/>
            </a:avLst>
          </a:prstGeom>
          <a:solidFill>
            <a:srgbClr val="FFFFFF"/>
          </a:solidFill>
          <a:ln w="9525">
            <a:solidFill>
              <a:srgbClr val="102A43"/>
            </a:solidFill>
            <a:prstDash val="solid"/>
          </a:ln>
        </p:spPr>
      </p:sp>
      <p:sp>
        <p:nvSpPr>
          <p:cNvPr id="131" name="s4_rect_130"/>
          <p:cNvSpPr/>
          <p:nvPr/>
        </p:nvSpPr>
        <p:spPr>
          <a:xfrm>
            <a:off x="10517429" y="2304288"/>
            <a:ext cx="173736" cy="141732"/>
          </a:xfrm>
          <a:prstGeom prst="roundRect">
            <a:avLst>
              <a:gd name="adj" fmla="val 12903"/>
            </a:avLst>
          </a:prstGeom>
          <a:solidFill>
            <a:srgbClr val="FFFFFF"/>
          </a:solidFill>
          <a:ln w="9525">
            <a:solidFill>
              <a:srgbClr val="102A43"/>
            </a:solidFill>
            <a:prstDash val="solid"/>
          </a:ln>
        </p:spPr>
      </p:sp>
      <p:sp>
        <p:nvSpPr>
          <p:cNvPr id="132" name="s4_rect_131"/>
          <p:cNvSpPr/>
          <p:nvPr/>
        </p:nvSpPr>
        <p:spPr>
          <a:xfrm>
            <a:off x="10733227" y="2304288"/>
            <a:ext cx="173736" cy="141732"/>
          </a:xfrm>
          <a:prstGeom prst="roundRect">
            <a:avLst>
              <a:gd name="adj" fmla="val 12903"/>
            </a:avLst>
          </a:prstGeom>
          <a:solidFill>
            <a:srgbClr val="FFFFFF"/>
          </a:solidFill>
          <a:ln w="9525">
            <a:solidFill>
              <a:srgbClr val="102A43"/>
            </a:solidFill>
            <a:prstDash val="solid"/>
          </a:ln>
        </p:spPr>
      </p:sp>
      <p:sp>
        <p:nvSpPr>
          <p:cNvPr id="133" name="s4_rect_132"/>
          <p:cNvSpPr/>
          <p:nvPr/>
        </p:nvSpPr>
        <p:spPr>
          <a:xfrm>
            <a:off x="10949026" y="2304288"/>
            <a:ext cx="173736" cy="141732"/>
          </a:xfrm>
          <a:prstGeom prst="roundRect">
            <a:avLst>
              <a:gd name="adj" fmla="val 12903"/>
            </a:avLst>
          </a:prstGeom>
          <a:solidFill>
            <a:srgbClr val="FFFFFF"/>
          </a:solidFill>
          <a:ln w="9525">
            <a:solidFill>
              <a:srgbClr val="102A43"/>
            </a:solidFill>
            <a:prstDash val="solid"/>
          </a:ln>
        </p:spPr>
      </p:sp>
      <p:sp>
        <p:nvSpPr>
          <p:cNvPr id="134" name="s4_rect_133"/>
          <p:cNvSpPr/>
          <p:nvPr/>
        </p:nvSpPr>
        <p:spPr>
          <a:xfrm>
            <a:off x="9006840" y="2487168"/>
            <a:ext cx="173736" cy="141732"/>
          </a:xfrm>
          <a:prstGeom prst="roundRect">
            <a:avLst>
              <a:gd name="adj" fmla="val 12903"/>
            </a:avLst>
          </a:prstGeom>
          <a:solidFill>
            <a:srgbClr val="FFFFFF"/>
          </a:solidFill>
          <a:ln w="9525">
            <a:solidFill>
              <a:srgbClr val="102A43"/>
            </a:solidFill>
            <a:prstDash val="solid"/>
          </a:ln>
        </p:spPr>
      </p:sp>
      <p:sp>
        <p:nvSpPr>
          <p:cNvPr id="135" name="s4_rect_134"/>
          <p:cNvSpPr/>
          <p:nvPr/>
        </p:nvSpPr>
        <p:spPr>
          <a:xfrm>
            <a:off x="9222638" y="2487168"/>
            <a:ext cx="173736" cy="141732"/>
          </a:xfrm>
          <a:prstGeom prst="roundRect">
            <a:avLst>
              <a:gd name="adj" fmla="val 12903"/>
            </a:avLst>
          </a:prstGeom>
          <a:solidFill>
            <a:srgbClr val="FFFFFF"/>
          </a:solidFill>
          <a:ln w="9525">
            <a:solidFill>
              <a:srgbClr val="102A43"/>
            </a:solidFill>
            <a:prstDash val="solid"/>
          </a:ln>
        </p:spPr>
      </p:sp>
      <p:sp>
        <p:nvSpPr>
          <p:cNvPr id="136" name="s4_rect_135"/>
          <p:cNvSpPr/>
          <p:nvPr/>
        </p:nvSpPr>
        <p:spPr>
          <a:xfrm>
            <a:off x="9438437" y="2487168"/>
            <a:ext cx="173736" cy="141732"/>
          </a:xfrm>
          <a:prstGeom prst="roundRect">
            <a:avLst>
              <a:gd name="adj" fmla="val 12903"/>
            </a:avLst>
          </a:prstGeom>
          <a:solidFill>
            <a:srgbClr val="FFFFFF"/>
          </a:solidFill>
          <a:ln w="9525">
            <a:solidFill>
              <a:srgbClr val="102A43"/>
            </a:solidFill>
            <a:prstDash val="solid"/>
          </a:ln>
        </p:spPr>
      </p:sp>
      <p:sp>
        <p:nvSpPr>
          <p:cNvPr id="137" name="s4_rect_136"/>
          <p:cNvSpPr/>
          <p:nvPr/>
        </p:nvSpPr>
        <p:spPr>
          <a:xfrm>
            <a:off x="9654235" y="2487168"/>
            <a:ext cx="173736" cy="141732"/>
          </a:xfrm>
          <a:prstGeom prst="roundRect">
            <a:avLst>
              <a:gd name="adj" fmla="val 12903"/>
            </a:avLst>
          </a:prstGeom>
          <a:solidFill>
            <a:srgbClr val="FFFFFF"/>
          </a:solidFill>
          <a:ln w="9525">
            <a:solidFill>
              <a:srgbClr val="102A43"/>
            </a:solidFill>
            <a:prstDash val="solid"/>
          </a:ln>
        </p:spPr>
      </p:sp>
      <p:sp>
        <p:nvSpPr>
          <p:cNvPr id="138" name="s4_rect_137"/>
          <p:cNvSpPr/>
          <p:nvPr/>
        </p:nvSpPr>
        <p:spPr>
          <a:xfrm>
            <a:off x="9870034" y="2487168"/>
            <a:ext cx="173736" cy="141732"/>
          </a:xfrm>
          <a:prstGeom prst="roundRect">
            <a:avLst>
              <a:gd name="adj" fmla="val 12903"/>
            </a:avLst>
          </a:prstGeom>
          <a:solidFill>
            <a:srgbClr val="FFFFFF"/>
          </a:solidFill>
          <a:ln w="9525">
            <a:solidFill>
              <a:srgbClr val="102A43"/>
            </a:solidFill>
            <a:prstDash val="solid"/>
          </a:ln>
        </p:spPr>
      </p:sp>
      <p:sp>
        <p:nvSpPr>
          <p:cNvPr id="139" name="s4_rect_138"/>
          <p:cNvSpPr/>
          <p:nvPr/>
        </p:nvSpPr>
        <p:spPr>
          <a:xfrm>
            <a:off x="10085832" y="2487168"/>
            <a:ext cx="173736" cy="141732"/>
          </a:xfrm>
          <a:prstGeom prst="roundRect">
            <a:avLst>
              <a:gd name="adj" fmla="val 12903"/>
            </a:avLst>
          </a:prstGeom>
          <a:solidFill>
            <a:srgbClr val="FFFFFF"/>
          </a:solidFill>
          <a:ln w="9525">
            <a:solidFill>
              <a:srgbClr val="102A43"/>
            </a:solidFill>
            <a:prstDash val="solid"/>
          </a:ln>
        </p:spPr>
      </p:sp>
      <p:sp>
        <p:nvSpPr>
          <p:cNvPr id="140" name="s4_rect_139"/>
          <p:cNvSpPr/>
          <p:nvPr/>
        </p:nvSpPr>
        <p:spPr>
          <a:xfrm>
            <a:off x="10301630" y="2487168"/>
            <a:ext cx="173736" cy="141732"/>
          </a:xfrm>
          <a:prstGeom prst="roundRect">
            <a:avLst>
              <a:gd name="adj" fmla="val 12903"/>
            </a:avLst>
          </a:prstGeom>
          <a:solidFill>
            <a:srgbClr val="FFFFFF"/>
          </a:solidFill>
          <a:ln w="9525">
            <a:solidFill>
              <a:srgbClr val="102A43"/>
            </a:solidFill>
            <a:prstDash val="solid"/>
          </a:ln>
        </p:spPr>
      </p:sp>
      <p:sp>
        <p:nvSpPr>
          <p:cNvPr id="141" name="s4_rect_140"/>
          <p:cNvSpPr/>
          <p:nvPr/>
        </p:nvSpPr>
        <p:spPr>
          <a:xfrm>
            <a:off x="10517429" y="2487168"/>
            <a:ext cx="173736" cy="141732"/>
          </a:xfrm>
          <a:prstGeom prst="roundRect">
            <a:avLst>
              <a:gd name="adj" fmla="val 12903"/>
            </a:avLst>
          </a:prstGeom>
          <a:solidFill>
            <a:srgbClr val="FFFFFF"/>
          </a:solidFill>
          <a:ln w="9525">
            <a:solidFill>
              <a:srgbClr val="102A43"/>
            </a:solidFill>
            <a:prstDash val="solid"/>
          </a:ln>
        </p:spPr>
      </p:sp>
      <p:sp>
        <p:nvSpPr>
          <p:cNvPr id="142" name="s4_rect_141"/>
          <p:cNvSpPr/>
          <p:nvPr/>
        </p:nvSpPr>
        <p:spPr>
          <a:xfrm>
            <a:off x="10733227" y="2487168"/>
            <a:ext cx="173736" cy="141732"/>
          </a:xfrm>
          <a:prstGeom prst="roundRect">
            <a:avLst>
              <a:gd name="adj" fmla="val 12903"/>
            </a:avLst>
          </a:prstGeom>
          <a:solidFill>
            <a:srgbClr val="FFFFFF"/>
          </a:solidFill>
          <a:ln w="9525">
            <a:solidFill>
              <a:srgbClr val="102A43"/>
            </a:solidFill>
            <a:prstDash val="solid"/>
          </a:ln>
        </p:spPr>
      </p:sp>
      <p:sp>
        <p:nvSpPr>
          <p:cNvPr id="143" name="s4_rect_142"/>
          <p:cNvSpPr/>
          <p:nvPr/>
        </p:nvSpPr>
        <p:spPr>
          <a:xfrm>
            <a:off x="10949026" y="2487168"/>
            <a:ext cx="173736" cy="141732"/>
          </a:xfrm>
          <a:prstGeom prst="roundRect">
            <a:avLst>
              <a:gd name="adj" fmla="val 12903"/>
            </a:avLst>
          </a:prstGeom>
          <a:solidFill>
            <a:srgbClr val="FFFFFF"/>
          </a:solidFill>
          <a:ln w="9525">
            <a:solidFill>
              <a:srgbClr val="102A43"/>
            </a:solidFill>
            <a:prstDash val="solid"/>
          </a:ln>
        </p:spPr>
      </p:sp>
      <p:sp>
        <p:nvSpPr>
          <p:cNvPr id="144" name="s4_rect_143"/>
          <p:cNvSpPr/>
          <p:nvPr/>
        </p:nvSpPr>
        <p:spPr>
          <a:xfrm>
            <a:off x="9006840" y="2670048"/>
            <a:ext cx="173736" cy="141732"/>
          </a:xfrm>
          <a:prstGeom prst="roundRect">
            <a:avLst>
              <a:gd name="adj" fmla="val 12903"/>
            </a:avLst>
          </a:prstGeom>
          <a:solidFill>
            <a:srgbClr val="FFFFFF"/>
          </a:solidFill>
          <a:ln w="9525">
            <a:solidFill>
              <a:srgbClr val="102A43"/>
            </a:solidFill>
            <a:prstDash val="solid"/>
          </a:ln>
        </p:spPr>
      </p:sp>
      <p:sp>
        <p:nvSpPr>
          <p:cNvPr id="145" name="s4_rect_144"/>
          <p:cNvSpPr/>
          <p:nvPr/>
        </p:nvSpPr>
        <p:spPr>
          <a:xfrm>
            <a:off x="9222638" y="2670048"/>
            <a:ext cx="173736" cy="141732"/>
          </a:xfrm>
          <a:prstGeom prst="roundRect">
            <a:avLst>
              <a:gd name="adj" fmla="val 12903"/>
            </a:avLst>
          </a:prstGeom>
          <a:solidFill>
            <a:srgbClr val="FFFFFF"/>
          </a:solidFill>
          <a:ln w="9525">
            <a:solidFill>
              <a:srgbClr val="102A43"/>
            </a:solidFill>
            <a:prstDash val="solid"/>
          </a:ln>
        </p:spPr>
      </p:sp>
      <p:sp>
        <p:nvSpPr>
          <p:cNvPr id="146" name="s4_rect_145"/>
          <p:cNvSpPr/>
          <p:nvPr/>
        </p:nvSpPr>
        <p:spPr>
          <a:xfrm>
            <a:off x="9438437" y="2670048"/>
            <a:ext cx="173736" cy="141732"/>
          </a:xfrm>
          <a:prstGeom prst="roundRect">
            <a:avLst>
              <a:gd name="adj" fmla="val 12903"/>
            </a:avLst>
          </a:prstGeom>
          <a:solidFill>
            <a:srgbClr val="FFFFFF"/>
          </a:solidFill>
          <a:ln w="9525">
            <a:solidFill>
              <a:srgbClr val="102A43"/>
            </a:solidFill>
            <a:prstDash val="solid"/>
          </a:ln>
        </p:spPr>
      </p:sp>
      <p:sp>
        <p:nvSpPr>
          <p:cNvPr id="147" name="s4_rect_146"/>
          <p:cNvSpPr/>
          <p:nvPr/>
        </p:nvSpPr>
        <p:spPr>
          <a:xfrm>
            <a:off x="9654235" y="2670048"/>
            <a:ext cx="173736" cy="141732"/>
          </a:xfrm>
          <a:prstGeom prst="roundRect">
            <a:avLst>
              <a:gd name="adj" fmla="val 12903"/>
            </a:avLst>
          </a:prstGeom>
          <a:solidFill>
            <a:srgbClr val="FFFFFF"/>
          </a:solidFill>
          <a:ln w="9525">
            <a:solidFill>
              <a:srgbClr val="102A43"/>
            </a:solidFill>
            <a:prstDash val="solid"/>
          </a:ln>
        </p:spPr>
      </p:sp>
      <p:sp>
        <p:nvSpPr>
          <p:cNvPr id="148" name="s4_rect_147"/>
          <p:cNvSpPr/>
          <p:nvPr/>
        </p:nvSpPr>
        <p:spPr>
          <a:xfrm>
            <a:off x="9870034" y="2670048"/>
            <a:ext cx="173736" cy="141732"/>
          </a:xfrm>
          <a:prstGeom prst="roundRect">
            <a:avLst>
              <a:gd name="adj" fmla="val 12903"/>
            </a:avLst>
          </a:prstGeom>
          <a:solidFill>
            <a:srgbClr val="FFFFFF"/>
          </a:solidFill>
          <a:ln w="9525">
            <a:solidFill>
              <a:srgbClr val="102A43"/>
            </a:solidFill>
            <a:prstDash val="solid"/>
          </a:ln>
        </p:spPr>
      </p:sp>
      <p:sp>
        <p:nvSpPr>
          <p:cNvPr id="149" name="s4_rect_148"/>
          <p:cNvSpPr/>
          <p:nvPr/>
        </p:nvSpPr>
        <p:spPr>
          <a:xfrm>
            <a:off x="10085832" y="2670048"/>
            <a:ext cx="173736" cy="141732"/>
          </a:xfrm>
          <a:prstGeom prst="roundRect">
            <a:avLst>
              <a:gd name="adj" fmla="val 12903"/>
            </a:avLst>
          </a:prstGeom>
          <a:solidFill>
            <a:srgbClr val="FFFFFF"/>
          </a:solidFill>
          <a:ln w="9525">
            <a:solidFill>
              <a:srgbClr val="102A43"/>
            </a:solidFill>
            <a:prstDash val="solid"/>
          </a:ln>
        </p:spPr>
      </p:sp>
      <p:sp>
        <p:nvSpPr>
          <p:cNvPr id="150" name="s4_rect_149"/>
          <p:cNvSpPr/>
          <p:nvPr/>
        </p:nvSpPr>
        <p:spPr>
          <a:xfrm>
            <a:off x="10301630" y="2670048"/>
            <a:ext cx="173736" cy="141732"/>
          </a:xfrm>
          <a:prstGeom prst="roundRect">
            <a:avLst>
              <a:gd name="adj" fmla="val 12903"/>
            </a:avLst>
          </a:prstGeom>
          <a:solidFill>
            <a:srgbClr val="FFFFFF"/>
          </a:solidFill>
          <a:ln w="9525">
            <a:solidFill>
              <a:srgbClr val="102A43"/>
            </a:solidFill>
            <a:prstDash val="solid"/>
          </a:ln>
        </p:spPr>
      </p:sp>
      <p:sp>
        <p:nvSpPr>
          <p:cNvPr id="151" name="s4_rect_150"/>
          <p:cNvSpPr/>
          <p:nvPr/>
        </p:nvSpPr>
        <p:spPr>
          <a:xfrm>
            <a:off x="10517429" y="2670048"/>
            <a:ext cx="173736" cy="141732"/>
          </a:xfrm>
          <a:prstGeom prst="roundRect">
            <a:avLst>
              <a:gd name="adj" fmla="val 12903"/>
            </a:avLst>
          </a:prstGeom>
          <a:solidFill>
            <a:srgbClr val="FFFFFF"/>
          </a:solidFill>
          <a:ln w="9525">
            <a:solidFill>
              <a:srgbClr val="102A43"/>
            </a:solidFill>
            <a:prstDash val="solid"/>
          </a:ln>
        </p:spPr>
      </p:sp>
      <p:sp>
        <p:nvSpPr>
          <p:cNvPr id="152" name="s4_rect_151"/>
          <p:cNvSpPr/>
          <p:nvPr/>
        </p:nvSpPr>
        <p:spPr>
          <a:xfrm>
            <a:off x="10733227" y="2670048"/>
            <a:ext cx="173736" cy="141732"/>
          </a:xfrm>
          <a:prstGeom prst="roundRect">
            <a:avLst>
              <a:gd name="adj" fmla="val 12903"/>
            </a:avLst>
          </a:prstGeom>
          <a:solidFill>
            <a:srgbClr val="FFFFFF"/>
          </a:solidFill>
          <a:ln w="9525">
            <a:solidFill>
              <a:srgbClr val="102A43"/>
            </a:solidFill>
            <a:prstDash val="solid"/>
          </a:ln>
        </p:spPr>
      </p:sp>
      <p:sp>
        <p:nvSpPr>
          <p:cNvPr id="153" name="s4_rect_152"/>
          <p:cNvSpPr/>
          <p:nvPr/>
        </p:nvSpPr>
        <p:spPr>
          <a:xfrm>
            <a:off x="10949026" y="2670048"/>
            <a:ext cx="173736" cy="141732"/>
          </a:xfrm>
          <a:prstGeom prst="roundRect">
            <a:avLst>
              <a:gd name="adj" fmla="val 12903"/>
            </a:avLst>
          </a:prstGeom>
          <a:solidFill>
            <a:srgbClr val="FFFFFF"/>
          </a:solidFill>
          <a:ln w="9525">
            <a:solidFill>
              <a:srgbClr val="102A43"/>
            </a:solidFill>
            <a:prstDash val="solid"/>
          </a:ln>
        </p:spPr>
      </p:sp>
      <p:sp>
        <p:nvSpPr>
          <p:cNvPr id="154" name="s4_rect_153"/>
          <p:cNvSpPr/>
          <p:nvPr/>
        </p:nvSpPr>
        <p:spPr>
          <a:xfrm>
            <a:off x="9006840" y="2852928"/>
            <a:ext cx="173736" cy="141732"/>
          </a:xfrm>
          <a:prstGeom prst="roundRect">
            <a:avLst>
              <a:gd name="adj" fmla="val 12903"/>
            </a:avLst>
          </a:prstGeom>
          <a:solidFill>
            <a:srgbClr val="FFFFFF"/>
          </a:solidFill>
          <a:ln w="9525">
            <a:solidFill>
              <a:srgbClr val="102A43"/>
            </a:solidFill>
            <a:prstDash val="solid"/>
          </a:ln>
        </p:spPr>
      </p:sp>
      <p:sp>
        <p:nvSpPr>
          <p:cNvPr id="155" name="s4_rect_154"/>
          <p:cNvSpPr/>
          <p:nvPr/>
        </p:nvSpPr>
        <p:spPr>
          <a:xfrm>
            <a:off x="9222638" y="2852928"/>
            <a:ext cx="173736" cy="141732"/>
          </a:xfrm>
          <a:prstGeom prst="roundRect">
            <a:avLst>
              <a:gd name="adj" fmla="val 12903"/>
            </a:avLst>
          </a:prstGeom>
          <a:solidFill>
            <a:srgbClr val="FFFFFF"/>
          </a:solidFill>
          <a:ln w="9525">
            <a:solidFill>
              <a:srgbClr val="102A43"/>
            </a:solidFill>
            <a:prstDash val="solid"/>
          </a:ln>
        </p:spPr>
      </p:sp>
      <p:sp>
        <p:nvSpPr>
          <p:cNvPr id="156" name="s4_rect_155"/>
          <p:cNvSpPr/>
          <p:nvPr/>
        </p:nvSpPr>
        <p:spPr>
          <a:xfrm>
            <a:off x="9438437" y="2852928"/>
            <a:ext cx="173736" cy="141732"/>
          </a:xfrm>
          <a:prstGeom prst="roundRect">
            <a:avLst>
              <a:gd name="adj" fmla="val 12903"/>
            </a:avLst>
          </a:prstGeom>
          <a:solidFill>
            <a:srgbClr val="FFFFFF"/>
          </a:solidFill>
          <a:ln w="9525">
            <a:solidFill>
              <a:srgbClr val="102A43"/>
            </a:solidFill>
            <a:prstDash val="solid"/>
          </a:ln>
        </p:spPr>
      </p:sp>
      <p:sp>
        <p:nvSpPr>
          <p:cNvPr id="157" name="s4_rect_156"/>
          <p:cNvSpPr/>
          <p:nvPr/>
        </p:nvSpPr>
        <p:spPr>
          <a:xfrm>
            <a:off x="9654235" y="2852928"/>
            <a:ext cx="173736" cy="141732"/>
          </a:xfrm>
          <a:prstGeom prst="roundRect">
            <a:avLst>
              <a:gd name="adj" fmla="val 12903"/>
            </a:avLst>
          </a:prstGeom>
          <a:solidFill>
            <a:srgbClr val="FFFFFF"/>
          </a:solidFill>
          <a:ln w="9525">
            <a:solidFill>
              <a:srgbClr val="102A43"/>
            </a:solidFill>
            <a:prstDash val="solid"/>
          </a:ln>
        </p:spPr>
      </p:sp>
      <p:sp>
        <p:nvSpPr>
          <p:cNvPr id="158" name="s4_rect_157"/>
          <p:cNvSpPr/>
          <p:nvPr/>
        </p:nvSpPr>
        <p:spPr>
          <a:xfrm>
            <a:off x="9870034" y="2852928"/>
            <a:ext cx="173736" cy="141732"/>
          </a:xfrm>
          <a:prstGeom prst="roundRect">
            <a:avLst>
              <a:gd name="adj" fmla="val 12903"/>
            </a:avLst>
          </a:prstGeom>
          <a:solidFill>
            <a:srgbClr val="FFFFFF"/>
          </a:solidFill>
          <a:ln w="9525">
            <a:solidFill>
              <a:srgbClr val="102A43"/>
            </a:solidFill>
            <a:prstDash val="solid"/>
          </a:ln>
        </p:spPr>
      </p:sp>
      <p:sp>
        <p:nvSpPr>
          <p:cNvPr id="159" name="s4_rect_158"/>
          <p:cNvSpPr/>
          <p:nvPr/>
        </p:nvSpPr>
        <p:spPr>
          <a:xfrm>
            <a:off x="10085832" y="2852928"/>
            <a:ext cx="173736" cy="141732"/>
          </a:xfrm>
          <a:prstGeom prst="roundRect">
            <a:avLst>
              <a:gd name="adj" fmla="val 12903"/>
            </a:avLst>
          </a:prstGeom>
          <a:solidFill>
            <a:srgbClr val="FFFFFF"/>
          </a:solidFill>
          <a:ln w="9525">
            <a:solidFill>
              <a:srgbClr val="102A43"/>
            </a:solidFill>
            <a:prstDash val="solid"/>
          </a:ln>
        </p:spPr>
      </p:sp>
      <p:sp>
        <p:nvSpPr>
          <p:cNvPr id="160" name="s4_rect_159"/>
          <p:cNvSpPr/>
          <p:nvPr/>
        </p:nvSpPr>
        <p:spPr>
          <a:xfrm>
            <a:off x="10301630" y="2852928"/>
            <a:ext cx="173736" cy="141732"/>
          </a:xfrm>
          <a:prstGeom prst="roundRect">
            <a:avLst>
              <a:gd name="adj" fmla="val 12903"/>
            </a:avLst>
          </a:prstGeom>
          <a:solidFill>
            <a:srgbClr val="FFFFFF"/>
          </a:solidFill>
          <a:ln w="9525">
            <a:solidFill>
              <a:srgbClr val="102A43"/>
            </a:solidFill>
            <a:prstDash val="solid"/>
          </a:ln>
        </p:spPr>
      </p:sp>
      <p:sp>
        <p:nvSpPr>
          <p:cNvPr id="161" name="s4_rect_160"/>
          <p:cNvSpPr/>
          <p:nvPr/>
        </p:nvSpPr>
        <p:spPr>
          <a:xfrm>
            <a:off x="10517429" y="2852928"/>
            <a:ext cx="173736" cy="141732"/>
          </a:xfrm>
          <a:prstGeom prst="roundRect">
            <a:avLst>
              <a:gd name="adj" fmla="val 12903"/>
            </a:avLst>
          </a:prstGeom>
          <a:solidFill>
            <a:srgbClr val="FFFFFF"/>
          </a:solidFill>
          <a:ln w="9525">
            <a:solidFill>
              <a:srgbClr val="102A43"/>
            </a:solidFill>
            <a:prstDash val="solid"/>
          </a:ln>
        </p:spPr>
      </p:sp>
      <p:sp>
        <p:nvSpPr>
          <p:cNvPr id="162" name="s4_rect_161"/>
          <p:cNvSpPr/>
          <p:nvPr/>
        </p:nvSpPr>
        <p:spPr>
          <a:xfrm>
            <a:off x="10733227" y="2852928"/>
            <a:ext cx="173736" cy="141732"/>
          </a:xfrm>
          <a:prstGeom prst="roundRect">
            <a:avLst>
              <a:gd name="adj" fmla="val 12903"/>
            </a:avLst>
          </a:prstGeom>
          <a:solidFill>
            <a:srgbClr val="FFFFFF"/>
          </a:solidFill>
          <a:ln w="9525">
            <a:solidFill>
              <a:srgbClr val="102A43"/>
            </a:solidFill>
            <a:prstDash val="solid"/>
          </a:ln>
        </p:spPr>
      </p:sp>
      <p:sp>
        <p:nvSpPr>
          <p:cNvPr id="163" name="s4_rect_162"/>
          <p:cNvSpPr/>
          <p:nvPr/>
        </p:nvSpPr>
        <p:spPr>
          <a:xfrm>
            <a:off x="10949026" y="2852928"/>
            <a:ext cx="173736" cy="141732"/>
          </a:xfrm>
          <a:prstGeom prst="roundRect">
            <a:avLst>
              <a:gd name="adj" fmla="val 12903"/>
            </a:avLst>
          </a:prstGeom>
          <a:solidFill>
            <a:srgbClr val="FFFFFF"/>
          </a:solidFill>
          <a:ln w="9525">
            <a:solidFill>
              <a:srgbClr val="102A43"/>
            </a:solidFill>
            <a:prstDash val="solid"/>
          </a:ln>
        </p:spPr>
      </p:sp>
      <p:sp>
        <p:nvSpPr>
          <p:cNvPr id="164" name="s4_rect_163"/>
          <p:cNvSpPr/>
          <p:nvPr/>
        </p:nvSpPr>
        <p:spPr>
          <a:xfrm>
            <a:off x="9006840" y="3035808"/>
            <a:ext cx="173736" cy="141732"/>
          </a:xfrm>
          <a:prstGeom prst="roundRect">
            <a:avLst>
              <a:gd name="adj" fmla="val 12903"/>
            </a:avLst>
          </a:prstGeom>
          <a:solidFill>
            <a:srgbClr val="FFFFFF"/>
          </a:solidFill>
          <a:ln w="9525">
            <a:solidFill>
              <a:srgbClr val="102A43"/>
            </a:solidFill>
            <a:prstDash val="solid"/>
          </a:ln>
        </p:spPr>
      </p:sp>
      <p:sp>
        <p:nvSpPr>
          <p:cNvPr id="165" name="s4_rect_164"/>
          <p:cNvSpPr/>
          <p:nvPr/>
        </p:nvSpPr>
        <p:spPr>
          <a:xfrm>
            <a:off x="9222638" y="3035808"/>
            <a:ext cx="173736" cy="141732"/>
          </a:xfrm>
          <a:prstGeom prst="roundRect">
            <a:avLst>
              <a:gd name="adj" fmla="val 12903"/>
            </a:avLst>
          </a:prstGeom>
          <a:solidFill>
            <a:srgbClr val="FFFFFF"/>
          </a:solidFill>
          <a:ln w="9525">
            <a:solidFill>
              <a:srgbClr val="102A43"/>
            </a:solidFill>
            <a:prstDash val="solid"/>
          </a:ln>
        </p:spPr>
      </p:sp>
      <p:sp>
        <p:nvSpPr>
          <p:cNvPr id="166" name="s4_rect_165"/>
          <p:cNvSpPr/>
          <p:nvPr/>
        </p:nvSpPr>
        <p:spPr>
          <a:xfrm>
            <a:off x="9438437" y="3035808"/>
            <a:ext cx="173736" cy="141732"/>
          </a:xfrm>
          <a:prstGeom prst="roundRect">
            <a:avLst>
              <a:gd name="adj" fmla="val 12903"/>
            </a:avLst>
          </a:prstGeom>
          <a:solidFill>
            <a:srgbClr val="FFFFFF"/>
          </a:solidFill>
          <a:ln w="9525">
            <a:solidFill>
              <a:srgbClr val="102A43"/>
            </a:solidFill>
            <a:prstDash val="solid"/>
          </a:ln>
        </p:spPr>
      </p:sp>
      <p:sp>
        <p:nvSpPr>
          <p:cNvPr id="167" name="s4_rect_166"/>
          <p:cNvSpPr/>
          <p:nvPr/>
        </p:nvSpPr>
        <p:spPr>
          <a:xfrm>
            <a:off x="9654235" y="3035808"/>
            <a:ext cx="173736" cy="141732"/>
          </a:xfrm>
          <a:prstGeom prst="roundRect">
            <a:avLst>
              <a:gd name="adj" fmla="val 12903"/>
            </a:avLst>
          </a:prstGeom>
          <a:solidFill>
            <a:srgbClr val="FFFFFF"/>
          </a:solidFill>
          <a:ln w="9525">
            <a:solidFill>
              <a:srgbClr val="102A43"/>
            </a:solidFill>
            <a:prstDash val="solid"/>
          </a:ln>
        </p:spPr>
      </p:sp>
      <p:sp>
        <p:nvSpPr>
          <p:cNvPr id="168" name="s4_rect_167"/>
          <p:cNvSpPr/>
          <p:nvPr/>
        </p:nvSpPr>
        <p:spPr>
          <a:xfrm>
            <a:off x="9870034" y="3035808"/>
            <a:ext cx="173736" cy="141732"/>
          </a:xfrm>
          <a:prstGeom prst="roundRect">
            <a:avLst>
              <a:gd name="adj" fmla="val 12903"/>
            </a:avLst>
          </a:prstGeom>
          <a:solidFill>
            <a:srgbClr val="FFFFFF"/>
          </a:solidFill>
          <a:ln w="9525">
            <a:solidFill>
              <a:srgbClr val="102A43"/>
            </a:solidFill>
            <a:prstDash val="solid"/>
          </a:ln>
        </p:spPr>
      </p:sp>
      <p:sp>
        <p:nvSpPr>
          <p:cNvPr id="169" name="s4_rect_168"/>
          <p:cNvSpPr/>
          <p:nvPr/>
        </p:nvSpPr>
        <p:spPr>
          <a:xfrm>
            <a:off x="10085832" y="3035808"/>
            <a:ext cx="173736" cy="141732"/>
          </a:xfrm>
          <a:prstGeom prst="roundRect">
            <a:avLst>
              <a:gd name="adj" fmla="val 12903"/>
            </a:avLst>
          </a:prstGeom>
          <a:solidFill>
            <a:srgbClr val="FFFFFF"/>
          </a:solidFill>
          <a:ln w="9525">
            <a:solidFill>
              <a:srgbClr val="102A43"/>
            </a:solidFill>
            <a:prstDash val="solid"/>
          </a:ln>
        </p:spPr>
      </p:sp>
      <p:sp>
        <p:nvSpPr>
          <p:cNvPr id="170" name="s4_rect_169"/>
          <p:cNvSpPr/>
          <p:nvPr/>
        </p:nvSpPr>
        <p:spPr>
          <a:xfrm>
            <a:off x="10301630" y="3035808"/>
            <a:ext cx="173736" cy="141732"/>
          </a:xfrm>
          <a:prstGeom prst="roundRect">
            <a:avLst>
              <a:gd name="adj" fmla="val 12903"/>
            </a:avLst>
          </a:prstGeom>
          <a:solidFill>
            <a:srgbClr val="FFFFFF"/>
          </a:solidFill>
          <a:ln w="9525">
            <a:solidFill>
              <a:srgbClr val="102A43"/>
            </a:solidFill>
            <a:prstDash val="solid"/>
          </a:ln>
        </p:spPr>
      </p:sp>
      <p:sp>
        <p:nvSpPr>
          <p:cNvPr id="171" name="s4_rect_170"/>
          <p:cNvSpPr/>
          <p:nvPr/>
        </p:nvSpPr>
        <p:spPr>
          <a:xfrm>
            <a:off x="10517429" y="3035808"/>
            <a:ext cx="173736" cy="141732"/>
          </a:xfrm>
          <a:prstGeom prst="roundRect">
            <a:avLst>
              <a:gd name="adj" fmla="val 12903"/>
            </a:avLst>
          </a:prstGeom>
          <a:solidFill>
            <a:srgbClr val="FFFFFF"/>
          </a:solidFill>
          <a:ln w="9525">
            <a:solidFill>
              <a:srgbClr val="102A43"/>
            </a:solidFill>
            <a:prstDash val="solid"/>
          </a:ln>
        </p:spPr>
      </p:sp>
      <p:sp>
        <p:nvSpPr>
          <p:cNvPr id="172" name="s4_rect_171"/>
          <p:cNvSpPr/>
          <p:nvPr/>
        </p:nvSpPr>
        <p:spPr>
          <a:xfrm>
            <a:off x="10733227" y="3035808"/>
            <a:ext cx="173736" cy="141732"/>
          </a:xfrm>
          <a:prstGeom prst="roundRect">
            <a:avLst>
              <a:gd name="adj" fmla="val 12903"/>
            </a:avLst>
          </a:prstGeom>
          <a:solidFill>
            <a:srgbClr val="FFFFFF"/>
          </a:solidFill>
          <a:ln w="9525">
            <a:solidFill>
              <a:srgbClr val="102A43"/>
            </a:solidFill>
            <a:prstDash val="solid"/>
          </a:ln>
        </p:spPr>
      </p:sp>
      <p:sp>
        <p:nvSpPr>
          <p:cNvPr id="173" name="s4_rect_172"/>
          <p:cNvSpPr/>
          <p:nvPr/>
        </p:nvSpPr>
        <p:spPr>
          <a:xfrm>
            <a:off x="10949026" y="3035808"/>
            <a:ext cx="173736" cy="141732"/>
          </a:xfrm>
          <a:prstGeom prst="roundRect">
            <a:avLst>
              <a:gd name="adj" fmla="val 12903"/>
            </a:avLst>
          </a:prstGeom>
          <a:solidFill>
            <a:srgbClr val="FFFFFF"/>
          </a:solidFill>
          <a:ln w="9525">
            <a:solidFill>
              <a:srgbClr val="102A43"/>
            </a:solidFill>
            <a:prstDash val="solid"/>
          </a:ln>
        </p:spPr>
      </p:sp>
      <p:sp>
        <p:nvSpPr>
          <p:cNvPr id="174" name="s4_rect_173"/>
          <p:cNvSpPr/>
          <p:nvPr/>
        </p:nvSpPr>
        <p:spPr>
          <a:xfrm>
            <a:off x="9006840" y="3218688"/>
            <a:ext cx="173736" cy="141732"/>
          </a:xfrm>
          <a:prstGeom prst="roundRect">
            <a:avLst>
              <a:gd name="adj" fmla="val 12903"/>
            </a:avLst>
          </a:prstGeom>
          <a:solidFill>
            <a:srgbClr val="FFFFFF"/>
          </a:solidFill>
          <a:ln w="9525">
            <a:solidFill>
              <a:srgbClr val="102A43"/>
            </a:solidFill>
            <a:prstDash val="solid"/>
          </a:ln>
        </p:spPr>
      </p:sp>
      <p:sp>
        <p:nvSpPr>
          <p:cNvPr id="175" name="s4_rect_174"/>
          <p:cNvSpPr/>
          <p:nvPr/>
        </p:nvSpPr>
        <p:spPr>
          <a:xfrm>
            <a:off x="9222638" y="3218688"/>
            <a:ext cx="173736" cy="141732"/>
          </a:xfrm>
          <a:prstGeom prst="roundRect">
            <a:avLst>
              <a:gd name="adj" fmla="val 12903"/>
            </a:avLst>
          </a:prstGeom>
          <a:solidFill>
            <a:srgbClr val="FFFFFF"/>
          </a:solidFill>
          <a:ln w="9525">
            <a:solidFill>
              <a:srgbClr val="102A43"/>
            </a:solidFill>
            <a:prstDash val="solid"/>
          </a:ln>
        </p:spPr>
      </p:sp>
      <p:sp>
        <p:nvSpPr>
          <p:cNvPr id="176" name="s4_rect_175"/>
          <p:cNvSpPr/>
          <p:nvPr/>
        </p:nvSpPr>
        <p:spPr>
          <a:xfrm>
            <a:off x="9438437" y="3218688"/>
            <a:ext cx="173736" cy="141732"/>
          </a:xfrm>
          <a:prstGeom prst="roundRect">
            <a:avLst>
              <a:gd name="adj" fmla="val 12903"/>
            </a:avLst>
          </a:prstGeom>
          <a:solidFill>
            <a:srgbClr val="FFFFFF"/>
          </a:solidFill>
          <a:ln w="9525">
            <a:solidFill>
              <a:srgbClr val="102A43"/>
            </a:solidFill>
            <a:prstDash val="solid"/>
          </a:ln>
        </p:spPr>
      </p:sp>
      <p:sp>
        <p:nvSpPr>
          <p:cNvPr id="177" name="s4_rect_176"/>
          <p:cNvSpPr/>
          <p:nvPr/>
        </p:nvSpPr>
        <p:spPr>
          <a:xfrm>
            <a:off x="9654235" y="3218688"/>
            <a:ext cx="173736" cy="141732"/>
          </a:xfrm>
          <a:prstGeom prst="roundRect">
            <a:avLst>
              <a:gd name="adj" fmla="val 12903"/>
            </a:avLst>
          </a:prstGeom>
          <a:solidFill>
            <a:srgbClr val="FFFFFF"/>
          </a:solidFill>
          <a:ln w="9525">
            <a:solidFill>
              <a:srgbClr val="102A43"/>
            </a:solidFill>
            <a:prstDash val="solid"/>
          </a:ln>
        </p:spPr>
      </p:sp>
      <p:sp>
        <p:nvSpPr>
          <p:cNvPr id="178" name="s4_rect_177"/>
          <p:cNvSpPr/>
          <p:nvPr/>
        </p:nvSpPr>
        <p:spPr>
          <a:xfrm>
            <a:off x="9870034" y="3218688"/>
            <a:ext cx="173736" cy="141732"/>
          </a:xfrm>
          <a:prstGeom prst="roundRect">
            <a:avLst>
              <a:gd name="adj" fmla="val 12903"/>
            </a:avLst>
          </a:prstGeom>
          <a:solidFill>
            <a:srgbClr val="FFFFFF"/>
          </a:solidFill>
          <a:ln w="9525">
            <a:solidFill>
              <a:srgbClr val="102A43"/>
            </a:solidFill>
            <a:prstDash val="solid"/>
          </a:ln>
        </p:spPr>
      </p:sp>
      <p:sp>
        <p:nvSpPr>
          <p:cNvPr id="179" name="s4_rect_178"/>
          <p:cNvSpPr/>
          <p:nvPr/>
        </p:nvSpPr>
        <p:spPr>
          <a:xfrm>
            <a:off x="10085832" y="3218688"/>
            <a:ext cx="173736" cy="141732"/>
          </a:xfrm>
          <a:prstGeom prst="roundRect">
            <a:avLst>
              <a:gd name="adj" fmla="val 12903"/>
            </a:avLst>
          </a:prstGeom>
          <a:solidFill>
            <a:srgbClr val="FFFFFF"/>
          </a:solidFill>
          <a:ln w="9525">
            <a:solidFill>
              <a:srgbClr val="102A43"/>
            </a:solidFill>
            <a:prstDash val="solid"/>
          </a:ln>
        </p:spPr>
      </p:sp>
      <p:sp>
        <p:nvSpPr>
          <p:cNvPr id="180" name="s4_rect_179"/>
          <p:cNvSpPr/>
          <p:nvPr/>
        </p:nvSpPr>
        <p:spPr>
          <a:xfrm>
            <a:off x="10301630" y="3218688"/>
            <a:ext cx="173736" cy="141732"/>
          </a:xfrm>
          <a:prstGeom prst="roundRect">
            <a:avLst>
              <a:gd name="adj" fmla="val 12903"/>
            </a:avLst>
          </a:prstGeom>
          <a:solidFill>
            <a:srgbClr val="FFFFFF"/>
          </a:solidFill>
          <a:ln w="9525">
            <a:solidFill>
              <a:srgbClr val="102A43"/>
            </a:solidFill>
            <a:prstDash val="solid"/>
          </a:ln>
        </p:spPr>
      </p:sp>
      <p:sp>
        <p:nvSpPr>
          <p:cNvPr id="181" name="s4_rect_180"/>
          <p:cNvSpPr/>
          <p:nvPr/>
        </p:nvSpPr>
        <p:spPr>
          <a:xfrm>
            <a:off x="10517429" y="3218688"/>
            <a:ext cx="173736" cy="141732"/>
          </a:xfrm>
          <a:prstGeom prst="roundRect">
            <a:avLst>
              <a:gd name="adj" fmla="val 12903"/>
            </a:avLst>
          </a:prstGeom>
          <a:solidFill>
            <a:srgbClr val="FFFFFF"/>
          </a:solidFill>
          <a:ln w="9525">
            <a:solidFill>
              <a:srgbClr val="102A43"/>
            </a:solidFill>
            <a:prstDash val="solid"/>
          </a:ln>
        </p:spPr>
      </p:sp>
      <p:sp>
        <p:nvSpPr>
          <p:cNvPr id="182" name="s4_rect_181"/>
          <p:cNvSpPr/>
          <p:nvPr/>
        </p:nvSpPr>
        <p:spPr>
          <a:xfrm>
            <a:off x="10733227" y="3218688"/>
            <a:ext cx="173736" cy="141732"/>
          </a:xfrm>
          <a:prstGeom prst="roundRect">
            <a:avLst>
              <a:gd name="adj" fmla="val 12903"/>
            </a:avLst>
          </a:prstGeom>
          <a:solidFill>
            <a:srgbClr val="FFFFFF"/>
          </a:solidFill>
          <a:ln w="9525">
            <a:solidFill>
              <a:srgbClr val="102A43"/>
            </a:solidFill>
            <a:prstDash val="solid"/>
          </a:ln>
        </p:spPr>
      </p:sp>
      <p:sp>
        <p:nvSpPr>
          <p:cNvPr id="183" name="s4_rect_182"/>
          <p:cNvSpPr/>
          <p:nvPr/>
        </p:nvSpPr>
        <p:spPr>
          <a:xfrm>
            <a:off x="10949026" y="3218688"/>
            <a:ext cx="173736" cy="141732"/>
          </a:xfrm>
          <a:prstGeom prst="roundRect">
            <a:avLst>
              <a:gd name="adj" fmla="val 12903"/>
            </a:avLst>
          </a:prstGeom>
          <a:solidFill>
            <a:srgbClr val="FFFFFF"/>
          </a:solidFill>
          <a:ln w="9525">
            <a:solidFill>
              <a:srgbClr val="102A43"/>
            </a:solidFill>
            <a:prstDash val="solid"/>
          </a:ln>
        </p:spPr>
      </p:sp>
      <p:sp>
        <p:nvSpPr>
          <p:cNvPr id="184" name="s4_rect_183"/>
          <p:cNvSpPr/>
          <p:nvPr/>
        </p:nvSpPr>
        <p:spPr>
          <a:xfrm>
            <a:off x="9006840" y="3401568"/>
            <a:ext cx="173736" cy="141732"/>
          </a:xfrm>
          <a:prstGeom prst="roundRect">
            <a:avLst>
              <a:gd name="adj" fmla="val 12903"/>
            </a:avLst>
          </a:prstGeom>
          <a:solidFill>
            <a:srgbClr val="FFFFFF"/>
          </a:solidFill>
          <a:ln w="9525">
            <a:solidFill>
              <a:srgbClr val="102A43"/>
            </a:solidFill>
            <a:prstDash val="solid"/>
          </a:ln>
        </p:spPr>
      </p:sp>
      <p:sp>
        <p:nvSpPr>
          <p:cNvPr id="185" name="s4_rect_184"/>
          <p:cNvSpPr/>
          <p:nvPr/>
        </p:nvSpPr>
        <p:spPr>
          <a:xfrm>
            <a:off x="9222638" y="3401568"/>
            <a:ext cx="173736" cy="141732"/>
          </a:xfrm>
          <a:prstGeom prst="roundRect">
            <a:avLst>
              <a:gd name="adj" fmla="val 12903"/>
            </a:avLst>
          </a:prstGeom>
          <a:solidFill>
            <a:srgbClr val="FFFFFF"/>
          </a:solidFill>
          <a:ln w="9525">
            <a:solidFill>
              <a:srgbClr val="102A43"/>
            </a:solidFill>
            <a:prstDash val="solid"/>
          </a:ln>
        </p:spPr>
      </p:sp>
      <p:sp>
        <p:nvSpPr>
          <p:cNvPr id="186" name="s4_rect_185"/>
          <p:cNvSpPr/>
          <p:nvPr/>
        </p:nvSpPr>
        <p:spPr>
          <a:xfrm>
            <a:off x="9438437" y="3401568"/>
            <a:ext cx="173736" cy="141732"/>
          </a:xfrm>
          <a:prstGeom prst="roundRect">
            <a:avLst>
              <a:gd name="adj" fmla="val 12903"/>
            </a:avLst>
          </a:prstGeom>
          <a:solidFill>
            <a:srgbClr val="FFFFFF"/>
          </a:solidFill>
          <a:ln w="9525">
            <a:solidFill>
              <a:srgbClr val="102A43"/>
            </a:solidFill>
            <a:prstDash val="solid"/>
          </a:ln>
        </p:spPr>
      </p:sp>
      <p:sp>
        <p:nvSpPr>
          <p:cNvPr id="187" name="s4_rect_186"/>
          <p:cNvSpPr/>
          <p:nvPr/>
        </p:nvSpPr>
        <p:spPr>
          <a:xfrm>
            <a:off x="9654235" y="3401568"/>
            <a:ext cx="173736" cy="141732"/>
          </a:xfrm>
          <a:prstGeom prst="roundRect">
            <a:avLst>
              <a:gd name="adj" fmla="val 12903"/>
            </a:avLst>
          </a:prstGeom>
          <a:solidFill>
            <a:srgbClr val="FFFFFF"/>
          </a:solidFill>
          <a:ln w="9525">
            <a:solidFill>
              <a:srgbClr val="102A43"/>
            </a:solidFill>
            <a:prstDash val="solid"/>
          </a:ln>
        </p:spPr>
      </p:sp>
      <p:sp>
        <p:nvSpPr>
          <p:cNvPr id="188" name="s4_rect_187"/>
          <p:cNvSpPr/>
          <p:nvPr/>
        </p:nvSpPr>
        <p:spPr>
          <a:xfrm>
            <a:off x="9870034" y="3401568"/>
            <a:ext cx="173736" cy="141732"/>
          </a:xfrm>
          <a:prstGeom prst="roundRect">
            <a:avLst>
              <a:gd name="adj" fmla="val 12903"/>
            </a:avLst>
          </a:prstGeom>
          <a:solidFill>
            <a:srgbClr val="FFFFFF"/>
          </a:solidFill>
          <a:ln w="9525">
            <a:solidFill>
              <a:srgbClr val="102A43"/>
            </a:solidFill>
            <a:prstDash val="solid"/>
          </a:ln>
        </p:spPr>
      </p:sp>
      <p:sp>
        <p:nvSpPr>
          <p:cNvPr id="189" name="s4_rect_188"/>
          <p:cNvSpPr/>
          <p:nvPr/>
        </p:nvSpPr>
        <p:spPr>
          <a:xfrm>
            <a:off x="10085832" y="3401568"/>
            <a:ext cx="173736" cy="141732"/>
          </a:xfrm>
          <a:prstGeom prst="roundRect">
            <a:avLst>
              <a:gd name="adj" fmla="val 12903"/>
            </a:avLst>
          </a:prstGeom>
          <a:solidFill>
            <a:srgbClr val="FFFFFF"/>
          </a:solidFill>
          <a:ln w="9525">
            <a:solidFill>
              <a:srgbClr val="102A43"/>
            </a:solidFill>
            <a:prstDash val="solid"/>
          </a:ln>
        </p:spPr>
      </p:sp>
      <p:sp>
        <p:nvSpPr>
          <p:cNvPr id="190" name="s4_rect_189"/>
          <p:cNvSpPr/>
          <p:nvPr/>
        </p:nvSpPr>
        <p:spPr>
          <a:xfrm>
            <a:off x="10301630" y="3401568"/>
            <a:ext cx="173736" cy="141732"/>
          </a:xfrm>
          <a:prstGeom prst="roundRect">
            <a:avLst>
              <a:gd name="adj" fmla="val 12903"/>
            </a:avLst>
          </a:prstGeom>
          <a:solidFill>
            <a:srgbClr val="FFFFFF"/>
          </a:solidFill>
          <a:ln w="9525">
            <a:solidFill>
              <a:srgbClr val="102A43"/>
            </a:solidFill>
            <a:prstDash val="solid"/>
          </a:ln>
        </p:spPr>
      </p:sp>
      <p:sp>
        <p:nvSpPr>
          <p:cNvPr id="191" name="s4_rect_190"/>
          <p:cNvSpPr/>
          <p:nvPr/>
        </p:nvSpPr>
        <p:spPr>
          <a:xfrm>
            <a:off x="10517429" y="3401568"/>
            <a:ext cx="173736" cy="141732"/>
          </a:xfrm>
          <a:prstGeom prst="roundRect">
            <a:avLst>
              <a:gd name="adj" fmla="val 12903"/>
            </a:avLst>
          </a:prstGeom>
          <a:solidFill>
            <a:srgbClr val="FFFFFF"/>
          </a:solidFill>
          <a:ln w="9525">
            <a:solidFill>
              <a:srgbClr val="102A43"/>
            </a:solidFill>
            <a:prstDash val="solid"/>
          </a:ln>
        </p:spPr>
      </p:sp>
      <p:sp>
        <p:nvSpPr>
          <p:cNvPr id="192" name="s4_rect_191"/>
          <p:cNvSpPr/>
          <p:nvPr/>
        </p:nvSpPr>
        <p:spPr>
          <a:xfrm>
            <a:off x="10733227" y="3401568"/>
            <a:ext cx="173736" cy="141732"/>
          </a:xfrm>
          <a:prstGeom prst="roundRect">
            <a:avLst>
              <a:gd name="adj" fmla="val 12903"/>
            </a:avLst>
          </a:prstGeom>
          <a:solidFill>
            <a:srgbClr val="FFFFFF"/>
          </a:solidFill>
          <a:ln w="9525">
            <a:solidFill>
              <a:srgbClr val="102A43"/>
            </a:solidFill>
            <a:prstDash val="solid"/>
          </a:ln>
        </p:spPr>
      </p:sp>
      <p:sp>
        <p:nvSpPr>
          <p:cNvPr id="193" name="s4_rect_192"/>
          <p:cNvSpPr/>
          <p:nvPr/>
        </p:nvSpPr>
        <p:spPr>
          <a:xfrm>
            <a:off x="10949026" y="3401568"/>
            <a:ext cx="173736" cy="141732"/>
          </a:xfrm>
          <a:prstGeom prst="roundRect">
            <a:avLst>
              <a:gd name="adj" fmla="val 12903"/>
            </a:avLst>
          </a:prstGeom>
          <a:solidFill>
            <a:srgbClr val="FFFFFF"/>
          </a:solidFill>
          <a:ln w="9525">
            <a:solidFill>
              <a:srgbClr val="102A43"/>
            </a:solidFill>
            <a:prstDash val="solid"/>
          </a:ln>
        </p:spPr>
      </p:sp>
      <p:sp>
        <p:nvSpPr>
          <p:cNvPr id="194" name="s4_rect_193"/>
          <p:cNvSpPr/>
          <p:nvPr/>
        </p:nvSpPr>
        <p:spPr>
          <a:xfrm>
            <a:off x="9006840" y="3584448"/>
            <a:ext cx="173736" cy="141732"/>
          </a:xfrm>
          <a:prstGeom prst="roundRect">
            <a:avLst>
              <a:gd name="adj" fmla="val 12903"/>
            </a:avLst>
          </a:prstGeom>
          <a:solidFill>
            <a:srgbClr val="FFFFFF"/>
          </a:solidFill>
          <a:ln w="9525">
            <a:solidFill>
              <a:srgbClr val="102A43"/>
            </a:solidFill>
            <a:prstDash val="solid"/>
          </a:ln>
        </p:spPr>
      </p:sp>
      <p:sp>
        <p:nvSpPr>
          <p:cNvPr id="195" name="s4_rect_194"/>
          <p:cNvSpPr/>
          <p:nvPr/>
        </p:nvSpPr>
        <p:spPr>
          <a:xfrm>
            <a:off x="9222638" y="3584448"/>
            <a:ext cx="173736" cy="141732"/>
          </a:xfrm>
          <a:prstGeom prst="roundRect">
            <a:avLst>
              <a:gd name="adj" fmla="val 12903"/>
            </a:avLst>
          </a:prstGeom>
          <a:solidFill>
            <a:srgbClr val="FFFFFF"/>
          </a:solidFill>
          <a:ln w="9525">
            <a:solidFill>
              <a:srgbClr val="102A43"/>
            </a:solidFill>
            <a:prstDash val="solid"/>
          </a:ln>
        </p:spPr>
      </p:sp>
      <p:sp>
        <p:nvSpPr>
          <p:cNvPr id="196" name="s4_rect_195"/>
          <p:cNvSpPr/>
          <p:nvPr/>
        </p:nvSpPr>
        <p:spPr>
          <a:xfrm>
            <a:off x="9438437" y="3584448"/>
            <a:ext cx="173736" cy="141732"/>
          </a:xfrm>
          <a:prstGeom prst="roundRect">
            <a:avLst>
              <a:gd name="adj" fmla="val 12903"/>
            </a:avLst>
          </a:prstGeom>
          <a:solidFill>
            <a:srgbClr val="FFFFFF"/>
          </a:solidFill>
          <a:ln w="9525">
            <a:solidFill>
              <a:srgbClr val="102A43"/>
            </a:solidFill>
            <a:prstDash val="solid"/>
          </a:ln>
        </p:spPr>
      </p:sp>
      <p:sp>
        <p:nvSpPr>
          <p:cNvPr id="197" name="s4_rect_196"/>
          <p:cNvSpPr/>
          <p:nvPr/>
        </p:nvSpPr>
        <p:spPr>
          <a:xfrm>
            <a:off x="9654235" y="3584448"/>
            <a:ext cx="173736" cy="141732"/>
          </a:xfrm>
          <a:prstGeom prst="roundRect">
            <a:avLst>
              <a:gd name="adj" fmla="val 12903"/>
            </a:avLst>
          </a:prstGeom>
          <a:solidFill>
            <a:srgbClr val="FFFFFF"/>
          </a:solidFill>
          <a:ln w="9525">
            <a:solidFill>
              <a:srgbClr val="102A43"/>
            </a:solidFill>
            <a:prstDash val="solid"/>
          </a:ln>
        </p:spPr>
      </p:sp>
      <p:sp>
        <p:nvSpPr>
          <p:cNvPr id="198" name="s4_rect_197"/>
          <p:cNvSpPr/>
          <p:nvPr/>
        </p:nvSpPr>
        <p:spPr>
          <a:xfrm>
            <a:off x="9870034" y="3584448"/>
            <a:ext cx="173736" cy="141732"/>
          </a:xfrm>
          <a:prstGeom prst="roundRect">
            <a:avLst>
              <a:gd name="adj" fmla="val 12903"/>
            </a:avLst>
          </a:prstGeom>
          <a:solidFill>
            <a:srgbClr val="FFFFFF"/>
          </a:solidFill>
          <a:ln w="9525">
            <a:solidFill>
              <a:srgbClr val="102A43"/>
            </a:solidFill>
            <a:prstDash val="solid"/>
          </a:ln>
        </p:spPr>
      </p:sp>
      <p:sp>
        <p:nvSpPr>
          <p:cNvPr id="199" name="s4_rect_198"/>
          <p:cNvSpPr/>
          <p:nvPr/>
        </p:nvSpPr>
        <p:spPr>
          <a:xfrm>
            <a:off x="10085832" y="3584448"/>
            <a:ext cx="173736" cy="141732"/>
          </a:xfrm>
          <a:prstGeom prst="roundRect">
            <a:avLst>
              <a:gd name="adj" fmla="val 12903"/>
            </a:avLst>
          </a:prstGeom>
          <a:solidFill>
            <a:srgbClr val="FFFFFF"/>
          </a:solidFill>
          <a:ln w="9525">
            <a:solidFill>
              <a:srgbClr val="102A43"/>
            </a:solidFill>
            <a:prstDash val="solid"/>
          </a:ln>
        </p:spPr>
      </p:sp>
      <p:sp>
        <p:nvSpPr>
          <p:cNvPr id="200" name="s4_rect_199"/>
          <p:cNvSpPr/>
          <p:nvPr/>
        </p:nvSpPr>
        <p:spPr>
          <a:xfrm>
            <a:off x="10301630" y="3584448"/>
            <a:ext cx="173736" cy="141732"/>
          </a:xfrm>
          <a:prstGeom prst="roundRect">
            <a:avLst>
              <a:gd name="adj" fmla="val 12903"/>
            </a:avLst>
          </a:prstGeom>
          <a:solidFill>
            <a:srgbClr val="FFFFFF"/>
          </a:solidFill>
          <a:ln w="9525">
            <a:solidFill>
              <a:srgbClr val="102A43"/>
            </a:solidFill>
            <a:prstDash val="solid"/>
          </a:ln>
        </p:spPr>
      </p:sp>
      <p:sp>
        <p:nvSpPr>
          <p:cNvPr id="201" name="s4_rect_200"/>
          <p:cNvSpPr/>
          <p:nvPr/>
        </p:nvSpPr>
        <p:spPr>
          <a:xfrm>
            <a:off x="10517429" y="3584448"/>
            <a:ext cx="173736" cy="141732"/>
          </a:xfrm>
          <a:prstGeom prst="roundRect">
            <a:avLst>
              <a:gd name="adj" fmla="val 12903"/>
            </a:avLst>
          </a:prstGeom>
          <a:solidFill>
            <a:srgbClr val="FFFFFF"/>
          </a:solidFill>
          <a:ln w="9525">
            <a:solidFill>
              <a:srgbClr val="102A43"/>
            </a:solidFill>
            <a:prstDash val="solid"/>
          </a:ln>
        </p:spPr>
      </p:sp>
      <p:sp>
        <p:nvSpPr>
          <p:cNvPr id="202" name="s4_rect_201"/>
          <p:cNvSpPr/>
          <p:nvPr/>
        </p:nvSpPr>
        <p:spPr>
          <a:xfrm>
            <a:off x="10733227" y="3584448"/>
            <a:ext cx="173736" cy="141732"/>
          </a:xfrm>
          <a:prstGeom prst="roundRect">
            <a:avLst>
              <a:gd name="adj" fmla="val 12903"/>
            </a:avLst>
          </a:prstGeom>
          <a:solidFill>
            <a:srgbClr val="FFFFFF"/>
          </a:solidFill>
          <a:ln w="9525">
            <a:solidFill>
              <a:srgbClr val="102A43"/>
            </a:solidFill>
            <a:prstDash val="solid"/>
          </a:ln>
        </p:spPr>
      </p:sp>
      <p:sp>
        <p:nvSpPr>
          <p:cNvPr id="203" name="s4_rect_202"/>
          <p:cNvSpPr/>
          <p:nvPr/>
        </p:nvSpPr>
        <p:spPr>
          <a:xfrm>
            <a:off x="10949026" y="3584448"/>
            <a:ext cx="173736" cy="141732"/>
          </a:xfrm>
          <a:prstGeom prst="roundRect">
            <a:avLst>
              <a:gd name="adj" fmla="val 12903"/>
            </a:avLst>
          </a:prstGeom>
          <a:solidFill>
            <a:srgbClr val="FFFFFF"/>
          </a:solidFill>
          <a:ln w="9525">
            <a:solidFill>
              <a:srgbClr val="102A43"/>
            </a:solidFill>
            <a:prstDash val="solid"/>
          </a:ln>
        </p:spPr>
      </p:sp>
      <p:sp>
        <p:nvSpPr>
          <p:cNvPr id="204" name="s4_rect_203"/>
          <p:cNvSpPr/>
          <p:nvPr/>
        </p:nvSpPr>
        <p:spPr>
          <a:xfrm>
            <a:off x="9006840" y="3767328"/>
            <a:ext cx="173736" cy="141732"/>
          </a:xfrm>
          <a:prstGeom prst="roundRect">
            <a:avLst>
              <a:gd name="adj" fmla="val 12903"/>
            </a:avLst>
          </a:prstGeom>
          <a:solidFill>
            <a:srgbClr val="FFFFFF"/>
          </a:solidFill>
          <a:ln w="9525">
            <a:solidFill>
              <a:srgbClr val="102A43"/>
            </a:solidFill>
            <a:prstDash val="solid"/>
          </a:ln>
        </p:spPr>
      </p:sp>
      <p:sp>
        <p:nvSpPr>
          <p:cNvPr id="205" name="s4_rect_204"/>
          <p:cNvSpPr/>
          <p:nvPr/>
        </p:nvSpPr>
        <p:spPr>
          <a:xfrm>
            <a:off x="9222638" y="3767328"/>
            <a:ext cx="173736" cy="141732"/>
          </a:xfrm>
          <a:prstGeom prst="roundRect">
            <a:avLst>
              <a:gd name="adj" fmla="val 12903"/>
            </a:avLst>
          </a:prstGeom>
          <a:solidFill>
            <a:srgbClr val="FFFFFF"/>
          </a:solidFill>
          <a:ln w="9525">
            <a:solidFill>
              <a:srgbClr val="102A43"/>
            </a:solidFill>
            <a:prstDash val="solid"/>
          </a:ln>
        </p:spPr>
      </p:sp>
      <p:sp>
        <p:nvSpPr>
          <p:cNvPr id="206" name="s4_rect_205"/>
          <p:cNvSpPr/>
          <p:nvPr/>
        </p:nvSpPr>
        <p:spPr>
          <a:xfrm>
            <a:off x="9438437" y="3767328"/>
            <a:ext cx="173736" cy="141732"/>
          </a:xfrm>
          <a:prstGeom prst="roundRect">
            <a:avLst>
              <a:gd name="adj" fmla="val 12903"/>
            </a:avLst>
          </a:prstGeom>
          <a:solidFill>
            <a:srgbClr val="FFFFFF"/>
          </a:solidFill>
          <a:ln w="9525">
            <a:solidFill>
              <a:srgbClr val="102A43"/>
            </a:solidFill>
            <a:prstDash val="solid"/>
          </a:ln>
        </p:spPr>
      </p:sp>
      <p:sp>
        <p:nvSpPr>
          <p:cNvPr id="207" name="s4_rect_206"/>
          <p:cNvSpPr/>
          <p:nvPr/>
        </p:nvSpPr>
        <p:spPr>
          <a:xfrm>
            <a:off x="9654235" y="3767328"/>
            <a:ext cx="173736" cy="141732"/>
          </a:xfrm>
          <a:prstGeom prst="roundRect">
            <a:avLst>
              <a:gd name="adj" fmla="val 12903"/>
            </a:avLst>
          </a:prstGeom>
          <a:solidFill>
            <a:srgbClr val="FFFFFF"/>
          </a:solidFill>
          <a:ln w="9525">
            <a:solidFill>
              <a:srgbClr val="102A43"/>
            </a:solidFill>
            <a:prstDash val="solid"/>
          </a:ln>
        </p:spPr>
      </p:sp>
      <p:sp>
        <p:nvSpPr>
          <p:cNvPr id="208" name="s4_rect_207"/>
          <p:cNvSpPr/>
          <p:nvPr/>
        </p:nvSpPr>
        <p:spPr>
          <a:xfrm>
            <a:off x="9870034" y="3767328"/>
            <a:ext cx="173736" cy="141732"/>
          </a:xfrm>
          <a:prstGeom prst="roundRect">
            <a:avLst>
              <a:gd name="adj" fmla="val 12903"/>
            </a:avLst>
          </a:prstGeom>
          <a:solidFill>
            <a:srgbClr val="FFFFFF"/>
          </a:solidFill>
          <a:ln w="9525">
            <a:solidFill>
              <a:srgbClr val="102A43"/>
            </a:solidFill>
            <a:prstDash val="solid"/>
          </a:ln>
        </p:spPr>
      </p:sp>
      <p:sp>
        <p:nvSpPr>
          <p:cNvPr id="209" name="s4_rect_208"/>
          <p:cNvSpPr/>
          <p:nvPr/>
        </p:nvSpPr>
        <p:spPr>
          <a:xfrm>
            <a:off x="10085832" y="3767328"/>
            <a:ext cx="173736" cy="141732"/>
          </a:xfrm>
          <a:prstGeom prst="roundRect">
            <a:avLst>
              <a:gd name="adj" fmla="val 12903"/>
            </a:avLst>
          </a:prstGeom>
          <a:solidFill>
            <a:srgbClr val="FFFFFF"/>
          </a:solidFill>
          <a:ln w="9525">
            <a:solidFill>
              <a:srgbClr val="102A43"/>
            </a:solidFill>
            <a:prstDash val="solid"/>
          </a:ln>
        </p:spPr>
      </p:sp>
      <p:sp>
        <p:nvSpPr>
          <p:cNvPr id="210" name="s4_rect_209"/>
          <p:cNvSpPr/>
          <p:nvPr/>
        </p:nvSpPr>
        <p:spPr>
          <a:xfrm>
            <a:off x="10301630" y="3767328"/>
            <a:ext cx="173736" cy="141732"/>
          </a:xfrm>
          <a:prstGeom prst="roundRect">
            <a:avLst>
              <a:gd name="adj" fmla="val 12903"/>
            </a:avLst>
          </a:prstGeom>
          <a:solidFill>
            <a:srgbClr val="FFFFFF"/>
          </a:solidFill>
          <a:ln w="9525">
            <a:solidFill>
              <a:srgbClr val="102A43"/>
            </a:solidFill>
            <a:prstDash val="solid"/>
          </a:ln>
        </p:spPr>
      </p:sp>
      <p:sp>
        <p:nvSpPr>
          <p:cNvPr id="211" name="s4_rect_210"/>
          <p:cNvSpPr/>
          <p:nvPr/>
        </p:nvSpPr>
        <p:spPr>
          <a:xfrm>
            <a:off x="10517429" y="3767328"/>
            <a:ext cx="173736" cy="141732"/>
          </a:xfrm>
          <a:prstGeom prst="roundRect">
            <a:avLst>
              <a:gd name="adj" fmla="val 12903"/>
            </a:avLst>
          </a:prstGeom>
          <a:solidFill>
            <a:srgbClr val="FFFFFF"/>
          </a:solidFill>
          <a:ln w="9525">
            <a:solidFill>
              <a:srgbClr val="102A43"/>
            </a:solidFill>
            <a:prstDash val="solid"/>
          </a:ln>
        </p:spPr>
      </p:sp>
      <p:sp>
        <p:nvSpPr>
          <p:cNvPr id="212" name="s4_rect_211"/>
          <p:cNvSpPr/>
          <p:nvPr/>
        </p:nvSpPr>
        <p:spPr>
          <a:xfrm>
            <a:off x="10733227" y="3767328"/>
            <a:ext cx="173736" cy="141732"/>
          </a:xfrm>
          <a:prstGeom prst="roundRect">
            <a:avLst>
              <a:gd name="adj" fmla="val 12903"/>
            </a:avLst>
          </a:prstGeom>
          <a:solidFill>
            <a:srgbClr val="FFFFFF"/>
          </a:solidFill>
          <a:ln w="9525">
            <a:solidFill>
              <a:srgbClr val="102A43"/>
            </a:solidFill>
            <a:prstDash val="solid"/>
          </a:ln>
        </p:spPr>
      </p:sp>
      <p:sp>
        <p:nvSpPr>
          <p:cNvPr id="213" name="s4_rect_212"/>
          <p:cNvSpPr/>
          <p:nvPr/>
        </p:nvSpPr>
        <p:spPr>
          <a:xfrm>
            <a:off x="10949026" y="3767328"/>
            <a:ext cx="173736" cy="141732"/>
          </a:xfrm>
          <a:prstGeom prst="roundRect">
            <a:avLst>
              <a:gd name="adj" fmla="val 12903"/>
            </a:avLst>
          </a:prstGeom>
          <a:solidFill>
            <a:srgbClr val="FFFFFF"/>
          </a:solidFill>
          <a:ln w="9525">
            <a:solidFill>
              <a:srgbClr val="102A43"/>
            </a:solidFill>
            <a:prstDash val="solid"/>
          </a:ln>
        </p:spPr>
      </p:sp>
      <p:sp>
        <p:nvSpPr>
          <p:cNvPr id="214" name="s4_text_213"/>
          <p:cNvSpPr txBox="1"/>
          <p:nvPr/>
        </p:nvSpPr>
        <p:spPr>
          <a:xfrm>
            <a:off x="9006840" y="3986784"/>
            <a:ext cx="2651760" cy="566928"/>
          </a:xfrm>
          <a:prstGeom prst="rect">
            <a:avLst/>
          </a:prstGeom>
          <a:noFill/>
          <a:ln/>
        </p:spPr>
        <p:txBody>
          <a:bodyPr wrap="square" lIns="0" tIns="0" rIns="0" bIns="0" rtlCol="0" anchor="t"/>
          <a:lstStyle/>
          <a:p>
            <a:pPr algn="l" indent="0" marL="0">
              <a:buNone/>
            </a:pPr>
            <a:r>
              <a:rPr lang="en-US" sz="1300" dirty="0">
                <a:solidFill>
                  <a:srgbClr val="627D98"/>
                </a:solidFill>
                <a:latin typeface="Aptos" pitchFamily="34" charset="0"/>
                <a:ea typeface="Aptos" pitchFamily="34" charset="-122"/>
                <a:cs typeface="Aptos" pitchFamily="34" charset="-120"/>
              </a:rPr>
              <a:t>One last-observed endpoint each · opened once, after every policy froze</a:t>
            </a:r>
            <a:endParaRPr lang="en-US" sz="1300" dirty="0"/>
          </a:p>
        </p:txBody>
      </p:sp>
      <p:sp>
        <p:nvSpPr>
          <p:cNvPr id="215" name="s0_rect_214"/>
          <p:cNvSpPr/>
          <p:nvPr/>
        </p:nvSpPr>
        <p:spPr>
          <a:xfrm>
            <a:off x="548640" y="4160520"/>
            <a:ext cx="8183880" cy="1920240"/>
          </a:xfrm>
          <a:prstGeom prst="roundRect">
            <a:avLst>
              <a:gd name="adj" fmla="val 3810"/>
            </a:avLst>
          </a:prstGeom>
          <a:solidFill>
            <a:srgbClr val="FFFFFF"/>
          </a:solidFill>
          <a:ln w="12700">
            <a:solidFill>
              <a:srgbClr val="D9E2EC"/>
            </a:solidFill>
            <a:prstDash val="solid"/>
          </a:ln>
        </p:spPr>
      </p:sp>
      <p:sp>
        <p:nvSpPr>
          <p:cNvPr id="216" name="s0_text_215"/>
          <p:cNvSpPr txBox="1"/>
          <p:nvPr/>
        </p:nvSpPr>
        <p:spPr>
          <a:xfrm>
            <a:off x="777240" y="4297680"/>
            <a:ext cx="7772400" cy="365760"/>
          </a:xfrm>
          <a:prstGeom prst="rect">
            <a:avLst/>
          </a:prstGeom>
          <a:noFill/>
          <a:ln/>
        </p:spPr>
        <p:txBody>
          <a:bodyPr wrap="square" lIns="0" tIns="0" rIns="0" bIns="0" rtlCol="0" anchor="t"/>
          <a:lstStyle/>
          <a:p>
            <a:pPr algn="l" indent="0" marL="0">
              <a:buNone/>
            </a:pPr>
            <a:r>
              <a:rPr lang="en-US" sz="1800" b="1" dirty="0">
                <a:solidFill>
                  <a:srgbClr val="102A43"/>
                </a:solidFill>
                <a:latin typeface="Aptos" pitchFamily="34" charset="0"/>
                <a:ea typeface="Aptos" pitchFamily="34" charset="-122"/>
                <a:cs typeface="Aptos" pitchFamily="34" charset="-120"/>
              </a:rPr>
              <a:t>Primary target: uncapped RUL(i, t) = Tᵢ − t</a:t>
            </a:r>
            <a:endParaRPr lang="en-US" sz="1800" dirty="0"/>
          </a:p>
        </p:txBody>
      </p:sp>
      <p:sp>
        <p:nvSpPr>
          <p:cNvPr id="217" name="s0_text_216"/>
          <p:cNvSpPr txBox="1"/>
          <p:nvPr/>
        </p:nvSpPr>
        <p:spPr>
          <a:xfrm>
            <a:off x="777240" y="4709160"/>
            <a:ext cx="7772400" cy="329184"/>
          </a:xfrm>
          <a:prstGeom prst="rect">
            <a:avLst/>
          </a:prstGeom>
          <a:noFill/>
          <a:ln/>
        </p:spPr>
        <p:txBody>
          <a:bodyPr wrap="square" lIns="0" tIns="0" rIns="0" bIns="0" rtlCol="0" anchor="t"/>
          <a:lstStyle/>
          <a:p>
            <a:pPr algn="l" indent="0" marL="0">
              <a:buNone/>
            </a:pPr>
            <a:r>
              <a:rPr lang="en-US" sz="1600" dirty="0">
                <a:solidFill>
                  <a:srgbClr val="627D98"/>
                </a:solidFill>
                <a:latin typeface="Aptos" pitchFamily="34" charset="0"/>
                <a:ea typeface="Aptos" pitchFamily="34" charset="-122"/>
                <a:cs typeface="Aptos" pitchFamily="34" charset="-120"/>
              </a:rPr>
              <a:t>Capped at 130 cycles: sensitivity analysis only</a:t>
            </a:r>
            <a:endParaRPr lang="en-US" sz="1600" dirty="0"/>
          </a:p>
        </p:txBody>
      </p:sp>
      <p:sp>
        <p:nvSpPr>
          <p:cNvPr id="218" name="s0_text_217"/>
          <p:cNvSpPr txBox="1"/>
          <p:nvPr/>
        </p:nvSpPr>
        <p:spPr>
          <a:xfrm>
            <a:off x="777240" y="5138928"/>
            <a:ext cx="7772400" cy="822960"/>
          </a:xfrm>
          <a:prstGeom prst="rect">
            <a:avLst/>
          </a:prstGeom>
          <a:noFill/>
          <a:ln/>
        </p:spPr>
        <p:txBody>
          <a:bodyPr wrap="square" lIns="0" tIns="0" rIns="0" bIns="0" rtlCol="0" anchor="t"/>
          <a:lstStyle/>
          <a:p>
            <a:pPr algn="l" indent="0" marL="0">
              <a:buNone/>
            </a:pPr>
            <a:r>
              <a:rPr lang="en-US" sz="1600" b="1" dirty="0">
                <a:solidFill>
                  <a:srgbClr val="007E99"/>
                </a:solidFill>
                <a:latin typeface="Aptos" pitchFamily="34" charset="0"/>
                <a:ea typeface="Aptos" pitchFamily="34" charset="-122"/>
                <a:cs typeface="Aptos" pitchFamily="34" charset="-120"/>
              </a:rPr>
              <a:t>No engine contributes rows to more than one role — so no trajectory leaks across fitting, selection, calibration and test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6" fill="hold">
                      <p:stCondLst>
                        <p:cond delay="indefinite"/>
                      </p:stCondLst>
                      <p:childTnLst>
                        <p:par>
                          <p:cTn id="18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00"/>
                                        <p:tgtEl>
                                          <p:spTgt spid="2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4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fade">
                                      <p:cBhvr>
                                        <p:cTn id="68" dur="400"/>
                                        <p:tgtEl>
                                          <p:spTgt spid="3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4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400"/>
                                        <p:tgtEl>
                                          <p:spTgt spid="3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400"/>
                                        <p:tgtEl>
                                          <p:spTgt spid="3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400"/>
                                        <p:tgtEl>
                                          <p:spTgt spid="3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400"/>
                                        <p:tgtEl>
                                          <p:spTgt spid="3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4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400"/>
                                        <p:tgtEl>
                                          <p:spTgt spid="3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400"/>
                                        <p:tgtEl>
                                          <p:spTgt spid="3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400"/>
                                        <p:tgtEl>
                                          <p:spTgt spid="3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400"/>
                                        <p:tgtEl>
                                          <p:spTgt spid="4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400"/>
                                        <p:tgtEl>
                                          <p:spTgt spid="4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400"/>
                                        <p:tgtEl>
                                          <p:spTgt spid="4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400"/>
                                        <p:tgtEl>
                                          <p:spTgt spid="4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animEffect transition="in" filter="fade">
                                      <p:cBhvr>
                                        <p:cTn id="110" dur="400"/>
                                        <p:tgtEl>
                                          <p:spTgt spid="4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5"/>
                                        </p:tgtEl>
                                        <p:attrNameLst>
                                          <p:attrName>style.visibility</p:attrName>
                                        </p:attrNameLst>
                                      </p:cBhvr>
                                      <p:to>
                                        <p:strVal val="visible"/>
                                      </p:to>
                                    </p:set>
                                    <p:animEffect transition="in" filter="fade">
                                      <p:cBhvr>
                                        <p:cTn id="113" dur="400"/>
                                        <p:tgtEl>
                                          <p:spTgt spid="4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6"/>
                                        </p:tgtEl>
                                        <p:attrNameLst>
                                          <p:attrName>style.visibility</p:attrName>
                                        </p:attrNameLst>
                                      </p:cBhvr>
                                      <p:to>
                                        <p:strVal val="visible"/>
                                      </p:to>
                                    </p:set>
                                    <p:animEffect transition="in" filter="fade">
                                      <p:cBhvr>
                                        <p:cTn id="116" dur="400"/>
                                        <p:tgtEl>
                                          <p:spTgt spid="4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fade">
                                      <p:cBhvr>
                                        <p:cTn id="155" dur="400"/>
                                        <p:tgtEl>
                                          <p:spTgt spid="59"/>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60"/>
                                        </p:tgtEl>
                                        <p:attrNameLst>
                                          <p:attrName>style.visibility</p:attrName>
                                        </p:attrNameLst>
                                      </p:cBhvr>
                                      <p:to>
                                        <p:strVal val="visible"/>
                                      </p:to>
                                    </p:set>
                                    <p:animEffect transition="in" filter="fade">
                                      <p:cBhvr>
                                        <p:cTn id="158" dur="400"/>
                                        <p:tgtEl>
                                          <p:spTgt spid="60"/>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400"/>
                                        <p:tgtEl>
                                          <p:spTgt spid="61"/>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62"/>
                                        </p:tgtEl>
                                        <p:attrNameLst>
                                          <p:attrName>style.visibility</p:attrName>
                                        </p:attrNameLst>
                                      </p:cBhvr>
                                      <p:to>
                                        <p:strVal val="visible"/>
                                      </p:to>
                                    </p:set>
                                    <p:animEffect transition="in" filter="fade">
                                      <p:cBhvr>
                                        <p:cTn id="164" dur="400"/>
                                        <p:tgtEl>
                                          <p:spTgt spid="62"/>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63"/>
                                        </p:tgtEl>
                                        <p:attrNameLst>
                                          <p:attrName>style.visibility</p:attrName>
                                        </p:attrNameLst>
                                      </p:cBhvr>
                                      <p:to>
                                        <p:strVal val="visible"/>
                                      </p:to>
                                    </p:set>
                                    <p:animEffect transition="in" filter="fade">
                                      <p:cBhvr>
                                        <p:cTn id="167" dur="400"/>
                                        <p:tgtEl>
                                          <p:spTgt spid="63"/>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4"/>
                                        </p:tgtEl>
                                        <p:attrNameLst>
                                          <p:attrName>style.visibility</p:attrName>
                                        </p:attrNameLst>
                                      </p:cBhvr>
                                      <p:to>
                                        <p:strVal val="visible"/>
                                      </p:to>
                                    </p:set>
                                    <p:animEffect transition="in" filter="fade">
                                      <p:cBhvr>
                                        <p:cTn id="170" dur="400"/>
                                        <p:tgtEl>
                                          <p:spTgt spid="64"/>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5"/>
                                        </p:tgtEl>
                                        <p:attrNameLst>
                                          <p:attrName>style.visibility</p:attrName>
                                        </p:attrNameLst>
                                      </p:cBhvr>
                                      <p:to>
                                        <p:strVal val="visible"/>
                                      </p:to>
                                    </p:set>
                                    <p:animEffect transition="in" filter="fade">
                                      <p:cBhvr>
                                        <p:cTn id="173" dur="400"/>
                                        <p:tgtEl>
                                          <p:spTgt spid="65"/>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6"/>
                                        </p:tgtEl>
                                        <p:attrNameLst>
                                          <p:attrName>style.visibility</p:attrName>
                                        </p:attrNameLst>
                                      </p:cBhvr>
                                      <p:to>
                                        <p:strVal val="visible"/>
                                      </p:to>
                                    </p:set>
                                    <p:animEffect transition="in" filter="fade">
                                      <p:cBhvr>
                                        <p:cTn id="176" dur="400"/>
                                        <p:tgtEl>
                                          <p:spTgt spid="66"/>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7"/>
                                        </p:tgtEl>
                                        <p:attrNameLst>
                                          <p:attrName>style.visibility</p:attrName>
                                        </p:attrNameLst>
                                      </p:cBhvr>
                                      <p:to>
                                        <p:strVal val="visible"/>
                                      </p:to>
                                    </p:set>
                                    <p:animEffect transition="in" filter="fade">
                                      <p:cBhvr>
                                        <p:cTn id="179" dur="400"/>
                                        <p:tgtEl>
                                          <p:spTgt spid="67"/>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68"/>
                                        </p:tgtEl>
                                        <p:attrNameLst>
                                          <p:attrName>style.visibility</p:attrName>
                                        </p:attrNameLst>
                                      </p:cBhvr>
                                      <p:to>
                                        <p:strVal val="visible"/>
                                      </p:to>
                                    </p:set>
                                    <p:animEffect transition="in" filter="fade">
                                      <p:cBhvr>
                                        <p:cTn id="182" dur="400"/>
                                        <p:tgtEl>
                                          <p:spTgt spid="68"/>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69"/>
                                        </p:tgtEl>
                                        <p:attrNameLst>
                                          <p:attrName>style.visibility</p:attrName>
                                        </p:attrNameLst>
                                      </p:cBhvr>
                                      <p:to>
                                        <p:strVal val="visible"/>
                                      </p:to>
                                    </p:set>
                                    <p:animEffect transition="in" filter="fade">
                                      <p:cBhvr>
                                        <p:cTn id="185" dur="400"/>
                                        <p:tgtEl>
                                          <p:spTgt spid="69"/>
                                        </p:tgtEl>
                                      </p:cBhvr>
                                    </p:animEffect>
                                  </p:childTnLst>
                                </p:cTn>
                              </p:par>
                            </p:childTnLst>
                          </p:cTn>
                        </p:par>
                      </p:childTnLst>
                    </p:cTn>
                  </p:par>
                  <p:par>
                    <p:cTn id="251" fill="hold">
                      <p:stCondLst>
                        <p:cond delay="indefinite"/>
                      </p:stCondLst>
                      <p:childTnLst>
                        <p:par>
                          <p:cTn id="252" fill="hold">
                            <p:stCondLst>
                              <p:cond delay="0"/>
                            </p:stCondLst>
                            <p:childTnLst>
                              <p:par>
                                <p:cTn id="188" presetID="10" presetClass="entr" presetSubtype="0" fill="hold" grpId="0" nodeType="click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71"/>
                                        </p:tgtEl>
                                        <p:attrNameLst>
                                          <p:attrName>style.visibility</p:attrName>
                                        </p:attrNameLst>
                                      </p:cBhvr>
                                      <p:to>
                                        <p:strVal val="visible"/>
                                      </p:to>
                                    </p:set>
                                    <p:animEffect transition="in" filter="fade">
                                      <p:cBhvr>
                                        <p:cTn id="193" dur="400"/>
                                        <p:tgtEl>
                                          <p:spTgt spid="71"/>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72"/>
                                        </p:tgtEl>
                                        <p:attrNameLst>
                                          <p:attrName>style.visibility</p:attrName>
                                        </p:attrNameLst>
                                      </p:cBhvr>
                                      <p:to>
                                        <p:strVal val="visible"/>
                                      </p:to>
                                    </p:set>
                                    <p:animEffect transition="in" filter="fade">
                                      <p:cBhvr>
                                        <p:cTn id="196" dur="400"/>
                                        <p:tgtEl>
                                          <p:spTgt spid="72"/>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73"/>
                                        </p:tgtEl>
                                        <p:attrNameLst>
                                          <p:attrName>style.visibility</p:attrName>
                                        </p:attrNameLst>
                                      </p:cBhvr>
                                      <p:to>
                                        <p:strVal val="visible"/>
                                      </p:to>
                                    </p:set>
                                    <p:animEffect transition="in" filter="fade">
                                      <p:cBhvr>
                                        <p:cTn id="199" dur="400"/>
                                        <p:tgtEl>
                                          <p:spTgt spid="73"/>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74"/>
                                        </p:tgtEl>
                                        <p:attrNameLst>
                                          <p:attrName>style.visibility</p:attrName>
                                        </p:attrNameLst>
                                      </p:cBhvr>
                                      <p:to>
                                        <p:strVal val="visible"/>
                                      </p:to>
                                    </p:set>
                                    <p:animEffect transition="in" filter="fade">
                                      <p:cBhvr>
                                        <p:cTn id="202" dur="400"/>
                                        <p:tgtEl>
                                          <p:spTgt spid="74"/>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75"/>
                                        </p:tgtEl>
                                        <p:attrNameLst>
                                          <p:attrName>style.visibility</p:attrName>
                                        </p:attrNameLst>
                                      </p:cBhvr>
                                      <p:to>
                                        <p:strVal val="visible"/>
                                      </p:to>
                                    </p:set>
                                    <p:animEffect transition="in" filter="fade">
                                      <p:cBhvr>
                                        <p:cTn id="205" dur="400"/>
                                        <p:tgtEl>
                                          <p:spTgt spid="75"/>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6"/>
                                        </p:tgtEl>
                                        <p:attrNameLst>
                                          <p:attrName>style.visibility</p:attrName>
                                        </p:attrNameLst>
                                      </p:cBhvr>
                                      <p:to>
                                        <p:strVal val="visible"/>
                                      </p:to>
                                    </p:set>
                                    <p:animEffect transition="in" filter="fade">
                                      <p:cBhvr>
                                        <p:cTn id="208" dur="400"/>
                                        <p:tgtEl>
                                          <p:spTgt spid="76"/>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77"/>
                                        </p:tgtEl>
                                        <p:attrNameLst>
                                          <p:attrName>style.visibility</p:attrName>
                                        </p:attrNameLst>
                                      </p:cBhvr>
                                      <p:to>
                                        <p:strVal val="visible"/>
                                      </p:to>
                                    </p:set>
                                    <p:animEffect transition="in" filter="fade">
                                      <p:cBhvr>
                                        <p:cTn id="211" dur="400"/>
                                        <p:tgtEl>
                                          <p:spTgt spid="77"/>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78"/>
                                        </p:tgtEl>
                                        <p:attrNameLst>
                                          <p:attrName>style.visibility</p:attrName>
                                        </p:attrNameLst>
                                      </p:cBhvr>
                                      <p:to>
                                        <p:strVal val="visible"/>
                                      </p:to>
                                    </p:set>
                                    <p:animEffect transition="in" filter="fade">
                                      <p:cBhvr>
                                        <p:cTn id="214" dur="400"/>
                                        <p:tgtEl>
                                          <p:spTgt spid="78"/>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79"/>
                                        </p:tgtEl>
                                        <p:attrNameLst>
                                          <p:attrName>style.visibility</p:attrName>
                                        </p:attrNameLst>
                                      </p:cBhvr>
                                      <p:to>
                                        <p:strVal val="visible"/>
                                      </p:to>
                                    </p:set>
                                    <p:animEffect transition="in" filter="fade">
                                      <p:cBhvr>
                                        <p:cTn id="217" dur="400"/>
                                        <p:tgtEl>
                                          <p:spTgt spid="79"/>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80"/>
                                        </p:tgtEl>
                                        <p:attrNameLst>
                                          <p:attrName>style.visibility</p:attrName>
                                        </p:attrNameLst>
                                      </p:cBhvr>
                                      <p:to>
                                        <p:strVal val="visible"/>
                                      </p:to>
                                    </p:set>
                                    <p:animEffect transition="in" filter="fade">
                                      <p:cBhvr>
                                        <p:cTn id="220" dur="400"/>
                                        <p:tgtEl>
                                          <p:spTgt spid="80"/>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81"/>
                                        </p:tgtEl>
                                        <p:attrNameLst>
                                          <p:attrName>style.visibility</p:attrName>
                                        </p:attrNameLst>
                                      </p:cBhvr>
                                      <p:to>
                                        <p:strVal val="visible"/>
                                      </p:to>
                                    </p:set>
                                    <p:animEffect transition="in" filter="fade">
                                      <p:cBhvr>
                                        <p:cTn id="223" dur="400"/>
                                        <p:tgtEl>
                                          <p:spTgt spid="81"/>
                                        </p:tgtEl>
                                      </p:cBhvr>
                                    </p:animEffect>
                                  </p:childTnLst>
                                </p:cTn>
                              </p:par>
                              <p:par>
                                <p:cTn id="224" presetID="10" presetClass="entr" presetSubtype="0" fill="hold" grpId="0" nodeType="withEffect">
                                  <p:stCondLst>
                                    <p:cond delay="0"/>
                                  </p:stCondLst>
                                  <p:childTnLst>
                                    <p:set>
                                      <p:cBhvr>
                                        <p:cTn id="225" dur="1" fill="hold">
                                          <p:stCondLst>
                                            <p:cond delay="0"/>
                                          </p:stCondLst>
                                        </p:cTn>
                                        <p:tgtEl>
                                          <p:spTgt spid="82"/>
                                        </p:tgtEl>
                                        <p:attrNameLst>
                                          <p:attrName>style.visibility</p:attrName>
                                        </p:attrNameLst>
                                      </p:cBhvr>
                                      <p:to>
                                        <p:strVal val="visible"/>
                                      </p:to>
                                    </p:set>
                                    <p:animEffect transition="in" filter="fade">
                                      <p:cBhvr>
                                        <p:cTn id="226" dur="400"/>
                                        <p:tgtEl>
                                          <p:spTgt spid="82"/>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83"/>
                                        </p:tgtEl>
                                        <p:attrNameLst>
                                          <p:attrName>style.visibility</p:attrName>
                                        </p:attrNameLst>
                                      </p:cBhvr>
                                      <p:to>
                                        <p:strVal val="visible"/>
                                      </p:to>
                                    </p:set>
                                    <p:animEffect transition="in" filter="fade">
                                      <p:cBhvr>
                                        <p:cTn id="229" dur="400"/>
                                        <p:tgtEl>
                                          <p:spTgt spid="83"/>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84"/>
                                        </p:tgtEl>
                                        <p:attrNameLst>
                                          <p:attrName>style.visibility</p:attrName>
                                        </p:attrNameLst>
                                      </p:cBhvr>
                                      <p:to>
                                        <p:strVal val="visible"/>
                                      </p:to>
                                    </p:set>
                                    <p:animEffect transition="in" filter="fade">
                                      <p:cBhvr>
                                        <p:cTn id="232" dur="400"/>
                                        <p:tgtEl>
                                          <p:spTgt spid="84"/>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85"/>
                                        </p:tgtEl>
                                        <p:attrNameLst>
                                          <p:attrName>style.visibility</p:attrName>
                                        </p:attrNameLst>
                                      </p:cBhvr>
                                      <p:to>
                                        <p:strVal val="visible"/>
                                      </p:to>
                                    </p:set>
                                    <p:animEffect transition="in" filter="fade">
                                      <p:cBhvr>
                                        <p:cTn id="235" dur="400"/>
                                        <p:tgtEl>
                                          <p:spTgt spid="85"/>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86"/>
                                        </p:tgtEl>
                                        <p:attrNameLst>
                                          <p:attrName>style.visibility</p:attrName>
                                        </p:attrNameLst>
                                      </p:cBhvr>
                                      <p:to>
                                        <p:strVal val="visible"/>
                                      </p:to>
                                    </p:set>
                                    <p:animEffect transition="in" filter="fade">
                                      <p:cBhvr>
                                        <p:cTn id="238" dur="400"/>
                                        <p:tgtEl>
                                          <p:spTgt spid="86"/>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87"/>
                                        </p:tgtEl>
                                        <p:attrNameLst>
                                          <p:attrName>style.visibility</p:attrName>
                                        </p:attrNameLst>
                                      </p:cBhvr>
                                      <p:to>
                                        <p:strVal val="visible"/>
                                      </p:to>
                                    </p:set>
                                    <p:animEffect transition="in" filter="fade">
                                      <p:cBhvr>
                                        <p:cTn id="241" dur="400"/>
                                        <p:tgtEl>
                                          <p:spTgt spid="87"/>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88"/>
                                        </p:tgtEl>
                                        <p:attrNameLst>
                                          <p:attrName>style.visibility</p:attrName>
                                        </p:attrNameLst>
                                      </p:cBhvr>
                                      <p:to>
                                        <p:strVal val="visible"/>
                                      </p:to>
                                    </p:set>
                                    <p:animEffect transition="in" filter="fade">
                                      <p:cBhvr>
                                        <p:cTn id="244" dur="400"/>
                                        <p:tgtEl>
                                          <p:spTgt spid="88"/>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89"/>
                                        </p:tgtEl>
                                        <p:attrNameLst>
                                          <p:attrName>style.visibility</p:attrName>
                                        </p:attrNameLst>
                                      </p:cBhvr>
                                      <p:to>
                                        <p:strVal val="visible"/>
                                      </p:to>
                                    </p:set>
                                    <p:animEffect transition="in" filter="fade">
                                      <p:cBhvr>
                                        <p:cTn id="247" dur="400"/>
                                        <p:tgtEl>
                                          <p:spTgt spid="89"/>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90"/>
                                        </p:tgtEl>
                                        <p:attrNameLst>
                                          <p:attrName>style.visibility</p:attrName>
                                        </p:attrNameLst>
                                      </p:cBhvr>
                                      <p:to>
                                        <p:strVal val="visible"/>
                                      </p:to>
                                    </p:set>
                                    <p:animEffect transition="in" filter="fade">
                                      <p:cBhvr>
                                        <p:cTn id="250" dur="400"/>
                                        <p:tgtEl>
                                          <p:spTgt spid="90"/>
                                        </p:tgtEl>
                                      </p:cBhvr>
                                    </p:animEffect>
                                  </p:childTnLst>
                                </p:cTn>
                              </p:par>
                            </p:childTnLst>
                          </p:cTn>
                        </p:par>
                      </p:childTnLst>
                    </p:cTn>
                  </p:par>
                  <p:par>
                    <p:cTn id="316" fill="hold">
                      <p:stCondLst>
                        <p:cond delay="indefinite"/>
                      </p:stCondLst>
                      <p:childTnLst>
                        <p:par>
                          <p:cTn id="317"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91"/>
                                        </p:tgtEl>
                                        <p:attrNameLst>
                                          <p:attrName>style.visibility</p:attrName>
                                        </p:attrNameLst>
                                      </p:cBhvr>
                                      <p:to>
                                        <p:strVal val="visible"/>
                                      </p:to>
                                    </p:set>
                                    <p:animEffect transition="in" filter="fade">
                                      <p:cBhvr>
                                        <p:cTn id="255" dur="400"/>
                                        <p:tgtEl>
                                          <p:spTgt spid="91"/>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2"/>
                                        </p:tgtEl>
                                        <p:attrNameLst>
                                          <p:attrName>style.visibility</p:attrName>
                                        </p:attrNameLst>
                                      </p:cBhvr>
                                      <p:to>
                                        <p:strVal val="visible"/>
                                      </p:to>
                                    </p:set>
                                    <p:animEffect transition="in" filter="fade">
                                      <p:cBhvr>
                                        <p:cTn id="258" dur="400"/>
                                        <p:tgtEl>
                                          <p:spTgt spid="92"/>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93"/>
                                        </p:tgtEl>
                                        <p:attrNameLst>
                                          <p:attrName>style.visibility</p:attrName>
                                        </p:attrNameLst>
                                      </p:cBhvr>
                                      <p:to>
                                        <p:strVal val="visible"/>
                                      </p:to>
                                    </p:set>
                                    <p:animEffect transition="in" filter="fade">
                                      <p:cBhvr>
                                        <p:cTn id="261" dur="400"/>
                                        <p:tgtEl>
                                          <p:spTgt spid="93"/>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94"/>
                                        </p:tgtEl>
                                        <p:attrNameLst>
                                          <p:attrName>style.visibility</p:attrName>
                                        </p:attrNameLst>
                                      </p:cBhvr>
                                      <p:to>
                                        <p:strVal val="visible"/>
                                      </p:to>
                                    </p:set>
                                    <p:animEffect transition="in" filter="fade">
                                      <p:cBhvr>
                                        <p:cTn id="264" dur="400"/>
                                        <p:tgtEl>
                                          <p:spTgt spid="94"/>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5"/>
                                        </p:tgtEl>
                                        <p:attrNameLst>
                                          <p:attrName>style.visibility</p:attrName>
                                        </p:attrNameLst>
                                      </p:cBhvr>
                                      <p:to>
                                        <p:strVal val="visible"/>
                                      </p:to>
                                    </p:set>
                                    <p:animEffect transition="in" filter="fade">
                                      <p:cBhvr>
                                        <p:cTn id="267" dur="400"/>
                                        <p:tgtEl>
                                          <p:spTgt spid="95"/>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6"/>
                                        </p:tgtEl>
                                        <p:attrNameLst>
                                          <p:attrName>style.visibility</p:attrName>
                                        </p:attrNameLst>
                                      </p:cBhvr>
                                      <p:to>
                                        <p:strVal val="visible"/>
                                      </p:to>
                                    </p:set>
                                    <p:animEffect transition="in" filter="fade">
                                      <p:cBhvr>
                                        <p:cTn id="270" dur="400"/>
                                        <p:tgtEl>
                                          <p:spTgt spid="96"/>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97"/>
                                        </p:tgtEl>
                                        <p:attrNameLst>
                                          <p:attrName>style.visibility</p:attrName>
                                        </p:attrNameLst>
                                      </p:cBhvr>
                                      <p:to>
                                        <p:strVal val="visible"/>
                                      </p:to>
                                    </p:set>
                                    <p:animEffect transition="in" filter="fade">
                                      <p:cBhvr>
                                        <p:cTn id="273" dur="400"/>
                                        <p:tgtEl>
                                          <p:spTgt spid="97"/>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8"/>
                                        </p:tgtEl>
                                        <p:attrNameLst>
                                          <p:attrName>style.visibility</p:attrName>
                                        </p:attrNameLst>
                                      </p:cBhvr>
                                      <p:to>
                                        <p:strVal val="visible"/>
                                      </p:to>
                                    </p:set>
                                    <p:animEffect transition="in" filter="fade">
                                      <p:cBhvr>
                                        <p:cTn id="276" dur="400"/>
                                        <p:tgtEl>
                                          <p:spTgt spid="98"/>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99"/>
                                        </p:tgtEl>
                                        <p:attrNameLst>
                                          <p:attrName>style.visibility</p:attrName>
                                        </p:attrNameLst>
                                      </p:cBhvr>
                                      <p:to>
                                        <p:strVal val="visible"/>
                                      </p:to>
                                    </p:set>
                                    <p:animEffect transition="in" filter="fade">
                                      <p:cBhvr>
                                        <p:cTn id="279" dur="400"/>
                                        <p:tgtEl>
                                          <p:spTgt spid="99"/>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00"/>
                                        </p:tgtEl>
                                        <p:attrNameLst>
                                          <p:attrName>style.visibility</p:attrName>
                                        </p:attrNameLst>
                                      </p:cBhvr>
                                      <p:to>
                                        <p:strVal val="visible"/>
                                      </p:to>
                                    </p:set>
                                    <p:animEffect transition="in" filter="fade">
                                      <p:cBhvr>
                                        <p:cTn id="282" dur="400"/>
                                        <p:tgtEl>
                                          <p:spTgt spid="100"/>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01"/>
                                        </p:tgtEl>
                                        <p:attrNameLst>
                                          <p:attrName>style.visibility</p:attrName>
                                        </p:attrNameLst>
                                      </p:cBhvr>
                                      <p:to>
                                        <p:strVal val="visible"/>
                                      </p:to>
                                    </p:set>
                                    <p:animEffect transition="in" filter="fade">
                                      <p:cBhvr>
                                        <p:cTn id="285" dur="400"/>
                                        <p:tgtEl>
                                          <p:spTgt spid="101"/>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02"/>
                                        </p:tgtEl>
                                        <p:attrNameLst>
                                          <p:attrName>style.visibility</p:attrName>
                                        </p:attrNameLst>
                                      </p:cBhvr>
                                      <p:to>
                                        <p:strVal val="visible"/>
                                      </p:to>
                                    </p:set>
                                    <p:animEffect transition="in" filter="fade">
                                      <p:cBhvr>
                                        <p:cTn id="288" dur="400"/>
                                        <p:tgtEl>
                                          <p:spTgt spid="102"/>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103"/>
                                        </p:tgtEl>
                                        <p:attrNameLst>
                                          <p:attrName>style.visibility</p:attrName>
                                        </p:attrNameLst>
                                      </p:cBhvr>
                                      <p:to>
                                        <p:strVal val="visible"/>
                                      </p:to>
                                    </p:set>
                                    <p:animEffect transition="in" filter="fade">
                                      <p:cBhvr>
                                        <p:cTn id="291" dur="400"/>
                                        <p:tgtEl>
                                          <p:spTgt spid="103"/>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104"/>
                                        </p:tgtEl>
                                        <p:attrNameLst>
                                          <p:attrName>style.visibility</p:attrName>
                                        </p:attrNameLst>
                                      </p:cBhvr>
                                      <p:to>
                                        <p:strVal val="visible"/>
                                      </p:to>
                                    </p:set>
                                    <p:animEffect transition="in" filter="fade">
                                      <p:cBhvr>
                                        <p:cTn id="294" dur="400"/>
                                        <p:tgtEl>
                                          <p:spTgt spid="104"/>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5"/>
                                        </p:tgtEl>
                                        <p:attrNameLst>
                                          <p:attrName>style.visibility</p:attrName>
                                        </p:attrNameLst>
                                      </p:cBhvr>
                                      <p:to>
                                        <p:strVal val="visible"/>
                                      </p:to>
                                    </p:set>
                                    <p:animEffect transition="in" filter="fade">
                                      <p:cBhvr>
                                        <p:cTn id="297" dur="400"/>
                                        <p:tgtEl>
                                          <p:spTgt spid="105"/>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6"/>
                                        </p:tgtEl>
                                        <p:attrNameLst>
                                          <p:attrName>style.visibility</p:attrName>
                                        </p:attrNameLst>
                                      </p:cBhvr>
                                      <p:to>
                                        <p:strVal val="visible"/>
                                      </p:to>
                                    </p:set>
                                    <p:animEffect transition="in" filter="fade">
                                      <p:cBhvr>
                                        <p:cTn id="300" dur="400"/>
                                        <p:tgtEl>
                                          <p:spTgt spid="106"/>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07"/>
                                        </p:tgtEl>
                                        <p:attrNameLst>
                                          <p:attrName>style.visibility</p:attrName>
                                        </p:attrNameLst>
                                      </p:cBhvr>
                                      <p:to>
                                        <p:strVal val="visible"/>
                                      </p:to>
                                    </p:set>
                                    <p:animEffect transition="in" filter="fade">
                                      <p:cBhvr>
                                        <p:cTn id="303" dur="400"/>
                                        <p:tgtEl>
                                          <p:spTgt spid="107"/>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08"/>
                                        </p:tgtEl>
                                        <p:attrNameLst>
                                          <p:attrName>style.visibility</p:attrName>
                                        </p:attrNameLst>
                                      </p:cBhvr>
                                      <p:to>
                                        <p:strVal val="visible"/>
                                      </p:to>
                                    </p:set>
                                    <p:animEffect transition="in" filter="fade">
                                      <p:cBhvr>
                                        <p:cTn id="306" dur="400"/>
                                        <p:tgtEl>
                                          <p:spTgt spid="108"/>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09"/>
                                        </p:tgtEl>
                                        <p:attrNameLst>
                                          <p:attrName>style.visibility</p:attrName>
                                        </p:attrNameLst>
                                      </p:cBhvr>
                                      <p:to>
                                        <p:strVal val="visible"/>
                                      </p:to>
                                    </p:set>
                                    <p:animEffect transition="in" filter="fade">
                                      <p:cBhvr>
                                        <p:cTn id="309" dur="400"/>
                                        <p:tgtEl>
                                          <p:spTgt spid="109"/>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10"/>
                                        </p:tgtEl>
                                        <p:attrNameLst>
                                          <p:attrName>style.visibility</p:attrName>
                                        </p:attrNameLst>
                                      </p:cBhvr>
                                      <p:to>
                                        <p:strVal val="visible"/>
                                      </p:to>
                                    </p:set>
                                    <p:animEffect transition="in" filter="fade">
                                      <p:cBhvr>
                                        <p:cTn id="312" dur="400"/>
                                        <p:tgtEl>
                                          <p:spTgt spid="110"/>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11"/>
                                        </p:tgtEl>
                                        <p:attrNameLst>
                                          <p:attrName>style.visibility</p:attrName>
                                        </p:attrNameLst>
                                      </p:cBhvr>
                                      <p:to>
                                        <p:strVal val="visible"/>
                                      </p:to>
                                    </p:set>
                                    <p:animEffect transition="in" filter="fade">
                                      <p:cBhvr>
                                        <p:cTn id="315" dur="400"/>
                                        <p:tgtEl>
                                          <p:spTgt spid="111"/>
                                        </p:tgtEl>
                                      </p:cBhvr>
                                    </p:animEffect>
                                  </p:childTnLst>
                                </p:cTn>
                              </p:par>
                            </p:childTnLst>
                          </p:cTn>
                        </p:par>
                      </p:childTnLst>
                    </p:cTn>
                  </p:par>
                  <p:par>
                    <p:cTn id="624" fill="hold">
                      <p:stCondLst>
                        <p:cond delay="indefinite"/>
                      </p:stCondLst>
                      <p:childTnLst>
                        <p:par>
                          <p:cTn id="625" fill="hold">
                            <p:stCondLst>
                              <p:cond delay="0"/>
                            </p:stCondLst>
                            <p:childTnLst>
                              <p:par>
                                <p:cTn id="318" presetID="10" presetClass="entr" presetSubtype="0" fill="hold" grpId="0" nodeType="clickEffect">
                                  <p:stCondLst>
                                    <p:cond delay="0"/>
                                  </p:stCondLst>
                                  <p:childTnLst>
                                    <p:set>
                                      <p:cBhvr>
                                        <p:cTn id="319" dur="1" fill="hold">
                                          <p:stCondLst>
                                            <p:cond delay="0"/>
                                          </p:stCondLst>
                                        </p:cTn>
                                        <p:tgtEl>
                                          <p:spTgt spid="113"/>
                                        </p:tgtEl>
                                        <p:attrNameLst>
                                          <p:attrName>style.visibility</p:attrName>
                                        </p:attrNameLst>
                                      </p:cBhvr>
                                      <p:to>
                                        <p:strVal val="visible"/>
                                      </p:to>
                                    </p:set>
                                    <p:animEffect transition="in" filter="fade">
                                      <p:cBhvr>
                                        <p:cTn id="320" dur="400"/>
                                        <p:tgtEl>
                                          <p:spTgt spid="113"/>
                                        </p:tgtEl>
                                      </p:cBhvr>
                                    </p:animEffect>
                                  </p:childTnLst>
                                </p:cTn>
                              </p:par>
                              <p:par>
                                <p:cTn id="321" presetID="10" presetClass="entr" presetSubtype="0" fill="hold" grpId="0" nodeType="withEffect">
                                  <p:stCondLst>
                                    <p:cond delay="0"/>
                                  </p:stCondLst>
                                  <p:childTnLst>
                                    <p:set>
                                      <p:cBhvr>
                                        <p:cTn id="322" dur="1" fill="hold">
                                          <p:stCondLst>
                                            <p:cond delay="0"/>
                                          </p:stCondLst>
                                        </p:cTn>
                                        <p:tgtEl>
                                          <p:spTgt spid="114"/>
                                        </p:tgtEl>
                                        <p:attrNameLst>
                                          <p:attrName>style.visibility</p:attrName>
                                        </p:attrNameLst>
                                      </p:cBhvr>
                                      <p:to>
                                        <p:strVal val="visible"/>
                                      </p:to>
                                    </p:set>
                                    <p:animEffect transition="in" filter="fade">
                                      <p:cBhvr>
                                        <p:cTn id="323" dur="400"/>
                                        <p:tgtEl>
                                          <p:spTgt spid="114"/>
                                        </p:tgtEl>
                                      </p:cBhvr>
                                    </p:animEffect>
                                  </p:childTnLst>
                                </p:cTn>
                              </p:par>
                              <p:par>
                                <p:cTn id="324" presetID="10" presetClass="entr" presetSubtype="0" fill="hold" grpId="0" nodeType="withEffect">
                                  <p:stCondLst>
                                    <p:cond delay="0"/>
                                  </p:stCondLst>
                                  <p:childTnLst>
                                    <p:set>
                                      <p:cBhvr>
                                        <p:cTn id="325" dur="1" fill="hold">
                                          <p:stCondLst>
                                            <p:cond delay="0"/>
                                          </p:stCondLst>
                                        </p:cTn>
                                        <p:tgtEl>
                                          <p:spTgt spid="115"/>
                                        </p:tgtEl>
                                        <p:attrNameLst>
                                          <p:attrName>style.visibility</p:attrName>
                                        </p:attrNameLst>
                                      </p:cBhvr>
                                      <p:to>
                                        <p:strVal val="visible"/>
                                      </p:to>
                                    </p:set>
                                    <p:animEffect transition="in" filter="fade">
                                      <p:cBhvr>
                                        <p:cTn id="326" dur="400"/>
                                        <p:tgtEl>
                                          <p:spTgt spid="115"/>
                                        </p:tgtEl>
                                      </p:cBhvr>
                                    </p:animEffect>
                                  </p:childTnLst>
                                </p:cTn>
                              </p:par>
                              <p:par>
                                <p:cTn id="327" presetID="10" presetClass="entr" presetSubtype="0" fill="hold" grpId="0" nodeType="withEffect">
                                  <p:stCondLst>
                                    <p:cond delay="0"/>
                                  </p:stCondLst>
                                  <p:childTnLst>
                                    <p:set>
                                      <p:cBhvr>
                                        <p:cTn id="328" dur="1" fill="hold">
                                          <p:stCondLst>
                                            <p:cond delay="0"/>
                                          </p:stCondLst>
                                        </p:cTn>
                                        <p:tgtEl>
                                          <p:spTgt spid="116"/>
                                        </p:tgtEl>
                                        <p:attrNameLst>
                                          <p:attrName>style.visibility</p:attrName>
                                        </p:attrNameLst>
                                      </p:cBhvr>
                                      <p:to>
                                        <p:strVal val="visible"/>
                                      </p:to>
                                    </p:set>
                                    <p:animEffect transition="in" filter="fade">
                                      <p:cBhvr>
                                        <p:cTn id="329" dur="400"/>
                                        <p:tgtEl>
                                          <p:spTgt spid="116"/>
                                        </p:tgtEl>
                                      </p:cBhvr>
                                    </p:animEffect>
                                  </p:childTnLst>
                                </p:cTn>
                              </p:par>
                              <p:par>
                                <p:cTn id="330" presetID="10" presetClass="entr" presetSubtype="0" fill="hold" grpId="0" nodeType="withEffect">
                                  <p:stCondLst>
                                    <p:cond delay="0"/>
                                  </p:stCondLst>
                                  <p:childTnLst>
                                    <p:set>
                                      <p:cBhvr>
                                        <p:cTn id="331" dur="1" fill="hold">
                                          <p:stCondLst>
                                            <p:cond delay="0"/>
                                          </p:stCondLst>
                                        </p:cTn>
                                        <p:tgtEl>
                                          <p:spTgt spid="117"/>
                                        </p:tgtEl>
                                        <p:attrNameLst>
                                          <p:attrName>style.visibility</p:attrName>
                                        </p:attrNameLst>
                                      </p:cBhvr>
                                      <p:to>
                                        <p:strVal val="visible"/>
                                      </p:to>
                                    </p:set>
                                    <p:animEffect transition="in" filter="fade">
                                      <p:cBhvr>
                                        <p:cTn id="332" dur="400"/>
                                        <p:tgtEl>
                                          <p:spTgt spid="117"/>
                                        </p:tgtEl>
                                      </p:cBhvr>
                                    </p:animEffect>
                                  </p:childTnLst>
                                </p:cTn>
                              </p:par>
                              <p:par>
                                <p:cTn id="333" presetID="10" presetClass="entr" presetSubtype="0" fill="hold" grpId="0" nodeType="withEffect">
                                  <p:stCondLst>
                                    <p:cond delay="0"/>
                                  </p:stCondLst>
                                  <p:childTnLst>
                                    <p:set>
                                      <p:cBhvr>
                                        <p:cTn id="334" dur="1" fill="hold">
                                          <p:stCondLst>
                                            <p:cond delay="0"/>
                                          </p:stCondLst>
                                        </p:cTn>
                                        <p:tgtEl>
                                          <p:spTgt spid="118"/>
                                        </p:tgtEl>
                                        <p:attrNameLst>
                                          <p:attrName>style.visibility</p:attrName>
                                        </p:attrNameLst>
                                      </p:cBhvr>
                                      <p:to>
                                        <p:strVal val="visible"/>
                                      </p:to>
                                    </p:set>
                                    <p:animEffect transition="in" filter="fade">
                                      <p:cBhvr>
                                        <p:cTn id="335" dur="400"/>
                                        <p:tgtEl>
                                          <p:spTgt spid="118"/>
                                        </p:tgtEl>
                                      </p:cBhvr>
                                    </p:animEffect>
                                  </p:childTnLst>
                                </p:cTn>
                              </p:par>
                              <p:par>
                                <p:cTn id="336" presetID="10" presetClass="entr" presetSubtype="0" fill="hold" grpId="0" nodeType="withEffect">
                                  <p:stCondLst>
                                    <p:cond delay="0"/>
                                  </p:stCondLst>
                                  <p:childTnLst>
                                    <p:set>
                                      <p:cBhvr>
                                        <p:cTn id="337" dur="1" fill="hold">
                                          <p:stCondLst>
                                            <p:cond delay="0"/>
                                          </p:stCondLst>
                                        </p:cTn>
                                        <p:tgtEl>
                                          <p:spTgt spid="119"/>
                                        </p:tgtEl>
                                        <p:attrNameLst>
                                          <p:attrName>style.visibility</p:attrName>
                                        </p:attrNameLst>
                                      </p:cBhvr>
                                      <p:to>
                                        <p:strVal val="visible"/>
                                      </p:to>
                                    </p:set>
                                    <p:animEffect transition="in" filter="fade">
                                      <p:cBhvr>
                                        <p:cTn id="338" dur="400"/>
                                        <p:tgtEl>
                                          <p:spTgt spid="119"/>
                                        </p:tgtEl>
                                      </p:cBhvr>
                                    </p:animEffect>
                                  </p:childTnLst>
                                </p:cTn>
                              </p:par>
                              <p:par>
                                <p:cTn id="339" presetID="10" presetClass="entr" presetSubtype="0" fill="hold" grpId="0" nodeType="withEffect">
                                  <p:stCondLst>
                                    <p:cond delay="0"/>
                                  </p:stCondLst>
                                  <p:childTnLst>
                                    <p:set>
                                      <p:cBhvr>
                                        <p:cTn id="340" dur="1" fill="hold">
                                          <p:stCondLst>
                                            <p:cond delay="0"/>
                                          </p:stCondLst>
                                        </p:cTn>
                                        <p:tgtEl>
                                          <p:spTgt spid="120"/>
                                        </p:tgtEl>
                                        <p:attrNameLst>
                                          <p:attrName>style.visibility</p:attrName>
                                        </p:attrNameLst>
                                      </p:cBhvr>
                                      <p:to>
                                        <p:strVal val="visible"/>
                                      </p:to>
                                    </p:set>
                                    <p:animEffect transition="in" filter="fade">
                                      <p:cBhvr>
                                        <p:cTn id="341" dur="400"/>
                                        <p:tgtEl>
                                          <p:spTgt spid="120"/>
                                        </p:tgtEl>
                                      </p:cBhvr>
                                    </p:animEffect>
                                  </p:childTnLst>
                                </p:cTn>
                              </p:par>
                              <p:par>
                                <p:cTn id="342" presetID="10" presetClass="entr" presetSubtype="0" fill="hold" grpId="0" nodeType="withEffect">
                                  <p:stCondLst>
                                    <p:cond delay="0"/>
                                  </p:stCondLst>
                                  <p:childTnLst>
                                    <p:set>
                                      <p:cBhvr>
                                        <p:cTn id="343" dur="1" fill="hold">
                                          <p:stCondLst>
                                            <p:cond delay="0"/>
                                          </p:stCondLst>
                                        </p:cTn>
                                        <p:tgtEl>
                                          <p:spTgt spid="121"/>
                                        </p:tgtEl>
                                        <p:attrNameLst>
                                          <p:attrName>style.visibility</p:attrName>
                                        </p:attrNameLst>
                                      </p:cBhvr>
                                      <p:to>
                                        <p:strVal val="visible"/>
                                      </p:to>
                                    </p:set>
                                    <p:animEffect transition="in" filter="fade">
                                      <p:cBhvr>
                                        <p:cTn id="344" dur="400"/>
                                        <p:tgtEl>
                                          <p:spTgt spid="121"/>
                                        </p:tgtEl>
                                      </p:cBhvr>
                                    </p:animEffect>
                                  </p:childTnLst>
                                </p:cTn>
                              </p:par>
                              <p:par>
                                <p:cTn id="345" presetID="10" presetClass="entr" presetSubtype="0" fill="hold" grpId="0" nodeType="withEffect">
                                  <p:stCondLst>
                                    <p:cond delay="0"/>
                                  </p:stCondLst>
                                  <p:childTnLst>
                                    <p:set>
                                      <p:cBhvr>
                                        <p:cTn id="346" dur="1" fill="hold">
                                          <p:stCondLst>
                                            <p:cond delay="0"/>
                                          </p:stCondLst>
                                        </p:cTn>
                                        <p:tgtEl>
                                          <p:spTgt spid="122"/>
                                        </p:tgtEl>
                                        <p:attrNameLst>
                                          <p:attrName>style.visibility</p:attrName>
                                        </p:attrNameLst>
                                      </p:cBhvr>
                                      <p:to>
                                        <p:strVal val="visible"/>
                                      </p:to>
                                    </p:set>
                                    <p:animEffect transition="in" filter="fade">
                                      <p:cBhvr>
                                        <p:cTn id="347" dur="400"/>
                                        <p:tgtEl>
                                          <p:spTgt spid="122"/>
                                        </p:tgtEl>
                                      </p:cBhvr>
                                    </p:animEffect>
                                  </p:childTnLst>
                                </p:cTn>
                              </p:par>
                              <p:par>
                                <p:cTn id="348" presetID="10" presetClass="entr" presetSubtype="0" fill="hold" grpId="0" nodeType="withEffect">
                                  <p:stCondLst>
                                    <p:cond delay="0"/>
                                  </p:stCondLst>
                                  <p:childTnLst>
                                    <p:set>
                                      <p:cBhvr>
                                        <p:cTn id="349" dur="1" fill="hold">
                                          <p:stCondLst>
                                            <p:cond delay="0"/>
                                          </p:stCondLst>
                                        </p:cTn>
                                        <p:tgtEl>
                                          <p:spTgt spid="123"/>
                                        </p:tgtEl>
                                        <p:attrNameLst>
                                          <p:attrName>style.visibility</p:attrName>
                                        </p:attrNameLst>
                                      </p:cBhvr>
                                      <p:to>
                                        <p:strVal val="visible"/>
                                      </p:to>
                                    </p:set>
                                    <p:animEffect transition="in" filter="fade">
                                      <p:cBhvr>
                                        <p:cTn id="350" dur="400"/>
                                        <p:tgtEl>
                                          <p:spTgt spid="123"/>
                                        </p:tgtEl>
                                      </p:cBhvr>
                                    </p:animEffect>
                                  </p:childTnLst>
                                </p:cTn>
                              </p:par>
                              <p:par>
                                <p:cTn id="351" presetID="10" presetClass="entr" presetSubtype="0" fill="hold" grpId="0" nodeType="withEffect">
                                  <p:stCondLst>
                                    <p:cond delay="0"/>
                                  </p:stCondLst>
                                  <p:childTnLst>
                                    <p:set>
                                      <p:cBhvr>
                                        <p:cTn id="352" dur="1" fill="hold">
                                          <p:stCondLst>
                                            <p:cond delay="0"/>
                                          </p:stCondLst>
                                        </p:cTn>
                                        <p:tgtEl>
                                          <p:spTgt spid="124"/>
                                        </p:tgtEl>
                                        <p:attrNameLst>
                                          <p:attrName>style.visibility</p:attrName>
                                        </p:attrNameLst>
                                      </p:cBhvr>
                                      <p:to>
                                        <p:strVal val="visible"/>
                                      </p:to>
                                    </p:set>
                                    <p:animEffect transition="in" filter="fade">
                                      <p:cBhvr>
                                        <p:cTn id="353" dur="400"/>
                                        <p:tgtEl>
                                          <p:spTgt spid="124"/>
                                        </p:tgtEl>
                                      </p:cBhvr>
                                    </p:animEffect>
                                  </p:childTnLst>
                                </p:cTn>
                              </p:par>
                              <p:par>
                                <p:cTn id="354" presetID="10" presetClass="entr" presetSubtype="0" fill="hold" grpId="0" nodeType="withEffect">
                                  <p:stCondLst>
                                    <p:cond delay="0"/>
                                  </p:stCondLst>
                                  <p:childTnLst>
                                    <p:set>
                                      <p:cBhvr>
                                        <p:cTn id="355" dur="1" fill="hold">
                                          <p:stCondLst>
                                            <p:cond delay="0"/>
                                          </p:stCondLst>
                                        </p:cTn>
                                        <p:tgtEl>
                                          <p:spTgt spid="125"/>
                                        </p:tgtEl>
                                        <p:attrNameLst>
                                          <p:attrName>style.visibility</p:attrName>
                                        </p:attrNameLst>
                                      </p:cBhvr>
                                      <p:to>
                                        <p:strVal val="visible"/>
                                      </p:to>
                                    </p:set>
                                    <p:animEffect transition="in" filter="fade">
                                      <p:cBhvr>
                                        <p:cTn id="356" dur="400"/>
                                        <p:tgtEl>
                                          <p:spTgt spid="125"/>
                                        </p:tgtEl>
                                      </p:cBhvr>
                                    </p:animEffect>
                                  </p:childTnLst>
                                </p:cTn>
                              </p:par>
                              <p:par>
                                <p:cTn id="357" presetID="10" presetClass="entr" presetSubtype="0" fill="hold" grpId="0" nodeType="withEffect">
                                  <p:stCondLst>
                                    <p:cond delay="0"/>
                                  </p:stCondLst>
                                  <p:childTnLst>
                                    <p:set>
                                      <p:cBhvr>
                                        <p:cTn id="358" dur="1" fill="hold">
                                          <p:stCondLst>
                                            <p:cond delay="0"/>
                                          </p:stCondLst>
                                        </p:cTn>
                                        <p:tgtEl>
                                          <p:spTgt spid="126"/>
                                        </p:tgtEl>
                                        <p:attrNameLst>
                                          <p:attrName>style.visibility</p:attrName>
                                        </p:attrNameLst>
                                      </p:cBhvr>
                                      <p:to>
                                        <p:strVal val="visible"/>
                                      </p:to>
                                    </p:set>
                                    <p:animEffect transition="in" filter="fade">
                                      <p:cBhvr>
                                        <p:cTn id="359" dur="400"/>
                                        <p:tgtEl>
                                          <p:spTgt spid="126"/>
                                        </p:tgtEl>
                                      </p:cBhvr>
                                    </p:animEffect>
                                  </p:childTnLst>
                                </p:cTn>
                              </p:par>
                              <p:par>
                                <p:cTn id="360" presetID="10" presetClass="entr" presetSubtype="0" fill="hold" grpId="0" nodeType="withEffect">
                                  <p:stCondLst>
                                    <p:cond delay="0"/>
                                  </p:stCondLst>
                                  <p:childTnLst>
                                    <p:set>
                                      <p:cBhvr>
                                        <p:cTn id="361" dur="1" fill="hold">
                                          <p:stCondLst>
                                            <p:cond delay="0"/>
                                          </p:stCondLst>
                                        </p:cTn>
                                        <p:tgtEl>
                                          <p:spTgt spid="127"/>
                                        </p:tgtEl>
                                        <p:attrNameLst>
                                          <p:attrName>style.visibility</p:attrName>
                                        </p:attrNameLst>
                                      </p:cBhvr>
                                      <p:to>
                                        <p:strVal val="visible"/>
                                      </p:to>
                                    </p:set>
                                    <p:animEffect transition="in" filter="fade">
                                      <p:cBhvr>
                                        <p:cTn id="362" dur="400"/>
                                        <p:tgtEl>
                                          <p:spTgt spid="127"/>
                                        </p:tgtEl>
                                      </p:cBhvr>
                                    </p:animEffect>
                                  </p:childTnLst>
                                </p:cTn>
                              </p:par>
                              <p:par>
                                <p:cTn id="363" presetID="10" presetClass="entr" presetSubtype="0" fill="hold" grpId="0" nodeType="withEffect">
                                  <p:stCondLst>
                                    <p:cond delay="0"/>
                                  </p:stCondLst>
                                  <p:childTnLst>
                                    <p:set>
                                      <p:cBhvr>
                                        <p:cTn id="364" dur="1" fill="hold">
                                          <p:stCondLst>
                                            <p:cond delay="0"/>
                                          </p:stCondLst>
                                        </p:cTn>
                                        <p:tgtEl>
                                          <p:spTgt spid="128"/>
                                        </p:tgtEl>
                                        <p:attrNameLst>
                                          <p:attrName>style.visibility</p:attrName>
                                        </p:attrNameLst>
                                      </p:cBhvr>
                                      <p:to>
                                        <p:strVal val="visible"/>
                                      </p:to>
                                    </p:set>
                                    <p:animEffect transition="in" filter="fade">
                                      <p:cBhvr>
                                        <p:cTn id="365" dur="400"/>
                                        <p:tgtEl>
                                          <p:spTgt spid="128"/>
                                        </p:tgtEl>
                                      </p:cBhvr>
                                    </p:animEffect>
                                  </p:childTnLst>
                                </p:cTn>
                              </p:par>
                              <p:par>
                                <p:cTn id="366" presetID="10" presetClass="entr" presetSubtype="0" fill="hold" grpId="0" nodeType="withEffect">
                                  <p:stCondLst>
                                    <p:cond delay="0"/>
                                  </p:stCondLst>
                                  <p:childTnLst>
                                    <p:set>
                                      <p:cBhvr>
                                        <p:cTn id="367" dur="1" fill="hold">
                                          <p:stCondLst>
                                            <p:cond delay="0"/>
                                          </p:stCondLst>
                                        </p:cTn>
                                        <p:tgtEl>
                                          <p:spTgt spid="129"/>
                                        </p:tgtEl>
                                        <p:attrNameLst>
                                          <p:attrName>style.visibility</p:attrName>
                                        </p:attrNameLst>
                                      </p:cBhvr>
                                      <p:to>
                                        <p:strVal val="visible"/>
                                      </p:to>
                                    </p:set>
                                    <p:animEffect transition="in" filter="fade">
                                      <p:cBhvr>
                                        <p:cTn id="368" dur="400"/>
                                        <p:tgtEl>
                                          <p:spTgt spid="129"/>
                                        </p:tgtEl>
                                      </p:cBhvr>
                                    </p:animEffect>
                                  </p:childTnLst>
                                </p:cTn>
                              </p:par>
                              <p:par>
                                <p:cTn id="369" presetID="10" presetClass="entr" presetSubtype="0" fill="hold" grpId="0" nodeType="withEffect">
                                  <p:stCondLst>
                                    <p:cond delay="0"/>
                                  </p:stCondLst>
                                  <p:childTnLst>
                                    <p:set>
                                      <p:cBhvr>
                                        <p:cTn id="370" dur="1" fill="hold">
                                          <p:stCondLst>
                                            <p:cond delay="0"/>
                                          </p:stCondLst>
                                        </p:cTn>
                                        <p:tgtEl>
                                          <p:spTgt spid="130"/>
                                        </p:tgtEl>
                                        <p:attrNameLst>
                                          <p:attrName>style.visibility</p:attrName>
                                        </p:attrNameLst>
                                      </p:cBhvr>
                                      <p:to>
                                        <p:strVal val="visible"/>
                                      </p:to>
                                    </p:set>
                                    <p:animEffect transition="in" filter="fade">
                                      <p:cBhvr>
                                        <p:cTn id="371" dur="400"/>
                                        <p:tgtEl>
                                          <p:spTgt spid="130"/>
                                        </p:tgtEl>
                                      </p:cBhvr>
                                    </p:animEffect>
                                  </p:childTnLst>
                                </p:cTn>
                              </p:par>
                              <p:par>
                                <p:cTn id="372" presetID="10" presetClass="entr" presetSubtype="0" fill="hold" grpId="0" nodeType="withEffect">
                                  <p:stCondLst>
                                    <p:cond delay="0"/>
                                  </p:stCondLst>
                                  <p:childTnLst>
                                    <p:set>
                                      <p:cBhvr>
                                        <p:cTn id="373" dur="1" fill="hold">
                                          <p:stCondLst>
                                            <p:cond delay="0"/>
                                          </p:stCondLst>
                                        </p:cTn>
                                        <p:tgtEl>
                                          <p:spTgt spid="131"/>
                                        </p:tgtEl>
                                        <p:attrNameLst>
                                          <p:attrName>style.visibility</p:attrName>
                                        </p:attrNameLst>
                                      </p:cBhvr>
                                      <p:to>
                                        <p:strVal val="visible"/>
                                      </p:to>
                                    </p:set>
                                    <p:animEffect transition="in" filter="fade">
                                      <p:cBhvr>
                                        <p:cTn id="374" dur="400"/>
                                        <p:tgtEl>
                                          <p:spTgt spid="131"/>
                                        </p:tgtEl>
                                      </p:cBhvr>
                                    </p:animEffect>
                                  </p:childTnLst>
                                </p:cTn>
                              </p:par>
                              <p:par>
                                <p:cTn id="375" presetID="10" presetClass="entr" presetSubtype="0" fill="hold" grpId="0" nodeType="withEffect">
                                  <p:stCondLst>
                                    <p:cond delay="0"/>
                                  </p:stCondLst>
                                  <p:childTnLst>
                                    <p:set>
                                      <p:cBhvr>
                                        <p:cTn id="376" dur="1" fill="hold">
                                          <p:stCondLst>
                                            <p:cond delay="0"/>
                                          </p:stCondLst>
                                        </p:cTn>
                                        <p:tgtEl>
                                          <p:spTgt spid="132"/>
                                        </p:tgtEl>
                                        <p:attrNameLst>
                                          <p:attrName>style.visibility</p:attrName>
                                        </p:attrNameLst>
                                      </p:cBhvr>
                                      <p:to>
                                        <p:strVal val="visible"/>
                                      </p:to>
                                    </p:set>
                                    <p:animEffect transition="in" filter="fade">
                                      <p:cBhvr>
                                        <p:cTn id="377" dur="400"/>
                                        <p:tgtEl>
                                          <p:spTgt spid="132"/>
                                        </p:tgtEl>
                                      </p:cBhvr>
                                    </p:animEffect>
                                  </p:childTnLst>
                                </p:cTn>
                              </p:par>
                              <p:par>
                                <p:cTn id="378" presetID="10" presetClass="entr" presetSubtype="0" fill="hold" grpId="0" nodeType="withEffect">
                                  <p:stCondLst>
                                    <p:cond delay="0"/>
                                  </p:stCondLst>
                                  <p:childTnLst>
                                    <p:set>
                                      <p:cBhvr>
                                        <p:cTn id="379" dur="1" fill="hold">
                                          <p:stCondLst>
                                            <p:cond delay="0"/>
                                          </p:stCondLst>
                                        </p:cTn>
                                        <p:tgtEl>
                                          <p:spTgt spid="133"/>
                                        </p:tgtEl>
                                        <p:attrNameLst>
                                          <p:attrName>style.visibility</p:attrName>
                                        </p:attrNameLst>
                                      </p:cBhvr>
                                      <p:to>
                                        <p:strVal val="visible"/>
                                      </p:to>
                                    </p:set>
                                    <p:animEffect transition="in" filter="fade">
                                      <p:cBhvr>
                                        <p:cTn id="380" dur="400"/>
                                        <p:tgtEl>
                                          <p:spTgt spid="133"/>
                                        </p:tgtEl>
                                      </p:cBhvr>
                                    </p:animEffect>
                                  </p:childTnLst>
                                </p:cTn>
                              </p:par>
                              <p:par>
                                <p:cTn id="381" presetID="10" presetClass="entr" presetSubtype="0" fill="hold" grpId="0" nodeType="withEffect">
                                  <p:stCondLst>
                                    <p:cond delay="0"/>
                                  </p:stCondLst>
                                  <p:childTnLst>
                                    <p:set>
                                      <p:cBhvr>
                                        <p:cTn id="382" dur="1" fill="hold">
                                          <p:stCondLst>
                                            <p:cond delay="0"/>
                                          </p:stCondLst>
                                        </p:cTn>
                                        <p:tgtEl>
                                          <p:spTgt spid="134"/>
                                        </p:tgtEl>
                                        <p:attrNameLst>
                                          <p:attrName>style.visibility</p:attrName>
                                        </p:attrNameLst>
                                      </p:cBhvr>
                                      <p:to>
                                        <p:strVal val="visible"/>
                                      </p:to>
                                    </p:set>
                                    <p:animEffect transition="in" filter="fade">
                                      <p:cBhvr>
                                        <p:cTn id="383" dur="400"/>
                                        <p:tgtEl>
                                          <p:spTgt spid="134"/>
                                        </p:tgtEl>
                                      </p:cBhvr>
                                    </p:animEffect>
                                  </p:childTnLst>
                                </p:cTn>
                              </p:par>
                              <p:par>
                                <p:cTn id="384" presetID="10" presetClass="entr" presetSubtype="0" fill="hold" grpId="0" nodeType="withEffect">
                                  <p:stCondLst>
                                    <p:cond delay="0"/>
                                  </p:stCondLst>
                                  <p:childTnLst>
                                    <p:set>
                                      <p:cBhvr>
                                        <p:cTn id="385" dur="1" fill="hold">
                                          <p:stCondLst>
                                            <p:cond delay="0"/>
                                          </p:stCondLst>
                                        </p:cTn>
                                        <p:tgtEl>
                                          <p:spTgt spid="135"/>
                                        </p:tgtEl>
                                        <p:attrNameLst>
                                          <p:attrName>style.visibility</p:attrName>
                                        </p:attrNameLst>
                                      </p:cBhvr>
                                      <p:to>
                                        <p:strVal val="visible"/>
                                      </p:to>
                                    </p:set>
                                    <p:animEffect transition="in" filter="fade">
                                      <p:cBhvr>
                                        <p:cTn id="386" dur="400"/>
                                        <p:tgtEl>
                                          <p:spTgt spid="135"/>
                                        </p:tgtEl>
                                      </p:cBhvr>
                                    </p:animEffect>
                                  </p:childTnLst>
                                </p:cTn>
                              </p:par>
                              <p:par>
                                <p:cTn id="387" presetID="10" presetClass="entr" presetSubtype="0" fill="hold" grpId="0" nodeType="withEffect">
                                  <p:stCondLst>
                                    <p:cond delay="0"/>
                                  </p:stCondLst>
                                  <p:childTnLst>
                                    <p:set>
                                      <p:cBhvr>
                                        <p:cTn id="388" dur="1" fill="hold">
                                          <p:stCondLst>
                                            <p:cond delay="0"/>
                                          </p:stCondLst>
                                        </p:cTn>
                                        <p:tgtEl>
                                          <p:spTgt spid="136"/>
                                        </p:tgtEl>
                                        <p:attrNameLst>
                                          <p:attrName>style.visibility</p:attrName>
                                        </p:attrNameLst>
                                      </p:cBhvr>
                                      <p:to>
                                        <p:strVal val="visible"/>
                                      </p:to>
                                    </p:set>
                                    <p:animEffect transition="in" filter="fade">
                                      <p:cBhvr>
                                        <p:cTn id="389" dur="400"/>
                                        <p:tgtEl>
                                          <p:spTgt spid="136"/>
                                        </p:tgtEl>
                                      </p:cBhvr>
                                    </p:animEffect>
                                  </p:childTnLst>
                                </p:cTn>
                              </p:par>
                              <p:par>
                                <p:cTn id="390" presetID="10" presetClass="entr" presetSubtype="0" fill="hold" grpId="0" nodeType="withEffect">
                                  <p:stCondLst>
                                    <p:cond delay="0"/>
                                  </p:stCondLst>
                                  <p:childTnLst>
                                    <p:set>
                                      <p:cBhvr>
                                        <p:cTn id="391" dur="1" fill="hold">
                                          <p:stCondLst>
                                            <p:cond delay="0"/>
                                          </p:stCondLst>
                                        </p:cTn>
                                        <p:tgtEl>
                                          <p:spTgt spid="137"/>
                                        </p:tgtEl>
                                        <p:attrNameLst>
                                          <p:attrName>style.visibility</p:attrName>
                                        </p:attrNameLst>
                                      </p:cBhvr>
                                      <p:to>
                                        <p:strVal val="visible"/>
                                      </p:to>
                                    </p:set>
                                    <p:animEffect transition="in" filter="fade">
                                      <p:cBhvr>
                                        <p:cTn id="392" dur="400"/>
                                        <p:tgtEl>
                                          <p:spTgt spid="137"/>
                                        </p:tgtEl>
                                      </p:cBhvr>
                                    </p:animEffect>
                                  </p:childTnLst>
                                </p:cTn>
                              </p:par>
                              <p:par>
                                <p:cTn id="393" presetID="10" presetClass="entr" presetSubtype="0" fill="hold" grpId="0" nodeType="withEffect">
                                  <p:stCondLst>
                                    <p:cond delay="0"/>
                                  </p:stCondLst>
                                  <p:childTnLst>
                                    <p:set>
                                      <p:cBhvr>
                                        <p:cTn id="394" dur="1" fill="hold">
                                          <p:stCondLst>
                                            <p:cond delay="0"/>
                                          </p:stCondLst>
                                        </p:cTn>
                                        <p:tgtEl>
                                          <p:spTgt spid="138"/>
                                        </p:tgtEl>
                                        <p:attrNameLst>
                                          <p:attrName>style.visibility</p:attrName>
                                        </p:attrNameLst>
                                      </p:cBhvr>
                                      <p:to>
                                        <p:strVal val="visible"/>
                                      </p:to>
                                    </p:set>
                                    <p:animEffect transition="in" filter="fade">
                                      <p:cBhvr>
                                        <p:cTn id="395" dur="400"/>
                                        <p:tgtEl>
                                          <p:spTgt spid="138"/>
                                        </p:tgtEl>
                                      </p:cBhvr>
                                    </p:animEffect>
                                  </p:childTnLst>
                                </p:cTn>
                              </p:par>
                              <p:par>
                                <p:cTn id="396" presetID="10" presetClass="entr" presetSubtype="0" fill="hold" grpId="0" nodeType="withEffect">
                                  <p:stCondLst>
                                    <p:cond delay="0"/>
                                  </p:stCondLst>
                                  <p:childTnLst>
                                    <p:set>
                                      <p:cBhvr>
                                        <p:cTn id="397" dur="1" fill="hold">
                                          <p:stCondLst>
                                            <p:cond delay="0"/>
                                          </p:stCondLst>
                                        </p:cTn>
                                        <p:tgtEl>
                                          <p:spTgt spid="139"/>
                                        </p:tgtEl>
                                        <p:attrNameLst>
                                          <p:attrName>style.visibility</p:attrName>
                                        </p:attrNameLst>
                                      </p:cBhvr>
                                      <p:to>
                                        <p:strVal val="visible"/>
                                      </p:to>
                                    </p:set>
                                    <p:animEffect transition="in" filter="fade">
                                      <p:cBhvr>
                                        <p:cTn id="398" dur="400"/>
                                        <p:tgtEl>
                                          <p:spTgt spid="139"/>
                                        </p:tgtEl>
                                      </p:cBhvr>
                                    </p:animEffect>
                                  </p:childTnLst>
                                </p:cTn>
                              </p:par>
                              <p:par>
                                <p:cTn id="399" presetID="10" presetClass="entr" presetSubtype="0" fill="hold" grpId="0" nodeType="withEffect">
                                  <p:stCondLst>
                                    <p:cond delay="0"/>
                                  </p:stCondLst>
                                  <p:childTnLst>
                                    <p:set>
                                      <p:cBhvr>
                                        <p:cTn id="400" dur="1" fill="hold">
                                          <p:stCondLst>
                                            <p:cond delay="0"/>
                                          </p:stCondLst>
                                        </p:cTn>
                                        <p:tgtEl>
                                          <p:spTgt spid="140"/>
                                        </p:tgtEl>
                                        <p:attrNameLst>
                                          <p:attrName>style.visibility</p:attrName>
                                        </p:attrNameLst>
                                      </p:cBhvr>
                                      <p:to>
                                        <p:strVal val="visible"/>
                                      </p:to>
                                    </p:set>
                                    <p:animEffect transition="in" filter="fade">
                                      <p:cBhvr>
                                        <p:cTn id="401" dur="400"/>
                                        <p:tgtEl>
                                          <p:spTgt spid="140"/>
                                        </p:tgtEl>
                                      </p:cBhvr>
                                    </p:animEffect>
                                  </p:childTnLst>
                                </p:cTn>
                              </p:par>
                              <p:par>
                                <p:cTn id="402" presetID="10" presetClass="entr" presetSubtype="0" fill="hold" grpId="0" nodeType="withEffect">
                                  <p:stCondLst>
                                    <p:cond delay="0"/>
                                  </p:stCondLst>
                                  <p:childTnLst>
                                    <p:set>
                                      <p:cBhvr>
                                        <p:cTn id="403" dur="1" fill="hold">
                                          <p:stCondLst>
                                            <p:cond delay="0"/>
                                          </p:stCondLst>
                                        </p:cTn>
                                        <p:tgtEl>
                                          <p:spTgt spid="141"/>
                                        </p:tgtEl>
                                        <p:attrNameLst>
                                          <p:attrName>style.visibility</p:attrName>
                                        </p:attrNameLst>
                                      </p:cBhvr>
                                      <p:to>
                                        <p:strVal val="visible"/>
                                      </p:to>
                                    </p:set>
                                    <p:animEffect transition="in" filter="fade">
                                      <p:cBhvr>
                                        <p:cTn id="404" dur="400"/>
                                        <p:tgtEl>
                                          <p:spTgt spid="141"/>
                                        </p:tgtEl>
                                      </p:cBhvr>
                                    </p:animEffect>
                                  </p:childTnLst>
                                </p:cTn>
                              </p:par>
                              <p:par>
                                <p:cTn id="405" presetID="10" presetClass="entr" presetSubtype="0" fill="hold" grpId="0" nodeType="withEffect">
                                  <p:stCondLst>
                                    <p:cond delay="0"/>
                                  </p:stCondLst>
                                  <p:childTnLst>
                                    <p:set>
                                      <p:cBhvr>
                                        <p:cTn id="406" dur="1" fill="hold">
                                          <p:stCondLst>
                                            <p:cond delay="0"/>
                                          </p:stCondLst>
                                        </p:cTn>
                                        <p:tgtEl>
                                          <p:spTgt spid="142"/>
                                        </p:tgtEl>
                                        <p:attrNameLst>
                                          <p:attrName>style.visibility</p:attrName>
                                        </p:attrNameLst>
                                      </p:cBhvr>
                                      <p:to>
                                        <p:strVal val="visible"/>
                                      </p:to>
                                    </p:set>
                                    <p:animEffect transition="in" filter="fade">
                                      <p:cBhvr>
                                        <p:cTn id="407" dur="400"/>
                                        <p:tgtEl>
                                          <p:spTgt spid="142"/>
                                        </p:tgtEl>
                                      </p:cBhvr>
                                    </p:animEffect>
                                  </p:childTnLst>
                                </p:cTn>
                              </p:par>
                              <p:par>
                                <p:cTn id="408" presetID="10" presetClass="entr" presetSubtype="0" fill="hold" grpId="0" nodeType="withEffect">
                                  <p:stCondLst>
                                    <p:cond delay="0"/>
                                  </p:stCondLst>
                                  <p:childTnLst>
                                    <p:set>
                                      <p:cBhvr>
                                        <p:cTn id="409" dur="1" fill="hold">
                                          <p:stCondLst>
                                            <p:cond delay="0"/>
                                          </p:stCondLst>
                                        </p:cTn>
                                        <p:tgtEl>
                                          <p:spTgt spid="143"/>
                                        </p:tgtEl>
                                        <p:attrNameLst>
                                          <p:attrName>style.visibility</p:attrName>
                                        </p:attrNameLst>
                                      </p:cBhvr>
                                      <p:to>
                                        <p:strVal val="visible"/>
                                      </p:to>
                                    </p:set>
                                    <p:animEffect transition="in" filter="fade">
                                      <p:cBhvr>
                                        <p:cTn id="410" dur="400"/>
                                        <p:tgtEl>
                                          <p:spTgt spid="143"/>
                                        </p:tgtEl>
                                      </p:cBhvr>
                                    </p:animEffect>
                                  </p:childTnLst>
                                </p:cTn>
                              </p:par>
                              <p:par>
                                <p:cTn id="411" presetID="10" presetClass="entr" presetSubtype="0" fill="hold" grpId="0" nodeType="withEffect">
                                  <p:stCondLst>
                                    <p:cond delay="0"/>
                                  </p:stCondLst>
                                  <p:childTnLst>
                                    <p:set>
                                      <p:cBhvr>
                                        <p:cTn id="412" dur="1" fill="hold">
                                          <p:stCondLst>
                                            <p:cond delay="0"/>
                                          </p:stCondLst>
                                        </p:cTn>
                                        <p:tgtEl>
                                          <p:spTgt spid="144"/>
                                        </p:tgtEl>
                                        <p:attrNameLst>
                                          <p:attrName>style.visibility</p:attrName>
                                        </p:attrNameLst>
                                      </p:cBhvr>
                                      <p:to>
                                        <p:strVal val="visible"/>
                                      </p:to>
                                    </p:set>
                                    <p:animEffect transition="in" filter="fade">
                                      <p:cBhvr>
                                        <p:cTn id="413" dur="400"/>
                                        <p:tgtEl>
                                          <p:spTgt spid="144"/>
                                        </p:tgtEl>
                                      </p:cBhvr>
                                    </p:animEffect>
                                  </p:childTnLst>
                                </p:cTn>
                              </p:par>
                              <p:par>
                                <p:cTn id="414" presetID="10" presetClass="entr" presetSubtype="0" fill="hold" grpId="0" nodeType="withEffect">
                                  <p:stCondLst>
                                    <p:cond delay="0"/>
                                  </p:stCondLst>
                                  <p:childTnLst>
                                    <p:set>
                                      <p:cBhvr>
                                        <p:cTn id="415" dur="1" fill="hold">
                                          <p:stCondLst>
                                            <p:cond delay="0"/>
                                          </p:stCondLst>
                                        </p:cTn>
                                        <p:tgtEl>
                                          <p:spTgt spid="145"/>
                                        </p:tgtEl>
                                        <p:attrNameLst>
                                          <p:attrName>style.visibility</p:attrName>
                                        </p:attrNameLst>
                                      </p:cBhvr>
                                      <p:to>
                                        <p:strVal val="visible"/>
                                      </p:to>
                                    </p:set>
                                    <p:animEffect transition="in" filter="fade">
                                      <p:cBhvr>
                                        <p:cTn id="416" dur="400"/>
                                        <p:tgtEl>
                                          <p:spTgt spid="145"/>
                                        </p:tgtEl>
                                      </p:cBhvr>
                                    </p:animEffect>
                                  </p:childTnLst>
                                </p:cTn>
                              </p:par>
                              <p:par>
                                <p:cTn id="417" presetID="10" presetClass="entr" presetSubtype="0" fill="hold" grpId="0" nodeType="withEffect">
                                  <p:stCondLst>
                                    <p:cond delay="0"/>
                                  </p:stCondLst>
                                  <p:childTnLst>
                                    <p:set>
                                      <p:cBhvr>
                                        <p:cTn id="418" dur="1" fill="hold">
                                          <p:stCondLst>
                                            <p:cond delay="0"/>
                                          </p:stCondLst>
                                        </p:cTn>
                                        <p:tgtEl>
                                          <p:spTgt spid="146"/>
                                        </p:tgtEl>
                                        <p:attrNameLst>
                                          <p:attrName>style.visibility</p:attrName>
                                        </p:attrNameLst>
                                      </p:cBhvr>
                                      <p:to>
                                        <p:strVal val="visible"/>
                                      </p:to>
                                    </p:set>
                                    <p:animEffect transition="in" filter="fade">
                                      <p:cBhvr>
                                        <p:cTn id="419" dur="400"/>
                                        <p:tgtEl>
                                          <p:spTgt spid="146"/>
                                        </p:tgtEl>
                                      </p:cBhvr>
                                    </p:animEffect>
                                  </p:childTnLst>
                                </p:cTn>
                              </p:par>
                              <p:par>
                                <p:cTn id="420" presetID="10" presetClass="entr" presetSubtype="0" fill="hold" grpId="0" nodeType="withEffect">
                                  <p:stCondLst>
                                    <p:cond delay="0"/>
                                  </p:stCondLst>
                                  <p:childTnLst>
                                    <p:set>
                                      <p:cBhvr>
                                        <p:cTn id="421" dur="1" fill="hold">
                                          <p:stCondLst>
                                            <p:cond delay="0"/>
                                          </p:stCondLst>
                                        </p:cTn>
                                        <p:tgtEl>
                                          <p:spTgt spid="147"/>
                                        </p:tgtEl>
                                        <p:attrNameLst>
                                          <p:attrName>style.visibility</p:attrName>
                                        </p:attrNameLst>
                                      </p:cBhvr>
                                      <p:to>
                                        <p:strVal val="visible"/>
                                      </p:to>
                                    </p:set>
                                    <p:animEffect transition="in" filter="fade">
                                      <p:cBhvr>
                                        <p:cTn id="422" dur="400"/>
                                        <p:tgtEl>
                                          <p:spTgt spid="147"/>
                                        </p:tgtEl>
                                      </p:cBhvr>
                                    </p:animEffect>
                                  </p:childTnLst>
                                </p:cTn>
                              </p:par>
                              <p:par>
                                <p:cTn id="423" presetID="10" presetClass="entr" presetSubtype="0" fill="hold" grpId="0" nodeType="withEffect">
                                  <p:stCondLst>
                                    <p:cond delay="0"/>
                                  </p:stCondLst>
                                  <p:childTnLst>
                                    <p:set>
                                      <p:cBhvr>
                                        <p:cTn id="424" dur="1" fill="hold">
                                          <p:stCondLst>
                                            <p:cond delay="0"/>
                                          </p:stCondLst>
                                        </p:cTn>
                                        <p:tgtEl>
                                          <p:spTgt spid="148"/>
                                        </p:tgtEl>
                                        <p:attrNameLst>
                                          <p:attrName>style.visibility</p:attrName>
                                        </p:attrNameLst>
                                      </p:cBhvr>
                                      <p:to>
                                        <p:strVal val="visible"/>
                                      </p:to>
                                    </p:set>
                                    <p:animEffect transition="in" filter="fade">
                                      <p:cBhvr>
                                        <p:cTn id="425" dur="400"/>
                                        <p:tgtEl>
                                          <p:spTgt spid="148"/>
                                        </p:tgtEl>
                                      </p:cBhvr>
                                    </p:animEffect>
                                  </p:childTnLst>
                                </p:cTn>
                              </p:par>
                              <p:par>
                                <p:cTn id="426" presetID="10" presetClass="entr" presetSubtype="0" fill="hold" grpId="0" nodeType="withEffect">
                                  <p:stCondLst>
                                    <p:cond delay="0"/>
                                  </p:stCondLst>
                                  <p:childTnLst>
                                    <p:set>
                                      <p:cBhvr>
                                        <p:cTn id="427" dur="1" fill="hold">
                                          <p:stCondLst>
                                            <p:cond delay="0"/>
                                          </p:stCondLst>
                                        </p:cTn>
                                        <p:tgtEl>
                                          <p:spTgt spid="149"/>
                                        </p:tgtEl>
                                        <p:attrNameLst>
                                          <p:attrName>style.visibility</p:attrName>
                                        </p:attrNameLst>
                                      </p:cBhvr>
                                      <p:to>
                                        <p:strVal val="visible"/>
                                      </p:to>
                                    </p:set>
                                    <p:animEffect transition="in" filter="fade">
                                      <p:cBhvr>
                                        <p:cTn id="428" dur="400"/>
                                        <p:tgtEl>
                                          <p:spTgt spid="149"/>
                                        </p:tgtEl>
                                      </p:cBhvr>
                                    </p:animEffect>
                                  </p:childTnLst>
                                </p:cTn>
                              </p:par>
                              <p:par>
                                <p:cTn id="429" presetID="10" presetClass="entr" presetSubtype="0" fill="hold" grpId="0" nodeType="withEffect">
                                  <p:stCondLst>
                                    <p:cond delay="0"/>
                                  </p:stCondLst>
                                  <p:childTnLst>
                                    <p:set>
                                      <p:cBhvr>
                                        <p:cTn id="430" dur="1" fill="hold">
                                          <p:stCondLst>
                                            <p:cond delay="0"/>
                                          </p:stCondLst>
                                        </p:cTn>
                                        <p:tgtEl>
                                          <p:spTgt spid="150"/>
                                        </p:tgtEl>
                                        <p:attrNameLst>
                                          <p:attrName>style.visibility</p:attrName>
                                        </p:attrNameLst>
                                      </p:cBhvr>
                                      <p:to>
                                        <p:strVal val="visible"/>
                                      </p:to>
                                    </p:set>
                                    <p:animEffect transition="in" filter="fade">
                                      <p:cBhvr>
                                        <p:cTn id="431" dur="400"/>
                                        <p:tgtEl>
                                          <p:spTgt spid="150"/>
                                        </p:tgtEl>
                                      </p:cBhvr>
                                    </p:animEffect>
                                  </p:childTnLst>
                                </p:cTn>
                              </p:par>
                              <p:par>
                                <p:cTn id="432" presetID="10" presetClass="entr" presetSubtype="0" fill="hold" grpId="0" nodeType="withEffect">
                                  <p:stCondLst>
                                    <p:cond delay="0"/>
                                  </p:stCondLst>
                                  <p:childTnLst>
                                    <p:set>
                                      <p:cBhvr>
                                        <p:cTn id="433" dur="1" fill="hold">
                                          <p:stCondLst>
                                            <p:cond delay="0"/>
                                          </p:stCondLst>
                                        </p:cTn>
                                        <p:tgtEl>
                                          <p:spTgt spid="151"/>
                                        </p:tgtEl>
                                        <p:attrNameLst>
                                          <p:attrName>style.visibility</p:attrName>
                                        </p:attrNameLst>
                                      </p:cBhvr>
                                      <p:to>
                                        <p:strVal val="visible"/>
                                      </p:to>
                                    </p:set>
                                    <p:animEffect transition="in" filter="fade">
                                      <p:cBhvr>
                                        <p:cTn id="434" dur="400"/>
                                        <p:tgtEl>
                                          <p:spTgt spid="151"/>
                                        </p:tgtEl>
                                      </p:cBhvr>
                                    </p:animEffect>
                                  </p:childTnLst>
                                </p:cTn>
                              </p:par>
                              <p:par>
                                <p:cTn id="435" presetID="10" presetClass="entr" presetSubtype="0" fill="hold" grpId="0" nodeType="withEffect">
                                  <p:stCondLst>
                                    <p:cond delay="0"/>
                                  </p:stCondLst>
                                  <p:childTnLst>
                                    <p:set>
                                      <p:cBhvr>
                                        <p:cTn id="436" dur="1" fill="hold">
                                          <p:stCondLst>
                                            <p:cond delay="0"/>
                                          </p:stCondLst>
                                        </p:cTn>
                                        <p:tgtEl>
                                          <p:spTgt spid="152"/>
                                        </p:tgtEl>
                                        <p:attrNameLst>
                                          <p:attrName>style.visibility</p:attrName>
                                        </p:attrNameLst>
                                      </p:cBhvr>
                                      <p:to>
                                        <p:strVal val="visible"/>
                                      </p:to>
                                    </p:set>
                                    <p:animEffect transition="in" filter="fade">
                                      <p:cBhvr>
                                        <p:cTn id="437" dur="400"/>
                                        <p:tgtEl>
                                          <p:spTgt spid="152"/>
                                        </p:tgtEl>
                                      </p:cBhvr>
                                    </p:animEffect>
                                  </p:childTnLst>
                                </p:cTn>
                              </p:par>
                              <p:par>
                                <p:cTn id="438" presetID="10" presetClass="entr" presetSubtype="0" fill="hold" grpId="0" nodeType="withEffect">
                                  <p:stCondLst>
                                    <p:cond delay="0"/>
                                  </p:stCondLst>
                                  <p:childTnLst>
                                    <p:set>
                                      <p:cBhvr>
                                        <p:cTn id="439" dur="1" fill="hold">
                                          <p:stCondLst>
                                            <p:cond delay="0"/>
                                          </p:stCondLst>
                                        </p:cTn>
                                        <p:tgtEl>
                                          <p:spTgt spid="153"/>
                                        </p:tgtEl>
                                        <p:attrNameLst>
                                          <p:attrName>style.visibility</p:attrName>
                                        </p:attrNameLst>
                                      </p:cBhvr>
                                      <p:to>
                                        <p:strVal val="visible"/>
                                      </p:to>
                                    </p:set>
                                    <p:animEffect transition="in" filter="fade">
                                      <p:cBhvr>
                                        <p:cTn id="440" dur="400"/>
                                        <p:tgtEl>
                                          <p:spTgt spid="153"/>
                                        </p:tgtEl>
                                      </p:cBhvr>
                                    </p:animEffect>
                                  </p:childTnLst>
                                </p:cTn>
                              </p:par>
                              <p:par>
                                <p:cTn id="441" presetID="10" presetClass="entr" presetSubtype="0" fill="hold" grpId="0" nodeType="withEffect">
                                  <p:stCondLst>
                                    <p:cond delay="0"/>
                                  </p:stCondLst>
                                  <p:childTnLst>
                                    <p:set>
                                      <p:cBhvr>
                                        <p:cTn id="442" dur="1" fill="hold">
                                          <p:stCondLst>
                                            <p:cond delay="0"/>
                                          </p:stCondLst>
                                        </p:cTn>
                                        <p:tgtEl>
                                          <p:spTgt spid="154"/>
                                        </p:tgtEl>
                                        <p:attrNameLst>
                                          <p:attrName>style.visibility</p:attrName>
                                        </p:attrNameLst>
                                      </p:cBhvr>
                                      <p:to>
                                        <p:strVal val="visible"/>
                                      </p:to>
                                    </p:set>
                                    <p:animEffect transition="in" filter="fade">
                                      <p:cBhvr>
                                        <p:cTn id="443" dur="400"/>
                                        <p:tgtEl>
                                          <p:spTgt spid="154"/>
                                        </p:tgtEl>
                                      </p:cBhvr>
                                    </p:animEffect>
                                  </p:childTnLst>
                                </p:cTn>
                              </p:par>
                              <p:par>
                                <p:cTn id="444" presetID="10" presetClass="entr" presetSubtype="0" fill="hold" grpId="0" nodeType="withEffect">
                                  <p:stCondLst>
                                    <p:cond delay="0"/>
                                  </p:stCondLst>
                                  <p:childTnLst>
                                    <p:set>
                                      <p:cBhvr>
                                        <p:cTn id="445" dur="1" fill="hold">
                                          <p:stCondLst>
                                            <p:cond delay="0"/>
                                          </p:stCondLst>
                                        </p:cTn>
                                        <p:tgtEl>
                                          <p:spTgt spid="155"/>
                                        </p:tgtEl>
                                        <p:attrNameLst>
                                          <p:attrName>style.visibility</p:attrName>
                                        </p:attrNameLst>
                                      </p:cBhvr>
                                      <p:to>
                                        <p:strVal val="visible"/>
                                      </p:to>
                                    </p:set>
                                    <p:animEffect transition="in" filter="fade">
                                      <p:cBhvr>
                                        <p:cTn id="446" dur="400"/>
                                        <p:tgtEl>
                                          <p:spTgt spid="155"/>
                                        </p:tgtEl>
                                      </p:cBhvr>
                                    </p:animEffect>
                                  </p:childTnLst>
                                </p:cTn>
                              </p:par>
                              <p:par>
                                <p:cTn id="447" presetID="10" presetClass="entr" presetSubtype="0" fill="hold" grpId="0" nodeType="withEffect">
                                  <p:stCondLst>
                                    <p:cond delay="0"/>
                                  </p:stCondLst>
                                  <p:childTnLst>
                                    <p:set>
                                      <p:cBhvr>
                                        <p:cTn id="448" dur="1" fill="hold">
                                          <p:stCondLst>
                                            <p:cond delay="0"/>
                                          </p:stCondLst>
                                        </p:cTn>
                                        <p:tgtEl>
                                          <p:spTgt spid="156"/>
                                        </p:tgtEl>
                                        <p:attrNameLst>
                                          <p:attrName>style.visibility</p:attrName>
                                        </p:attrNameLst>
                                      </p:cBhvr>
                                      <p:to>
                                        <p:strVal val="visible"/>
                                      </p:to>
                                    </p:set>
                                    <p:animEffect transition="in" filter="fade">
                                      <p:cBhvr>
                                        <p:cTn id="449" dur="400"/>
                                        <p:tgtEl>
                                          <p:spTgt spid="156"/>
                                        </p:tgtEl>
                                      </p:cBhvr>
                                    </p:animEffect>
                                  </p:childTnLst>
                                </p:cTn>
                              </p:par>
                              <p:par>
                                <p:cTn id="450" presetID="10" presetClass="entr" presetSubtype="0" fill="hold" grpId="0" nodeType="withEffect">
                                  <p:stCondLst>
                                    <p:cond delay="0"/>
                                  </p:stCondLst>
                                  <p:childTnLst>
                                    <p:set>
                                      <p:cBhvr>
                                        <p:cTn id="451" dur="1" fill="hold">
                                          <p:stCondLst>
                                            <p:cond delay="0"/>
                                          </p:stCondLst>
                                        </p:cTn>
                                        <p:tgtEl>
                                          <p:spTgt spid="157"/>
                                        </p:tgtEl>
                                        <p:attrNameLst>
                                          <p:attrName>style.visibility</p:attrName>
                                        </p:attrNameLst>
                                      </p:cBhvr>
                                      <p:to>
                                        <p:strVal val="visible"/>
                                      </p:to>
                                    </p:set>
                                    <p:animEffect transition="in" filter="fade">
                                      <p:cBhvr>
                                        <p:cTn id="452" dur="400"/>
                                        <p:tgtEl>
                                          <p:spTgt spid="157"/>
                                        </p:tgtEl>
                                      </p:cBhvr>
                                    </p:animEffect>
                                  </p:childTnLst>
                                </p:cTn>
                              </p:par>
                              <p:par>
                                <p:cTn id="453" presetID="10" presetClass="entr" presetSubtype="0" fill="hold" grpId="0" nodeType="withEffect">
                                  <p:stCondLst>
                                    <p:cond delay="0"/>
                                  </p:stCondLst>
                                  <p:childTnLst>
                                    <p:set>
                                      <p:cBhvr>
                                        <p:cTn id="454" dur="1" fill="hold">
                                          <p:stCondLst>
                                            <p:cond delay="0"/>
                                          </p:stCondLst>
                                        </p:cTn>
                                        <p:tgtEl>
                                          <p:spTgt spid="158"/>
                                        </p:tgtEl>
                                        <p:attrNameLst>
                                          <p:attrName>style.visibility</p:attrName>
                                        </p:attrNameLst>
                                      </p:cBhvr>
                                      <p:to>
                                        <p:strVal val="visible"/>
                                      </p:to>
                                    </p:set>
                                    <p:animEffect transition="in" filter="fade">
                                      <p:cBhvr>
                                        <p:cTn id="455" dur="400"/>
                                        <p:tgtEl>
                                          <p:spTgt spid="158"/>
                                        </p:tgtEl>
                                      </p:cBhvr>
                                    </p:animEffect>
                                  </p:childTnLst>
                                </p:cTn>
                              </p:par>
                              <p:par>
                                <p:cTn id="456" presetID="10" presetClass="entr" presetSubtype="0" fill="hold" grpId="0" nodeType="withEffect">
                                  <p:stCondLst>
                                    <p:cond delay="0"/>
                                  </p:stCondLst>
                                  <p:childTnLst>
                                    <p:set>
                                      <p:cBhvr>
                                        <p:cTn id="457" dur="1" fill="hold">
                                          <p:stCondLst>
                                            <p:cond delay="0"/>
                                          </p:stCondLst>
                                        </p:cTn>
                                        <p:tgtEl>
                                          <p:spTgt spid="159"/>
                                        </p:tgtEl>
                                        <p:attrNameLst>
                                          <p:attrName>style.visibility</p:attrName>
                                        </p:attrNameLst>
                                      </p:cBhvr>
                                      <p:to>
                                        <p:strVal val="visible"/>
                                      </p:to>
                                    </p:set>
                                    <p:animEffect transition="in" filter="fade">
                                      <p:cBhvr>
                                        <p:cTn id="458" dur="400"/>
                                        <p:tgtEl>
                                          <p:spTgt spid="159"/>
                                        </p:tgtEl>
                                      </p:cBhvr>
                                    </p:animEffect>
                                  </p:childTnLst>
                                </p:cTn>
                              </p:par>
                              <p:par>
                                <p:cTn id="459" presetID="10" presetClass="entr" presetSubtype="0" fill="hold" grpId="0" nodeType="withEffect">
                                  <p:stCondLst>
                                    <p:cond delay="0"/>
                                  </p:stCondLst>
                                  <p:childTnLst>
                                    <p:set>
                                      <p:cBhvr>
                                        <p:cTn id="460" dur="1" fill="hold">
                                          <p:stCondLst>
                                            <p:cond delay="0"/>
                                          </p:stCondLst>
                                        </p:cTn>
                                        <p:tgtEl>
                                          <p:spTgt spid="160"/>
                                        </p:tgtEl>
                                        <p:attrNameLst>
                                          <p:attrName>style.visibility</p:attrName>
                                        </p:attrNameLst>
                                      </p:cBhvr>
                                      <p:to>
                                        <p:strVal val="visible"/>
                                      </p:to>
                                    </p:set>
                                    <p:animEffect transition="in" filter="fade">
                                      <p:cBhvr>
                                        <p:cTn id="461" dur="400"/>
                                        <p:tgtEl>
                                          <p:spTgt spid="160"/>
                                        </p:tgtEl>
                                      </p:cBhvr>
                                    </p:animEffect>
                                  </p:childTnLst>
                                </p:cTn>
                              </p:par>
                              <p:par>
                                <p:cTn id="462" presetID="10" presetClass="entr" presetSubtype="0" fill="hold" grpId="0" nodeType="withEffect">
                                  <p:stCondLst>
                                    <p:cond delay="0"/>
                                  </p:stCondLst>
                                  <p:childTnLst>
                                    <p:set>
                                      <p:cBhvr>
                                        <p:cTn id="463" dur="1" fill="hold">
                                          <p:stCondLst>
                                            <p:cond delay="0"/>
                                          </p:stCondLst>
                                        </p:cTn>
                                        <p:tgtEl>
                                          <p:spTgt spid="161"/>
                                        </p:tgtEl>
                                        <p:attrNameLst>
                                          <p:attrName>style.visibility</p:attrName>
                                        </p:attrNameLst>
                                      </p:cBhvr>
                                      <p:to>
                                        <p:strVal val="visible"/>
                                      </p:to>
                                    </p:set>
                                    <p:animEffect transition="in" filter="fade">
                                      <p:cBhvr>
                                        <p:cTn id="464" dur="400"/>
                                        <p:tgtEl>
                                          <p:spTgt spid="161"/>
                                        </p:tgtEl>
                                      </p:cBhvr>
                                    </p:animEffect>
                                  </p:childTnLst>
                                </p:cTn>
                              </p:par>
                              <p:par>
                                <p:cTn id="465" presetID="10" presetClass="entr" presetSubtype="0" fill="hold" grpId="0" nodeType="withEffect">
                                  <p:stCondLst>
                                    <p:cond delay="0"/>
                                  </p:stCondLst>
                                  <p:childTnLst>
                                    <p:set>
                                      <p:cBhvr>
                                        <p:cTn id="466" dur="1" fill="hold">
                                          <p:stCondLst>
                                            <p:cond delay="0"/>
                                          </p:stCondLst>
                                        </p:cTn>
                                        <p:tgtEl>
                                          <p:spTgt spid="162"/>
                                        </p:tgtEl>
                                        <p:attrNameLst>
                                          <p:attrName>style.visibility</p:attrName>
                                        </p:attrNameLst>
                                      </p:cBhvr>
                                      <p:to>
                                        <p:strVal val="visible"/>
                                      </p:to>
                                    </p:set>
                                    <p:animEffect transition="in" filter="fade">
                                      <p:cBhvr>
                                        <p:cTn id="467" dur="400"/>
                                        <p:tgtEl>
                                          <p:spTgt spid="162"/>
                                        </p:tgtEl>
                                      </p:cBhvr>
                                    </p:animEffect>
                                  </p:childTnLst>
                                </p:cTn>
                              </p:par>
                              <p:par>
                                <p:cTn id="468" presetID="10" presetClass="entr" presetSubtype="0" fill="hold" grpId="0" nodeType="withEffect">
                                  <p:stCondLst>
                                    <p:cond delay="0"/>
                                  </p:stCondLst>
                                  <p:childTnLst>
                                    <p:set>
                                      <p:cBhvr>
                                        <p:cTn id="469" dur="1" fill="hold">
                                          <p:stCondLst>
                                            <p:cond delay="0"/>
                                          </p:stCondLst>
                                        </p:cTn>
                                        <p:tgtEl>
                                          <p:spTgt spid="163"/>
                                        </p:tgtEl>
                                        <p:attrNameLst>
                                          <p:attrName>style.visibility</p:attrName>
                                        </p:attrNameLst>
                                      </p:cBhvr>
                                      <p:to>
                                        <p:strVal val="visible"/>
                                      </p:to>
                                    </p:set>
                                    <p:animEffect transition="in" filter="fade">
                                      <p:cBhvr>
                                        <p:cTn id="470" dur="400"/>
                                        <p:tgtEl>
                                          <p:spTgt spid="163"/>
                                        </p:tgtEl>
                                      </p:cBhvr>
                                    </p:animEffect>
                                  </p:childTnLst>
                                </p:cTn>
                              </p:par>
                              <p:par>
                                <p:cTn id="471" presetID="10" presetClass="entr" presetSubtype="0" fill="hold" grpId="0" nodeType="withEffect">
                                  <p:stCondLst>
                                    <p:cond delay="0"/>
                                  </p:stCondLst>
                                  <p:childTnLst>
                                    <p:set>
                                      <p:cBhvr>
                                        <p:cTn id="472" dur="1" fill="hold">
                                          <p:stCondLst>
                                            <p:cond delay="0"/>
                                          </p:stCondLst>
                                        </p:cTn>
                                        <p:tgtEl>
                                          <p:spTgt spid="164"/>
                                        </p:tgtEl>
                                        <p:attrNameLst>
                                          <p:attrName>style.visibility</p:attrName>
                                        </p:attrNameLst>
                                      </p:cBhvr>
                                      <p:to>
                                        <p:strVal val="visible"/>
                                      </p:to>
                                    </p:set>
                                    <p:animEffect transition="in" filter="fade">
                                      <p:cBhvr>
                                        <p:cTn id="473" dur="400"/>
                                        <p:tgtEl>
                                          <p:spTgt spid="164"/>
                                        </p:tgtEl>
                                      </p:cBhvr>
                                    </p:animEffect>
                                  </p:childTnLst>
                                </p:cTn>
                              </p:par>
                              <p:par>
                                <p:cTn id="474" presetID="10" presetClass="entr" presetSubtype="0" fill="hold" grpId="0" nodeType="withEffect">
                                  <p:stCondLst>
                                    <p:cond delay="0"/>
                                  </p:stCondLst>
                                  <p:childTnLst>
                                    <p:set>
                                      <p:cBhvr>
                                        <p:cTn id="475" dur="1" fill="hold">
                                          <p:stCondLst>
                                            <p:cond delay="0"/>
                                          </p:stCondLst>
                                        </p:cTn>
                                        <p:tgtEl>
                                          <p:spTgt spid="165"/>
                                        </p:tgtEl>
                                        <p:attrNameLst>
                                          <p:attrName>style.visibility</p:attrName>
                                        </p:attrNameLst>
                                      </p:cBhvr>
                                      <p:to>
                                        <p:strVal val="visible"/>
                                      </p:to>
                                    </p:set>
                                    <p:animEffect transition="in" filter="fade">
                                      <p:cBhvr>
                                        <p:cTn id="476" dur="400"/>
                                        <p:tgtEl>
                                          <p:spTgt spid="165"/>
                                        </p:tgtEl>
                                      </p:cBhvr>
                                    </p:animEffect>
                                  </p:childTnLst>
                                </p:cTn>
                              </p:par>
                              <p:par>
                                <p:cTn id="477" presetID="10" presetClass="entr" presetSubtype="0" fill="hold" grpId="0" nodeType="withEffect">
                                  <p:stCondLst>
                                    <p:cond delay="0"/>
                                  </p:stCondLst>
                                  <p:childTnLst>
                                    <p:set>
                                      <p:cBhvr>
                                        <p:cTn id="478" dur="1" fill="hold">
                                          <p:stCondLst>
                                            <p:cond delay="0"/>
                                          </p:stCondLst>
                                        </p:cTn>
                                        <p:tgtEl>
                                          <p:spTgt spid="166"/>
                                        </p:tgtEl>
                                        <p:attrNameLst>
                                          <p:attrName>style.visibility</p:attrName>
                                        </p:attrNameLst>
                                      </p:cBhvr>
                                      <p:to>
                                        <p:strVal val="visible"/>
                                      </p:to>
                                    </p:set>
                                    <p:animEffect transition="in" filter="fade">
                                      <p:cBhvr>
                                        <p:cTn id="479" dur="400"/>
                                        <p:tgtEl>
                                          <p:spTgt spid="166"/>
                                        </p:tgtEl>
                                      </p:cBhvr>
                                    </p:animEffect>
                                  </p:childTnLst>
                                </p:cTn>
                              </p:par>
                              <p:par>
                                <p:cTn id="480" presetID="10" presetClass="entr" presetSubtype="0" fill="hold" grpId="0" nodeType="withEffect">
                                  <p:stCondLst>
                                    <p:cond delay="0"/>
                                  </p:stCondLst>
                                  <p:childTnLst>
                                    <p:set>
                                      <p:cBhvr>
                                        <p:cTn id="481" dur="1" fill="hold">
                                          <p:stCondLst>
                                            <p:cond delay="0"/>
                                          </p:stCondLst>
                                        </p:cTn>
                                        <p:tgtEl>
                                          <p:spTgt spid="167"/>
                                        </p:tgtEl>
                                        <p:attrNameLst>
                                          <p:attrName>style.visibility</p:attrName>
                                        </p:attrNameLst>
                                      </p:cBhvr>
                                      <p:to>
                                        <p:strVal val="visible"/>
                                      </p:to>
                                    </p:set>
                                    <p:animEffect transition="in" filter="fade">
                                      <p:cBhvr>
                                        <p:cTn id="482" dur="400"/>
                                        <p:tgtEl>
                                          <p:spTgt spid="167"/>
                                        </p:tgtEl>
                                      </p:cBhvr>
                                    </p:animEffect>
                                  </p:childTnLst>
                                </p:cTn>
                              </p:par>
                              <p:par>
                                <p:cTn id="483" presetID="10" presetClass="entr" presetSubtype="0" fill="hold" grpId="0" nodeType="withEffect">
                                  <p:stCondLst>
                                    <p:cond delay="0"/>
                                  </p:stCondLst>
                                  <p:childTnLst>
                                    <p:set>
                                      <p:cBhvr>
                                        <p:cTn id="484" dur="1" fill="hold">
                                          <p:stCondLst>
                                            <p:cond delay="0"/>
                                          </p:stCondLst>
                                        </p:cTn>
                                        <p:tgtEl>
                                          <p:spTgt spid="168"/>
                                        </p:tgtEl>
                                        <p:attrNameLst>
                                          <p:attrName>style.visibility</p:attrName>
                                        </p:attrNameLst>
                                      </p:cBhvr>
                                      <p:to>
                                        <p:strVal val="visible"/>
                                      </p:to>
                                    </p:set>
                                    <p:animEffect transition="in" filter="fade">
                                      <p:cBhvr>
                                        <p:cTn id="485" dur="400"/>
                                        <p:tgtEl>
                                          <p:spTgt spid="168"/>
                                        </p:tgtEl>
                                      </p:cBhvr>
                                    </p:animEffect>
                                  </p:childTnLst>
                                </p:cTn>
                              </p:par>
                              <p:par>
                                <p:cTn id="486" presetID="10" presetClass="entr" presetSubtype="0" fill="hold" grpId="0" nodeType="withEffect">
                                  <p:stCondLst>
                                    <p:cond delay="0"/>
                                  </p:stCondLst>
                                  <p:childTnLst>
                                    <p:set>
                                      <p:cBhvr>
                                        <p:cTn id="487" dur="1" fill="hold">
                                          <p:stCondLst>
                                            <p:cond delay="0"/>
                                          </p:stCondLst>
                                        </p:cTn>
                                        <p:tgtEl>
                                          <p:spTgt spid="169"/>
                                        </p:tgtEl>
                                        <p:attrNameLst>
                                          <p:attrName>style.visibility</p:attrName>
                                        </p:attrNameLst>
                                      </p:cBhvr>
                                      <p:to>
                                        <p:strVal val="visible"/>
                                      </p:to>
                                    </p:set>
                                    <p:animEffect transition="in" filter="fade">
                                      <p:cBhvr>
                                        <p:cTn id="488" dur="400"/>
                                        <p:tgtEl>
                                          <p:spTgt spid="169"/>
                                        </p:tgtEl>
                                      </p:cBhvr>
                                    </p:animEffect>
                                  </p:childTnLst>
                                </p:cTn>
                              </p:par>
                              <p:par>
                                <p:cTn id="489" presetID="10" presetClass="entr" presetSubtype="0" fill="hold" grpId="0" nodeType="withEffect">
                                  <p:stCondLst>
                                    <p:cond delay="0"/>
                                  </p:stCondLst>
                                  <p:childTnLst>
                                    <p:set>
                                      <p:cBhvr>
                                        <p:cTn id="490" dur="1" fill="hold">
                                          <p:stCondLst>
                                            <p:cond delay="0"/>
                                          </p:stCondLst>
                                        </p:cTn>
                                        <p:tgtEl>
                                          <p:spTgt spid="170"/>
                                        </p:tgtEl>
                                        <p:attrNameLst>
                                          <p:attrName>style.visibility</p:attrName>
                                        </p:attrNameLst>
                                      </p:cBhvr>
                                      <p:to>
                                        <p:strVal val="visible"/>
                                      </p:to>
                                    </p:set>
                                    <p:animEffect transition="in" filter="fade">
                                      <p:cBhvr>
                                        <p:cTn id="491" dur="400"/>
                                        <p:tgtEl>
                                          <p:spTgt spid="170"/>
                                        </p:tgtEl>
                                      </p:cBhvr>
                                    </p:animEffect>
                                  </p:childTnLst>
                                </p:cTn>
                              </p:par>
                              <p:par>
                                <p:cTn id="492" presetID="10" presetClass="entr" presetSubtype="0" fill="hold" grpId="0" nodeType="withEffect">
                                  <p:stCondLst>
                                    <p:cond delay="0"/>
                                  </p:stCondLst>
                                  <p:childTnLst>
                                    <p:set>
                                      <p:cBhvr>
                                        <p:cTn id="493" dur="1" fill="hold">
                                          <p:stCondLst>
                                            <p:cond delay="0"/>
                                          </p:stCondLst>
                                        </p:cTn>
                                        <p:tgtEl>
                                          <p:spTgt spid="171"/>
                                        </p:tgtEl>
                                        <p:attrNameLst>
                                          <p:attrName>style.visibility</p:attrName>
                                        </p:attrNameLst>
                                      </p:cBhvr>
                                      <p:to>
                                        <p:strVal val="visible"/>
                                      </p:to>
                                    </p:set>
                                    <p:animEffect transition="in" filter="fade">
                                      <p:cBhvr>
                                        <p:cTn id="494" dur="400"/>
                                        <p:tgtEl>
                                          <p:spTgt spid="171"/>
                                        </p:tgtEl>
                                      </p:cBhvr>
                                    </p:animEffect>
                                  </p:childTnLst>
                                </p:cTn>
                              </p:par>
                              <p:par>
                                <p:cTn id="495" presetID="10" presetClass="entr" presetSubtype="0" fill="hold" grpId="0" nodeType="withEffect">
                                  <p:stCondLst>
                                    <p:cond delay="0"/>
                                  </p:stCondLst>
                                  <p:childTnLst>
                                    <p:set>
                                      <p:cBhvr>
                                        <p:cTn id="496" dur="1" fill="hold">
                                          <p:stCondLst>
                                            <p:cond delay="0"/>
                                          </p:stCondLst>
                                        </p:cTn>
                                        <p:tgtEl>
                                          <p:spTgt spid="172"/>
                                        </p:tgtEl>
                                        <p:attrNameLst>
                                          <p:attrName>style.visibility</p:attrName>
                                        </p:attrNameLst>
                                      </p:cBhvr>
                                      <p:to>
                                        <p:strVal val="visible"/>
                                      </p:to>
                                    </p:set>
                                    <p:animEffect transition="in" filter="fade">
                                      <p:cBhvr>
                                        <p:cTn id="497" dur="400"/>
                                        <p:tgtEl>
                                          <p:spTgt spid="172"/>
                                        </p:tgtEl>
                                      </p:cBhvr>
                                    </p:animEffect>
                                  </p:childTnLst>
                                </p:cTn>
                              </p:par>
                              <p:par>
                                <p:cTn id="498" presetID="10" presetClass="entr" presetSubtype="0" fill="hold" grpId="0" nodeType="withEffect">
                                  <p:stCondLst>
                                    <p:cond delay="0"/>
                                  </p:stCondLst>
                                  <p:childTnLst>
                                    <p:set>
                                      <p:cBhvr>
                                        <p:cTn id="499" dur="1" fill="hold">
                                          <p:stCondLst>
                                            <p:cond delay="0"/>
                                          </p:stCondLst>
                                        </p:cTn>
                                        <p:tgtEl>
                                          <p:spTgt spid="173"/>
                                        </p:tgtEl>
                                        <p:attrNameLst>
                                          <p:attrName>style.visibility</p:attrName>
                                        </p:attrNameLst>
                                      </p:cBhvr>
                                      <p:to>
                                        <p:strVal val="visible"/>
                                      </p:to>
                                    </p:set>
                                    <p:animEffect transition="in" filter="fade">
                                      <p:cBhvr>
                                        <p:cTn id="500" dur="400"/>
                                        <p:tgtEl>
                                          <p:spTgt spid="173"/>
                                        </p:tgtEl>
                                      </p:cBhvr>
                                    </p:animEffect>
                                  </p:childTnLst>
                                </p:cTn>
                              </p:par>
                              <p:par>
                                <p:cTn id="501" presetID="10" presetClass="entr" presetSubtype="0" fill="hold" grpId="0" nodeType="withEffect">
                                  <p:stCondLst>
                                    <p:cond delay="0"/>
                                  </p:stCondLst>
                                  <p:childTnLst>
                                    <p:set>
                                      <p:cBhvr>
                                        <p:cTn id="502" dur="1" fill="hold">
                                          <p:stCondLst>
                                            <p:cond delay="0"/>
                                          </p:stCondLst>
                                        </p:cTn>
                                        <p:tgtEl>
                                          <p:spTgt spid="174"/>
                                        </p:tgtEl>
                                        <p:attrNameLst>
                                          <p:attrName>style.visibility</p:attrName>
                                        </p:attrNameLst>
                                      </p:cBhvr>
                                      <p:to>
                                        <p:strVal val="visible"/>
                                      </p:to>
                                    </p:set>
                                    <p:animEffect transition="in" filter="fade">
                                      <p:cBhvr>
                                        <p:cTn id="503" dur="400"/>
                                        <p:tgtEl>
                                          <p:spTgt spid="174"/>
                                        </p:tgtEl>
                                      </p:cBhvr>
                                    </p:animEffect>
                                  </p:childTnLst>
                                </p:cTn>
                              </p:par>
                              <p:par>
                                <p:cTn id="504" presetID="10" presetClass="entr" presetSubtype="0" fill="hold" grpId="0" nodeType="withEffect">
                                  <p:stCondLst>
                                    <p:cond delay="0"/>
                                  </p:stCondLst>
                                  <p:childTnLst>
                                    <p:set>
                                      <p:cBhvr>
                                        <p:cTn id="505" dur="1" fill="hold">
                                          <p:stCondLst>
                                            <p:cond delay="0"/>
                                          </p:stCondLst>
                                        </p:cTn>
                                        <p:tgtEl>
                                          <p:spTgt spid="175"/>
                                        </p:tgtEl>
                                        <p:attrNameLst>
                                          <p:attrName>style.visibility</p:attrName>
                                        </p:attrNameLst>
                                      </p:cBhvr>
                                      <p:to>
                                        <p:strVal val="visible"/>
                                      </p:to>
                                    </p:set>
                                    <p:animEffect transition="in" filter="fade">
                                      <p:cBhvr>
                                        <p:cTn id="506" dur="400"/>
                                        <p:tgtEl>
                                          <p:spTgt spid="175"/>
                                        </p:tgtEl>
                                      </p:cBhvr>
                                    </p:animEffect>
                                  </p:childTnLst>
                                </p:cTn>
                              </p:par>
                              <p:par>
                                <p:cTn id="507" presetID="10" presetClass="entr" presetSubtype="0" fill="hold" grpId="0" nodeType="withEffect">
                                  <p:stCondLst>
                                    <p:cond delay="0"/>
                                  </p:stCondLst>
                                  <p:childTnLst>
                                    <p:set>
                                      <p:cBhvr>
                                        <p:cTn id="508" dur="1" fill="hold">
                                          <p:stCondLst>
                                            <p:cond delay="0"/>
                                          </p:stCondLst>
                                        </p:cTn>
                                        <p:tgtEl>
                                          <p:spTgt spid="176"/>
                                        </p:tgtEl>
                                        <p:attrNameLst>
                                          <p:attrName>style.visibility</p:attrName>
                                        </p:attrNameLst>
                                      </p:cBhvr>
                                      <p:to>
                                        <p:strVal val="visible"/>
                                      </p:to>
                                    </p:set>
                                    <p:animEffect transition="in" filter="fade">
                                      <p:cBhvr>
                                        <p:cTn id="509" dur="400"/>
                                        <p:tgtEl>
                                          <p:spTgt spid="176"/>
                                        </p:tgtEl>
                                      </p:cBhvr>
                                    </p:animEffect>
                                  </p:childTnLst>
                                </p:cTn>
                              </p:par>
                              <p:par>
                                <p:cTn id="510" presetID="10" presetClass="entr" presetSubtype="0" fill="hold" grpId="0" nodeType="withEffect">
                                  <p:stCondLst>
                                    <p:cond delay="0"/>
                                  </p:stCondLst>
                                  <p:childTnLst>
                                    <p:set>
                                      <p:cBhvr>
                                        <p:cTn id="511" dur="1" fill="hold">
                                          <p:stCondLst>
                                            <p:cond delay="0"/>
                                          </p:stCondLst>
                                        </p:cTn>
                                        <p:tgtEl>
                                          <p:spTgt spid="177"/>
                                        </p:tgtEl>
                                        <p:attrNameLst>
                                          <p:attrName>style.visibility</p:attrName>
                                        </p:attrNameLst>
                                      </p:cBhvr>
                                      <p:to>
                                        <p:strVal val="visible"/>
                                      </p:to>
                                    </p:set>
                                    <p:animEffect transition="in" filter="fade">
                                      <p:cBhvr>
                                        <p:cTn id="512" dur="400"/>
                                        <p:tgtEl>
                                          <p:spTgt spid="177"/>
                                        </p:tgtEl>
                                      </p:cBhvr>
                                    </p:animEffect>
                                  </p:childTnLst>
                                </p:cTn>
                              </p:par>
                              <p:par>
                                <p:cTn id="513" presetID="10" presetClass="entr" presetSubtype="0" fill="hold" grpId="0" nodeType="withEffect">
                                  <p:stCondLst>
                                    <p:cond delay="0"/>
                                  </p:stCondLst>
                                  <p:childTnLst>
                                    <p:set>
                                      <p:cBhvr>
                                        <p:cTn id="514" dur="1" fill="hold">
                                          <p:stCondLst>
                                            <p:cond delay="0"/>
                                          </p:stCondLst>
                                        </p:cTn>
                                        <p:tgtEl>
                                          <p:spTgt spid="178"/>
                                        </p:tgtEl>
                                        <p:attrNameLst>
                                          <p:attrName>style.visibility</p:attrName>
                                        </p:attrNameLst>
                                      </p:cBhvr>
                                      <p:to>
                                        <p:strVal val="visible"/>
                                      </p:to>
                                    </p:set>
                                    <p:animEffect transition="in" filter="fade">
                                      <p:cBhvr>
                                        <p:cTn id="515" dur="400"/>
                                        <p:tgtEl>
                                          <p:spTgt spid="178"/>
                                        </p:tgtEl>
                                      </p:cBhvr>
                                    </p:animEffect>
                                  </p:childTnLst>
                                </p:cTn>
                              </p:par>
                              <p:par>
                                <p:cTn id="516" presetID="10" presetClass="entr" presetSubtype="0" fill="hold" grpId="0" nodeType="withEffect">
                                  <p:stCondLst>
                                    <p:cond delay="0"/>
                                  </p:stCondLst>
                                  <p:childTnLst>
                                    <p:set>
                                      <p:cBhvr>
                                        <p:cTn id="517" dur="1" fill="hold">
                                          <p:stCondLst>
                                            <p:cond delay="0"/>
                                          </p:stCondLst>
                                        </p:cTn>
                                        <p:tgtEl>
                                          <p:spTgt spid="179"/>
                                        </p:tgtEl>
                                        <p:attrNameLst>
                                          <p:attrName>style.visibility</p:attrName>
                                        </p:attrNameLst>
                                      </p:cBhvr>
                                      <p:to>
                                        <p:strVal val="visible"/>
                                      </p:to>
                                    </p:set>
                                    <p:animEffect transition="in" filter="fade">
                                      <p:cBhvr>
                                        <p:cTn id="518" dur="400"/>
                                        <p:tgtEl>
                                          <p:spTgt spid="179"/>
                                        </p:tgtEl>
                                      </p:cBhvr>
                                    </p:animEffect>
                                  </p:childTnLst>
                                </p:cTn>
                              </p:par>
                              <p:par>
                                <p:cTn id="519" presetID="10" presetClass="entr" presetSubtype="0" fill="hold" grpId="0" nodeType="withEffect">
                                  <p:stCondLst>
                                    <p:cond delay="0"/>
                                  </p:stCondLst>
                                  <p:childTnLst>
                                    <p:set>
                                      <p:cBhvr>
                                        <p:cTn id="520" dur="1" fill="hold">
                                          <p:stCondLst>
                                            <p:cond delay="0"/>
                                          </p:stCondLst>
                                        </p:cTn>
                                        <p:tgtEl>
                                          <p:spTgt spid="180"/>
                                        </p:tgtEl>
                                        <p:attrNameLst>
                                          <p:attrName>style.visibility</p:attrName>
                                        </p:attrNameLst>
                                      </p:cBhvr>
                                      <p:to>
                                        <p:strVal val="visible"/>
                                      </p:to>
                                    </p:set>
                                    <p:animEffect transition="in" filter="fade">
                                      <p:cBhvr>
                                        <p:cTn id="521" dur="400"/>
                                        <p:tgtEl>
                                          <p:spTgt spid="180"/>
                                        </p:tgtEl>
                                      </p:cBhvr>
                                    </p:animEffect>
                                  </p:childTnLst>
                                </p:cTn>
                              </p:par>
                              <p:par>
                                <p:cTn id="522" presetID="10" presetClass="entr" presetSubtype="0" fill="hold" grpId="0" nodeType="withEffect">
                                  <p:stCondLst>
                                    <p:cond delay="0"/>
                                  </p:stCondLst>
                                  <p:childTnLst>
                                    <p:set>
                                      <p:cBhvr>
                                        <p:cTn id="523" dur="1" fill="hold">
                                          <p:stCondLst>
                                            <p:cond delay="0"/>
                                          </p:stCondLst>
                                        </p:cTn>
                                        <p:tgtEl>
                                          <p:spTgt spid="181"/>
                                        </p:tgtEl>
                                        <p:attrNameLst>
                                          <p:attrName>style.visibility</p:attrName>
                                        </p:attrNameLst>
                                      </p:cBhvr>
                                      <p:to>
                                        <p:strVal val="visible"/>
                                      </p:to>
                                    </p:set>
                                    <p:animEffect transition="in" filter="fade">
                                      <p:cBhvr>
                                        <p:cTn id="524" dur="400"/>
                                        <p:tgtEl>
                                          <p:spTgt spid="181"/>
                                        </p:tgtEl>
                                      </p:cBhvr>
                                    </p:animEffect>
                                  </p:childTnLst>
                                </p:cTn>
                              </p:par>
                              <p:par>
                                <p:cTn id="525" presetID="10" presetClass="entr" presetSubtype="0" fill="hold" grpId="0" nodeType="withEffect">
                                  <p:stCondLst>
                                    <p:cond delay="0"/>
                                  </p:stCondLst>
                                  <p:childTnLst>
                                    <p:set>
                                      <p:cBhvr>
                                        <p:cTn id="526" dur="1" fill="hold">
                                          <p:stCondLst>
                                            <p:cond delay="0"/>
                                          </p:stCondLst>
                                        </p:cTn>
                                        <p:tgtEl>
                                          <p:spTgt spid="182"/>
                                        </p:tgtEl>
                                        <p:attrNameLst>
                                          <p:attrName>style.visibility</p:attrName>
                                        </p:attrNameLst>
                                      </p:cBhvr>
                                      <p:to>
                                        <p:strVal val="visible"/>
                                      </p:to>
                                    </p:set>
                                    <p:animEffect transition="in" filter="fade">
                                      <p:cBhvr>
                                        <p:cTn id="527" dur="400"/>
                                        <p:tgtEl>
                                          <p:spTgt spid="182"/>
                                        </p:tgtEl>
                                      </p:cBhvr>
                                    </p:animEffect>
                                  </p:childTnLst>
                                </p:cTn>
                              </p:par>
                              <p:par>
                                <p:cTn id="528" presetID="10" presetClass="entr" presetSubtype="0" fill="hold" grpId="0" nodeType="withEffect">
                                  <p:stCondLst>
                                    <p:cond delay="0"/>
                                  </p:stCondLst>
                                  <p:childTnLst>
                                    <p:set>
                                      <p:cBhvr>
                                        <p:cTn id="529" dur="1" fill="hold">
                                          <p:stCondLst>
                                            <p:cond delay="0"/>
                                          </p:stCondLst>
                                        </p:cTn>
                                        <p:tgtEl>
                                          <p:spTgt spid="183"/>
                                        </p:tgtEl>
                                        <p:attrNameLst>
                                          <p:attrName>style.visibility</p:attrName>
                                        </p:attrNameLst>
                                      </p:cBhvr>
                                      <p:to>
                                        <p:strVal val="visible"/>
                                      </p:to>
                                    </p:set>
                                    <p:animEffect transition="in" filter="fade">
                                      <p:cBhvr>
                                        <p:cTn id="530" dur="400"/>
                                        <p:tgtEl>
                                          <p:spTgt spid="183"/>
                                        </p:tgtEl>
                                      </p:cBhvr>
                                    </p:animEffect>
                                  </p:childTnLst>
                                </p:cTn>
                              </p:par>
                              <p:par>
                                <p:cTn id="531" presetID="10" presetClass="entr" presetSubtype="0" fill="hold" grpId="0" nodeType="withEffect">
                                  <p:stCondLst>
                                    <p:cond delay="0"/>
                                  </p:stCondLst>
                                  <p:childTnLst>
                                    <p:set>
                                      <p:cBhvr>
                                        <p:cTn id="532" dur="1" fill="hold">
                                          <p:stCondLst>
                                            <p:cond delay="0"/>
                                          </p:stCondLst>
                                        </p:cTn>
                                        <p:tgtEl>
                                          <p:spTgt spid="184"/>
                                        </p:tgtEl>
                                        <p:attrNameLst>
                                          <p:attrName>style.visibility</p:attrName>
                                        </p:attrNameLst>
                                      </p:cBhvr>
                                      <p:to>
                                        <p:strVal val="visible"/>
                                      </p:to>
                                    </p:set>
                                    <p:animEffect transition="in" filter="fade">
                                      <p:cBhvr>
                                        <p:cTn id="533" dur="400"/>
                                        <p:tgtEl>
                                          <p:spTgt spid="184"/>
                                        </p:tgtEl>
                                      </p:cBhvr>
                                    </p:animEffect>
                                  </p:childTnLst>
                                </p:cTn>
                              </p:par>
                              <p:par>
                                <p:cTn id="534" presetID="10" presetClass="entr" presetSubtype="0" fill="hold" grpId="0" nodeType="withEffect">
                                  <p:stCondLst>
                                    <p:cond delay="0"/>
                                  </p:stCondLst>
                                  <p:childTnLst>
                                    <p:set>
                                      <p:cBhvr>
                                        <p:cTn id="535" dur="1" fill="hold">
                                          <p:stCondLst>
                                            <p:cond delay="0"/>
                                          </p:stCondLst>
                                        </p:cTn>
                                        <p:tgtEl>
                                          <p:spTgt spid="185"/>
                                        </p:tgtEl>
                                        <p:attrNameLst>
                                          <p:attrName>style.visibility</p:attrName>
                                        </p:attrNameLst>
                                      </p:cBhvr>
                                      <p:to>
                                        <p:strVal val="visible"/>
                                      </p:to>
                                    </p:set>
                                    <p:animEffect transition="in" filter="fade">
                                      <p:cBhvr>
                                        <p:cTn id="536" dur="400"/>
                                        <p:tgtEl>
                                          <p:spTgt spid="185"/>
                                        </p:tgtEl>
                                      </p:cBhvr>
                                    </p:animEffect>
                                  </p:childTnLst>
                                </p:cTn>
                              </p:par>
                              <p:par>
                                <p:cTn id="537" presetID="10" presetClass="entr" presetSubtype="0" fill="hold" grpId="0" nodeType="withEffect">
                                  <p:stCondLst>
                                    <p:cond delay="0"/>
                                  </p:stCondLst>
                                  <p:childTnLst>
                                    <p:set>
                                      <p:cBhvr>
                                        <p:cTn id="538" dur="1" fill="hold">
                                          <p:stCondLst>
                                            <p:cond delay="0"/>
                                          </p:stCondLst>
                                        </p:cTn>
                                        <p:tgtEl>
                                          <p:spTgt spid="186"/>
                                        </p:tgtEl>
                                        <p:attrNameLst>
                                          <p:attrName>style.visibility</p:attrName>
                                        </p:attrNameLst>
                                      </p:cBhvr>
                                      <p:to>
                                        <p:strVal val="visible"/>
                                      </p:to>
                                    </p:set>
                                    <p:animEffect transition="in" filter="fade">
                                      <p:cBhvr>
                                        <p:cTn id="539" dur="400"/>
                                        <p:tgtEl>
                                          <p:spTgt spid="186"/>
                                        </p:tgtEl>
                                      </p:cBhvr>
                                    </p:animEffect>
                                  </p:childTnLst>
                                </p:cTn>
                              </p:par>
                              <p:par>
                                <p:cTn id="540" presetID="10" presetClass="entr" presetSubtype="0" fill="hold" grpId="0" nodeType="withEffect">
                                  <p:stCondLst>
                                    <p:cond delay="0"/>
                                  </p:stCondLst>
                                  <p:childTnLst>
                                    <p:set>
                                      <p:cBhvr>
                                        <p:cTn id="541" dur="1" fill="hold">
                                          <p:stCondLst>
                                            <p:cond delay="0"/>
                                          </p:stCondLst>
                                        </p:cTn>
                                        <p:tgtEl>
                                          <p:spTgt spid="187"/>
                                        </p:tgtEl>
                                        <p:attrNameLst>
                                          <p:attrName>style.visibility</p:attrName>
                                        </p:attrNameLst>
                                      </p:cBhvr>
                                      <p:to>
                                        <p:strVal val="visible"/>
                                      </p:to>
                                    </p:set>
                                    <p:animEffect transition="in" filter="fade">
                                      <p:cBhvr>
                                        <p:cTn id="542" dur="400"/>
                                        <p:tgtEl>
                                          <p:spTgt spid="187"/>
                                        </p:tgtEl>
                                      </p:cBhvr>
                                    </p:animEffect>
                                  </p:childTnLst>
                                </p:cTn>
                              </p:par>
                              <p:par>
                                <p:cTn id="543" presetID="10" presetClass="entr" presetSubtype="0" fill="hold" grpId="0" nodeType="withEffect">
                                  <p:stCondLst>
                                    <p:cond delay="0"/>
                                  </p:stCondLst>
                                  <p:childTnLst>
                                    <p:set>
                                      <p:cBhvr>
                                        <p:cTn id="544" dur="1" fill="hold">
                                          <p:stCondLst>
                                            <p:cond delay="0"/>
                                          </p:stCondLst>
                                        </p:cTn>
                                        <p:tgtEl>
                                          <p:spTgt spid="188"/>
                                        </p:tgtEl>
                                        <p:attrNameLst>
                                          <p:attrName>style.visibility</p:attrName>
                                        </p:attrNameLst>
                                      </p:cBhvr>
                                      <p:to>
                                        <p:strVal val="visible"/>
                                      </p:to>
                                    </p:set>
                                    <p:animEffect transition="in" filter="fade">
                                      <p:cBhvr>
                                        <p:cTn id="545" dur="400"/>
                                        <p:tgtEl>
                                          <p:spTgt spid="188"/>
                                        </p:tgtEl>
                                      </p:cBhvr>
                                    </p:animEffect>
                                  </p:childTnLst>
                                </p:cTn>
                              </p:par>
                              <p:par>
                                <p:cTn id="546" presetID="10" presetClass="entr" presetSubtype="0" fill="hold" grpId="0" nodeType="withEffect">
                                  <p:stCondLst>
                                    <p:cond delay="0"/>
                                  </p:stCondLst>
                                  <p:childTnLst>
                                    <p:set>
                                      <p:cBhvr>
                                        <p:cTn id="547" dur="1" fill="hold">
                                          <p:stCondLst>
                                            <p:cond delay="0"/>
                                          </p:stCondLst>
                                        </p:cTn>
                                        <p:tgtEl>
                                          <p:spTgt spid="189"/>
                                        </p:tgtEl>
                                        <p:attrNameLst>
                                          <p:attrName>style.visibility</p:attrName>
                                        </p:attrNameLst>
                                      </p:cBhvr>
                                      <p:to>
                                        <p:strVal val="visible"/>
                                      </p:to>
                                    </p:set>
                                    <p:animEffect transition="in" filter="fade">
                                      <p:cBhvr>
                                        <p:cTn id="548" dur="400"/>
                                        <p:tgtEl>
                                          <p:spTgt spid="189"/>
                                        </p:tgtEl>
                                      </p:cBhvr>
                                    </p:animEffect>
                                  </p:childTnLst>
                                </p:cTn>
                              </p:par>
                              <p:par>
                                <p:cTn id="549" presetID="10" presetClass="entr" presetSubtype="0" fill="hold" grpId="0" nodeType="withEffect">
                                  <p:stCondLst>
                                    <p:cond delay="0"/>
                                  </p:stCondLst>
                                  <p:childTnLst>
                                    <p:set>
                                      <p:cBhvr>
                                        <p:cTn id="550" dur="1" fill="hold">
                                          <p:stCondLst>
                                            <p:cond delay="0"/>
                                          </p:stCondLst>
                                        </p:cTn>
                                        <p:tgtEl>
                                          <p:spTgt spid="190"/>
                                        </p:tgtEl>
                                        <p:attrNameLst>
                                          <p:attrName>style.visibility</p:attrName>
                                        </p:attrNameLst>
                                      </p:cBhvr>
                                      <p:to>
                                        <p:strVal val="visible"/>
                                      </p:to>
                                    </p:set>
                                    <p:animEffect transition="in" filter="fade">
                                      <p:cBhvr>
                                        <p:cTn id="551" dur="400"/>
                                        <p:tgtEl>
                                          <p:spTgt spid="190"/>
                                        </p:tgtEl>
                                      </p:cBhvr>
                                    </p:animEffect>
                                  </p:childTnLst>
                                </p:cTn>
                              </p:par>
                              <p:par>
                                <p:cTn id="552" presetID="10" presetClass="entr" presetSubtype="0" fill="hold" grpId="0" nodeType="withEffect">
                                  <p:stCondLst>
                                    <p:cond delay="0"/>
                                  </p:stCondLst>
                                  <p:childTnLst>
                                    <p:set>
                                      <p:cBhvr>
                                        <p:cTn id="553" dur="1" fill="hold">
                                          <p:stCondLst>
                                            <p:cond delay="0"/>
                                          </p:stCondLst>
                                        </p:cTn>
                                        <p:tgtEl>
                                          <p:spTgt spid="191"/>
                                        </p:tgtEl>
                                        <p:attrNameLst>
                                          <p:attrName>style.visibility</p:attrName>
                                        </p:attrNameLst>
                                      </p:cBhvr>
                                      <p:to>
                                        <p:strVal val="visible"/>
                                      </p:to>
                                    </p:set>
                                    <p:animEffect transition="in" filter="fade">
                                      <p:cBhvr>
                                        <p:cTn id="554" dur="400"/>
                                        <p:tgtEl>
                                          <p:spTgt spid="191"/>
                                        </p:tgtEl>
                                      </p:cBhvr>
                                    </p:animEffect>
                                  </p:childTnLst>
                                </p:cTn>
                              </p:par>
                              <p:par>
                                <p:cTn id="555" presetID="10" presetClass="entr" presetSubtype="0" fill="hold" grpId="0" nodeType="withEffect">
                                  <p:stCondLst>
                                    <p:cond delay="0"/>
                                  </p:stCondLst>
                                  <p:childTnLst>
                                    <p:set>
                                      <p:cBhvr>
                                        <p:cTn id="556" dur="1" fill="hold">
                                          <p:stCondLst>
                                            <p:cond delay="0"/>
                                          </p:stCondLst>
                                        </p:cTn>
                                        <p:tgtEl>
                                          <p:spTgt spid="192"/>
                                        </p:tgtEl>
                                        <p:attrNameLst>
                                          <p:attrName>style.visibility</p:attrName>
                                        </p:attrNameLst>
                                      </p:cBhvr>
                                      <p:to>
                                        <p:strVal val="visible"/>
                                      </p:to>
                                    </p:set>
                                    <p:animEffect transition="in" filter="fade">
                                      <p:cBhvr>
                                        <p:cTn id="557" dur="400"/>
                                        <p:tgtEl>
                                          <p:spTgt spid="192"/>
                                        </p:tgtEl>
                                      </p:cBhvr>
                                    </p:animEffect>
                                  </p:childTnLst>
                                </p:cTn>
                              </p:par>
                              <p:par>
                                <p:cTn id="558" presetID="10" presetClass="entr" presetSubtype="0" fill="hold" grpId="0" nodeType="withEffect">
                                  <p:stCondLst>
                                    <p:cond delay="0"/>
                                  </p:stCondLst>
                                  <p:childTnLst>
                                    <p:set>
                                      <p:cBhvr>
                                        <p:cTn id="559" dur="1" fill="hold">
                                          <p:stCondLst>
                                            <p:cond delay="0"/>
                                          </p:stCondLst>
                                        </p:cTn>
                                        <p:tgtEl>
                                          <p:spTgt spid="193"/>
                                        </p:tgtEl>
                                        <p:attrNameLst>
                                          <p:attrName>style.visibility</p:attrName>
                                        </p:attrNameLst>
                                      </p:cBhvr>
                                      <p:to>
                                        <p:strVal val="visible"/>
                                      </p:to>
                                    </p:set>
                                    <p:animEffect transition="in" filter="fade">
                                      <p:cBhvr>
                                        <p:cTn id="560" dur="400"/>
                                        <p:tgtEl>
                                          <p:spTgt spid="193"/>
                                        </p:tgtEl>
                                      </p:cBhvr>
                                    </p:animEffect>
                                  </p:childTnLst>
                                </p:cTn>
                              </p:par>
                              <p:par>
                                <p:cTn id="561" presetID="10" presetClass="entr" presetSubtype="0" fill="hold" grpId="0" nodeType="withEffect">
                                  <p:stCondLst>
                                    <p:cond delay="0"/>
                                  </p:stCondLst>
                                  <p:childTnLst>
                                    <p:set>
                                      <p:cBhvr>
                                        <p:cTn id="562" dur="1" fill="hold">
                                          <p:stCondLst>
                                            <p:cond delay="0"/>
                                          </p:stCondLst>
                                        </p:cTn>
                                        <p:tgtEl>
                                          <p:spTgt spid="194"/>
                                        </p:tgtEl>
                                        <p:attrNameLst>
                                          <p:attrName>style.visibility</p:attrName>
                                        </p:attrNameLst>
                                      </p:cBhvr>
                                      <p:to>
                                        <p:strVal val="visible"/>
                                      </p:to>
                                    </p:set>
                                    <p:animEffect transition="in" filter="fade">
                                      <p:cBhvr>
                                        <p:cTn id="563" dur="400"/>
                                        <p:tgtEl>
                                          <p:spTgt spid="194"/>
                                        </p:tgtEl>
                                      </p:cBhvr>
                                    </p:animEffect>
                                  </p:childTnLst>
                                </p:cTn>
                              </p:par>
                              <p:par>
                                <p:cTn id="564" presetID="10" presetClass="entr" presetSubtype="0" fill="hold" grpId="0" nodeType="withEffect">
                                  <p:stCondLst>
                                    <p:cond delay="0"/>
                                  </p:stCondLst>
                                  <p:childTnLst>
                                    <p:set>
                                      <p:cBhvr>
                                        <p:cTn id="565" dur="1" fill="hold">
                                          <p:stCondLst>
                                            <p:cond delay="0"/>
                                          </p:stCondLst>
                                        </p:cTn>
                                        <p:tgtEl>
                                          <p:spTgt spid="195"/>
                                        </p:tgtEl>
                                        <p:attrNameLst>
                                          <p:attrName>style.visibility</p:attrName>
                                        </p:attrNameLst>
                                      </p:cBhvr>
                                      <p:to>
                                        <p:strVal val="visible"/>
                                      </p:to>
                                    </p:set>
                                    <p:animEffect transition="in" filter="fade">
                                      <p:cBhvr>
                                        <p:cTn id="566" dur="400"/>
                                        <p:tgtEl>
                                          <p:spTgt spid="195"/>
                                        </p:tgtEl>
                                      </p:cBhvr>
                                    </p:animEffect>
                                  </p:childTnLst>
                                </p:cTn>
                              </p:par>
                              <p:par>
                                <p:cTn id="567" presetID="10" presetClass="entr" presetSubtype="0" fill="hold" grpId="0" nodeType="withEffect">
                                  <p:stCondLst>
                                    <p:cond delay="0"/>
                                  </p:stCondLst>
                                  <p:childTnLst>
                                    <p:set>
                                      <p:cBhvr>
                                        <p:cTn id="568" dur="1" fill="hold">
                                          <p:stCondLst>
                                            <p:cond delay="0"/>
                                          </p:stCondLst>
                                        </p:cTn>
                                        <p:tgtEl>
                                          <p:spTgt spid="196"/>
                                        </p:tgtEl>
                                        <p:attrNameLst>
                                          <p:attrName>style.visibility</p:attrName>
                                        </p:attrNameLst>
                                      </p:cBhvr>
                                      <p:to>
                                        <p:strVal val="visible"/>
                                      </p:to>
                                    </p:set>
                                    <p:animEffect transition="in" filter="fade">
                                      <p:cBhvr>
                                        <p:cTn id="569" dur="400"/>
                                        <p:tgtEl>
                                          <p:spTgt spid="196"/>
                                        </p:tgtEl>
                                      </p:cBhvr>
                                    </p:animEffect>
                                  </p:childTnLst>
                                </p:cTn>
                              </p:par>
                              <p:par>
                                <p:cTn id="570" presetID="10" presetClass="entr" presetSubtype="0" fill="hold" grpId="0" nodeType="withEffect">
                                  <p:stCondLst>
                                    <p:cond delay="0"/>
                                  </p:stCondLst>
                                  <p:childTnLst>
                                    <p:set>
                                      <p:cBhvr>
                                        <p:cTn id="571" dur="1" fill="hold">
                                          <p:stCondLst>
                                            <p:cond delay="0"/>
                                          </p:stCondLst>
                                        </p:cTn>
                                        <p:tgtEl>
                                          <p:spTgt spid="197"/>
                                        </p:tgtEl>
                                        <p:attrNameLst>
                                          <p:attrName>style.visibility</p:attrName>
                                        </p:attrNameLst>
                                      </p:cBhvr>
                                      <p:to>
                                        <p:strVal val="visible"/>
                                      </p:to>
                                    </p:set>
                                    <p:animEffect transition="in" filter="fade">
                                      <p:cBhvr>
                                        <p:cTn id="572" dur="400"/>
                                        <p:tgtEl>
                                          <p:spTgt spid="197"/>
                                        </p:tgtEl>
                                      </p:cBhvr>
                                    </p:animEffect>
                                  </p:childTnLst>
                                </p:cTn>
                              </p:par>
                              <p:par>
                                <p:cTn id="573" presetID="10" presetClass="entr" presetSubtype="0" fill="hold" grpId="0" nodeType="withEffect">
                                  <p:stCondLst>
                                    <p:cond delay="0"/>
                                  </p:stCondLst>
                                  <p:childTnLst>
                                    <p:set>
                                      <p:cBhvr>
                                        <p:cTn id="574" dur="1" fill="hold">
                                          <p:stCondLst>
                                            <p:cond delay="0"/>
                                          </p:stCondLst>
                                        </p:cTn>
                                        <p:tgtEl>
                                          <p:spTgt spid="198"/>
                                        </p:tgtEl>
                                        <p:attrNameLst>
                                          <p:attrName>style.visibility</p:attrName>
                                        </p:attrNameLst>
                                      </p:cBhvr>
                                      <p:to>
                                        <p:strVal val="visible"/>
                                      </p:to>
                                    </p:set>
                                    <p:animEffect transition="in" filter="fade">
                                      <p:cBhvr>
                                        <p:cTn id="575" dur="400"/>
                                        <p:tgtEl>
                                          <p:spTgt spid="198"/>
                                        </p:tgtEl>
                                      </p:cBhvr>
                                    </p:animEffect>
                                  </p:childTnLst>
                                </p:cTn>
                              </p:par>
                              <p:par>
                                <p:cTn id="576" presetID="10" presetClass="entr" presetSubtype="0" fill="hold" grpId="0" nodeType="withEffect">
                                  <p:stCondLst>
                                    <p:cond delay="0"/>
                                  </p:stCondLst>
                                  <p:childTnLst>
                                    <p:set>
                                      <p:cBhvr>
                                        <p:cTn id="577" dur="1" fill="hold">
                                          <p:stCondLst>
                                            <p:cond delay="0"/>
                                          </p:stCondLst>
                                        </p:cTn>
                                        <p:tgtEl>
                                          <p:spTgt spid="199"/>
                                        </p:tgtEl>
                                        <p:attrNameLst>
                                          <p:attrName>style.visibility</p:attrName>
                                        </p:attrNameLst>
                                      </p:cBhvr>
                                      <p:to>
                                        <p:strVal val="visible"/>
                                      </p:to>
                                    </p:set>
                                    <p:animEffect transition="in" filter="fade">
                                      <p:cBhvr>
                                        <p:cTn id="578" dur="400"/>
                                        <p:tgtEl>
                                          <p:spTgt spid="199"/>
                                        </p:tgtEl>
                                      </p:cBhvr>
                                    </p:animEffect>
                                  </p:childTnLst>
                                </p:cTn>
                              </p:par>
                              <p:par>
                                <p:cTn id="579" presetID="10" presetClass="entr" presetSubtype="0" fill="hold" grpId="0" nodeType="withEffect">
                                  <p:stCondLst>
                                    <p:cond delay="0"/>
                                  </p:stCondLst>
                                  <p:childTnLst>
                                    <p:set>
                                      <p:cBhvr>
                                        <p:cTn id="580" dur="1" fill="hold">
                                          <p:stCondLst>
                                            <p:cond delay="0"/>
                                          </p:stCondLst>
                                        </p:cTn>
                                        <p:tgtEl>
                                          <p:spTgt spid="200"/>
                                        </p:tgtEl>
                                        <p:attrNameLst>
                                          <p:attrName>style.visibility</p:attrName>
                                        </p:attrNameLst>
                                      </p:cBhvr>
                                      <p:to>
                                        <p:strVal val="visible"/>
                                      </p:to>
                                    </p:set>
                                    <p:animEffect transition="in" filter="fade">
                                      <p:cBhvr>
                                        <p:cTn id="581" dur="400"/>
                                        <p:tgtEl>
                                          <p:spTgt spid="200"/>
                                        </p:tgtEl>
                                      </p:cBhvr>
                                    </p:animEffect>
                                  </p:childTnLst>
                                </p:cTn>
                              </p:par>
                              <p:par>
                                <p:cTn id="582" presetID="10" presetClass="entr" presetSubtype="0" fill="hold" grpId="0" nodeType="withEffect">
                                  <p:stCondLst>
                                    <p:cond delay="0"/>
                                  </p:stCondLst>
                                  <p:childTnLst>
                                    <p:set>
                                      <p:cBhvr>
                                        <p:cTn id="583" dur="1" fill="hold">
                                          <p:stCondLst>
                                            <p:cond delay="0"/>
                                          </p:stCondLst>
                                        </p:cTn>
                                        <p:tgtEl>
                                          <p:spTgt spid="201"/>
                                        </p:tgtEl>
                                        <p:attrNameLst>
                                          <p:attrName>style.visibility</p:attrName>
                                        </p:attrNameLst>
                                      </p:cBhvr>
                                      <p:to>
                                        <p:strVal val="visible"/>
                                      </p:to>
                                    </p:set>
                                    <p:animEffect transition="in" filter="fade">
                                      <p:cBhvr>
                                        <p:cTn id="584" dur="400"/>
                                        <p:tgtEl>
                                          <p:spTgt spid="201"/>
                                        </p:tgtEl>
                                      </p:cBhvr>
                                    </p:animEffect>
                                  </p:childTnLst>
                                </p:cTn>
                              </p:par>
                              <p:par>
                                <p:cTn id="585" presetID="10" presetClass="entr" presetSubtype="0" fill="hold" grpId="0" nodeType="withEffect">
                                  <p:stCondLst>
                                    <p:cond delay="0"/>
                                  </p:stCondLst>
                                  <p:childTnLst>
                                    <p:set>
                                      <p:cBhvr>
                                        <p:cTn id="586" dur="1" fill="hold">
                                          <p:stCondLst>
                                            <p:cond delay="0"/>
                                          </p:stCondLst>
                                        </p:cTn>
                                        <p:tgtEl>
                                          <p:spTgt spid="202"/>
                                        </p:tgtEl>
                                        <p:attrNameLst>
                                          <p:attrName>style.visibility</p:attrName>
                                        </p:attrNameLst>
                                      </p:cBhvr>
                                      <p:to>
                                        <p:strVal val="visible"/>
                                      </p:to>
                                    </p:set>
                                    <p:animEffect transition="in" filter="fade">
                                      <p:cBhvr>
                                        <p:cTn id="587" dur="400"/>
                                        <p:tgtEl>
                                          <p:spTgt spid="202"/>
                                        </p:tgtEl>
                                      </p:cBhvr>
                                    </p:animEffect>
                                  </p:childTnLst>
                                </p:cTn>
                              </p:par>
                              <p:par>
                                <p:cTn id="588" presetID="10" presetClass="entr" presetSubtype="0" fill="hold" grpId="0" nodeType="withEffect">
                                  <p:stCondLst>
                                    <p:cond delay="0"/>
                                  </p:stCondLst>
                                  <p:childTnLst>
                                    <p:set>
                                      <p:cBhvr>
                                        <p:cTn id="589" dur="1" fill="hold">
                                          <p:stCondLst>
                                            <p:cond delay="0"/>
                                          </p:stCondLst>
                                        </p:cTn>
                                        <p:tgtEl>
                                          <p:spTgt spid="203"/>
                                        </p:tgtEl>
                                        <p:attrNameLst>
                                          <p:attrName>style.visibility</p:attrName>
                                        </p:attrNameLst>
                                      </p:cBhvr>
                                      <p:to>
                                        <p:strVal val="visible"/>
                                      </p:to>
                                    </p:set>
                                    <p:animEffect transition="in" filter="fade">
                                      <p:cBhvr>
                                        <p:cTn id="590" dur="400"/>
                                        <p:tgtEl>
                                          <p:spTgt spid="203"/>
                                        </p:tgtEl>
                                      </p:cBhvr>
                                    </p:animEffect>
                                  </p:childTnLst>
                                </p:cTn>
                              </p:par>
                              <p:par>
                                <p:cTn id="591" presetID="10" presetClass="entr" presetSubtype="0" fill="hold" grpId="0" nodeType="withEffect">
                                  <p:stCondLst>
                                    <p:cond delay="0"/>
                                  </p:stCondLst>
                                  <p:childTnLst>
                                    <p:set>
                                      <p:cBhvr>
                                        <p:cTn id="592" dur="1" fill="hold">
                                          <p:stCondLst>
                                            <p:cond delay="0"/>
                                          </p:stCondLst>
                                        </p:cTn>
                                        <p:tgtEl>
                                          <p:spTgt spid="204"/>
                                        </p:tgtEl>
                                        <p:attrNameLst>
                                          <p:attrName>style.visibility</p:attrName>
                                        </p:attrNameLst>
                                      </p:cBhvr>
                                      <p:to>
                                        <p:strVal val="visible"/>
                                      </p:to>
                                    </p:set>
                                    <p:animEffect transition="in" filter="fade">
                                      <p:cBhvr>
                                        <p:cTn id="593" dur="400"/>
                                        <p:tgtEl>
                                          <p:spTgt spid="204"/>
                                        </p:tgtEl>
                                      </p:cBhvr>
                                    </p:animEffect>
                                  </p:childTnLst>
                                </p:cTn>
                              </p:par>
                              <p:par>
                                <p:cTn id="594" presetID="10" presetClass="entr" presetSubtype="0" fill="hold" grpId="0" nodeType="withEffect">
                                  <p:stCondLst>
                                    <p:cond delay="0"/>
                                  </p:stCondLst>
                                  <p:childTnLst>
                                    <p:set>
                                      <p:cBhvr>
                                        <p:cTn id="595" dur="1" fill="hold">
                                          <p:stCondLst>
                                            <p:cond delay="0"/>
                                          </p:stCondLst>
                                        </p:cTn>
                                        <p:tgtEl>
                                          <p:spTgt spid="205"/>
                                        </p:tgtEl>
                                        <p:attrNameLst>
                                          <p:attrName>style.visibility</p:attrName>
                                        </p:attrNameLst>
                                      </p:cBhvr>
                                      <p:to>
                                        <p:strVal val="visible"/>
                                      </p:to>
                                    </p:set>
                                    <p:animEffect transition="in" filter="fade">
                                      <p:cBhvr>
                                        <p:cTn id="596" dur="400"/>
                                        <p:tgtEl>
                                          <p:spTgt spid="205"/>
                                        </p:tgtEl>
                                      </p:cBhvr>
                                    </p:animEffect>
                                  </p:childTnLst>
                                </p:cTn>
                              </p:par>
                              <p:par>
                                <p:cTn id="597" presetID="10" presetClass="entr" presetSubtype="0" fill="hold" grpId="0" nodeType="withEffect">
                                  <p:stCondLst>
                                    <p:cond delay="0"/>
                                  </p:stCondLst>
                                  <p:childTnLst>
                                    <p:set>
                                      <p:cBhvr>
                                        <p:cTn id="598" dur="1" fill="hold">
                                          <p:stCondLst>
                                            <p:cond delay="0"/>
                                          </p:stCondLst>
                                        </p:cTn>
                                        <p:tgtEl>
                                          <p:spTgt spid="206"/>
                                        </p:tgtEl>
                                        <p:attrNameLst>
                                          <p:attrName>style.visibility</p:attrName>
                                        </p:attrNameLst>
                                      </p:cBhvr>
                                      <p:to>
                                        <p:strVal val="visible"/>
                                      </p:to>
                                    </p:set>
                                    <p:animEffect transition="in" filter="fade">
                                      <p:cBhvr>
                                        <p:cTn id="599" dur="400"/>
                                        <p:tgtEl>
                                          <p:spTgt spid="206"/>
                                        </p:tgtEl>
                                      </p:cBhvr>
                                    </p:animEffect>
                                  </p:childTnLst>
                                </p:cTn>
                              </p:par>
                              <p:par>
                                <p:cTn id="600" presetID="10" presetClass="entr" presetSubtype="0" fill="hold" grpId="0" nodeType="withEffect">
                                  <p:stCondLst>
                                    <p:cond delay="0"/>
                                  </p:stCondLst>
                                  <p:childTnLst>
                                    <p:set>
                                      <p:cBhvr>
                                        <p:cTn id="601" dur="1" fill="hold">
                                          <p:stCondLst>
                                            <p:cond delay="0"/>
                                          </p:stCondLst>
                                        </p:cTn>
                                        <p:tgtEl>
                                          <p:spTgt spid="207"/>
                                        </p:tgtEl>
                                        <p:attrNameLst>
                                          <p:attrName>style.visibility</p:attrName>
                                        </p:attrNameLst>
                                      </p:cBhvr>
                                      <p:to>
                                        <p:strVal val="visible"/>
                                      </p:to>
                                    </p:set>
                                    <p:animEffect transition="in" filter="fade">
                                      <p:cBhvr>
                                        <p:cTn id="602" dur="400"/>
                                        <p:tgtEl>
                                          <p:spTgt spid="207"/>
                                        </p:tgtEl>
                                      </p:cBhvr>
                                    </p:animEffect>
                                  </p:childTnLst>
                                </p:cTn>
                              </p:par>
                              <p:par>
                                <p:cTn id="603" presetID="10" presetClass="entr" presetSubtype="0" fill="hold" grpId="0" nodeType="withEffect">
                                  <p:stCondLst>
                                    <p:cond delay="0"/>
                                  </p:stCondLst>
                                  <p:childTnLst>
                                    <p:set>
                                      <p:cBhvr>
                                        <p:cTn id="604" dur="1" fill="hold">
                                          <p:stCondLst>
                                            <p:cond delay="0"/>
                                          </p:stCondLst>
                                        </p:cTn>
                                        <p:tgtEl>
                                          <p:spTgt spid="208"/>
                                        </p:tgtEl>
                                        <p:attrNameLst>
                                          <p:attrName>style.visibility</p:attrName>
                                        </p:attrNameLst>
                                      </p:cBhvr>
                                      <p:to>
                                        <p:strVal val="visible"/>
                                      </p:to>
                                    </p:set>
                                    <p:animEffect transition="in" filter="fade">
                                      <p:cBhvr>
                                        <p:cTn id="605" dur="400"/>
                                        <p:tgtEl>
                                          <p:spTgt spid="208"/>
                                        </p:tgtEl>
                                      </p:cBhvr>
                                    </p:animEffect>
                                  </p:childTnLst>
                                </p:cTn>
                              </p:par>
                              <p:par>
                                <p:cTn id="606" presetID="10" presetClass="entr" presetSubtype="0" fill="hold" grpId="0" nodeType="withEffect">
                                  <p:stCondLst>
                                    <p:cond delay="0"/>
                                  </p:stCondLst>
                                  <p:childTnLst>
                                    <p:set>
                                      <p:cBhvr>
                                        <p:cTn id="607" dur="1" fill="hold">
                                          <p:stCondLst>
                                            <p:cond delay="0"/>
                                          </p:stCondLst>
                                        </p:cTn>
                                        <p:tgtEl>
                                          <p:spTgt spid="209"/>
                                        </p:tgtEl>
                                        <p:attrNameLst>
                                          <p:attrName>style.visibility</p:attrName>
                                        </p:attrNameLst>
                                      </p:cBhvr>
                                      <p:to>
                                        <p:strVal val="visible"/>
                                      </p:to>
                                    </p:set>
                                    <p:animEffect transition="in" filter="fade">
                                      <p:cBhvr>
                                        <p:cTn id="608" dur="400"/>
                                        <p:tgtEl>
                                          <p:spTgt spid="209"/>
                                        </p:tgtEl>
                                      </p:cBhvr>
                                    </p:animEffect>
                                  </p:childTnLst>
                                </p:cTn>
                              </p:par>
                              <p:par>
                                <p:cTn id="609" presetID="10" presetClass="entr" presetSubtype="0" fill="hold" grpId="0" nodeType="withEffect">
                                  <p:stCondLst>
                                    <p:cond delay="0"/>
                                  </p:stCondLst>
                                  <p:childTnLst>
                                    <p:set>
                                      <p:cBhvr>
                                        <p:cTn id="610" dur="1" fill="hold">
                                          <p:stCondLst>
                                            <p:cond delay="0"/>
                                          </p:stCondLst>
                                        </p:cTn>
                                        <p:tgtEl>
                                          <p:spTgt spid="210"/>
                                        </p:tgtEl>
                                        <p:attrNameLst>
                                          <p:attrName>style.visibility</p:attrName>
                                        </p:attrNameLst>
                                      </p:cBhvr>
                                      <p:to>
                                        <p:strVal val="visible"/>
                                      </p:to>
                                    </p:set>
                                    <p:animEffect transition="in" filter="fade">
                                      <p:cBhvr>
                                        <p:cTn id="611" dur="400"/>
                                        <p:tgtEl>
                                          <p:spTgt spid="210"/>
                                        </p:tgtEl>
                                      </p:cBhvr>
                                    </p:animEffect>
                                  </p:childTnLst>
                                </p:cTn>
                              </p:par>
                              <p:par>
                                <p:cTn id="612" presetID="10" presetClass="entr" presetSubtype="0" fill="hold" grpId="0" nodeType="withEffect">
                                  <p:stCondLst>
                                    <p:cond delay="0"/>
                                  </p:stCondLst>
                                  <p:childTnLst>
                                    <p:set>
                                      <p:cBhvr>
                                        <p:cTn id="613" dur="1" fill="hold">
                                          <p:stCondLst>
                                            <p:cond delay="0"/>
                                          </p:stCondLst>
                                        </p:cTn>
                                        <p:tgtEl>
                                          <p:spTgt spid="211"/>
                                        </p:tgtEl>
                                        <p:attrNameLst>
                                          <p:attrName>style.visibility</p:attrName>
                                        </p:attrNameLst>
                                      </p:cBhvr>
                                      <p:to>
                                        <p:strVal val="visible"/>
                                      </p:to>
                                    </p:set>
                                    <p:animEffect transition="in" filter="fade">
                                      <p:cBhvr>
                                        <p:cTn id="614" dur="400"/>
                                        <p:tgtEl>
                                          <p:spTgt spid="211"/>
                                        </p:tgtEl>
                                      </p:cBhvr>
                                    </p:animEffect>
                                  </p:childTnLst>
                                </p:cTn>
                              </p:par>
                              <p:par>
                                <p:cTn id="615" presetID="10" presetClass="entr" presetSubtype="0" fill="hold" grpId="0" nodeType="withEffect">
                                  <p:stCondLst>
                                    <p:cond delay="0"/>
                                  </p:stCondLst>
                                  <p:childTnLst>
                                    <p:set>
                                      <p:cBhvr>
                                        <p:cTn id="616" dur="1" fill="hold">
                                          <p:stCondLst>
                                            <p:cond delay="0"/>
                                          </p:stCondLst>
                                        </p:cTn>
                                        <p:tgtEl>
                                          <p:spTgt spid="212"/>
                                        </p:tgtEl>
                                        <p:attrNameLst>
                                          <p:attrName>style.visibility</p:attrName>
                                        </p:attrNameLst>
                                      </p:cBhvr>
                                      <p:to>
                                        <p:strVal val="visible"/>
                                      </p:to>
                                    </p:set>
                                    <p:animEffect transition="in" filter="fade">
                                      <p:cBhvr>
                                        <p:cTn id="617" dur="400"/>
                                        <p:tgtEl>
                                          <p:spTgt spid="212"/>
                                        </p:tgtEl>
                                      </p:cBhvr>
                                    </p:animEffect>
                                  </p:childTnLst>
                                </p:cTn>
                              </p:par>
                              <p:par>
                                <p:cTn id="618" presetID="10" presetClass="entr" presetSubtype="0" fill="hold" grpId="0" nodeType="withEffect">
                                  <p:stCondLst>
                                    <p:cond delay="0"/>
                                  </p:stCondLst>
                                  <p:childTnLst>
                                    <p:set>
                                      <p:cBhvr>
                                        <p:cTn id="619" dur="1" fill="hold">
                                          <p:stCondLst>
                                            <p:cond delay="0"/>
                                          </p:stCondLst>
                                        </p:cTn>
                                        <p:tgtEl>
                                          <p:spTgt spid="213"/>
                                        </p:tgtEl>
                                        <p:attrNameLst>
                                          <p:attrName>style.visibility</p:attrName>
                                        </p:attrNameLst>
                                      </p:cBhvr>
                                      <p:to>
                                        <p:strVal val="visible"/>
                                      </p:to>
                                    </p:set>
                                    <p:animEffect transition="in" filter="fade">
                                      <p:cBhvr>
                                        <p:cTn id="620" dur="400"/>
                                        <p:tgtEl>
                                          <p:spTgt spid="213"/>
                                        </p:tgtEl>
                                      </p:cBhvr>
                                    </p:animEffect>
                                  </p:childTnLst>
                                </p:cTn>
                              </p:par>
                              <p:par>
                                <p:cTn id="621" presetID="10" presetClass="entr" presetSubtype="0" fill="hold" grpId="0" nodeType="withEffect">
                                  <p:stCondLst>
                                    <p:cond delay="0"/>
                                  </p:stCondLst>
                                  <p:childTnLst>
                                    <p:set>
                                      <p:cBhvr>
                                        <p:cTn id="622" dur="1" fill="hold">
                                          <p:stCondLst>
                                            <p:cond delay="0"/>
                                          </p:stCondLst>
                                        </p:cTn>
                                        <p:tgtEl>
                                          <p:spTgt spid="214"/>
                                        </p:tgtEl>
                                        <p:attrNameLst>
                                          <p:attrName>style.visibility</p:attrName>
                                        </p:attrNameLst>
                                      </p:cBhvr>
                                      <p:to>
                                        <p:strVal val="visible"/>
                                      </p:to>
                                    </p:set>
                                    <p:animEffect transition="in" filter="fade">
                                      <p:cBhvr>
                                        <p:cTn id="623" dur="4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3 · APPROACH</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Random Forest won a near tie through the frozen rule</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Validation: 20 engines, 4,217 rows · rules frozen before the test · Table 5.1, §4.7</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full comparison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selection rules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5 / 13</a:t>
            </a:r>
            <a:endParaRPr lang="en-US" sz="1100" dirty="0"/>
          </a:p>
        </p:txBody>
      </p:sp>
      <p:sp>
        <p:nvSpPr>
          <p:cNvPr id="8" name="s0_text_7"/>
          <p:cNvSpPr txBox="1"/>
          <p:nvPr/>
        </p:nvSpPr>
        <p:spPr>
          <a:xfrm>
            <a:off x="548640" y="1325880"/>
            <a:ext cx="5760720" cy="310896"/>
          </a:xfrm>
          <a:prstGeom prst="rect">
            <a:avLst/>
          </a:prstGeom>
          <a:noFill/>
          <a:ln/>
        </p:spPr>
        <p:txBody>
          <a:bodyPr wrap="square" lIns="0" tIns="0" rIns="0" bIns="0" rtlCol="0" anchor="t"/>
          <a:lstStyle/>
          <a:p>
            <a:pPr algn="l" indent="0" marL="0">
              <a:buNone/>
            </a:pPr>
            <a:r>
              <a:rPr lang="en-US" sz="1500" b="1" dirty="0">
                <a:solidFill>
                  <a:srgbClr val="627D98"/>
                </a:solidFill>
                <a:latin typeface="Aptos" pitchFamily="34" charset="0"/>
                <a:ea typeface="Aptos" pitchFamily="34" charset="-122"/>
                <a:cs typeface="Aptos" pitchFamily="34" charset="-120"/>
              </a:rPr>
              <a:t>Mean engine RMSE · validation · cycles (lower is better)</a:t>
            </a:r>
            <a:endParaRPr lang="en-US" sz="1500" dirty="0"/>
          </a:p>
        </p:txBody>
      </p:sp>
      <p:sp>
        <p:nvSpPr>
          <p:cNvPr id="9" name="s0_line_8"/>
          <p:cNvSpPr/>
          <p:nvPr/>
        </p:nvSpPr>
        <p:spPr>
          <a:xfrm>
            <a:off x="2514600" y="1783080"/>
            <a:ext cx="91" cy="2286000"/>
          </a:xfrm>
          <a:prstGeom prst="line">
            <a:avLst/>
          </a:prstGeom>
          <a:noFill/>
          <a:ln w="12700">
            <a:solidFill>
              <a:srgbClr val="102A43"/>
            </a:solidFill>
            <a:prstDash val="solid"/>
          </a:ln>
        </p:spPr>
      </p:sp>
      <p:sp>
        <p:nvSpPr>
          <p:cNvPr id="10" name="s0_text_9"/>
          <p:cNvSpPr txBox="1"/>
          <p:nvPr/>
        </p:nvSpPr>
        <p:spPr>
          <a:xfrm>
            <a:off x="548640" y="1883664"/>
            <a:ext cx="1874520" cy="329184"/>
          </a:xfrm>
          <a:prstGeom prst="rect">
            <a:avLst/>
          </a:prstGeom>
          <a:noFill/>
          <a:ln/>
        </p:spPr>
        <p:txBody>
          <a:bodyPr wrap="square" lIns="0" tIns="0" rIns="0" bIns="0" rtlCol="0" anchor="t"/>
          <a:lstStyle/>
          <a:p>
            <a:pPr algn="r" indent="0" marL="0">
              <a:buNone/>
            </a:pPr>
            <a:r>
              <a:rPr lang="en-US" sz="1600" b="1" dirty="0">
                <a:solidFill>
                  <a:srgbClr val="102A43"/>
                </a:solidFill>
                <a:latin typeface="Aptos" pitchFamily="34" charset="0"/>
                <a:ea typeface="Aptos" pitchFamily="34" charset="-122"/>
                <a:cs typeface="Aptos" pitchFamily="34" charset="-120"/>
              </a:rPr>
              <a:t>Random Forest</a:t>
            </a:r>
            <a:endParaRPr lang="en-US" sz="1600" dirty="0"/>
          </a:p>
        </p:txBody>
      </p:sp>
      <p:sp>
        <p:nvSpPr>
          <p:cNvPr id="11" name="s0_rect_10"/>
          <p:cNvSpPr/>
          <p:nvPr/>
        </p:nvSpPr>
        <p:spPr>
          <a:xfrm>
            <a:off x="2514600" y="1847088"/>
            <a:ext cx="2117940" cy="384048"/>
          </a:xfrm>
          <a:prstGeom prst="rect">
            <a:avLst/>
          </a:prstGeom>
          <a:solidFill>
            <a:srgbClr val="00A6C8"/>
          </a:solidFill>
          <a:ln/>
        </p:spPr>
      </p:sp>
      <p:sp>
        <p:nvSpPr>
          <p:cNvPr id="12" name="s0_text_11"/>
          <p:cNvSpPr txBox="1"/>
          <p:nvPr/>
        </p:nvSpPr>
        <p:spPr>
          <a:xfrm>
            <a:off x="4723980" y="1883664"/>
            <a:ext cx="164592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29.479</a:t>
            </a:r>
            <a:pPr algn="l" indent="0" marL="0">
              <a:buNone/>
            </a:pPr>
            <a:endParaRPr lang="en-US" sz="1600" dirty="0"/>
          </a:p>
        </p:txBody>
      </p:sp>
      <p:sp>
        <p:nvSpPr>
          <p:cNvPr id="13" name="s0_text_12"/>
          <p:cNvSpPr txBox="1"/>
          <p:nvPr/>
        </p:nvSpPr>
        <p:spPr>
          <a:xfrm>
            <a:off x="548640" y="2432304"/>
            <a:ext cx="18745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Naive age-only</a:t>
            </a:r>
            <a:endParaRPr lang="en-US" sz="1600" dirty="0"/>
          </a:p>
        </p:txBody>
      </p:sp>
      <p:sp>
        <p:nvSpPr>
          <p:cNvPr id="14" name="s0_rect_13"/>
          <p:cNvSpPr/>
          <p:nvPr/>
        </p:nvSpPr>
        <p:spPr>
          <a:xfrm>
            <a:off x="2514600" y="2395728"/>
            <a:ext cx="2123472" cy="384048"/>
          </a:xfrm>
          <a:prstGeom prst="rect">
            <a:avLst/>
          </a:prstGeom>
          <a:solidFill>
            <a:srgbClr val="9FB3C8"/>
          </a:solidFill>
          <a:ln/>
        </p:spPr>
      </p:sp>
      <p:sp>
        <p:nvSpPr>
          <p:cNvPr id="15" name="s0_text_14"/>
          <p:cNvSpPr txBox="1"/>
          <p:nvPr/>
        </p:nvSpPr>
        <p:spPr>
          <a:xfrm>
            <a:off x="4729512" y="2432304"/>
            <a:ext cx="164592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29.556</a:t>
            </a:r>
            <a:pPr algn="l" indent="0" marL="0">
              <a:buNone/>
            </a:pPr>
            <a:endParaRPr lang="en-US" sz="1600" dirty="0"/>
          </a:p>
        </p:txBody>
      </p:sp>
      <p:sp>
        <p:nvSpPr>
          <p:cNvPr id="16" name="s0_text_15"/>
          <p:cNvSpPr txBox="1"/>
          <p:nvPr/>
        </p:nvSpPr>
        <p:spPr>
          <a:xfrm>
            <a:off x="548640" y="2980944"/>
            <a:ext cx="18745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XGBoost</a:t>
            </a:r>
            <a:endParaRPr lang="en-US" sz="1600" dirty="0"/>
          </a:p>
        </p:txBody>
      </p:sp>
      <p:sp>
        <p:nvSpPr>
          <p:cNvPr id="17" name="s0_rect_16"/>
          <p:cNvSpPr/>
          <p:nvPr/>
        </p:nvSpPr>
        <p:spPr>
          <a:xfrm>
            <a:off x="2514600" y="2944368"/>
            <a:ext cx="2238425" cy="384048"/>
          </a:xfrm>
          <a:prstGeom prst="rect">
            <a:avLst/>
          </a:prstGeom>
          <a:solidFill>
            <a:srgbClr val="D2DCE6"/>
          </a:solidFill>
          <a:ln/>
        </p:spPr>
      </p:sp>
      <p:sp>
        <p:nvSpPr>
          <p:cNvPr id="18" name="s0_text_17"/>
          <p:cNvSpPr txBox="1"/>
          <p:nvPr/>
        </p:nvSpPr>
        <p:spPr>
          <a:xfrm>
            <a:off x="4844465" y="2980944"/>
            <a:ext cx="164592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31.156</a:t>
            </a:r>
            <a:pPr algn="l" indent="0" marL="0">
              <a:buNone/>
            </a:pPr>
            <a:r>
              <a:rPr lang="en-US" sz="1200" dirty="0">
                <a:solidFill>
                  <a:srgbClr val="627D98"/>
                </a:solidFill>
                <a:latin typeface="Aptos" pitchFamily="34" charset="0"/>
                <a:ea typeface="Aptos" pitchFamily="34" charset="-122"/>
                <a:cs typeface="Aptos" pitchFamily="34" charset="-120"/>
              </a:rPr>
              <a:t>  outside band</a:t>
            </a:r>
            <a:endParaRPr lang="en-US" sz="1600" dirty="0"/>
          </a:p>
        </p:txBody>
      </p:sp>
      <p:sp>
        <p:nvSpPr>
          <p:cNvPr id="19" name="s0_text_18"/>
          <p:cNvSpPr txBox="1"/>
          <p:nvPr/>
        </p:nvSpPr>
        <p:spPr>
          <a:xfrm>
            <a:off x="548640" y="3529584"/>
            <a:ext cx="18745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Ridge</a:t>
            </a:r>
            <a:endParaRPr lang="en-US" sz="1600" dirty="0"/>
          </a:p>
        </p:txBody>
      </p:sp>
      <p:sp>
        <p:nvSpPr>
          <p:cNvPr id="20" name="s0_rect_19"/>
          <p:cNvSpPr/>
          <p:nvPr/>
        </p:nvSpPr>
        <p:spPr>
          <a:xfrm>
            <a:off x="2514600" y="3493008"/>
            <a:ext cx="2264290" cy="384048"/>
          </a:xfrm>
          <a:prstGeom prst="rect">
            <a:avLst/>
          </a:prstGeom>
          <a:solidFill>
            <a:srgbClr val="D2DCE6"/>
          </a:solidFill>
          <a:ln/>
        </p:spPr>
      </p:sp>
      <p:sp>
        <p:nvSpPr>
          <p:cNvPr id="21" name="s0_text_20"/>
          <p:cNvSpPr txBox="1"/>
          <p:nvPr/>
        </p:nvSpPr>
        <p:spPr>
          <a:xfrm>
            <a:off x="4870330" y="3529584"/>
            <a:ext cx="164592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31.516</a:t>
            </a:r>
            <a:pPr algn="l" indent="0" marL="0">
              <a:buNone/>
            </a:pPr>
            <a:r>
              <a:rPr lang="en-US" sz="1200" dirty="0">
                <a:solidFill>
                  <a:srgbClr val="627D98"/>
                </a:solidFill>
                <a:latin typeface="Aptos" pitchFamily="34" charset="0"/>
                <a:ea typeface="Aptos" pitchFamily="34" charset="-122"/>
                <a:cs typeface="Aptos" pitchFamily="34" charset="-120"/>
              </a:rPr>
              <a:t>  outside band</a:t>
            </a:r>
            <a:endParaRPr lang="en-US" sz="1600" dirty="0"/>
          </a:p>
        </p:txBody>
      </p:sp>
      <p:sp>
        <p:nvSpPr>
          <p:cNvPr id="22" name="s1_rect_21"/>
          <p:cNvSpPr/>
          <p:nvPr/>
        </p:nvSpPr>
        <p:spPr>
          <a:xfrm>
            <a:off x="548640" y="4297680"/>
            <a:ext cx="5760720" cy="1097280"/>
          </a:xfrm>
          <a:prstGeom prst="roundRect">
            <a:avLst>
              <a:gd name="adj" fmla="val 6667"/>
            </a:avLst>
          </a:prstGeom>
          <a:solidFill>
            <a:srgbClr val="E3F5FA"/>
          </a:solidFill>
          <a:ln/>
        </p:spPr>
      </p:sp>
      <p:sp>
        <p:nvSpPr>
          <p:cNvPr id="23" name="s1_text_22"/>
          <p:cNvSpPr txBox="1"/>
          <p:nvPr/>
        </p:nvSpPr>
        <p:spPr>
          <a:xfrm>
            <a:off x="777240" y="4407408"/>
            <a:ext cx="5394960" cy="914400"/>
          </a:xfrm>
          <a:prstGeom prst="rect">
            <a:avLst/>
          </a:prstGeom>
          <a:noFill/>
          <a:ln/>
        </p:spPr>
        <p:txBody>
          <a:bodyPr wrap="square" lIns="0" tIns="0" rIns="0" bIns="0" rtlCol="0" anchor="t"/>
          <a:lstStyle/>
          <a:p>
            <a:pPr algn="l" indent="0" marL="0">
              <a:buNone/>
            </a:pPr>
            <a:r>
              <a:rPr lang="en-US" sz="2000" b="1" dirty="0">
                <a:solidFill>
                  <a:srgbClr val="007E99"/>
                </a:solidFill>
                <a:latin typeface="Aptos" pitchFamily="34" charset="0"/>
                <a:ea typeface="Aptos" pitchFamily="34" charset="-122"/>
                <a:cs typeface="Aptos" pitchFamily="34" charset="-120"/>
              </a:rPr>
              <a:t>Δ = 0.077 cycles</a:t>
            </a:r>
            <a:endParaRPr lang="en-US" sz="2000" dirty="0"/>
          </a:p>
          <a:p>
            <a:pPr algn="l" indent="0" marL="0">
              <a:buNone/>
            </a:pPr>
            <a:r>
              <a:rPr lang="en-US" sz="1600" dirty="0">
                <a:solidFill>
                  <a:srgbClr val="102A43"/>
                </a:solidFill>
                <a:latin typeface="Aptos" pitchFamily="34" charset="0"/>
                <a:ea typeface="Aptos" pitchFamily="34" charset="-122"/>
                <a:cs typeface="Aptos" pitchFamily="34" charset="-120"/>
              </a:rPr>
              <a:t>Both inside the predeclared 1% practical-equivalence band</a:t>
            </a:r>
            <a:endParaRPr lang="en-US" sz="2000" dirty="0"/>
          </a:p>
        </p:txBody>
      </p:sp>
      <p:sp>
        <p:nvSpPr>
          <p:cNvPr id="24" name="s2_text_23"/>
          <p:cNvSpPr txBox="1"/>
          <p:nvPr/>
        </p:nvSpPr>
        <p:spPr>
          <a:xfrm>
            <a:off x="6720840" y="1325880"/>
            <a:ext cx="4937760" cy="310896"/>
          </a:xfrm>
          <a:prstGeom prst="rect">
            <a:avLst/>
          </a:prstGeom>
          <a:noFill/>
          <a:ln/>
        </p:spPr>
        <p:txBody>
          <a:bodyPr wrap="square" lIns="0" tIns="0" rIns="0" bIns="0" rtlCol="0" anchor="t"/>
          <a:lstStyle/>
          <a:p>
            <a:pPr algn="l" indent="0" marL="0">
              <a:buNone/>
            </a:pPr>
            <a:r>
              <a:rPr lang="en-US" sz="1500" b="1" dirty="0">
                <a:solidFill>
                  <a:srgbClr val="627D98"/>
                </a:solidFill>
                <a:latin typeface="Aptos" pitchFamily="34" charset="0"/>
                <a:ea typeface="Aptos" pitchFamily="34" charset="-122"/>
                <a:cs typeface="Aptos" pitchFamily="34" charset="-120"/>
              </a:rPr>
              <a:t>Tie-break: mean PHM penalty (lower is better)</a:t>
            </a:r>
            <a:endParaRPr lang="en-US" sz="1500" dirty="0"/>
          </a:p>
        </p:txBody>
      </p:sp>
      <p:sp>
        <p:nvSpPr>
          <p:cNvPr id="25" name="s2_line_24"/>
          <p:cNvSpPr/>
          <p:nvPr/>
        </p:nvSpPr>
        <p:spPr>
          <a:xfrm>
            <a:off x="8412480" y="1783080"/>
            <a:ext cx="91" cy="1188720"/>
          </a:xfrm>
          <a:prstGeom prst="line">
            <a:avLst/>
          </a:prstGeom>
          <a:noFill/>
          <a:ln w="12700">
            <a:solidFill>
              <a:srgbClr val="102A43"/>
            </a:solidFill>
            <a:prstDash val="solid"/>
          </a:ln>
        </p:spPr>
      </p:sp>
      <p:sp>
        <p:nvSpPr>
          <p:cNvPr id="26" name="s2_text_25"/>
          <p:cNvSpPr txBox="1"/>
          <p:nvPr/>
        </p:nvSpPr>
        <p:spPr>
          <a:xfrm>
            <a:off x="6720840" y="1883664"/>
            <a:ext cx="1600200" cy="329184"/>
          </a:xfrm>
          <a:prstGeom prst="rect">
            <a:avLst/>
          </a:prstGeom>
          <a:noFill/>
          <a:ln/>
        </p:spPr>
        <p:txBody>
          <a:bodyPr wrap="square" lIns="0" tIns="0" rIns="0" bIns="0" rtlCol="0" anchor="t"/>
          <a:lstStyle/>
          <a:p>
            <a:pPr algn="r" indent="0" marL="0">
              <a:buNone/>
            </a:pPr>
            <a:r>
              <a:rPr lang="en-US" sz="1600" b="1" dirty="0">
                <a:solidFill>
                  <a:srgbClr val="102A43"/>
                </a:solidFill>
                <a:latin typeface="Aptos" pitchFamily="34" charset="0"/>
                <a:ea typeface="Aptos" pitchFamily="34" charset="-122"/>
                <a:cs typeface="Aptos" pitchFamily="34" charset="-120"/>
              </a:rPr>
              <a:t>Random Forest</a:t>
            </a:r>
            <a:endParaRPr lang="en-US" sz="1600" dirty="0"/>
          </a:p>
        </p:txBody>
      </p:sp>
      <p:sp>
        <p:nvSpPr>
          <p:cNvPr id="27" name="s2_rect_26"/>
          <p:cNvSpPr/>
          <p:nvPr/>
        </p:nvSpPr>
        <p:spPr>
          <a:xfrm>
            <a:off x="8412480" y="1847088"/>
            <a:ext cx="1170120" cy="384048"/>
          </a:xfrm>
          <a:prstGeom prst="rect">
            <a:avLst/>
          </a:prstGeom>
          <a:solidFill>
            <a:srgbClr val="00A6C8"/>
          </a:solidFill>
          <a:ln/>
        </p:spPr>
      </p:sp>
      <p:sp>
        <p:nvSpPr>
          <p:cNvPr id="28" name="s2_text_27"/>
          <p:cNvSpPr txBox="1"/>
          <p:nvPr/>
        </p:nvSpPr>
        <p:spPr>
          <a:xfrm>
            <a:off x="9674040" y="1883664"/>
            <a:ext cx="9144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83.67</a:t>
            </a:r>
            <a:endParaRPr lang="en-US" sz="1600" dirty="0"/>
          </a:p>
        </p:txBody>
      </p:sp>
      <p:sp>
        <p:nvSpPr>
          <p:cNvPr id="29" name="s2_text_28"/>
          <p:cNvSpPr txBox="1"/>
          <p:nvPr/>
        </p:nvSpPr>
        <p:spPr>
          <a:xfrm>
            <a:off x="6720840" y="2432304"/>
            <a:ext cx="160020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Naive age-only</a:t>
            </a:r>
            <a:endParaRPr lang="en-US" sz="1600" dirty="0"/>
          </a:p>
        </p:txBody>
      </p:sp>
      <p:sp>
        <p:nvSpPr>
          <p:cNvPr id="30" name="s2_rect_29"/>
          <p:cNvSpPr/>
          <p:nvPr/>
        </p:nvSpPr>
        <p:spPr>
          <a:xfrm>
            <a:off x="8412480" y="2395728"/>
            <a:ext cx="2187804" cy="384048"/>
          </a:xfrm>
          <a:prstGeom prst="rect">
            <a:avLst/>
          </a:prstGeom>
          <a:solidFill>
            <a:srgbClr val="9FB3C8"/>
          </a:solidFill>
          <a:ln/>
        </p:spPr>
      </p:sp>
      <p:sp>
        <p:nvSpPr>
          <p:cNvPr id="31" name="s2_text_30"/>
          <p:cNvSpPr txBox="1"/>
          <p:nvPr/>
        </p:nvSpPr>
        <p:spPr>
          <a:xfrm>
            <a:off x="10691724" y="2432304"/>
            <a:ext cx="9144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156.44</a:t>
            </a:r>
            <a:endParaRPr lang="en-US" sz="1600" dirty="0"/>
          </a:p>
        </p:txBody>
      </p:sp>
      <p:sp>
        <p:nvSpPr>
          <p:cNvPr id="32" name="s2_text_31"/>
          <p:cNvSpPr txBox="1"/>
          <p:nvPr/>
        </p:nvSpPr>
        <p:spPr>
          <a:xfrm>
            <a:off x="6720840" y="3154680"/>
            <a:ext cx="4937760" cy="566928"/>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Late (optimistic) error costs more: exp(e/10) − 1 if e ≥ 0, exp(−e/13) − 1 if e &lt; 0</a:t>
            </a:r>
            <a:endParaRPr lang="en-US" sz="1400" dirty="0"/>
          </a:p>
        </p:txBody>
      </p:sp>
      <p:sp>
        <p:nvSpPr>
          <p:cNvPr id="33" name="s3_rect_32"/>
          <p:cNvSpPr/>
          <p:nvPr/>
        </p:nvSpPr>
        <p:spPr>
          <a:xfrm>
            <a:off x="6720840" y="4297680"/>
            <a:ext cx="4919472" cy="1097280"/>
          </a:xfrm>
          <a:prstGeom prst="roundRect">
            <a:avLst>
              <a:gd name="adj" fmla="val 6667"/>
            </a:avLst>
          </a:prstGeom>
          <a:solidFill>
            <a:srgbClr val="FFFFFF"/>
          </a:solidFill>
          <a:ln w="19050">
            <a:solidFill>
              <a:srgbClr val="00A6C8"/>
            </a:solidFill>
            <a:prstDash val="solid"/>
          </a:ln>
        </p:spPr>
      </p:sp>
      <p:sp>
        <p:nvSpPr>
          <p:cNvPr id="34" name="s3_text_33"/>
          <p:cNvSpPr txBox="1"/>
          <p:nvPr/>
        </p:nvSpPr>
        <p:spPr>
          <a:xfrm>
            <a:off x="6949440" y="4407408"/>
            <a:ext cx="4526280" cy="914400"/>
          </a:xfrm>
          <a:prstGeom prst="rect">
            <a:avLst/>
          </a:prstGeom>
          <a:noFill/>
          <a:ln/>
        </p:spPr>
        <p:txBody>
          <a:bodyPr wrap="square" lIns="0" tIns="0" rIns="0" bIns="0" rtlCol="0" anchor="t"/>
          <a:lstStyle/>
          <a:p>
            <a:pPr algn="l" indent="0" marL="0">
              <a:buNone/>
            </a:pPr>
            <a:r>
              <a:rPr lang="en-US" sz="2000" b="1" dirty="0">
                <a:solidFill>
                  <a:srgbClr val="102A43"/>
                </a:solidFill>
                <a:latin typeface="Aptos" pitchFamily="34" charset="0"/>
                <a:ea typeface="Aptos" pitchFamily="34" charset="-122"/>
                <a:cs typeface="Aptos" pitchFamily="34" charset="-120"/>
              </a:rPr>
              <a:t>Selected: Random Forest</a:t>
            </a:r>
            <a:endParaRPr lang="en-US" sz="2000" dirty="0"/>
          </a:p>
          <a:p>
            <a:pPr algn="l" indent="0" marL="0">
              <a:buNone/>
            </a:pPr>
            <a:r>
              <a:rPr lang="en-US" sz="1600" dirty="0">
                <a:solidFill>
                  <a:srgbClr val="627D98"/>
                </a:solidFill>
                <a:latin typeface="Aptos" pitchFamily="34" charset="0"/>
                <a:ea typeface="Aptos" pitchFamily="34" charset="-122"/>
                <a:cs typeface="Aptos" pitchFamily="34" charset="-120"/>
              </a:rPr>
              <a:t>by the asymmetric criterion — not by a large RMSE gain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400"/>
                                        <p:tgtEl>
                                          <p:spTgt spid="2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400"/>
                                        <p:tgtEl>
                                          <p:spTgt spid="23"/>
                                        </p:tgtEl>
                                      </p:cBhvr>
                                    </p:animEffect>
                                  </p:childTnLst>
                                </p:cTn>
                              </p:par>
                            </p:childTnLst>
                          </p:cTn>
                        </p:par>
                      </p:childTnLst>
                    </p:cTn>
                  </p:par>
                  <p:par>
                    <p:cTn id="38" fill="hold">
                      <p:stCondLst>
                        <p:cond delay="indefinite"/>
                      </p:stCondLst>
                      <p:childTnLst>
                        <p:par>
                          <p:cTn id="39"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0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4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4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40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3 · APPROACH</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One score per engine sets a deliberately wide radius</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Engine-block split conformal (§4.8; Lei et al., 2018a; Angelopoulos and Bates, 2023)</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rank and assumptions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6 / 13</a:t>
            </a:r>
            <a:endParaRPr lang="en-US" sz="1100" dirty="0"/>
          </a:p>
        </p:txBody>
      </p:sp>
      <p:sp>
        <p:nvSpPr>
          <p:cNvPr id="8" name="s0_rect_7"/>
          <p:cNvSpPr/>
          <p:nvPr/>
        </p:nvSpPr>
        <p:spPr>
          <a:xfrm>
            <a:off x="548640" y="1325880"/>
            <a:ext cx="5486400" cy="1371600"/>
          </a:xfrm>
          <a:prstGeom prst="roundRect">
            <a:avLst>
              <a:gd name="adj" fmla="val 5333"/>
            </a:avLst>
          </a:prstGeom>
          <a:solidFill>
            <a:srgbClr val="FFFFFF"/>
          </a:solidFill>
          <a:ln w="12700">
            <a:solidFill>
              <a:srgbClr val="D9E2EC"/>
            </a:solidFill>
            <a:prstDash val="solid"/>
          </a:ln>
        </p:spPr>
      </p:sp>
      <p:sp>
        <p:nvSpPr>
          <p:cNvPr id="9" name="s0_text_8"/>
          <p:cNvSpPr txBox="1"/>
          <p:nvPr/>
        </p:nvSpPr>
        <p:spPr>
          <a:xfrm>
            <a:off x="777240" y="1417320"/>
            <a:ext cx="5120640" cy="274320"/>
          </a:xfrm>
          <a:prstGeom prst="rect">
            <a:avLst/>
          </a:prstGeom>
          <a:noFill/>
          <a:ln/>
        </p:spPr>
        <p:txBody>
          <a:bodyPr wrap="square" lIns="0" tIns="0" rIns="0" bIns="0" rtlCol="0" anchor="t"/>
          <a:lstStyle/>
          <a:p>
            <a:pPr algn="l" indent="0" marL="0">
              <a:buNone/>
            </a:pPr>
            <a:r>
              <a:rPr lang="en-US" sz="1400" b="1" dirty="0">
                <a:solidFill>
                  <a:srgbClr val="627D98"/>
                </a:solidFill>
                <a:latin typeface="Aptos" pitchFamily="34" charset="0"/>
                <a:ea typeface="Aptos" pitchFamily="34" charset="-122"/>
                <a:cs typeface="Aptos" pitchFamily="34" charset="-120"/>
              </a:rPr>
              <a:t>Score for each calibration engine i</a:t>
            </a:r>
            <a:endParaRPr lang="en-US" sz="1400" dirty="0"/>
          </a:p>
        </p:txBody>
      </p:sp>
      <p:sp>
        <p:nvSpPr>
          <p:cNvPr id="10" name="s0_text_9"/>
          <p:cNvSpPr txBox="1"/>
          <p:nvPr/>
        </p:nvSpPr>
        <p:spPr>
          <a:xfrm>
            <a:off x="777240" y="1737360"/>
            <a:ext cx="5120640" cy="457200"/>
          </a:xfrm>
          <a:prstGeom prst="rect">
            <a:avLst/>
          </a:prstGeom>
          <a:noFill/>
          <a:ln/>
        </p:spPr>
        <p:txBody>
          <a:bodyPr wrap="square" lIns="0" tIns="0" rIns="0" bIns="0" rtlCol="0" anchor="t"/>
          <a:lstStyle/>
          <a:p>
            <a:pPr algn="l" indent="0" marL="0">
              <a:buNone/>
            </a:pPr>
            <a:r>
              <a:rPr lang="en-US" sz="2400" b="1" dirty="0">
                <a:solidFill>
                  <a:srgbClr val="102A43"/>
                </a:solidFill>
                <a:latin typeface="Aptos" pitchFamily="34" charset="0"/>
                <a:ea typeface="Aptos" pitchFamily="34" charset="-122"/>
                <a:cs typeface="Aptos" pitchFamily="34" charset="-120"/>
              </a:rPr>
              <a:t>sᵢ = maxₜ | ŷ(i, t) − y(i, t) |</a:t>
            </a:r>
            <a:endParaRPr lang="en-US" sz="2400" dirty="0"/>
          </a:p>
        </p:txBody>
      </p:sp>
      <p:sp>
        <p:nvSpPr>
          <p:cNvPr id="11" name="s0_text_10"/>
          <p:cNvSpPr txBox="1"/>
          <p:nvPr/>
        </p:nvSpPr>
        <p:spPr>
          <a:xfrm>
            <a:off x="777240" y="2240280"/>
            <a:ext cx="5120640" cy="36576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largest absolute residual over the whole trajectory · n = 20</a:t>
            </a:r>
            <a:endParaRPr lang="en-US" sz="1400" dirty="0"/>
          </a:p>
        </p:txBody>
      </p:sp>
      <p:sp>
        <p:nvSpPr>
          <p:cNvPr id="12" name="s0_text_11"/>
          <p:cNvSpPr txBox="1"/>
          <p:nvPr/>
        </p:nvSpPr>
        <p:spPr>
          <a:xfrm>
            <a:off x="6355080" y="1371600"/>
            <a:ext cx="5303520" cy="1325880"/>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Nominal coverage 90% · interval ŷ ± q̂</a:t>
            </a:r>
            <a:endParaRPr lang="en-US" sz="1600" dirty="0"/>
          </a:p>
          <a:p>
            <a:pPr algn="l" indent="0" marL="0">
              <a:buNone/>
            </a:pPr>
            <a:r>
              <a:rPr lang="en-US" sz="1600" dirty="0">
                <a:solidFill>
                  <a:srgbClr val="102A43"/>
                </a:solidFill>
                <a:latin typeface="Aptos" pitchFamily="34" charset="0"/>
                <a:ea typeface="Aptos" pitchFamily="34" charset="-122"/>
                <a:cs typeface="Aptos" pitchFamily="34" charset="-120"/>
              </a:rPr>
              <a:t>Lower bound clipped at 0 cycles</a:t>
            </a:r>
            <a:endParaRPr lang="en-US" sz="1600" dirty="0"/>
          </a:p>
          <a:p>
            <a:pPr algn="l" indent="0" marL="0">
              <a:buNone/>
            </a:pPr>
            <a:r>
              <a:rPr lang="en-US" sz="1600" b="1" dirty="0">
                <a:solidFill>
                  <a:srgbClr val="9A6700"/>
                </a:solidFill>
                <a:latin typeface="Aptos" pitchFamily="34" charset="0"/>
                <a:ea typeface="Aptos" pitchFamily="34" charset="-122"/>
                <a:cs typeface="Aptos" pitchFamily="34" charset="-120"/>
              </a:rPr>
              <a:t>Validity is marginal: it assumes exchangeable engines and a prespecified score</a:t>
            </a:r>
            <a:endParaRPr lang="en-US" sz="1600" dirty="0"/>
          </a:p>
        </p:txBody>
      </p:sp>
      <p:sp>
        <p:nvSpPr>
          <p:cNvPr id="13" name="s1_text_12"/>
          <p:cNvSpPr txBox="1"/>
          <p:nvPr/>
        </p:nvSpPr>
        <p:spPr>
          <a:xfrm>
            <a:off x="548640" y="2880360"/>
            <a:ext cx="8229600" cy="274320"/>
          </a:xfrm>
          <a:prstGeom prst="rect">
            <a:avLst/>
          </a:prstGeom>
          <a:noFill/>
          <a:ln/>
        </p:spPr>
        <p:txBody>
          <a:bodyPr wrap="square" lIns="0" tIns="0" rIns="0" bIns="0" rtlCol="0" anchor="t"/>
          <a:lstStyle/>
          <a:p>
            <a:pPr algn="l" indent="0" marL="0">
              <a:buNone/>
            </a:pPr>
            <a:r>
              <a:rPr lang="en-US" sz="1300" dirty="0">
                <a:solidFill>
                  <a:srgbClr val="627D98"/>
                </a:solidFill>
                <a:latin typeface="Aptos" pitchFamily="34" charset="0"/>
                <a:ea typeface="Aptos" pitchFamily="34" charset="-122"/>
                <a:cs typeface="Aptos" pitchFamily="34" charset="-120"/>
              </a:rPr>
              <a:t>20 engine scores, sorted ascending (rank positions only; values in Figure 4.5)</a:t>
            </a:r>
            <a:endParaRPr lang="en-US" sz="1300" dirty="0"/>
          </a:p>
        </p:txBody>
      </p:sp>
      <p:sp>
        <p:nvSpPr>
          <p:cNvPr id="14" name="s1_rect_13"/>
          <p:cNvSpPr/>
          <p:nvPr/>
        </p:nvSpPr>
        <p:spPr>
          <a:xfrm>
            <a:off x="548640" y="3200400"/>
            <a:ext cx="475488" cy="475488"/>
          </a:xfrm>
          <a:prstGeom prst="roundRect">
            <a:avLst>
              <a:gd name="adj" fmla="val 9615"/>
            </a:avLst>
          </a:prstGeom>
          <a:solidFill>
            <a:srgbClr val="FFFFFF"/>
          </a:solidFill>
          <a:ln w="12700">
            <a:solidFill>
              <a:srgbClr val="9FB3C8"/>
            </a:solidFill>
            <a:prstDash val="solid"/>
          </a:ln>
        </p:spPr>
      </p:sp>
      <p:sp>
        <p:nvSpPr>
          <p:cNvPr id="15" name="s1_text_14"/>
          <p:cNvSpPr txBox="1"/>
          <p:nvPr/>
        </p:nvSpPr>
        <p:spPr>
          <a:xfrm>
            <a:off x="548640"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a:t>
            </a:r>
            <a:endParaRPr lang="en-US" sz="1400" dirty="0"/>
          </a:p>
        </p:txBody>
      </p:sp>
      <p:sp>
        <p:nvSpPr>
          <p:cNvPr id="16" name="s1_rect_15"/>
          <p:cNvSpPr/>
          <p:nvPr/>
        </p:nvSpPr>
        <p:spPr>
          <a:xfrm>
            <a:off x="1104595" y="3200400"/>
            <a:ext cx="475488" cy="475488"/>
          </a:xfrm>
          <a:prstGeom prst="roundRect">
            <a:avLst>
              <a:gd name="adj" fmla="val 9615"/>
            </a:avLst>
          </a:prstGeom>
          <a:solidFill>
            <a:srgbClr val="FFFFFF"/>
          </a:solidFill>
          <a:ln w="12700">
            <a:solidFill>
              <a:srgbClr val="9FB3C8"/>
            </a:solidFill>
            <a:prstDash val="solid"/>
          </a:ln>
        </p:spPr>
      </p:sp>
      <p:sp>
        <p:nvSpPr>
          <p:cNvPr id="17" name="s1_text_16"/>
          <p:cNvSpPr txBox="1"/>
          <p:nvPr/>
        </p:nvSpPr>
        <p:spPr>
          <a:xfrm>
            <a:off x="1104595"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2</a:t>
            </a:r>
            <a:endParaRPr lang="en-US" sz="1400" dirty="0"/>
          </a:p>
        </p:txBody>
      </p:sp>
      <p:sp>
        <p:nvSpPr>
          <p:cNvPr id="18" name="s1_rect_17"/>
          <p:cNvSpPr/>
          <p:nvPr/>
        </p:nvSpPr>
        <p:spPr>
          <a:xfrm>
            <a:off x="1660550" y="3200400"/>
            <a:ext cx="475488" cy="475488"/>
          </a:xfrm>
          <a:prstGeom prst="roundRect">
            <a:avLst>
              <a:gd name="adj" fmla="val 9615"/>
            </a:avLst>
          </a:prstGeom>
          <a:solidFill>
            <a:srgbClr val="FFFFFF"/>
          </a:solidFill>
          <a:ln w="12700">
            <a:solidFill>
              <a:srgbClr val="9FB3C8"/>
            </a:solidFill>
            <a:prstDash val="solid"/>
          </a:ln>
        </p:spPr>
      </p:sp>
      <p:sp>
        <p:nvSpPr>
          <p:cNvPr id="19" name="s1_text_18"/>
          <p:cNvSpPr txBox="1"/>
          <p:nvPr/>
        </p:nvSpPr>
        <p:spPr>
          <a:xfrm>
            <a:off x="1660550"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3</a:t>
            </a:r>
            <a:endParaRPr lang="en-US" sz="1400" dirty="0"/>
          </a:p>
        </p:txBody>
      </p:sp>
      <p:sp>
        <p:nvSpPr>
          <p:cNvPr id="20" name="s1_rect_19"/>
          <p:cNvSpPr/>
          <p:nvPr/>
        </p:nvSpPr>
        <p:spPr>
          <a:xfrm>
            <a:off x="2216506" y="3200400"/>
            <a:ext cx="475488" cy="475488"/>
          </a:xfrm>
          <a:prstGeom prst="roundRect">
            <a:avLst>
              <a:gd name="adj" fmla="val 9615"/>
            </a:avLst>
          </a:prstGeom>
          <a:solidFill>
            <a:srgbClr val="FFFFFF"/>
          </a:solidFill>
          <a:ln w="12700">
            <a:solidFill>
              <a:srgbClr val="9FB3C8"/>
            </a:solidFill>
            <a:prstDash val="solid"/>
          </a:ln>
        </p:spPr>
      </p:sp>
      <p:sp>
        <p:nvSpPr>
          <p:cNvPr id="21" name="s1_text_20"/>
          <p:cNvSpPr txBox="1"/>
          <p:nvPr/>
        </p:nvSpPr>
        <p:spPr>
          <a:xfrm>
            <a:off x="2216506"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4</a:t>
            </a:r>
            <a:endParaRPr lang="en-US" sz="1400" dirty="0"/>
          </a:p>
        </p:txBody>
      </p:sp>
      <p:sp>
        <p:nvSpPr>
          <p:cNvPr id="22" name="s1_rect_21"/>
          <p:cNvSpPr/>
          <p:nvPr/>
        </p:nvSpPr>
        <p:spPr>
          <a:xfrm>
            <a:off x="2772461" y="3200400"/>
            <a:ext cx="475488" cy="475488"/>
          </a:xfrm>
          <a:prstGeom prst="roundRect">
            <a:avLst>
              <a:gd name="adj" fmla="val 9615"/>
            </a:avLst>
          </a:prstGeom>
          <a:solidFill>
            <a:srgbClr val="FFFFFF"/>
          </a:solidFill>
          <a:ln w="12700">
            <a:solidFill>
              <a:srgbClr val="9FB3C8"/>
            </a:solidFill>
            <a:prstDash val="solid"/>
          </a:ln>
        </p:spPr>
      </p:sp>
      <p:sp>
        <p:nvSpPr>
          <p:cNvPr id="23" name="s1_text_22"/>
          <p:cNvSpPr txBox="1"/>
          <p:nvPr/>
        </p:nvSpPr>
        <p:spPr>
          <a:xfrm>
            <a:off x="2772461"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5</a:t>
            </a:r>
            <a:endParaRPr lang="en-US" sz="1400" dirty="0"/>
          </a:p>
        </p:txBody>
      </p:sp>
      <p:sp>
        <p:nvSpPr>
          <p:cNvPr id="24" name="s1_rect_23"/>
          <p:cNvSpPr/>
          <p:nvPr/>
        </p:nvSpPr>
        <p:spPr>
          <a:xfrm>
            <a:off x="3328416" y="3200400"/>
            <a:ext cx="475488" cy="475488"/>
          </a:xfrm>
          <a:prstGeom prst="roundRect">
            <a:avLst>
              <a:gd name="adj" fmla="val 9615"/>
            </a:avLst>
          </a:prstGeom>
          <a:solidFill>
            <a:srgbClr val="FFFFFF"/>
          </a:solidFill>
          <a:ln w="12700">
            <a:solidFill>
              <a:srgbClr val="9FB3C8"/>
            </a:solidFill>
            <a:prstDash val="solid"/>
          </a:ln>
        </p:spPr>
      </p:sp>
      <p:sp>
        <p:nvSpPr>
          <p:cNvPr id="25" name="s1_text_24"/>
          <p:cNvSpPr txBox="1"/>
          <p:nvPr/>
        </p:nvSpPr>
        <p:spPr>
          <a:xfrm>
            <a:off x="3328416"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6</a:t>
            </a:r>
            <a:endParaRPr lang="en-US" sz="1400" dirty="0"/>
          </a:p>
        </p:txBody>
      </p:sp>
      <p:sp>
        <p:nvSpPr>
          <p:cNvPr id="26" name="s1_rect_25"/>
          <p:cNvSpPr/>
          <p:nvPr/>
        </p:nvSpPr>
        <p:spPr>
          <a:xfrm>
            <a:off x="3884371" y="3200400"/>
            <a:ext cx="475488" cy="475488"/>
          </a:xfrm>
          <a:prstGeom prst="roundRect">
            <a:avLst>
              <a:gd name="adj" fmla="val 9615"/>
            </a:avLst>
          </a:prstGeom>
          <a:solidFill>
            <a:srgbClr val="FFFFFF"/>
          </a:solidFill>
          <a:ln w="12700">
            <a:solidFill>
              <a:srgbClr val="9FB3C8"/>
            </a:solidFill>
            <a:prstDash val="solid"/>
          </a:ln>
        </p:spPr>
      </p:sp>
      <p:sp>
        <p:nvSpPr>
          <p:cNvPr id="27" name="s1_text_26"/>
          <p:cNvSpPr txBox="1"/>
          <p:nvPr/>
        </p:nvSpPr>
        <p:spPr>
          <a:xfrm>
            <a:off x="3884371"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7</a:t>
            </a:r>
            <a:endParaRPr lang="en-US" sz="1400" dirty="0"/>
          </a:p>
        </p:txBody>
      </p:sp>
      <p:sp>
        <p:nvSpPr>
          <p:cNvPr id="28" name="s1_rect_27"/>
          <p:cNvSpPr/>
          <p:nvPr/>
        </p:nvSpPr>
        <p:spPr>
          <a:xfrm>
            <a:off x="4440326" y="3200400"/>
            <a:ext cx="475488" cy="475488"/>
          </a:xfrm>
          <a:prstGeom prst="roundRect">
            <a:avLst>
              <a:gd name="adj" fmla="val 9615"/>
            </a:avLst>
          </a:prstGeom>
          <a:solidFill>
            <a:srgbClr val="FFFFFF"/>
          </a:solidFill>
          <a:ln w="12700">
            <a:solidFill>
              <a:srgbClr val="9FB3C8"/>
            </a:solidFill>
            <a:prstDash val="solid"/>
          </a:ln>
        </p:spPr>
      </p:sp>
      <p:sp>
        <p:nvSpPr>
          <p:cNvPr id="29" name="s1_text_28"/>
          <p:cNvSpPr txBox="1"/>
          <p:nvPr/>
        </p:nvSpPr>
        <p:spPr>
          <a:xfrm>
            <a:off x="4440326"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8</a:t>
            </a:r>
            <a:endParaRPr lang="en-US" sz="1400" dirty="0"/>
          </a:p>
        </p:txBody>
      </p:sp>
      <p:sp>
        <p:nvSpPr>
          <p:cNvPr id="30" name="s1_rect_29"/>
          <p:cNvSpPr/>
          <p:nvPr/>
        </p:nvSpPr>
        <p:spPr>
          <a:xfrm>
            <a:off x="4996282" y="3200400"/>
            <a:ext cx="475488" cy="475488"/>
          </a:xfrm>
          <a:prstGeom prst="roundRect">
            <a:avLst>
              <a:gd name="adj" fmla="val 9615"/>
            </a:avLst>
          </a:prstGeom>
          <a:solidFill>
            <a:srgbClr val="FFFFFF"/>
          </a:solidFill>
          <a:ln w="12700">
            <a:solidFill>
              <a:srgbClr val="9FB3C8"/>
            </a:solidFill>
            <a:prstDash val="solid"/>
          </a:ln>
        </p:spPr>
      </p:sp>
      <p:sp>
        <p:nvSpPr>
          <p:cNvPr id="31" name="s1_text_30"/>
          <p:cNvSpPr txBox="1"/>
          <p:nvPr/>
        </p:nvSpPr>
        <p:spPr>
          <a:xfrm>
            <a:off x="4996282"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9</a:t>
            </a:r>
            <a:endParaRPr lang="en-US" sz="1400" dirty="0"/>
          </a:p>
        </p:txBody>
      </p:sp>
      <p:sp>
        <p:nvSpPr>
          <p:cNvPr id="32" name="s1_rect_31"/>
          <p:cNvSpPr/>
          <p:nvPr/>
        </p:nvSpPr>
        <p:spPr>
          <a:xfrm>
            <a:off x="5552237" y="3200400"/>
            <a:ext cx="475488" cy="475488"/>
          </a:xfrm>
          <a:prstGeom prst="roundRect">
            <a:avLst>
              <a:gd name="adj" fmla="val 9615"/>
            </a:avLst>
          </a:prstGeom>
          <a:solidFill>
            <a:srgbClr val="FFFFFF"/>
          </a:solidFill>
          <a:ln w="12700">
            <a:solidFill>
              <a:srgbClr val="9FB3C8"/>
            </a:solidFill>
            <a:prstDash val="solid"/>
          </a:ln>
        </p:spPr>
      </p:sp>
      <p:sp>
        <p:nvSpPr>
          <p:cNvPr id="33" name="s1_text_32"/>
          <p:cNvSpPr txBox="1"/>
          <p:nvPr/>
        </p:nvSpPr>
        <p:spPr>
          <a:xfrm>
            <a:off x="5552237"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10</a:t>
            </a:r>
            <a:endParaRPr lang="en-US" sz="1400" dirty="0"/>
          </a:p>
        </p:txBody>
      </p:sp>
      <p:sp>
        <p:nvSpPr>
          <p:cNvPr id="34" name="s1_rect_33"/>
          <p:cNvSpPr/>
          <p:nvPr/>
        </p:nvSpPr>
        <p:spPr>
          <a:xfrm>
            <a:off x="6108192" y="3200400"/>
            <a:ext cx="475488" cy="475488"/>
          </a:xfrm>
          <a:prstGeom prst="roundRect">
            <a:avLst>
              <a:gd name="adj" fmla="val 9615"/>
            </a:avLst>
          </a:prstGeom>
          <a:solidFill>
            <a:srgbClr val="FFFFFF"/>
          </a:solidFill>
          <a:ln w="12700">
            <a:solidFill>
              <a:srgbClr val="9FB3C8"/>
            </a:solidFill>
            <a:prstDash val="solid"/>
          </a:ln>
        </p:spPr>
      </p:sp>
      <p:sp>
        <p:nvSpPr>
          <p:cNvPr id="35" name="s1_text_34"/>
          <p:cNvSpPr txBox="1"/>
          <p:nvPr/>
        </p:nvSpPr>
        <p:spPr>
          <a:xfrm>
            <a:off x="6108192"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11</a:t>
            </a:r>
            <a:endParaRPr lang="en-US" sz="1400" dirty="0"/>
          </a:p>
        </p:txBody>
      </p:sp>
      <p:sp>
        <p:nvSpPr>
          <p:cNvPr id="36" name="s1_rect_35"/>
          <p:cNvSpPr/>
          <p:nvPr/>
        </p:nvSpPr>
        <p:spPr>
          <a:xfrm>
            <a:off x="6664147" y="3200400"/>
            <a:ext cx="475488" cy="475488"/>
          </a:xfrm>
          <a:prstGeom prst="roundRect">
            <a:avLst>
              <a:gd name="adj" fmla="val 9615"/>
            </a:avLst>
          </a:prstGeom>
          <a:solidFill>
            <a:srgbClr val="FFFFFF"/>
          </a:solidFill>
          <a:ln w="12700">
            <a:solidFill>
              <a:srgbClr val="9FB3C8"/>
            </a:solidFill>
            <a:prstDash val="solid"/>
          </a:ln>
        </p:spPr>
      </p:sp>
      <p:sp>
        <p:nvSpPr>
          <p:cNvPr id="37" name="s1_text_36"/>
          <p:cNvSpPr txBox="1"/>
          <p:nvPr/>
        </p:nvSpPr>
        <p:spPr>
          <a:xfrm>
            <a:off x="6664147"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12</a:t>
            </a:r>
            <a:endParaRPr lang="en-US" sz="1400" dirty="0"/>
          </a:p>
        </p:txBody>
      </p:sp>
      <p:sp>
        <p:nvSpPr>
          <p:cNvPr id="38" name="s1_rect_37"/>
          <p:cNvSpPr/>
          <p:nvPr/>
        </p:nvSpPr>
        <p:spPr>
          <a:xfrm>
            <a:off x="7220102" y="3200400"/>
            <a:ext cx="475488" cy="475488"/>
          </a:xfrm>
          <a:prstGeom prst="roundRect">
            <a:avLst>
              <a:gd name="adj" fmla="val 9615"/>
            </a:avLst>
          </a:prstGeom>
          <a:solidFill>
            <a:srgbClr val="FFFFFF"/>
          </a:solidFill>
          <a:ln w="12700">
            <a:solidFill>
              <a:srgbClr val="9FB3C8"/>
            </a:solidFill>
            <a:prstDash val="solid"/>
          </a:ln>
        </p:spPr>
      </p:sp>
      <p:sp>
        <p:nvSpPr>
          <p:cNvPr id="39" name="s1_text_38"/>
          <p:cNvSpPr txBox="1"/>
          <p:nvPr/>
        </p:nvSpPr>
        <p:spPr>
          <a:xfrm>
            <a:off x="7220102"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13</a:t>
            </a:r>
            <a:endParaRPr lang="en-US" sz="1400" dirty="0"/>
          </a:p>
        </p:txBody>
      </p:sp>
      <p:sp>
        <p:nvSpPr>
          <p:cNvPr id="40" name="s1_rect_39"/>
          <p:cNvSpPr/>
          <p:nvPr/>
        </p:nvSpPr>
        <p:spPr>
          <a:xfrm>
            <a:off x="7776058" y="3200400"/>
            <a:ext cx="475488" cy="475488"/>
          </a:xfrm>
          <a:prstGeom prst="roundRect">
            <a:avLst>
              <a:gd name="adj" fmla="val 9615"/>
            </a:avLst>
          </a:prstGeom>
          <a:solidFill>
            <a:srgbClr val="FFFFFF"/>
          </a:solidFill>
          <a:ln w="12700">
            <a:solidFill>
              <a:srgbClr val="9FB3C8"/>
            </a:solidFill>
            <a:prstDash val="solid"/>
          </a:ln>
        </p:spPr>
      </p:sp>
      <p:sp>
        <p:nvSpPr>
          <p:cNvPr id="41" name="s1_text_40"/>
          <p:cNvSpPr txBox="1"/>
          <p:nvPr/>
        </p:nvSpPr>
        <p:spPr>
          <a:xfrm>
            <a:off x="7776058"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14</a:t>
            </a:r>
            <a:endParaRPr lang="en-US" sz="1400" dirty="0"/>
          </a:p>
        </p:txBody>
      </p:sp>
      <p:sp>
        <p:nvSpPr>
          <p:cNvPr id="42" name="s1_rect_41"/>
          <p:cNvSpPr/>
          <p:nvPr/>
        </p:nvSpPr>
        <p:spPr>
          <a:xfrm>
            <a:off x="8332013" y="3200400"/>
            <a:ext cx="475488" cy="475488"/>
          </a:xfrm>
          <a:prstGeom prst="roundRect">
            <a:avLst>
              <a:gd name="adj" fmla="val 9615"/>
            </a:avLst>
          </a:prstGeom>
          <a:solidFill>
            <a:srgbClr val="FFFFFF"/>
          </a:solidFill>
          <a:ln w="12700">
            <a:solidFill>
              <a:srgbClr val="9FB3C8"/>
            </a:solidFill>
            <a:prstDash val="solid"/>
          </a:ln>
        </p:spPr>
      </p:sp>
      <p:sp>
        <p:nvSpPr>
          <p:cNvPr id="43" name="s1_text_42"/>
          <p:cNvSpPr txBox="1"/>
          <p:nvPr/>
        </p:nvSpPr>
        <p:spPr>
          <a:xfrm>
            <a:off x="8332013"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15</a:t>
            </a:r>
            <a:endParaRPr lang="en-US" sz="1400" dirty="0"/>
          </a:p>
        </p:txBody>
      </p:sp>
      <p:sp>
        <p:nvSpPr>
          <p:cNvPr id="44" name="s1_rect_43"/>
          <p:cNvSpPr/>
          <p:nvPr/>
        </p:nvSpPr>
        <p:spPr>
          <a:xfrm>
            <a:off x="8887968" y="3200400"/>
            <a:ext cx="475488" cy="475488"/>
          </a:xfrm>
          <a:prstGeom prst="roundRect">
            <a:avLst>
              <a:gd name="adj" fmla="val 9615"/>
            </a:avLst>
          </a:prstGeom>
          <a:solidFill>
            <a:srgbClr val="FFFFFF"/>
          </a:solidFill>
          <a:ln w="12700">
            <a:solidFill>
              <a:srgbClr val="9FB3C8"/>
            </a:solidFill>
            <a:prstDash val="solid"/>
          </a:ln>
        </p:spPr>
      </p:sp>
      <p:sp>
        <p:nvSpPr>
          <p:cNvPr id="45" name="s1_text_44"/>
          <p:cNvSpPr txBox="1"/>
          <p:nvPr/>
        </p:nvSpPr>
        <p:spPr>
          <a:xfrm>
            <a:off x="8887968"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16</a:t>
            </a:r>
            <a:endParaRPr lang="en-US" sz="1400" dirty="0"/>
          </a:p>
        </p:txBody>
      </p:sp>
      <p:sp>
        <p:nvSpPr>
          <p:cNvPr id="46" name="s1_rect_45"/>
          <p:cNvSpPr/>
          <p:nvPr/>
        </p:nvSpPr>
        <p:spPr>
          <a:xfrm>
            <a:off x="9443923" y="3200400"/>
            <a:ext cx="475488" cy="475488"/>
          </a:xfrm>
          <a:prstGeom prst="roundRect">
            <a:avLst>
              <a:gd name="adj" fmla="val 9615"/>
            </a:avLst>
          </a:prstGeom>
          <a:solidFill>
            <a:srgbClr val="FFFFFF"/>
          </a:solidFill>
          <a:ln w="12700">
            <a:solidFill>
              <a:srgbClr val="9FB3C8"/>
            </a:solidFill>
            <a:prstDash val="solid"/>
          </a:ln>
        </p:spPr>
      </p:sp>
      <p:sp>
        <p:nvSpPr>
          <p:cNvPr id="47" name="s1_text_46"/>
          <p:cNvSpPr txBox="1"/>
          <p:nvPr/>
        </p:nvSpPr>
        <p:spPr>
          <a:xfrm>
            <a:off x="9443923"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17</a:t>
            </a:r>
            <a:endParaRPr lang="en-US" sz="1400" dirty="0"/>
          </a:p>
        </p:txBody>
      </p:sp>
      <p:sp>
        <p:nvSpPr>
          <p:cNvPr id="48" name="s1_rect_47"/>
          <p:cNvSpPr/>
          <p:nvPr/>
        </p:nvSpPr>
        <p:spPr>
          <a:xfrm>
            <a:off x="9999878" y="3200400"/>
            <a:ext cx="475488" cy="475488"/>
          </a:xfrm>
          <a:prstGeom prst="roundRect">
            <a:avLst>
              <a:gd name="adj" fmla="val 9615"/>
            </a:avLst>
          </a:prstGeom>
          <a:solidFill>
            <a:srgbClr val="FFFFFF"/>
          </a:solidFill>
          <a:ln w="12700">
            <a:solidFill>
              <a:srgbClr val="9FB3C8"/>
            </a:solidFill>
            <a:prstDash val="solid"/>
          </a:ln>
        </p:spPr>
      </p:sp>
      <p:sp>
        <p:nvSpPr>
          <p:cNvPr id="49" name="s1_text_48"/>
          <p:cNvSpPr txBox="1"/>
          <p:nvPr/>
        </p:nvSpPr>
        <p:spPr>
          <a:xfrm>
            <a:off x="9999878"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18</a:t>
            </a:r>
            <a:endParaRPr lang="en-US" sz="1400" dirty="0"/>
          </a:p>
        </p:txBody>
      </p:sp>
      <p:sp>
        <p:nvSpPr>
          <p:cNvPr id="50" name="s1_rect_49"/>
          <p:cNvSpPr/>
          <p:nvPr/>
        </p:nvSpPr>
        <p:spPr>
          <a:xfrm>
            <a:off x="10555834" y="3200400"/>
            <a:ext cx="475488" cy="475488"/>
          </a:xfrm>
          <a:prstGeom prst="roundRect">
            <a:avLst>
              <a:gd name="adj" fmla="val 9615"/>
            </a:avLst>
          </a:prstGeom>
          <a:solidFill>
            <a:srgbClr val="FFFFFF"/>
          </a:solidFill>
          <a:ln w="12700">
            <a:solidFill>
              <a:srgbClr val="9FB3C8"/>
            </a:solidFill>
            <a:prstDash val="solid"/>
          </a:ln>
        </p:spPr>
      </p:sp>
      <p:sp>
        <p:nvSpPr>
          <p:cNvPr id="51" name="s1_text_50"/>
          <p:cNvSpPr txBox="1"/>
          <p:nvPr/>
        </p:nvSpPr>
        <p:spPr>
          <a:xfrm>
            <a:off x="10555834"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19</a:t>
            </a:r>
            <a:endParaRPr lang="en-US" sz="1400" dirty="0"/>
          </a:p>
        </p:txBody>
      </p:sp>
      <p:sp>
        <p:nvSpPr>
          <p:cNvPr id="52" name="s1_rect_51"/>
          <p:cNvSpPr/>
          <p:nvPr/>
        </p:nvSpPr>
        <p:spPr>
          <a:xfrm>
            <a:off x="11111789" y="3200400"/>
            <a:ext cx="475488" cy="475488"/>
          </a:xfrm>
          <a:prstGeom prst="roundRect">
            <a:avLst>
              <a:gd name="adj" fmla="val 9615"/>
            </a:avLst>
          </a:prstGeom>
          <a:solidFill>
            <a:srgbClr val="FFFFFF"/>
          </a:solidFill>
          <a:ln w="12700">
            <a:solidFill>
              <a:srgbClr val="9FB3C8"/>
            </a:solidFill>
            <a:prstDash val="solid"/>
          </a:ln>
        </p:spPr>
      </p:sp>
      <p:sp>
        <p:nvSpPr>
          <p:cNvPr id="53" name="s1_text_52"/>
          <p:cNvSpPr txBox="1"/>
          <p:nvPr/>
        </p:nvSpPr>
        <p:spPr>
          <a:xfrm>
            <a:off x="11111789" y="3200400"/>
            <a:ext cx="475488" cy="475488"/>
          </a:xfrm>
          <a:prstGeom prst="rect">
            <a:avLst/>
          </a:prstGeom>
          <a:noFill/>
          <a:ln/>
        </p:spPr>
        <p:txBody>
          <a:bodyPr wrap="square" lIns="0" tIns="0" rIns="0" bIns="0" rtlCol="0" anchor="ctr"/>
          <a:lstStyle/>
          <a:p>
            <a:pPr algn="ctr" indent="0" marL="0">
              <a:buNone/>
            </a:pPr>
            <a:r>
              <a:rPr lang="en-US" sz="1400" dirty="0">
                <a:solidFill>
                  <a:srgbClr val="627D98"/>
                </a:solidFill>
                <a:latin typeface="Aptos" pitchFamily="34" charset="0"/>
                <a:ea typeface="Aptos" pitchFamily="34" charset="-122"/>
                <a:cs typeface="Aptos" pitchFamily="34" charset="-120"/>
              </a:rPr>
              <a:t>20</a:t>
            </a:r>
            <a:endParaRPr lang="en-US" sz="1400" dirty="0"/>
          </a:p>
        </p:txBody>
      </p:sp>
      <p:sp>
        <p:nvSpPr>
          <p:cNvPr id="54" name="s2_rect_53"/>
          <p:cNvSpPr/>
          <p:nvPr/>
        </p:nvSpPr>
        <p:spPr>
          <a:xfrm>
            <a:off x="10555834" y="3200400"/>
            <a:ext cx="475488" cy="475488"/>
          </a:xfrm>
          <a:prstGeom prst="roundRect">
            <a:avLst>
              <a:gd name="adj" fmla="val 9615"/>
            </a:avLst>
          </a:prstGeom>
          <a:solidFill>
            <a:srgbClr val="00A6C8"/>
          </a:solidFill>
          <a:ln/>
        </p:spPr>
      </p:sp>
      <p:sp>
        <p:nvSpPr>
          <p:cNvPr id="55" name="s2_text_54"/>
          <p:cNvSpPr txBox="1"/>
          <p:nvPr/>
        </p:nvSpPr>
        <p:spPr>
          <a:xfrm>
            <a:off x="10555834" y="3200400"/>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19</a:t>
            </a:r>
            <a:endParaRPr lang="en-US" sz="1400" dirty="0"/>
          </a:p>
        </p:txBody>
      </p:sp>
      <p:sp>
        <p:nvSpPr>
          <p:cNvPr id="56" name="s2_line_55"/>
          <p:cNvSpPr/>
          <p:nvPr/>
        </p:nvSpPr>
        <p:spPr>
          <a:xfrm flipV="1">
            <a:off x="10793578" y="3730752"/>
            <a:ext cx="91" cy="338328"/>
          </a:xfrm>
          <a:prstGeom prst="line">
            <a:avLst/>
          </a:prstGeom>
          <a:noFill/>
          <a:ln w="25400">
            <a:solidFill>
              <a:srgbClr val="00A6C8"/>
            </a:solidFill>
            <a:prstDash val="solid"/>
            <a:tailEnd type="triangle"/>
          </a:ln>
        </p:spPr>
      </p:sp>
      <p:sp>
        <p:nvSpPr>
          <p:cNvPr id="57" name="s2_text_56"/>
          <p:cNvSpPr txBox="1"/>
          <p:nvPr/>
        </p:nvSpPr>
        <p:spPr>
          <a:xfrm>
            <a:off x="4206240" y="4041648"/>
            <a:ext cx="6400800" cy="384048"/>
          </a:xfrm>
          <a:prstGeom prst="rect">
            <a:avLst/>
          </a:prstGeom>
          <a:noFill/>
          <a:ln/>
        </p:spPr>
        <p:txBody>
          <a:bodyPr wrap="square" lIns="0" tIns="0" rIns="0" bIns="0" rtlCol="0" anchor="t"/>
          <a:lstStyle/>
          <a:p>
            <a:pPr algn="r" indent="0" marL="0">
              <a:buNone/>
            </a:pPr>
            <a:r>
              <a:rPr lang="en-US" sz="2000" dirty="0">
                <a:solidFill>
                  <a:srgbClr val="007E99"/>
                </a:solidFill>
                <a:latin typeface="Aptos" pitchFamily="34" charset="0"/>
                <a:ea typeface="Aptos" pitchFamily="34" charset="-122"/>
                <a:cs typeface="Aptos" pitchFamily="34" charset="-120"/>
              </a:rPr>
              <a:t>19th of 20  →  </a:t>
            </a:r>
            <a:pPr algn="r" indent="0" marL="0">
              <a:buNone/>
            </a:pPr>
            <a:r>
              <a:rPr lang="en-US" sz="2000" b="1" dirty="0">
                <a:solidFill>
                  <a:srgbClr val="007E99"/>
                </a:solidFill>
                <a:latin typeface="Aptos" pitchFamily="34" charset="0"/>
                <a:ea typeface="Aptos" pitchFamily="34" charset="-122"/>
                <a:cs typeface="Aptos" pitchFamily="34" charset="-120"/>
              </a:rPr>
              <a:t>q̂ = 107.90 cycles</a:t>
            </a:r>
            <a:endParaRPr lang="en-US" sz="2000" dirty="0"/>
          </a:p>
        </p:txBody>
      </p:sp>
      <p:sp>
        <p:nvSpPr>
          <p:cNvPr id="58" name="s3_text_57"/>
          <p:cNvSpPr txBox="1"/>
          <p:nvPr/>
        </p:nvSpPr>
        <p:spPr>
          <a:xfrm>
            <a:off x="548640" y="4572000"/>
            <a:ext cx="109728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Example — Engine 18 (derived): 64.5 ± 107.90  →  [0, 172.40] cycles</a:t>
            </a:r>
            <a:endParaRPr lang="en-US" sz="1600" dirty="0"/>
          </a:p>
        </p:txBody>
      </p:sp>
      <p:sp>
        <p:nvSpPr>
          <p:cNvPr id="59" name="s3_line_58"/>
          <p:cNvSpPr/>
          <p:nvPr/>
        </p:nvSpPr>
        <p:spPr>
          <a:xfrm>
            <a:off x="822960" y="5760720"/>
            <a:ext cx="10515600" cy="91"/>
          </a:xfrm>
          <a:prstGeom prst="line">
            <a:avLst/>
          </a:prstGeom>
          <a:noFill/>
          <a:ln w="12700">
            <a:solidFill>
              <a:srgbClr val="102A43"/>
            </a:solidFill>
            <a:prstDash val="solid"/>
          </a:ln>
        </p:spPr>
      </p:sp>
      <p:sp>
        <p:nvSpPr>
          <p:cNvPr id="60" name="s3_text_59"/>
          <p:cNvSpPr txBox="1"/>
          <p:nvPr/>
        </p:nvSpPr>
        <p:spPr>
          <a:xfrm>
            <a:off x="502920" y="5815584"/>
            <a:ext cx="640080" cy="256032"/>
          </a:xfrm>
          <a:prstGeom prst="rect">
            <a:avLst/>
          </a:prstGeom>
          <a:noFill/>
          <a:ln/>
        </p:spPr>
        <p:txBody>
          <a:bodyPr wrap="square" lIns="0" tIns="0" rIns="0" bIns="0" rtlCol="0" anchor="t"/>
          <a:lstStyle/>
          <a:p>
            <a:pPr algn="ctr" indent="0" marL="0">
              <a:buNone/>
            </a:pPr>
            <a:r>
              <a:rPr lang="en-US" sz="1200" dirty="0">
                <a:solidFill>
                  <a:srgbClr val="627D98"/>
                </a:solidFill>
                <a:latin typeface="Aptos" pitchFamily="34" charset="0"/>
                <a:ea typeface="Aptos" pitchFamily="34" charset="-122"/>
                <a:cs typeface="Aptos" pitchFamily="34" charset="-120"/>
              </a:rPr>
              <a:t>0</a:t>
            </a:r>
            <a:endParaRPr lang="en-US" sz="1200" dirty="0"/>
          </a:p>
        </p:txBody>
      </p:sp>
      <p:sp>
        <p:nvSpPr>
          <p:cNvPr id="61" name="s3_text_60"/>
          <p:cNvSpPr txBox="1"/>
          <p:nvPr/>
        </p:nvSpPr>
        <p:spPr>
          <a:xfrm>
            <a:off x="3131820" y="5815584"/>
            <a:ext cx="640080" cy="256032"/>
          </a:xfrm>
          <a:prstGeom prst="rect">
            <a:avLst/>
          </a:prstGeom>
          <a:noFill/>
          <a:ln/>
        </p:spPr>
        <p:txBody>
          <a:bodyPr wrap="square" lIns="0" tIns="0" rIns="0" bIns="0" rtlCol="0" anchor="t"/>
          <a:lstStyle/>
          <a:p>
            <a:pPr algn="ctr" indent="0" marL="0">
              <a:buNone/>
            </a:pPr>
            <a:r>
              <a:rPr lang="en-US" sz="1200" dirty="0">
                <a:solidFill>
                  <a:srgbClr val="627D98"/>
                </a:solidFill>
                <a:latin typeface="Aptos" pitchFamily="34" charset="0"/>
                <a:ea typeface="Aptos" pitchFamily="34" charset="-122"/>
                <a:cs typeface="Aptos" pitchFamily="34" charset="-120"/>
              </a:rPr>
              <a:t>50</a:t>
            </a:r>
            <a:endParaRPr lang="en-US" sz="1200" dirty="0"/>
          </a:p>
        </p:txBody>
      </p:sp>
      <p:sp>
        <p:nvSpPr>
          <p:cNvPr id="62" name="s3_text_61"/>
          <p:cNvSpPr txBox="1"/>
          <p:nvPr/>
        </p:nvSpPr>
        <p:spPr>
          <a:xfrm>
            <a:off x="5760720" y="5815584"/>
            <a:ext cx="640080" cy="256032"/>
          </a:xfrm>
          <a:prstGeom prst="rect">
            <a:avLst/>
          </a:prstGeom>
          <a:noFill/>
          <a:ln/>
        </p:spPr>
        <p:txBody>
          <a:bodyPr wrap="square" lIns="0" tIns="0" rIns="0" bIns="0" rtlCol="0" anchor="t"/>
          <a:lstStyle/>
          <a:p>
            <a:pPr algn="ctr" indent="0" marL="0">
              <a:buNone/>
            </a:pPr>
            <a:r>
              <a:rPr lang="en-US" sz="1200" dirty="0">
                <a:solidFill>
                  <a:srgbClr val="627D98"/>
                </a:solidFill>
                <a:latin typeface="Aptos" pitchFamily="34" charset="0"/>
                <a:ea typeface="Aptos" pitchFamily="34" charset="-122"/>
                <a:cs typeface="Aptos" pitchFamily="34" charset="-120"/>
              </a:rPr>
              <a:t>100</a:t>
            </a:r>
            <a:endParaRPr lang="en-US" sz="1200" dirty="0"/>
          </a:p>
        </p:txBody>
      </p:sp>
      <p:sp>
        <p:nvSpPr>
          <p:cNvPr id="63" name="s3_text_62"/>
          <p:cNvSpPr txBox="1"/>
          <p:nvPr/>
        </p:nvSpPr>
        <p:spPr>
          <a:xfrm>
            <a:off x="8389620" y="5815584"/>
            <a:ext cx="640080" cy="256032"/>
          </a:xfrm>
          <a:prstGeom prst="rect">
            <a:avLst/>
          </a:prstGeom>
          <a:noFill/>
          <a:ln/>
        </p:spPr>
        <p:txBody>
          <a:bodyPr wrap="square" lIns="0" tIns="0" rIns="0" bIns="0" rtlCol="0" anchor="t"/>
          <a:lstStyle/>
          <a:p>
            <a:pPr algn="ctr" indent="0" marL="0">
              <a:buNone/>
            </a:pPr>
            <a:r>
              <a:rPr lang="en-US" sz="1200" dirty="0">
                <a:solidFill>
                  <a:srgbClr val="627D98"/>
                </a:solidFill>
                <a:latin typeface="Aptos" pitchFamily="34" charset="0"/>
                <a:ea typeface="Aptos" pitchFamily="34" charset="-122"/>
                <a:cs typeface="Aptos" pitchFamily="34" charset="-120"/>
              </a:rPr>
              <a:t>150</a:t>
            </a:r>
            <a:endParaRPr lang="en-US" sz="1200" dirty="0"/>
          </a:p>
        </p:txBody>
      </p:sp>
      <p:sp>
        <p:nvSpPr>
          <p:cNvPr id="64" name="s3_text_63"/>
          <p:cNvSpPr txBox="1"/>
          <p:nvPr/>
        </p:nvSpPr>
        <p:spPr>
          <a:xfrm>
            <a:off x="11018520" y="5815584"/>
            <a:ext cx="640080" cy="256032"/>
          </a:xfrm>
          <a:prstGeom prst="rect">
            <a:avLst/>
          </a:prstGeom>
          <a:noFill/>
          <a:ln/>
        </p:spPr>
        <p:txBody>
          <a:bodyPr wrap="square" lIns="0" tIns="0" rIns="0" bIns="0" rtlCol="0" anchor="t"/>
          <a:lstStyle/>
          <a:p>
            <a:pPr algn="ctr" indent="0" marL="0">
              <a:buNone/>
            </a:pPr>
            <a:r>
              <a:rPr lang="en-US" sz="1200" dirty="0">
                <a:solidFill>
                  <a:srgbClr val="627D98"/>
                </a:solidFill>
                <a:latin typeface="Aptos" pitchFamily="34" charset="0"/>
                <a:ea typeface="Aptos" pitchFamily="34" charset="-122"/>
                <a:cs typeface="Aptos" pitchFamily="34" charset="-120"/>
              </a:rPr>
              <a:t>200</a:t>
            </a:r>
            <a:endParaRPr lang="en-US" sz="1200" dirty="0"/>
          </a:p>
        </p:txBody>
      </p:sp>
      <p:sp>
        <p:nvSpPr>
          <p:cNvPr id="65" name="s3_ell_64"/>
          <p:cNvSpPr/>
          <p:nvPr/>
        </p:nvSpPr>
        <p:spPr>
          <a:xfrm>
            <a:off x="4077081" y="5330952"/>
            <a:ext cx="274320" cy="274320"/>
          </a:xfrm>
          <a:prstGeom prst="ellipse">
            <a:avLst/>
          </a:prstGeom>
          <a:solidFill>
            <a:srgbClr val="00A6C8"/>
          </a:solidFill>
          <a:ln w="25400">
            <a:solidFill>
              <a:srgbClr val="FFFFFF"/>
            </a:solidFill>
            <a:prstDash val="solid"/>
          </a:ln>
        </p:spPr>
      </p:sp>
      <p:sp>
        <p:nvSpPr>
          <p:cNvPr id="66" name="s3_text_65"/>
          <p:cNvSpPr txBox="1"/>
          <p:nvPr/>
        </p:nvSpPr>
        <p:spPr>
          <a:xfrm>
            <a:off x="4442841" y="5029200"/>
            <a:ext cx="1463040" cy="274320"/>
          </a:xfrm>
          <a:prstGeom prst="rect">
            <a:avLst/>
          </a:prstGeom>
          <a:noFill/>
          <a:ln/>
        </p:spPr>
        <p:txBody>
          <a:bodyPr wrap="square" lIns="0" tIns="0" rIns="0" bIns="0" rtlCol="0" anchor="t"/>
          <a:lstStyle/>
          <a:p>
            <a:pPr algn="l" indent="0" marL="0">
              <a:buNone/>
            </a:pPr>
            <a:r>
              <a:rPr lang="en-US" sz="1400" b="1" dirty="0">
                <a:solidFill>
                  <a:srgbClr val="007E99"/>
                </a:solidFill>
                <a:latin typeface="Aptos" pitchFamily="34" charset="0"/>
                <a:ea typeface="Aptos" pitchFamily="34" charset="-122"/>
                <a:cs typeface="Aptos" pitchFamily="34" charset="-120"/>
              </a:rPr>
              <a:t>ŷ = 64.5</a:t>
            </a:r>
            <a:endParaRPr lang="en-US" sz="1400" dirty="0"/>
          </a:p>
        </p:txBody>
      </p:sp>
      <p:sp>
        <p:nvSpPr>
          <p:cNvPr id="67" name="s4_rect_66"/>
          <p:cNvSpPr/>
          <p:nvPr/>
        </p:nvSpPr>
        <p:spPr>
          <a:xfrm>
            <a:off x="822960" y="5413248"/>
            <a:ext cx="9064447" cy="118872"/>
          </a:xfrm>
          <a:prstGeom prst="rect">
            <a:avLst/>
          </a:prstGeom>
          <a:solidFill>
            <a:srgbClr val="F3A712">
              <a:alpha val="85000"/>
            </a:srgbClr>
          </a:solidFill>
          <a:ln/>
        </p:spPr>
      </p:sp>
      <p:sp>
        <p:nvSpPr>
          <p:cNvPr id="68" name="s4_line_67"/>
          <p:cNvSpPr/>
          <p:nvPr/>
        </p:nvSpPr>
        <p:spPr>
          <a:xfrm>
            <a:off x="9887407" y="5303520"/>
            <a:ext cx="91" cy="338328"/>
          </a:xfrm>
          <a:prstGeom prst="line">
            <a:avLst/>
          </a:prstGeom>
          <a:noFill/>
          <a:ln w="25400">
            <a:solidFill>
              <a:srgbClr val="9A6700"/>
            </a:solidFill>
            <a:prstDash val="solid"/>
          </a:ln>
        </p:spPr>
      </p:sp>
      <p:sp>
        <p:nvSpPr>
          <p:cNvPr id="69" name="s4_text_68"/>
          <p:cNvSpPr txBox="1"/>
          <p:nvPr/>
        </p:nvSpPr>
        <p:spPr>
          <a:xfrm>
            <a:off x="9978847" y="5303520"/>
            <a:ext cx="1097280" cy="274320"/>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172.40</a:t>
            </a:r>
            <a:endParaRPr lang="en-US" sz="1400" dirty="0"/>
          </a:p>
        </p:txBody>
      </p:sp>
      <p:sp>
        <p:nvSpPr>
          <p:cNvPr id="70" name="s4_line_69"/>
          <p:cNvSpPr/>
          <p:nvPr/>
        </p:nvSpPr>
        <p:spPr>
          <a:xfrm>
            <a:off x="822960" y="5303520"/>
            <a:ext cx="91" cy="338328"/>
          </a:xfrm>
          <a:prstGeom prst="line">
            <a:avLst/>
          </a:prstGeom>
          <a:noFill/>
          <a:ln w="31750">
            <a:solidFill>
              <a:srgbClr val="E45756"/>
            </a:solidFill>
            <a:prstDash val="solid"/>
          </a:ln>
        </p:spPr>
      </p:sp>
      <p:sp>
        <p:nvSpPr>
          <p:cNvPr id="71" name="s4_text_70"/>
          <p:cNvSpPr txBox="1"/>
          <p:nvPr/>
        </p:nvSpPr>
        <p:spPr>
          <a:xfrm>
            <a:off x="914400" y="5029200"/>
            <a:ext cx="2377440" cy="274320"/>
          </a:xfrm>
          <a:prstGeom prst="rect">
            <a:avLst/>
          </a:prstGeom>
          <a:noFill/>
          <a:ln/>
        </p:spPr>
        <p:txBody>
          <a:bodyPr wrap="square" lIns="0" tIns="0" rIns="0" bIns="0" rtlCol="0" anchor="t"/>
          <a:lstStyle/>
          <a:p>
            <a:pPr algn="l" indent="0" marL="0">
              <a:buNone/>
            </a:pPr>
            <a:r>
              <a:rPr lang="en-US" sz="1400" b="1" dirty="0">
                <a:solidFill>
                  <a:srgbClr val="E45756"/>
                </a:solidFill>
                <a:latin typeface="Aptos" pitchFamily="34" charset="0"/>
                <a:ea typeface="Aptos" pitchFamily="34" charset="-122"/>
                <a:cs typeface="Aptos" pitchFamily="34" charset="-120"/>
              </a:rPr>
              <a:t>clipped at 0</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6" fill="hold">
                      <p:stCondLst>
                        <p:cond delay="indefinite"/>
                      </p:stCondLst>
                      <p:childTnLst>
                        <p:par>
                          <p:cTn id="12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00"/>
                                        <p:tgtEl>
                                          <p:spTgt spid="2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4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4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4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4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4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4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4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4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4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400"/>
                                        <p:tgtEl>
                                          <p:spTgt spid="3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fade">
                                      <p:cBhvr>
                                        <p:cTn id="80" dur="400"/>
                                        <p:tgtEl>
                                          <p:spTgt spid="3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400"/>
                                        <p:tgtEl>
                                          <p:spTgt spid="3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400"/>
                                        <p:tgtEl>
                                          <p:spTgt spid="4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00"/>
                                        <p:tgtEl>
                                          <p:spTgt spid="4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00"/>
                                        <p:tgtEl>
                                          <p:spTgt spid="4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400"/>
                                        <p:tgtEl>
                                          <p:spTgt spid="4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400"/>
                                        <p:tgtEl>
                                          <p:spTgt spid="4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Effect transition="in" filter="fade">
                                      <p:cBhvr>
                                        <p:cTn id="101" dur="400"/>
                                        <p:tgtEl>
                                          <p:spTgt spid="4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6"/>
                                        </p:tgtEl>
                                        <p:attrNameLst>
                                          <p:attrName>style.visibility</p:attrName>
                                        </p:attrNameLst>
                                      </p:cBhvr>
                                      <p:to>
                                        <p:strVal val="visible"/>
                                      </p:to>
                                    </p:set>
                                    <p:animEffect transition="in" filter="fade">
                                      <p:cBhvr>
                                        <p:cTn id="104" dur="400"/>
                                        <p:tgtEl>
                                          <p:spTgt spid="4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400"/>
                                        <p:tgtEl>
                                          <p:spTgt spid="4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fade">
                                      <p:cBhvr>
                                        <p:cTn id="110" dur="400"/>
                                        <p:tgtEl>
                                          <p:spTgt spid="4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animEffect transition="in" filter="fade">
                                      <p:cBhvr>
                                        <p:cTn id="113" dur="400"/>
                                        <p:tgtEl>
                                          <p:spTgt spid="4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400"/>
                                        <p:tgtEl>
                                          <p:spTgt spid="5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1"/>
                                        </p:tgtEl>
                                        <p:attrNameLst>
                                          <p:attrName>style.visibility</p:attrName>
                                        </p:attrNameLst>
                                      </p:cBhvr>
                                      <p:to>
                                        <p:strVal val="visible"/>
                                      </p:to>
                                    </p:set>
                                    <p:animEffect transition="in" filter="fade">
                                      <p:cBhvr>
                                        <p:cTn id="119" dur="400"/>
                                        <p:tgtEl>
                                          <p:spTgt spid="5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2"/>
                                        </p:tgtEl>
                                        <p:attrNameLst>
                                          <p:attrName>style.visibility</p:attrName>
                                        </p:attrNameLst>
                                      </p:cBhvr>
                                      <p:to>
                                        <p:strVal val="visible"/>
                                      </p:to>
                                    </p:set>
                                    <p:animEffect transition="in" filter="fade">
                                      <p:cBhvr>
                                        <p:cTn id="122" dur="400"/>
                                        <p:tgtEl>
                                          <p:spTgt spid="5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3"/>
                                        </p:tgtEl>
                                        <p:attrNameLst>
                                          <p:attrName>style.visibility</p:attrName>
                                        </p:attrNameLst>
                                      </p:cBhvr>
                                      <p:to>
                                        <p:strVal val="visible"/>
                                      </p:to>
                                    </p:set>
                                    <p:animEffect transition="in" filter="fade">
                                      <p:cBhvr>
                                        <p:cTn id="125" dur="400"/>
                                        <p:tgtEl>
                                          <p:spTgt spid="53"/>
                                        </p:tgtEl>
                                      </p:cBhvr>
                                    </p:animEffect>
                                  </p:childTnLst>
                                </p:cTn>
                              </p:par>
                            </p:childTnLst>
                          </p:cTn>
                        </p:par>
                      </p:childTnLst>
                    </p:cTn>
                  </p:par>
                  <p:par>
                    <p:cTn id="140" fill="hold">
                      <p:stCondLst>
                        <p:cond delay="indefinite"/>
                      </p:stCondLst>
                      <p:childTnLst>
                        <p:par>
                          <p:cTn id="141"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54"/>
                                        </p:tgtEl>
                                        <p:attrNameLst>
                                          <p:attrName>style.visibility</p:attrName>
                                        </p:attrNameLst>
                                      </p:cBhvr>
                                      <p:to>
                                        <p:strVal val="visible"/>
                                      </p:to>
                                    </p:set>
                                    <p:animEffect transition="in" filter="fade">
                                      <p:cBhvr>
                                        <p:cTn id="130" dur="400"/>
                                        <p:tgtEl>
                                          <p:spTgt spid="5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55"/>
                                        </p:tgtEl>
                                        <p:attrNameLst>
                                          <p:attrName>style.visibility</p:attrName>
                                        </p:attrNameLst>
                                      </p:cBhvr>
                                      <p:to>
                                        <p:strVal val="visible"/>
                                      </p:to>
                                    </p:set>
                                    <p:animEffect transition="in" filter="fade">
                                      <p:cBhvr>
                                        <p:cTn id="133" dur="400"/>
                                        <p:tgtEl>
                                          <p:spTgt spid="55"/>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56"/>
                                        </p:tgtEl>
                                        <p:attrNameLst>
                                          <p:attrName>style.visibility</p:attrName>
                                        </p:attrNameLst>
                                      </p:cBhvr>
                                      <p:to>
                                        <p:strVal val="visible"/>
                                      </p:to>
                                    </p:set>
                                    <p:animEffect transition="in" filter="fade">
                                      <p:cBhvr>
                                        <p:cTn id="136" dur="400"/>
                                        <p:tgtEl>
                                          <p:spTgt spid="5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7"/>
                                        </p:tgtEl>
                                        <p:attrNameLst>
                                          <p:attrName>style.visibility</p:attrName>
                                        </p:attrNameLst>
                                      </p:cBhvr>
                                      <p:to>
                                        <p:strVal val="visible"/>
                                      </p:to>
                                    </p:set>
                                    <p:animEffect transition="in" filter="fade">
                                      <p:cBhvr>
                                        <p:cTn id="139" dur="400"/>
                                        <p:tgtEl>
                                          <p:spTgt spid="57"/>
                                        </p:tgtEl>
                                      </p:cBhvr>
                                    </p:animEffect>
                                  </p:childTnLst>
                                </p:cTn>
                              </p:par>
                            </p:childTnLst>
                          </p:cTn>
                        </p:par>
                      </p:childTnLst>
                    </p:cTn>
                  </p:par>
                  <p:par>
                    <p:cTn id="169" fill="hold">
                      <p:stCondLst>
                        <p:cond delay="indefinite"/>
                      </p:stCondLst>
                      <p:childTnLst>
                        <p:par>
                          <p:cTn id="170"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58"/>
                                        </p:tgtEl>
                                        <p:attrNameLst>
                                          <p:attrName>style.visibility</p:attrName>
                                        </p:attrNameLst>
                                      </p:cBhvr>
                                      <p:to>
                                        <p:strVal val="visible"/>
                                      </p:to>
                                    </p:set>
                                    <p:animEffect transition="in" filter="fade">
                                      <p:cBhvr>
                                        <p:cTn id="144" dur="400"/>
                                        <p:tgtEl>
                                          <p:spTgt spid="58"/>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9"/>
                                        </p:tgtEl>
                                        <p:attrNameLst>
                                          <p:attrName>style.visibility</p:attrName>
                                        </p:attrNameLst>
                                      </p:cBhvr>
                                      <p:to>
                                        <p:strVal val="visible"/>
                                      </p:to>
                                    </p:set>
                                    <p:animEffect transition="in" filter="fade">
                                      <p:cBhvr>
                                        <p:cTn id="147" dur="400"/>
                                        <p:tgtEl>
                                          <p:spTgt spid="59"/>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60"/>
                                        </p:tgtEl>
                                        <p:attrNameLst>
                                          <p:attrName>style.visibility</p:attrName>
                                        </p:attrNameLst>
                                      </p:cBhvr>
                                      <p:to>
                                        <p:strVal val="visible"/>
                                      </p:to>
                                    </p:set>
                                    <p:animEffect transition="in" filter="fade">
                                      <p:cBhvr>
                                        <p:cTn id="150" dur="400"/>
                                        <p:tgtEl>
                                          <p:spTgt spid="6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1"/>
                                        </p:tgtEl>
                                        <p:attrNameLst>
                                          <p:attrName>style.visibility</p:attrName>
                                        </p:attrNameLst>
                                      </p:cBhvr>
                                      <p:to>
                                        <p:strVal val="visible"/>
                                      </p:to>
                                    </p:set>
                                    <p:animEffect transition="in" filter="fade">
                                      <p:cBhvr>
                                        <p:cTn id="153" dur="400"/>
                                        <p:tgtEl>
                                          <p:spTgt spid="61"/>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400"/>
                                        <p:tgtEl>
                                          <p:spTgt spid="62"/>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63"/>
                                        </p:tgtEl>
                                        <p:attrNameLst>
                                          <p:attrName>style.visibility</p:attrName>
                                        </p:attrNameLst>
                                      </p:cBhvr>
                                      <p:to>
                                        <p:strVal val="visible"/>
                                      </p:to>
                                    </p:set>
                                    <p:animEffect transition="in" filter="fade">
                                      <p:cBhvr>
                                        <p:cTn id="159" dur="400"/>
                                        <p:tgtEl>
                                          <p:spTgt spid="63"/>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64"/>
                                        </p:tgtEl>
                                        <p:attrNameLst>
                                          <p:attrName>style.visibility</p:attrName>
                                        </p:attrNameLst>
                                      </p:cBhvr>
                                      <p:to>
                                        <p:strVal val="visible"/>
                                      </p:to>
                                    </p:set>
                                    <p:animEffect transition="in" filter="fade">
                                      <p:cBhvr>
                                        <p:cTn id="162" dur="400"/>
                                        <p:tgtEl>
                                          <p:spTgt spid="64"/>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65"/>
                                        </p:tgtEl>
                                        <p:attrNameLst>
                                          <p:attrName>style.visibility</p:attrName>
                                        </p:attrNameLst>
                                      </p:cBhvr>
                                      <p:to>
                                        <p:strVal val="visible"/>
                                      </p:to>
                                    </p:set>
                                    <p:animEffect transition="in" filter="fade">
                                      <p:cBhvr>
                                        <p:cTn id="165" dur="400"/>
                                        <p:tgtEl>
                                          <p:spTgt spid="65"/>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66"/>
                                        </p:tgtEl>
                                        <p:attrNameLst>
                                          <p:attrName>style.visibility</p:attrName>
                                        </p:attrNameLst>
                                      </p:cBhvr>
                                      <p:to>
                                        <p:strVal val="visible"/>
                                      </p:to>
                                    </p:set>
                                    <p:animEffect transition="in" filter="fade">
                                      <p:cBhvr>
                                        <p:cTn id="168" dur="400"/>
                                        <p:tgtEl>
                                          <p:spTgt spid="66"/>
                                        </p:tgtEl>
                                      </p:cBhvr>
                                    </p:animEffect>
                                  </p:childTnLst>
                                </p:cTn>
                              </p:par>
                            </p:childTnLst>
                          </p:cTn>
                        </p:par>
                      </p:childTnLst>
                    </p:cTn>
                  </p:par>
                  <p:par>
                    <p:cTn id="186" fill="hold">
                      <p:stCondLst>
                        <p:cond delay="indefinite"/>
                      </p:stCondLst>
                      <p:childTnLst>
                        <p:par>
                          <p:cTn id="187"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67"/>
                                        </p:tgtEl>
                                        <p:attrNameLst>
                                          <p:attrName>style.visibility</p:attrName>
                                        </p:attrNameLst>
                                      </p:cBhvr>
                                      <p:to>
                                        <p:strVal val="visible"/>
                                      </p:to>
                                    </p:set>
                                    <p:animEffect transition="in" filter="fade">
                                      <p:cBhvr>
                                        <p:cTn id="173" dur="400"/>
                                        <p:tgtEl>
                                          <p:spTgt spid="67"/>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8"/>
                                        </p:tgtEl>
                                        <p:attrNameLst>
                                          <p:attrName>style.visibility</p:attrName>
                                        </p:attrNameLst>
                                      </p:cBhvr>
                                      <p:to>
                                        <p:strVal val="visible"/>
                                      </p:to>
                                    </p:set>
                                    <p:animEffect transition="in" filter="fade">
                                      <p:cBhvr>
                                        <p:cTn id="176" dur="400"/>
                                        <p:tgtEl>
                                          <p:spTgt spid="68"/>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400"/>
                                        <p:tgtEl>
                                          <p:spTgt spid="69"/>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70"/>
                                        </p:tgtEl>
                                        <p:attrNameLst>
                                          <p:attrName>style.visibility</p:attrName>
                                        </p:attrNameLst>
                                      </p:cBhvr>
                                      <p:to>
                                        <p:strVal val="visible"/>
                                      </p:to>
                                    </p:set>
                                    <p:animEffect transition="in" filter="fade">
                                      <p:cBhvr>
                                        <p:cTn id="182" dur="400"/>
                                        <p:tgtEl>
                                          <p:spTgt spid="70"/>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71"/>
                                        </p:tgtEl>
                                        <p:attrNameLst>
                                          <p:attrName>style.visibility</p:attrName>
                                        </p:attrNameLst>
                                      </p:cBhvr>
                                      <p:to>
                                        <p:strVal val="visible"/>
                                      </p:to>
                                    </p:set>
                                    <p:animEffect transition="in" filter="fade">
                                      <p:cBhvr>
                                        <p:cTn id="185"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4 · EVALUATION AND RESULTS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Endpoint error is moderate, but the bias is optimistic</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Official test: 100 engines, one endpoint each, evaluated once · bootstrap: 5,000 engine resamples · Table 5.2</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bootstrap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7 / 13</a:t>
            </a:r>
            <a:endParaRPr lang="en-US" sz="1100" dirty="0"/>
          </a:p>
        </p:txBody>
      </p:sp>
      <p:sp>
        <p:nvSpPr>
          <p:cNvPr id="8" name="s1_rect_7"/>
          <p:cNvSpPr/>
          <p:nvPr/>
        </p:nvSpPr>
        <p:spPr>
          <a:xfrm>
            <a:off x="548640" y="1325880"/>
            <a:ext cx="3566160" cy="2606040"/>
          </a:xfrm>
          <a:prstGeom prst="roundRect">
            <a:avLst>
              <a:gd name="adj" fmla="val 2807"/>
            </a:avLst>
          </a:prstGeom>
          <a:solidFill>
            <a:srgbClr val="FFFFFF"/>
          </a:solidFill>
          <a:ln w="12700">
            <a:solidFill>
              <a:srgbClr val="D9E2EC"/>
            </a:solidFill>
            <a:prstDash val="solid"/>
          </a:ln>
        </p:spPr>
      </p:sp>
      <p:sp>
        <p:nvSpPr>
          <p:cNvPr id="9" name="s1_text_8"/>
          <p:cNvSpPr txBox="1"/>
          <p:nvPr/>
        </p:nvSpPr>
        <p:spPr>
          <a:xfrm>
            <a:off x="777240" y="1444752"/>
            <a:ext cx="3200400" cy="310896"/>
          </a:xfrm>
          <a:prstGeom prst="rect">
            <a:avLst/>
          </a:prstGeom>
          <a:noFill/>
          <a:ln/>
        </p:spPr>
        <p:txBody>
          <a:bodyPr wrap="square" lIns="0" tIns="0" rIns="0" bIns="0" rtlCol="0" anchor="t"/>
          <a:lstStyle/>
          <a:p>
            <a:pPr algn="l" indent="0" marL="0">
              <a:buNone/>
            </a:pPr>
            <a:r>
              <a:rPr lang="en-US" sz="1600" b="1" dirty="0">
                <a:solidFill>
                  <a:srgbClr val="627D98"/>
                </a:solidFill>
                <a:latin typeface="Aptos" pitchFamily="34" charset="0"/>
                <a:ea typeface="Aptos" pitchFamily="34" charset="-122"/>
                <a:cs typeface="Aptos" pitchFamily="34" charset="-120"/>
              </a:rPr>
              <a:t>MAE</a:t>
            </a:r>
            <a:endParaRPr lang="en-US" sz="1600" dirty="0"/>
          </a:p>
        </p:txBody>
      </p:sp>
      <p:sp>
        <p:nvSpPr>
          <p:cNvPr id="10" name="s1_text_9"/>
          <p:cNvSpPr txBox="1"/>
          <p:nvPr/>
        </p:nvSpPr>
        <p:spPr>
          <a:xfrm>
            <a:off x="777240" y="1783080"/>
            <a:ext cx="3200400" cy="731520"/>
          </a:xfrm>
          <a:prstGeom prst="rect">
            <a:avLst/>
          </a:prstGeom>
          <a:noFill/>
          <a:ln/>
        </p:spPr>
        <p:txBody>
          <a:bodyPr wrap="square" lIns="0" tIns="0" rIns="0" bIns="0" rtlCol="0" anchor="t"/>
          <a:lstStyle/>
          <a:p>
            <a:pPr algn="l" indent="0" marL="0">
              <a:buNone/>
            </a:pPr>
            <a:r>
              <a:rPr lang="en-US" sz="4400" b="1" dirty="0">
                <a:solidFill>
                  <a:srgbClr val="007E99"/>
                </a:solidFill>
                <a:latin typeface="Aptos" pitchFamily="34" charset="0"/>
                <a:ea typeface="Aptos" pitchFamily="34" charset="-122"/>
                <a:cs typeface="Aptos" pitchFamily="34" charset="-120"/>
              </a:rPr>
              <a:t>18.88</a:t>
            </a:r>
            <a:pPr algn="l" indent="0" marL="0">
              <a:buNone/>
            </a:pPr>
            <a:r>
              <a:rPr lang="en-US" sz="1600" dirty="0">
                <a:solidFill>
                  <a:srgbClr val="627D98"/>
                </a:solidFill>
                <a:latin typeface="Aptos" pitchFamily="34" charset="0"/>
                <a:ea typeface="Aptos" pitchFamily="34" charset="-122"/>
                <a:cs typeface="Aptos" pitchFamily="34" charset="-120"/>
              </a:rPr>
              <a:t>  cycles</a:t>
            </a:r>
            <a:endParaRPr lang="en-US" sz="4400" dirty="0"/>
          </a:p>
        </p:txBody>
      </p:sp>
      <p:sp>
        <p:nvSpPr>
          <p:cNvPr id="11" name="s1_line_10"/>
          <p:cNvSpPr/>
          <p:nvPr/>
        </p:nvSpPr>
        <p:spPr>
          <a:xfrm>
            <a:off x="777240" y="3154680"/>
            <a:ext cx="3108960" cy="91"/>
          </a:xfrm>
          <a:prstGeom prst="line">
            <a:avLst/>
          </a:prstGeom>
          <a:noFill/>
          <a:ln w="12700">
            <a:solidFill>
              <a:srgbClr val="D9E2EC"/>
            </a:solidFill>
            <a:prstDash val="solid"/>
          </a:ln>
        </p:spPr>
      </p:sp>
      <p:sp>
        <p:nvSpPr>
          <p:cNvPr id="12" name="s1_text_11"/>
          <p:cNvSpPr txBox="1"/>
          <p:nvPr/>
        </p:nvSpPr>
        <p:spPr>
          <a:xfrm>
            <a:off x="548640"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0</a:t>
            </a:r>
            <a:endParaRPr lang="en-US" sz="1100" dirty="0"/>
          </a:p>
        </p:txBody>
      </p:sp>
      <p:sp>
        <p:nvSpPr>
          <p:cNvPr id="13" name="s1_text_12"/>
          <p:cNvSpPr txBox="1"/>
          <p:nvPr/>
        </p:nvSpPr>
        <p:spPr>
          <a:xfrm>
            <a:off x="1436914"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10</a:t>
            </a:r>
            <a:endParaRPr lang="en-US" sz="1100" dirty="0"/>
          </a:p>
        </p:txBody>
      </p:sp>
      <p:sp>
        <p:nvSpPr>
          <p:cNvPr id="14" name="s1_text_13"/>
          <p:cNvSpPr txBox="1"/>
          <p:nvPr/>
        </p:nvSpPr>
        <p:spPr>
          <a:xfrm>
            <a:off x="2325189"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20</a:t>
            </a:r>
            <a:endParaRPr lang="en-US" sz="1100" dirty="0"/>
          </a:p>
        </p:txBody>
      </p:sp>
      <p:sp>
        <p:nvSpPr>
          <p:cNvPr id="15" name="s1_text_14"/>
          <p:cNvSpPr txBox="1"/>
          <p:nvPr/>
        </p:nvSpPr>
        <p:spPr>
          <a:xfrm>
            <a:off x="3213463"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30</a:t>
            </a:r>
            <a:endParaRPr lang="en-US" sz="1100" dirty="0"/>
          </a:p>
        </p:txBody>
      </p:sp>
      <p:sp>
        <p:nvSpPr>
          <p:cNvPr id="16" name="s1_rect_15"/>
          <p:cNvSpPr/>
          <p:nvPr/>
        </p:nvSpPr>
        <p:spPr>
          <a:xfrm>
            <a:off x="2159395" y="3090672"/>
            <a:ext cx="614686" cy="128016"/>
          </a:xfrm>
          <a:prstGeom prst="roundRect">
            <a:avLst>
              <a:gd name="adj" fmla="val 28571"/>
            </a:avLst>
          </a:prstGeom>
          <a:solidFill>
            <a:srgbClr val="00A6C8">
              <a:alpha val="45000"/>
            </a:srgbClr>
          </a:solidFill>
          <a:ln/>
        </p:spPr>
      </p:sp>
      <p:sp>
        <p:nvSpPr>
          <p:cNvPr id="17" name="s1_ell_16"/>
          <p:cNvSpPr/>
          <p:nvPr/>
        </p:nvSpPr>
        <p:spPr>
          <a:xfrm>
            <a:off x="2362862" y="3063240"/>
            <a:ext cx="182880" cy="182880"/>
          </a:xfrm>
          <a:prstGeom prst="ellipse">
            <a:avLst/>
          </a:prstGeom>
          <a:solidFill>
            <a:srgbClr val="00A6C8"/>
          </a:solidFill>
          <a:ln w="19050">
            <a:solidFill>
              <a:srgbClr val="FFFFFF"/>
            </a:solidFill>
            <a:prstDash val="solid"/>
          </a:ln>
        </p:spPr>
      </p:sp>
      <p:sp>
        <p:nvSpPr>
          <p:cNvPr id="18" name="s1_text_17"/>
          <p:cNvSpPr txBox="1"/>
          <p:nvPr/>
        </p:nvSpPr>
        <p:spPr>
          <a:xfrm>
            <a:off x="777240" y="3493008"/>
            <a:ext cx="3200400" cy="27432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95% CI 15.56–22.48</a:t>
            </a:r>
            <a:endParaRPr lang="en-US" sz="1400" dirty="0"/>
          </a:p>
        </p:txBody>
      </p:sp>
      <p:sp>
        <p:nvSpPr>
          <p:cNvPr id="19" name="s2_rect_18"/>
          <p:cNvSpPr/>
          <p:nvPr/>
        </p:nvSpPr>
        <p:spPr>
          <a:xfrm>
            <a:off x="4297680" y="1325880"/>
            <a:ext cx="3566160" cy="2606040"/>
          </a:xfrm>
          <a:prstGeom prst="roundRect">
            <a:avLst>
              <a:gd name="adj" fmla="val 2807"/>
            </a:avLst>
          </a:prstGeom>
          <a:solidFill>
            <a:srgbClr val="FFFFFF"/>
          </a:solidFill>
          <a:ln w="12700">
            <a:solidFill>
              <a:srgbClr val="D9E2EC"/>
            </a:solidFill>
            <a:prstDash val="solid"/>
          </a:ln>
        </p:spPr>
      </p:sp>
      <p:sp>
        <p:nvSpPr>
          <p:cNvPr id="20" name="s2_text_19"/>
          <p:cNvSpPr txBox="1"/>
          <p:nvPr/>
        </p:nvSpPr>
        <p:spPr>
          <a:xfrm>
            <a:off x="4526280" y="1444752"/>
            <a:ext cx="3200400" cy="310896"/>
          </a:xfrm>
          <a:prstGeom prst="rect">
            <a:avLst/>
          </a:prstGeom>
          <a:noFill/>
          <a:ln/>
        </p:spPr>
        <p:txBody>
          <a:bodyPr wrap="square" lIns="0" tIns="0" rIns="0" bIns="0" rtlCol="0" anchor="t"/>
          <a:lstStyle/>
          <a:p>
            <a:pPr algn="l" indent="0" marL="0">
              <a:buNone/>
            </a:pPr>
            <a:r>
              <a:rPr lang="en-US" sz="1600" b="1" dirty="0">
                <a:solidFill>
                  <a:srgbClr val="627D98"/>
                </a:solidFill>
                <a:latin typeface="Aptos" pitchFamily="34" charset="0"/>
                <a:ea typeface="Aptos" pitchFamily="34" charset="-122"/>
                <a:cs typeface="Aptos" pitchFamily="34" charset="-120"/>
              </a:rPr>
              <a:t>RMSE</a:t>
            </a:r>
            <a:endParaRPr lang="en-US" sz="1600" dirty="0"/>
          </a:p>
        </p:txBody>
      </p:sp>
      <p:sp>
        <p:nvSpPr>
          <p:cNvPr id="21" name="s2_text_20"/>
          <p:cNvSpPr txBox="1"/>
          <p:nvPr/>
        </p:nvSpPr>
        <p:spPr>
          <a:xfrm>
            <a:off x="4526280" y="1783080"/>
            <a:ext cx="3200400" cy="731520"/>
          </a:xfrm>
          <a:prstGeom prst="rect">
            <a:avLst/>
          </a:prstGeom>
          <a:noFill/>
          <a:ln/>
        </p:spPr>
        <p:txBody>
          <a:bodyPr wrap="square" lIns="0" tIns="0" rIns="0" bIns="0" rtlCol="0" anchor="t"/>
          <a:lstStyle/>
          <a:p>
            <a:pPr algn="l" indent="0" marL="0">
              <a:buNone/>
            </a:pPr>
            <a:r>
              <a:rPr lang="en-US" sz="4400" b="1" dirty="0">
                <a:solidFill>
                  <a:srgbClr val="007E99"/>
                </a:solidFill>
                <a:latin typeface="Aptos" pitchFamily="34" charset="0"/>
                <a:ea typeface="Aptos" pitchFamily="34" charset="-122"/>
                <a:cs typeface="Aptos" pitchFamily="34" charset="-120"/>
              </a:rPr>
              <a:t>25.73</a:t>
            </a:r>
            <a:pPr algn="l" indent="0" marL="0">
              <a:buNone/>
            </a:pPr>
            <a:r>
              <a:rPr lang="en-US" sz="1600" dirty="0">
                <a:solidFill>
                  <a:srgbClr val="627D98"/>
                </a:solidFill>
                <a:latin typeface="Aptos" pitchFamily="34" charset="0"/>
                <a:ea typeface="Aptos" pitchFamily="34" charset="-122"/>
                <a:cs typeface="Aptos" pitchFamily="34" charset="-120"/>
              </a:rPr>
              <a:t>  cycles</a:t>
            </a:r>
            <a:endParaRPr lang="en-US" sz="4400" dirty="0"/>
          </a:p>
        </p:txBody>
      </p:sp>
      <p:sp>
        <p:nvSpPr>
          <p:cNvPr id="22" name="s2_line_21"/>
          <p:cNvSpPr/>
          <p:nvPr/>
        </p:nvSpPr>
        <p:spPr>
          <a:xfrm>
            <a:off x="4526280" y="3154680"/>
            <a:ext cx="3108960" cy="91"/>
          </a:xfrm>
          <a:prstGeom prst="line">
            <a:avLst/>
          </a:prstGeom>
          <a:noFill/>
          <a:ln w="12700">
            <a:solidFill>
              <a:srgbClr val="D9E2EC"/>
            </a:solidFill>
            <a:prstDash val="solid"/>
          </a:ln>
        </p:spPr>
      </p:sp>
      <p:sp>
        <p:nvSpPr>
          <p:cNvPr id="23" name="s2_text_22"/>
          <p:cNvSpPr txBox="1"/>
          <p:nvPr/>
        </p:nvSpPr>
        <p:spPr>
          <a:xfrm>
            <a:off x="4297680"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0</a:t>
            </a:r>
            <a:endParaRPr lang="en-US" sz="1100" dirty="0"/>
          </a:p>
        </p:txBody>
      </p:sp>
      <p:sp>
        <p:nvSpPr>
          <p:cNvPr id="24" name="s2_text_23"/>
          <p:cNvSpPr txBox="1"/>
          <p:nvPr/>
        </p:nvSpPr>
        <p:spPr>
          <a:xfrm>
            <a:off x="5185954"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10</a:t>
            </a:r>
            <a:endParaRPr lang="en-US" sz="1100" dirty="0"/>
          </a:p>
        </p:txBody>
      </p:sp>
      <p:sp>
        <p:nvSpPr>
          <p:cNvPr id="25" name="s2_text_24"/>
          <p:cNvSpPr txBox="1"/>
          <p:nvPr/>
        </p:nvSpPr>
        <p:spPr>
          <a:xfrm>
            <a:off x="6074229"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20</a:t>
            </a:r>
            <a:endParaRPr lang="en-US" sz="1100" dirty="0"/>
          </a:p>
        </p:txBody>
      </p:sp>
      <p:sp>
        <p:nvSpPr>
          <p:cNvPr id="26" name="s2_text_25"/>
          <p:cNvSpPr txBox="1"/>
          <p:nvPr/>
        </p:nvSpPr>
        <p:spPr>
          <a:xfrm>
            <a:off x="6962503"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30</a:t>
            </a:r>
            <a:endParaRPr lang="en-US" sz="1100" dirty="0"/>
          </a:p>
        </p:txBody>
      </p:sp>
      <p:sp>
        <p:nvSpPr>
          <p:cNvPr id="27" name="s2_rect_26"/>
          <p:cNvSpPr/>
          <p:nvPr/>
        </p:nvSpPr>
        <p:spPr>
          <a:xfrm>
            <a:off x="6420969" y="3090672"/>
            <a:ext cx="783458" cy="128016"/>
          </a:xfrm>
          <a:prstGeom prst="roundRect">
            <a:avLst>
              <a:gd name="adj" fmla="val 28571"/>
            </a:avLst>
          </a:prstGeom>
          <a:solidFill>
            <a:srgbClr val="00A6C8">
              <a:alpha val="45000"/>
            </a:srgbClr>
          </a:solidFill>
          <a:ln/>
        </p:spPr>
      </p:sp>
      <p:sp>
        <p:nvSpPr>
          <p:cNvPr id="28" name="s2_ell_27"/>
          <p:cNvSpPr/>
          <p:nvPr/>
        </p:nvSpPr>
        <p:spPr>
          <a:xfrm>
            <a:off x="6720370" y="3063240"/>
            <a:ext cx="182880" cy="182880"/>
          </a:xfrm>
          <a:prstGeom prst="ellipse">
            <a:avLst/>
          </a:prstGeom>
          <a:solidFill>
            <a:srgbClr val="00A6C8"/>
          </a:solidFill>
          <a:ln w="19050">
            <a:solidFill>
              <a:srgbClr val="FFFFFF"/>
            </a:solidFill>
            <a:prstDash val="solid"/>
          </a:ln>
        </p:spPr>
      </p:sp>
      <p:sp>
        <p:nvSpPr>
          <p:cNvPr id="29" name="s2_text_28"/>
          <p:cNvSpPr txBox="1"/>
          <p:nvPr/>
        </p:nvSpPr>
        <p:spPr>
          <a:xfrm>
            <a:off x="4526280" y="3493008"/>
            <a:ext cx="3200400" cy="27432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95% CI 21.33–30.15</a:t>
            </a:r>
            <a:endParaRPr lang="en-US" sz="1400" dirty="0"/>
          </a:p>
        </p:txBody>
      </p:sp>
      <p:sp>
        <p:nvSpPr>
          <p:cNvPr id="30" name="s3_rect_29"/>
          <p:cNvSpPr/>
          <p:nvPr/>
        </p:nvSpPr>
        <p:spPr>
          <a:xfrm>
            <a:off x="8046720" y="1325880"/>
            <a:ext cx="3566160" cy="2606040"/>
          </a:xfrm>
          <a:prstGeom prst="roundRect">
            <a:avLst>
              <a:gd name="adj" fmla="val 2807"/>
            </a:avLst>
          </a:prstGeom>
          <a:solidFill>
            <a:srgbClr val="FFFFFF"/>
          </a:solidFill>
          <a:ln w="25400">
            <a:solidFill>
              <a:srgbClr val="E45756"/>
            </a:solidFill>
            <a:prstDash val="solid"/>
          </a:ln>
        </p:spPr>
      </p:sp>
      <p:sp>
        <p:nvSpPr>
          <p:cNvPr id="31" name="s3_text_30"/>
          <p:cNvSpPr txBox="1"/>
          <p:nvPr/>
        </p:nvSpPr>
        <p:spPr>
          <a:xfrm>
            <a:off x="8275320" y="1444752"/>
            <a:ext cx="3200400" cy="310896"/>
          </a:xfrm>
          <a:prstGeom prst="rect">
            <a:avLst/>
          </a:prstGeom>
          <a:noFill/>
          <a:ln/>
        </p:spPr>
        <p:txBody>
          <a:bodyPr wrap="square" lIns="0" tIns="0" rIns="0" bIns="0" rtlCol="0" anchor="t"/>
          <a:lstStyle/>
          <a:p>
            <a:pPr algn="l" indent="0" marL="0">
              <a:buNone/>
            </a:pPr>
            <a:r>
              <a:rPr lang="en-US" sz="1600" b="1" dirty="0">
                <a:solidFill>
                  <a:srgbClr val="627D98"/>
                </a:solidFill>
                <a:latin typeface="Aptos" pitchFamily="34" charset="0"/>
                <a:ea typeface="Aptos" pitchFamily="34" charset="-122"/>
                <a:cs typeface="Aptos" pitchFamily="34" charset="-120"/>
              </a:rPr>
              <a:t>Bias (prediction − actual)</a:t>
            </a:r>
            <a:endParaRPr lang="en-US" sz="1600" dirty="0"/>
          </a:p>
        </p:txBody>
      </p:sp>
      <p:sp>
        <p:nvSpPr>
          <p:cNvPr id="32" name="s3_text_31"/>
          <p:cNvSpPr txBox="1"/>
          <p:nvPr/>
        </p:nvSpPr>
        <p:spPr>
          <a:xfrm>
            <a:off x="8275320" y="1783080"/>
            <a:ext cx="3200400" cy="731520"/>
          </a:xfrm>
          <a:prstGeom prst="rect">
            <a:avLst/>
          </a:prstGeom>
          <a:noFill/>
          <a:ln/>
        </p:spPr>
        <p:txBody>
          <a:bodyPr wrap="square" lIns="0" tIns="0" rIns="0" bIns="0" rtlCol="0" anchor="t"/>
          <a:lstStyle/>
          <a:p>
            <a:pPr algn="l" indent="0" marL="0">
              <a:buNone/>
            </a:pPr>
            <a:r>
              <a:rPr lang="en-US" sz="4400" b="1" dirty="0">
                <a:solidFill>
                  <a:srgbClr val="E45756"/>
                </a:solidFill>
                <a:latin typeface="Aptos" pitchFamily="34" charset="0"/>
                <a:ea typeface="Aptos" pitchFamily="34" charset="-122"/>
                <a:cs typeface="Aptos" pitchFamily="34" charset="-120"/>
              </a:rPr>
              <a:t>+10.90</a:t>
            </a:r>
            <a:pPr algn="l" indent="0" marL="0">
              <a:buNone/>
            </a:pPr>
            <a:r>
              <a:rPr lang="en-US" sz="1600" dirty="0">
                <a:solidFill>
                  <a:srgbClr val="627D98"/>
                </a:solidFill>
                <a:latin typeface="Aptos" pitchFamily="34" charset="0"/>
                <a:ea typeface="Aptos" pitchFamily="34" charset="-122"/>
                <a:cs typeface="Aptos" pitchFamily="34" charset="-120"/>
              </a:rPr>
              <a:t>  cycles</a:t>
            </a:r>
            <a:endParaRPr lang="en-US" sz="4400" dirty="0"/>
          </a:p>
        </p:txBody>
      </p:sp>
      <p:sp>
        <p:nvSpPr>
          <p:cNvPr id="33" name="s3_line_32"/>
          <p:cNvSpPr/>
          <p:nvPr/>
        </p:nvSpPr>
        <p:spPr>
          <a:xfrm>
            <a:off x="8275320" y="3154680"/>
            <a:ext cx="3108960" cy="91"/>
          </a:xfrm>
          <a:prstGeom prst="line">
            <a:avLst/>
          </a:prstGeom>
          <a:noFill/>
          <a:ln w="12700">
            <a:solidFill>
              <a:srgbClr val="D9E2EC"/>
            </a:solidFill>
            <a:prstDash val="solid"/>
          </a:ln>
        </p:spPr>
      </p:sp>
      <p:sp>
        <p:nvSpPr>
          <p:cNvPr id="34" name="s3_text_33"/>
          <p:cNvSpPr txBox="1"/>
          <p:nvPr/>
        </p:nvSpPr>
        <p:spPr>
          <a:xfrm>
            <a:off x="8046720"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0</a:t>
            </a:r>
            <a:endParaRPr lang="en-US" sz="1100" dirty="0"/>
          </a:p>
        </p:txBody>
      </p:sp>
      <p:sp>
        <p:nvSpPr>
          <p:cNvPr id="35" name="s3_text_34"/>
          <p:cNvSpPr txBox="1"/>
          <p:nvPr/>
        </p:nvSpPr>
        <p:spPr>
          <a:xfrm>
            <a:off x="8934994"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10</a:t>
            </a:r>
            <a:endParaRPr lang="en-US" sz="1100" dirty="0"/>
          </a:p>
        </p:txBody>
      </p:sp>
      <p:sp>
        <p:nvSpPr>
          <p:cNvPr id="36" name="s3_text_35"/>
          <p:cNvSpPr txBox="1"/>
          <p:nvPr/>
        </p:nvSpPr>
        <p:spPr>
          <a:xfrm>
            <a:off x="9823269"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20</a:t>
            </a:r>
            <a:endParaRPr lang="en-US" sz="1100" dirty="0"/>
          </a:p>
        </p:txBody>
      </p:sp>
      <p:sp>
        <p:nvSpPr>
          <p:cNvPr id="37" name="s3_text_36"/>
          <p:cNvSpPr txBox="1"/>
          <p:nvPr/>
        </p:nvSpPr>
        <p:spPr>
          <a:xfrm>
            <a:off x="10711543" y="3200400"/>
            <a:ext cx="457200" cy="228600"/>
          </a:xfrm>
          <a:prstGeom prst="rect">
            <a:avLst/>
          </a:prstGeom>
          <a:noFill/>
          <a:ln/>
        </p:spPr>
        <p:txBody>
          <a:bodyPr wrap="square" lIns="0" tIns="0" rIns="0" bIns="0" rtlCol="0" anchor="t"/>
          <a:lstStyle/>
          <a:p>
            <a:pPr algn="ctr" indent="0" marL="0">
              <a:buNone/>
            </a:pPr>
            <a:r>
              <a:rPr lang="en-US" sz="1100" dirty="0">
                <a:solidFill>
                  <a:srgbClr val="627D98"/>
                </a:solidFill>
                <a:latin typeface="Aptos" pitchFamily="34" charset="0"/>
                <a:ea typeface="Aptos" pitchFamily="34" charset="-122"/>
                <a:cs typeface="Aptos" pitchFamily="34" charset="-120"/>
              </a:rPr>
              <a:t>30</a:t>
            </a:r>
            <a:endParaRPr lang="en-US" sz="1100" dirty="0"/>
          </a:p>
        </p:txBody>
      </p:sp>
      <p:sp>
        <p:nvSpPr>
          <p:cNvPr id="38" name="s3_rect_37"/>
          <p:cNvSpPr/>
          <p:nvPr/>
        </p:nvSpPr>
        <p:spPr>
          <a:xfrm>
            <a:off x="8850033" y="3090672"/>
            <a:ext cx="808330" cy="128016"/>
          </a:xfrm>
          <a:prstGeom prst="roundRect">
            <a:avLst>
              <a:gd name="adj" fmla="val 28571"/>
            </a:avLst>
          </a:prstGeom>
          <a:solidFill>
            <a:srgbClr val="E45756">
              <a:alpha val="45000"/>
            </a:srgbClr>
          </a:solidFill>
          <a:ln/>
        </p:spPr>
      </p:sp>
      <p:sp>
        <p:nvSpPr>
          <p:cNvPr id="39" name="s3_ell_38"/>
          <p:cNvSpPr/>
          <p:nvPr/>
        </p:nvSpPr>
        <p:spPr>
          <a:xfrm>
            <a:off x="9152099" y="3063240"/>
            <a:ext cx="182880" cy="182880"/>
          </a:xfrm>
          <a:prstGeom prst="ellipse">
            <a:avLst/>
          </a:prstGeom>
          <a:solidFill>
            <a:srgbClr val="E45756"/>
          </a:solidFill>
          <a:ln w="19050">
            <a:solidFill>
              <a:srgbClr val="FFFFFF"/>
            </a:solidFill>
            <a:prstDash val="solid"/>
          </a:ln>
        </p:spPr>
      </p:sp>
      <p:sp>
        <p:nvSpPr>
          <p:cNvPr id="40" name="s3_text_39"/>
          <p:cNvSpPr txBox="1"/>
          <p:nvPr/>
        </p:nvSpPr>
        <p:spPr>
          <a:xfrm>
            <a:off x="8275320" y="3493008"/>
            <a:ext cx="3200400" cy="27432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95% CI 6.47–15.57</a:t>
            </a:r>
            <a:endParaRPr lang="en-US" sz="1400" dirty="0"/>
          </a:p>
        </p:txBody>
      </p:sp>
      <p:sp>
        <p:nvSpPr>
          <p:cNvPr id="41" name="s4_text_40"/>
          <p:cNvSpPr txBox="1"/>
          <p:nvPr/>
        </p:nvSpPr>
        <p:spPr>
          <a:xfrm>
            <a:off x="548640" y="4206240"/>
            <a:ext cx="5486400" cy="1737360"/>
          </a:xfrm>
          <a:prstGeom prst="rect">
            <a:avLst/>
          </a:prstGeom>
          <a:noFill/>
          <a:ln/>
        </p:spPr>
        <p:txBody>
          <a:bodyPr wrap="square" lIns="0" tIns="0" rIns="0" bIns="0" rtlCol="0" anchor="t"/>
          <a:lstStyle/>
          <a:p>
            <a:pPr algn="l" indent="0" marL="0">
              <a:buNone/>
            </a:pPr>
            <a:r>
              <a:rPr lang="en-US" sz="2000" b="1" dirty="0">
                <a:solidFill>
                  <a:srgbClr val="102A43"/>
                </a:solidFill>
                <a:latin typeface="Aptos" pitchFamily="34" charset="0"/>
                <a:ea typeface="Aptos" pitchFamily="34" charset="-122"/>
                <a:cs typeface="Aptos" pitchFamily="34" charset="-120"/>
              </a:rPr>
              <a:t>Positive bias = optimistic</a:t>
            </a:r>
            <a:endParaRPr lang="en-US" sz="2000" dirty="0"/>
          </a:p>
          <a:p>
            <a:pPr algn="l" indent="0" marL="0">
              <a:buNone/>
            </a:pPr>
            <a:r>
              <a:rPr lang="en-US" sz="1600" dirty="0">
                <a:solidFill>
                  <a:srgbClr val="102A43"/>
                </a:solidFill>
                <a:latin typeface="Aptos" pitchFamily="34" charset="0"/>
                <a:ea typeface="Aptos" pitchFamily="34" charset="-122"/>
                <a:cs typeface="Aptos" pitchFamily="34" charset="-120"/>
              </a:rPr>
              <a:t>The model usually predicts more remaining life than actually remains — 69% of endpoints were over-estimated.</a:t>
            </a:r>
            <a:endParaRPr lang="en-US" sz="2000" dirty="0"/>
          </a:p>
        </p:txBody>
      </p:sp>
      <p:sp>
        <p:nvSpPr>
          <p:cNvPr id="42" name="s4_rect_41"/>
          <p:cNvSpPr/>
          <p:nvPr/>
        </p:nvSpPr>
        <p:spPr>
          <a:xfrm>
            <a:off x="6355080" y="4206240"/>
            <a:ext cx="5285232" cy="1417320"/>
          </a:xfrm>
          <a:prstGeom prst="roundRect">
            <a:avLst>
              <a:gd name="adj" fmla="val 5161"/>
            </a:avLst>
          </a:prstGeom>
          <a:solidFill>
            <a:srgbClr val="FCE8E8"/>
          </a:solidFill>
          <a:ln/>
        </p:spPr>
      </p:sp>
      <p:sp>
        <p:nvSpPr>
          <p:cNvPr id="43" name="s4_text_42"/>
          <p:cNvSpPr txBox="1"/>
          <p:nvPr/>
        </p:nvSpPr>
        <p:spPr>
          <a:xfrm>
            <a:off x="6583680" y="4315968"/>
            <a:ext cx="4846320" cy="1600200"/>
          </a:xfrm>
          <a:prstGeom prst="rect">
            <a:avLst/>
          </a:prstGeom>
          <a:noFill/>
          <a:ln/>
        </p:spPr>
        <p:txBody>
          <a:bodyPr wrap="square" lIns="0" tIns="0" rIns="0" bIns="0" rtlCol="0" anchor="t"/>
          <a:lstStyle/>
          <a:p>
            <a:pPr algn="l" indent="0" marL="0">
              <a:buNone/>
            </a:pPr>
            <a:r>
              <a:rPr lang="en-US" sz="1800" b="1" dirty="0">
                <a:solidFill>
                  <a:srgbClr val="E45756"/>
                </a:solidFill>
                <a:latin typeface="Aptos" pitchFamily="34" charset="0"/>
                <a:ea typeface="Aptos" pitchFamily="34" charset="-122"/>
                <a:cs typeface="Aptos" pitchFamily="34" charset="-120"/>
              </a:rPr>
              <a:t>Why it matters</a:t>
            </a:r>
            <a:endParaRPr lang="en-US" sz="1800" dirty="0"/>
          </a:p>
          <a:p>
            <a:pPr algn="l" indent="0" marL="0">
              <a:buNone/>
            </a:pPr>
            <a:r>
              <a:rPr lang="en-US" sz="1600" dirty="0">
                <a:solidFill>
                  <a:srgbClr val="102A43"/>
                </a:solidFill>
                <a:latin typeface="Aptos" pitchFamily="34" charset="0"/>
                <a:ea typeface="Aptos" pitchFamily="34" charset="-122"/>
                <a:cs typeface="Aptos" pitchFamily="34" charset="-120"/>
              </a:rPr>
              <a:t>Optimistic estimates can delay review. The bias CI (6.47–15.57) lies entirely above zero, so the optimism is systematic.</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par>
                    <p:cTn id="71" fill="hold">
                      <p:stCondLst>
                        <p:cond delay="indefinite"/>
                      </p:stCondLst>
                      <p:childTnLst>
                        <p:par>
                          <p:cTn id="72"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4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4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400"/>
                                        <p:tgtEl>
                                          <p:spTgt spid="2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childTnLst>
                          </p:cTn>
                        </p:par>
                      </p:childTnLst>
                    </p:cTn>
                  </p:par>
                  <p:par>
                    <p:cTn id="106" fill="hold">
                      <p:stCondLst>
                        <p:cond delay="indefinite"/>
                      </p:stCondLst>
                      <p:childTnLst>
                        <p:par>
                          <p:cTn id="107"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4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00"/>
                                        <p:tgtEl>
                                          <p:spTgt spid="3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40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40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400"/>
                                        <p:tgtEl>
                                          <p:spTgt spid="3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400"/>
                                        <p:tgtEl>
                                          <p:spTgt spid="3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400"/>
                                        <p:tgtEl>
                                          <p:spTgt spid="38"/>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400"/>
                                        <p:tgtEl>
                                          <p:spTgt spid="3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0"/>
                                        </p:tgtEl>
                                        <p:attrNameLst>
                                          <p:attrName>style.visibility</p:attrName>
                                        </p:attrNameLst>
                                      </p:cBhvr>
                                      <p:to>
                                        <p:strVal val="visible"/>
                                      </p:to>
                                    </p:set>
                                    <p:animEffect transition="in" filter="fade">
                                      <p:cBhvr>
                                        <p:cTn id="105" dur="400"/>
                                        <p:tgtEl>
                                          <p:spTgt spid="40"/>
                                        </p:tgtEl>
                                      </p:cBhvr>
                                    </p:animEffect>
                                  </p:childTnLst>
                                </p:cTn>
                              </p:par>
                            </p:childTnLst>
                          </p:cTn>
                        </p:par>
                      </p:childTnLst>
                    </p:cTn>
                  </p:par>
                  <p:par>
                    <p:cTn id="117" fill="hold">
                      <p:stCondLst>
                        <p:cond delay="indefinite"/>
                      </p:stCondLst>
                      <p:childTnLst>
                        <p:par>
                          <p:cTn id="118"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400"/>
                                        <p:tgtEl>
                                          <p:spTgt spid="4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400"/>
                                        <p:tgtEl>
                                          <p:spTgt spid="4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4 · EVALUATION AND RESULTS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Full coverage came with intervals too wide to schedule</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Tables 5.2 and 5.7 (§5.4, §5.7) · coverage counts are observed, not guaranteed</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conformal ablation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8 / 13</a:t>
            </a:r>
            <a:endParaRPr lang="en-US" sz="1100" dirty="0"/>
          </a:p>
        </p:txBody>
      </p:sp>
      <p:sp>
        <p:nvSpPr>
          <p:cNvPr id="8" name="s0_text_7"/>
          <p:cNvSpPr txBox="1"/>
          <p:nvPr/>
        </p:nvSpPr>
        <p:spPr>
          <a:xfrm>
            <a:off x="548640" y="1298448"/>
            <a:ext cx="2743200" cy="548640"/>
          </a:xfrm>
          <a:prstGeom prst="rect">
            <a:avLst/>
          </a:prstGeom>
          <a:noFill/>
          <a:ln/>
        </p:spPr>
        <p:txBody>
          <a:bodyPr wrap="square" lIns="0" tIns="0" rIns="0" bIns="0" rtlCol="0" anchor="t"/>
          <a:lstStyle/>
          <a:p>
            <a:pPr algn="l" indent="0" marL="0">
              <a:buNone/>
            </a:pPr>
            <a:r>
              <a:rPr lang="en-US" sz="1300" b="1" dirty="0">
                <a:solidFill>
                  <a:srgbClr val="627D98"/>
                </a:solidFill>
                <a:latin typeface="Aptos" pitchFamily="34" charset="0"/>
                <a:ea typeface="Aptos" pitchFamily="34" charset="-122"/>
                <a:cs typeface="Aptos" pitchFamily="34" charset="-120"/>
              </a:rPr>
              <a:t>Conformal score</a:t>
            </a:r>
            <a:endParaRPr lang="en-US" sz="1300" dirty="0"/>
          </a:p>
        </p:txBody>
      </p:sp>
      <p:sp>
        <p:nvSpPr>
          <p:cNvPr id="9" name="s0_text_8"/>
          <p:cNvSpPr txBox="1"/>
          <p:nvPr/>
        </p:nvSpPr>
        <p:spPr>
          <a:xfrm>
            <a:off x="3429000" y="1298448"/>
            <a:ext cx="4297680" cy="548640"/>
          </a:xfrm>
          <a:prstGeom prst="rect">
            <a:avLst/>
          </a:prstGeom>
          <a:noFill/>
          <a:ln/>
        </p:spPr>
        <p:txBody>
          <a:bodyPr wrap="square" lIns="0" tIns="0" rIns="0" bIns="0" rtlCol="0" anchor="t"/>
          <a:lstStyle/>
          <a:p>
            <a:pPr algn="l" indent="0" marL="0">
              <a:buNone/>
            </a:pPr>
            <a:r>
              <a:rPr lang="en-US" sz="1300" b="1" dirty="0">
                <a:solidFill>
                  <a:srgbClr val="627D98"/>
                </a:solidFill>
                <a:latin typeface="Aptos" pitchFamily="34" charset="0"/>
                <a:ea typeface="Aptos" pitchFamily="34" charset="-122"/>
                <a:cs typeface="Aptos" pitchFamily="34" charset="-120"/>
              </a:rPr>
              <a:t>Mean interval width · cycles · 100 endpoints</a:t>
            </a:r>
            <a:endParaRPr lang="en-US" sz="1300" dirty="0"/>
          </a:p>
        </p:txBody>
      </p:sp>
      <p:sp>
        <p:nvSpPr>
          <p:cNvPr id="10" name="s0_text_9"/>
          <p:cNvSpPr txBox="1"/>
          <p:nvPr/>
        </p:nvSpPr>
        <p:spPr>
          <a:xfrm>
            <a:off x="8001000" y="1298448"/>
            <a:ext cx="1371600" cy="548640"/>
          </a:xfrm>
          <a:prstGeom prst="rect">
            <a:avLst/>
          </a:prstGeom>
          <a:noFill/>
          <a:ln/>
        </p:spPr>
        <p:txBody>
          <a:bodyPr wrap="square" lIns="0" tIns="0" rIns="0" bIns="0" rtlCol="0" anchor="t"/>
          <a:lstStyle/>
          <a:p>
            <a:pPr algn="l" indent="0" marL="0">
              <a:buNone/>
            </a:pPr>
            <a:r>
              <a:rPr lang="en-US" sz="1300" b="1" dirty="0">
                <a:solidFill>
                  <a:srgbClr val="627D98"/>
                </a:solidFill>
                <a:latin typeface="Aptos" pitchFamily="34" charset="0"/>
                <a:ea typeface="Aptos" pitchFamily="34" charset="-122"/>
                <a:cs typeface="Aptos" pitchFamily="34" charset="-120"/>
              </a:rPr>
              <a:t>Endpoints covered</a:t>
            </a:r>
            <a:endParaRPr lang="en-US" sz="1300" dirty="0"/>
          </a:p>
        </p:txBody>
      </p:sp>
      <p:sp>
        <p:nvSpPr>
          <p:cNvPr id="11" name="s0_text_10"/>
          <p:cNvSpPr txBox="1"/>
          <p:nvPr/>
        </p:nvSpPr>
        <p:spPr>
          <a:xfrm>
            <a:off x="9464040" y="1298448"/>
            <a:ext cx="2194560" cy="548640"/>
          </a:xfrm>
          <a:prstGeom prst="rect">
            <a:avLst/>
          </a:prstGeom>
          <a:noFill/>
          <a:ln/>
        </p:spPr>
        <p:txBody>
          <a:bodyPr wrap="square" lIns="0" tIns="0" rIns="0" bIns="0" rtlCol="0" anchor="t"/>
          <a:lstStyle/>
          <a:p>
            <a:pPr algn="l" indent="0" marL="0">
              <a:buNone/>
            </a:pPr>
            <a:r>
              <a:rPr lang="en-US" sz="1300" b="1" dirty="0">
                <a:solidFill>
                  <a:srgbClr val="627D98"/>
                </a:solidFill>
                <a:latin typeface="Aptos" pitchFamily="34" charset="0"/>
                <a:ea typeface="Aptos" pitchFamily="34" charset="-122"/>
                <a:cs typeface="Aptos" pitchFamily="34" charset="-120"/>
              </a:rPr>
              <a:t>Validation trajectories fully covered (of 20)</a:t>
            </a:r>
            <a:endParaRPr lang="en-US" sz="1300" dirty="0"/>
          </a:p>
        </p:txBody>
      </p:sp>
      <p:sp>
        <p:nvSpPr>
          <p:cNvPr id="12" name="s0_text_11"/>
          <p:cNvSpPr txBox="1"/>
          <p:nvPr/>
        </p:nvSpPr>
        <p:spPr>
          <a:xfrm>
            <a:off x="548640" y="1965960"/>
            <a:ext cx="2788920" cy="68580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Engine maximum</a:t>
            </a:r>
            <a:endParaRPr lang="en-US" sz="1700" dirty="0"/>
          </a:p>
          <a:p>
            <a:pPr algn="l" indent="0" marL="0">
              <a:buNone/>
            </a:pPr>
            <a:r>
              <a:rPr lang="en-US" sz="1100" b="1" dirty="0">
                <a:solidFill>
                  <a:srgbClr val="007E99"/>
                </a:solidFill>
                <a:latin typeface="Aptos" pitchFamily="34" charset="0"/>
                <a:ea typeface="Aptos" pitchFamily="34" charset="-122"/>
                <a:cs typeface="Aptos" pitchFamily="34" charset="-120"/>
              </a:rPr>
              <a:t>FROZEN · PRIMARY</a:t>
            </a:r>
            <a:endParaRPr lang="en-US" sz="1700" dirty="0"/>
          </a:p>
        </p:txBody>
      </p:sp>
      <p:sp>
        <p:nvSpPr>
          <p:cNvPr id="13" name="s0_rect_12"/>
          <p:cNvSpPr/>
          <p:nvPr/>
        </p:nvSpPr>
        <p:spPr>
          <a:xfrm>
            <a:off x="3429000" y="2039112"/>
            <a:ext cx="3670511" cy="411480"/>
          </a:xfrm>
          <a:prstGeom prst="rect">
            <a:avLst/>
          </a:prstGeom>
          <a:solidFill>
            <a:srgbClr val="F3A712"/>
          </a:solidFill>
          <a:ln/>
        </p:spPr>
      </p:sp>
      <p:sp>
        <p:nvSpPr>
          <p:cNvPr id="14" name="s0_text_13"/>
          <p:cNvSpPr txBox="1"/>
          <p:nvPr/>
        </p:nvSpPr>
        <p:spPr>
          <a:xfrm>
            <a:off x="7190951" y="2075688"/>
            <a:ext cx="9144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182.46</a:t>
            </a:r>
            <a:endParaRPr lang="en-US" sz="1600" dirty="0"/>
          </a:p>
        </p:txBody>
      </p:sp>
      <p:sp>
        <p:nvSpPr>
          <p:cNvPr id="15" name="s0_text_14"/>
          <p:cNvSpPr txBox="1"/>
          <p:nvPr/>
        </p:nvSpPr>
        <p:spPr>
          <a:xfrm>
            <a:off x="8001000" y="2057400"/>
            <a:ext cx="1371600" cy="365760"/>
          </a:xfrm>
          <a:prstGeom prst="rect">
            <a:avLst/>
          </a:prstGeom>
          <a:noFill/>
          <a:ln/>
        </p:spPr>
        <p:txBody>
          <a:bodyPr wrap="square" lIns="0" tIns="0" rIns="0" bIns="0" rtlCol="0" anchor="t"/>
          <a:lstStyle/>
          <a:p>
            <a:pPr algn="l" indent="0" marL="0">
              <a:buNone/>
            </a:pPr>
            <a:r>
              <a:rPr lang="en-US" sz="2000" b="1" dirty="0">
                <a:solidFill>
                  <a:srgbClr val="007E99"/>
                </a:solidFill>
                <a:latin typeface="Aptos" pitchFamily="34" charset="0"/>
                <a:ea typeface="Aptos" pitchFamily="34" charset="-122"/>
                <a:cs typeface="Aptos" pitchFamily="34" charset="-120"/>
              </a:rPr>
              <a:t>100/100</a:t>
            </a:r>
            <a:endParaRPr lang="en-US" sz="2000" dirty="0"/>
          </a:p>
        </p:txBody>
      </p:sp>
      <p:sp>
        <p:nvSpPr>
          <p:cNvPr id="16" name="s0_ell_15"/>
          <p:cNvSpPr/>
          <p:nvPr/>
        </p:nvSpPr>
        <p:spPr>
          <a:xfrm>
            <a:off x="9464040" y="2020824"/>
            <a:ext cx="155448" cy="155448"/>
          </a:xfrm>
          <a:prstGeom prst="ellipse">
            <a:avLst/>
          </a:prstGeom>
          <a:solidFill>
            <a:srgbClr val="00A6C8"/>
          </a:solidFill>
          <a:ln/>
        </p:spPr>
      </p:sp>
      <p:sp>
        <p:nvSpPr>
          <p:cNvPr id="17" name="s0_ell_16"/>
          <p:cNvSpPr/>
          <p:nvPr/>
        </p:nvSpPr>
        <p:spPr>
          <a:xfrm>
            <a:off x="9674352" y="2020824"/>
            <a:ext cx="155448" cy="155448"/>
          </a:xfrm>
          <a:prstGeom prst="ellipse">
            <a:avLst/>
          </a:prstGeom>
          <a:solidFill>
            <a:srgbClr val="00A6C8"/>
          </a:solidFill>
          <a:ln/>
        </p:spPr>
      </p:sp>
      <p:sp>
        <p:nvSpPr>
          <p:cNvPr id="18" name="s0_ell_17"/>
          <p:cNvSpPr/>
          <p:nvPr/>
        </p:nvSpPr>
        <p:spPr>
          <a:xfrm>
            <a:off x="9884664" y="2020824"/>
            <a:ext cx="155448" cy="155448"/>
          </a:xfrm>
          <a:prstGeom prst="ellipse">
            <a:avLst/>
          </a:prstGeom>
          <a:solidFill>
            <a:srgbClr val="00A6C8"/>
          </a:solidFill>
          <a:ln/>
        </p:spPr>
      </p:sp>
      <p:sp>
        <p:nvSpPr>
          <p:cNvPr id="19" name="s0_ell_18"/>
          <p:cNvSpPr/>
          <p:nvPr/>
        </p:nvSpPr>
        <p:spPr>
          <a:xfrm>
            <a:off x="10094976" y="2020824"/>
            <a:ext cx="155448" cy="155448"/>
          </a:xfrm>
          <a:prstGeom prst="ellipse">
            <a:avLst/>
          </a:prstGeom>
          <a:solidFill>
            <a:srgbClr val="00A6C8"/>
          </a:solidFill>
          <a:ln/>
        </p:spPr>
      </p:sp>
      <p:sp>
        <p:nvSpPr>
          <p:cNvPr id="20" name="s0_ell_19"/>
          <p:cNvSpPr/>
          <p:nvPr/>
        </p:nvSpPr>
        <p:spPr>
          <a:xfrm>
            <a:off x="10305288" y="2020824"/>
            <a:ext cx="155448" cy="155448"/>
          </a:xfrm>
          <a:prstGeom prst="ellipse">
            <a:avLst/>
          </a:prstGeom>
          <a:solidFill>
            <a:srgbClr val="00A6C8"/>
          </a:solidFill>
          <a:ln/>
        </p:spPr>
      </p:sp>
      <p:sp>
        <p:nvSpPr>
          <p:cNvPr id="21" name="s0_ell_20"/>
          <p:cNvSpPr/>
          <p:nvPr/>
        </p:nvSpPr>
        <p:spPr>
          <a:xfrm>
            <a:off x="10515600" y="2020824"/>
            <a:ext cx="155448" cy="155448"/>
          </a:xfrm>
          <a:prstGeom prst="ellipse">
            <a:avLst/>
          </a:prstGeom>
          <a:solidFill>
            <a:srgbClr val="00A6C8"/>
          </a:solidFill>
          <a:ln/>
        </p:spPr>
      </p:sp>
      <p:sp>
        <p:nvSpPr>
          <p:cNvPr id="22" name="s0_ell_21"/>
          <p:cNvSpPr/>
          <p:nvPr/>
        </p:nvSpPr>
        <p:spPr>
          <a:xfrm>
            <a:off x="10725912" y="2020824"/>
            <a:ext cx="155448" cy="155448"/>
          </a:xfrm>
          <a:prstGeom prst="ellipse">
            <a:avLst/>
          </a:prstGeom>
          <a:solidFill>
            <a:srgbClr val="00A6C8"/>
          </a:solidFill>
          <a:ln/>
        </p:spPr>
      </p:sp>
      <p:sp>
        <p:nvSpPr>
          <p:cNvPr id="23" name="s0_ell_22"/>
          <p:cNvSpPr/>
          <p:nvPr/>
        </p:nvSpPr>
        <p:spPr>
          <a:xfrm>
            <a:off x="10936224" y="2020824"/>
            <a:ext cx="155448" cy="155448"/>
          </a:xfrm>
          <a:prstGeom prst="ellipse">
            <a:avLst/>
          </a:prstGeom>
          <a:solidFill>
            <a:srgbClr val="00A6C8"/>
          </a:solidFill>
          <a:ln/>
        </p:spPr>
      </p:sp>
      <p:sp>
        <p:nvSpPr>
          <p:cNvPr id="24" name="s0_ell_23"/>
          <p:cNvSpPr/>
          <p:nvPr/>
        </p:nvSpPr>
        <p:spPr>
          <a:xfrm>
            <a:off x="11146536" y="2020824"/>
            <a:ext cx="155448" cy="155448"/>
          </a:xfrm>
          <a:prstGeom prst="ellipse">
            <a:avLst/>
          </a:prstGeom>
          <a:solidFill>
            <a:srgbClr val="00A6C8"/>
          </a:solidFill>
          <a:ln/>
        </p:spPr>
      </p:sp>
      <p:sp>
        <p:nvSpPr>
          <p:cNvPr id="25" name="s0_ell_24"/>
          <p:cNvSpPr/>
          <p:nvPr/>
        </p:nvSpPr>
        <p:spPr>
          <a:xfrm>
            <a:off x="11356848" y="2020824"/>
            <a:ext cx="155448" cy="155448"/>
          </a:xfrm>
          <a:prstGeom prst="ellipse">
            <a:avLst/>
          </a:prstGeom>
          <a:solidFill>
            <a:srgbClr val="00A6C8"/>
          </a:solidFill>
          <a:ln/>
        </p:spPr>
      </p:sp>
      <p:sp>
        <p:nvSpPr>
          <p:cNvPr id="26" name="s0_ell_25"/>
          <p:cNvSpPr/>
          <p:nvPr/>
        </p:nvSpPr>
        <p:spPr>
          <a:xfrm>
            <a:off x="9464040" y="2249424"/>
            <a:ext cx="155448" cy="155448"/>
          </a:xfrm>
          <a:prstGeom prst="ellipse">
            <a:avLst/>
          </a:prstGeom>
          <a:solidFill>
            <a:srgbClr val="00A6C8"/>
          </a:solidFill>
          <a:ln/>
        </p:spPr>
      </p:sp>
      <p:sp>
        <p:nvSpPr>
          <p:cNvPr id="27" name="s0_ell_26"/>
          <p:cNvSpPr/>
          <p:nvPr/>
        </p:nvSpPr>
        <p:spPr>
          <a:xfrm>
            <a:off x="9674352" y="2249424"/>
            <a:ext cx="155448" cy="155448"/>
          </a:xfrm>
          <a:prstGeom prst="ellipse">
            <a:avLst/>
          </a:prstGeom>
          <a:solidFill>
            <a:srgbClr val="00A6C8"/>
          </a:solidFill>
          <a:ln/>
        </p:spPr>
      </p:sp>
      <p:sp>
        <p:nvSpPr>
          <p:cNvPr id="28" name="s0_ell_27"/>
          <p:cNvSpPr/>
          <p:nvPr/>
        </p:nvSpPr>
        <p:spPr>
          <a:xfrm>
            <a:off x="9884664" y="2249424"/>
            <a:ext cx="155448" cy="155448"/>
          </a:xfrm>
          <a:prstGeom prst="ellipse">
            <a:avLst/>
          </a:prstGeom>
          <a:solidFill>
            <a:srgbClr val="00A6C8"/>
          </a:solidFill>
          <a:ln/>
        </p:spPr>
      </p:sp>
      <p:sp>
        <p:nvSpPr>
          <p:cNvPr id="29" name="s0_ell_28"/>
          <p:cNvSpPr/>
          <p:nvPr/>
        </p:nvSpPr>
        <p:spPr>
          <a:xfrm>
            <a:off x="10094976" y="2249424"/>
            <a:ext cx="155448" cy="155448"/>
          </a:xfrm>
          <a:prstGeom prst="ellipse">
            <a:avLst/>
          </a:prstGeom>
          <a:solidFill>
            <a:srgbClr val="00A6C8"/>
          </a:solidFill>
          <a:ln/>
        </p:spPr>
      </p:sp>
      <p:sp>
        <p:nvSpPr>
          <p:cNvPr id="30" name="s0_ell_29"/>
          <p:cNvSpPr/>
          <p:nvPr/>
        </p:nvSpPr>
        <p:spPr>
          <a:xfrm>
            <a:off x="10305288" y="2249424"/>
            <a:ext cx="155448" cy="155448"/>
          </a:xfrm>
          <a:prstGeom prst="ellipse">
            <a:avLst/>
          </a:prstGeom>
          <a:solidFill>
            <a:srgbClr val="00A6C8"/>
          </a:solidFill>
          <a:ln/>
        </p:spPr>
      </p:sp>
      <p:sp>
        <p:nvSpPr>
          <p:cNvPr id="31" name="s0_ell_30"/>
          <p:cNvSpPr/>
          <p:nvPr/>
        </p:nvSpPr>
        <p:spPr>
          <a:xfrm>
            <a:off x="10515600" y="2249424"/>
            <a:ext cx="155448" cy="155448"/>
          </a:xfrm>
          <a:prstGeom prst="ellipse">
            <a:avLst/>
          </a:prstGeom>
          <a:solidFill>
            <a:srgbClr val="00A6C8"/>
          </a:solidFill>
          <a:ln/>
        </p:spPr>
      </p:sp>
      <p:sp>
        <p:nvSpPr>
          <p:cNvPr id="32" name="s0_ell_31"/>
          <p:cNvSpPr/>
          <p:nvPr/>
        </p:nvSpPr>
        <p:spPr>
          <a:xfrm>
            <a:off x="10725912" y="2249424"/>
            <a:ext cx="155448" cy="155448"/>
          </a:xfrm>
          <a:prstGeom prst="ellipse">
            <a:avLst/>
          </a:prstGeom>
          <a:solidFill>
            <a:srgbClr val="00A6C8"/>
          </a:solidFill>
          <a:ln/>
        </p:spPr>
      </p:sp>
      <p:sp>
        <p:nvSpPr>
          <p:cNvPr id="33" name="s0_ell_32"/>
          <p:cNvSpPr/>
          <p:nvPr/>
        </p:nvSpPr>
        <p:spPr>
          <a:xfrm>
            <a:off x="10936224" y="2249424"/>
            <a:ext cx="155448" cy="155448"/>
          </a:xfrm>
          <a:prstGeom prst="ellipse">
            <a:avLst/>
          </a:prstGeom>
          <a:solidFill>
            <a:srgbClr val="00A6C8"/>
          </a:solidFill>
          <a:ln/>
        </p:spPr>
      </p:sp>
      <p:sp>
        <p:nvSpPr>
          <p:cNvPr id="34" name="s0_ell_33"/>
          <p:cNvSpPr/>
          <p:nvPr/>
        </p:nvSpPr>
        <p:spPr>
          <a:xfrm>
            <a:off x="11146536" y="2249424"/>
            <a:ext cx="155448" cy="155448"/>
          </a:xfrm>
          <a:prstGeom prst="ellipse">
            <a:avLst/>
          </a:prstGeom>
          <a:solidFill>
            <a:srgbClr val="00A6C8"/>
          </a:solidFill>
          <a:ln/>
        </p:spPr>
      </p:sp>
      <p:sp>
        <p:nvSpPr>
          <p:cNvPr id="35" name="s0_ell_34"/>
          <p:cNvSpPr/>
          <p:nvPr/>
        </p:nvSpPr>
        <p:spPr>
          <a:xfrm>
            <a:off x="11356848" y="2249424"/>
            <a:ext cx="155448" cy="155448"/>
          </a:xfrm>
          <a:prstGeom prst="ellipse">
            <a:avLst/>
          </a:prstGeom>
          <a:solidFill>
            <a:srgbClr val="00A6C8"/>
          </a:solidFill>
          <a:ln/>
        </p:spPr>
      </p:sp>
      <p:sp>
        <p:nvSpPr>
          <p:cNvPr id="36" name="s0_text_35"/>
          <p:cNvSpPr txBox="1"/>
          <p:nvPr/>
        </p:nvSpPr>
        <p:spPr>
          <a:xfrm>
            <a:off x="548640" y="2724912"/>
            <a:ext cx="11064240" cy="310896"/>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Wilson 95% CI 96.30–100%  ·  median width 193.64  ·  63% of lower bounds clipped at 0</a:t>
            </a:r>
            <a:endParaRPr lang="en-US" sz="1400" dirty="0"/>
          </a:p>
        </p:txBody>
      </p:sp>
      <p:sp>
        <p:nvSpPr>
          <p:cNvPr id="37" name="s1_text_36"/>
          <p:cNvSpPr txBox="1"/>
          <p:nvPr/>
        </p:nvSpPr>
        <p:spPr>
          <a:xfrm>
            <a:off x="548640" y="3291840"/>
            <a:ext cx="2788920" cy="68580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Row-level score</a:t>
            </a:r>
            <a:endParaRPr lang="en-US" sz="1700" dirty="0"/>
          </a:p>
          <a:p>
            <a:pPr algn="l" indent="0" marL="0">
              <a:buNone/>
            </a:pPr>
            <a:r>
              <a:rPr lang="en-US" sz="1100" b="1" dirty="0">
                <a:solidFill>
                  <a:srgbClr val="9A6700"/>
                </a:solidFill>
                <a:latin typeface="Aptos" pitchFamily="34" charset="0"/>
                <a:ea typeface="Aptos" pitchFamily="34" charset="-122"/>
                <a:cs typeface="Aptos" pitchFamily="34" charset="-120"/>
              </a:rPr>
              <a:t>POST-CLOSURE · EXPLORATORY</a:t>
            </a:r>
            <a:endParaRPr lang="en-US" sz="1700" dirty="0"/>
          </a:p>
        </p:txBody>
      </p:sp>
      <p:sp>
        <p:nvSpPr>
          <p:cNvPr id="38" name="s1_rect_37"/>
          <p:cNvSpPr/>
          <p:nvPr/>
        </p:nvSpPr>
        <p:spPr>
          <a:xfrm>
            <a:off x="3429000" y="3364992"/>
            <a:ext cx="2139221" cy="411480"/>
          </a:xfrm>
          <a:prstGeom prst="rect">
            <a:avLst/>
          </a:prstGeom>
          <a:solidFill>
            <a:srgbClr val="F3A712">
              <a:alpha val="65000"/>
            </a:srgbClr>
          </a:solidFill>
          <a:ln/>
        </p:spPr>
      </p:sp>
      <p:sp>
        <p:nvSpPr>
          <p:cNvPr id="39" name="s1_text_38"/>
          <p:cNvSpPr txBox="1"/>
          <p:nvPr/>
        </p:nvSpPr>
        <p:spPr>
          <a:xfrm>
            <a:off x="5659661" y="3401568"/>
            <a:ext cx="9144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106.34</a:t>
            </a:r>
            <a:endParaRPr lang="en-US" sz="1600" dirty="0"/>
          </a:p>
        </p:txBody>
      </p:sp>
      <p:sp>
        <p:nvSpPr>
          <p:cNvPr id="40" name="s1_text_39"/>
          <p:cNvSpPr txBox="1"/>
          <p:nvPr/>
        </p:nvSpPr>
        <p:spPr>
          <a:xfrm>
            <a:off x="8001000" y="3383280"/>
            <a:ext cx="1371600" cy="365760"/>
          </a:xfrm>
          <a:prstGeom prst="rect">
            <a:avLst/>
          </a:prstGeom>
          <a:noFill/>
          <a:ln/>
        </p:spPr>
        <p:txBody>
          <a:bodyPr wrap="square" lIns="0" tIns="0" rIns="0" bIns="0" rtlCol="0" anchor="t"/>
          <a:lstStyle/>
          <a:p>
            <a:pPr algn="l" indent="0" marL="0">
              <a:buNone/>
            </a:pPr>
            <a:r>
              <a:rPr lang="en-US" sz="2000" b="1" dirty="0">
                <a:solidFill>
                  <a:srgbClr val="102A43"/>
                </a:solidFill>
                <a:latin typeface="Aptos" pitchFamily="34" charset="0"/>
                <a:ea typeface="Aptos" pitchFamily="34" charset="-122"/>
                <a:cs typeface="Aptos" pitchFamily="34" charset="-120"/>
              </a:rPr>
              <a:t>96/100</a:t>
            </a:r>
            <a:endParaRPr lang="en-US" sz="2000" dirty="0"/>
          </a:p>
        </p:txBody>
      </p:sp>
      <p:sp>
        <p:nvSpPr>
          <p:cNvPr id="41" name="s1_ell_40"/>
          <p:cNvSpPr/>
          <p:nvPr/>
        </p:nvSpPr>
        <p:spPr>
          <a:xfrm>
            <a:off x="9464040" y="3346704"/>
            <a:ext cx="155448" cy="155448"/>
          </a:xfrm>
          <a:prstGeom prst="ellipse">
            <a:avLst/>
          </a:prstGeom>
          <a:solidFill>
            <a:srgbClr val="00A6C8"/>
          </a:solidFill>
          <a:ln/>
        </p:spPr>
      </p:sp>
      <p:sp>
        <p:nvSpPr>
          <p:cNvPr id="42" name="s1_ell_41"/>
          <p:cNvSpPr/>
          <p:nvPr/>
        </p:nvSpPr>
        <p:spPr>
          <a:xfrm>
            <a:off x="9674352" y="3346704"/>
            <a:ext cx="155448" cy="155448"/>
          </a:xfrm>
          <a:prstGeom prst="ellipse">
            <a:avLst/>
          </a:prstGeom>
          <a:solidFill>
            <a:srgbClr val="00A6C8"/>
          </a:solidFill>
          <a:ln/>
        </p:spPr>
      </p:sp>
      <p:sp>
        <p:nvSpPr>
          <p:cNvPr id="43" name="s1_ell_42"/>
          <p:cNvSpPr/>
          <p:nvPr/>
        </p:nvSpPr>
        <p:spPr>
          <a:xfrm>
            <a:off x="9884664" y="3346704"/>
            <a:ext cx="155448" cy="155448"/>
          </a:xfrm>
          <a:prstGeom prst="ellipse">
            <a:avLst/>
          </a:prstGeom>
          <a:solidFill>
            <a:srgbClr val="00A6C8"/>
          </a:solidFill>
          <a:ln/>
        </p:spPr>
      </p:sp>
      <p:sp>
        <p:nvSpPr>
          <p:cNvPr id="44" name="s1_ell_43"/>
          <p:cNvSpPr/>
          <p:nvPr/>
        </p:nvSpPr>
        <p:spPr>
          <a:xfrm>
            <a:off x="10094976" y="3346704"/>
            <a:ext cx="155448" cy="155448"/>
          </a:xfrm>
          <a:prstGeom prst="ellipse">
            <a:avLst/>
          </a:prstGeom>
          <a:solidFill>
            <a:srgbClr val="00A6C8"/>
          </a:solidFill>
          <a:ln/>
        </p:spPr>
      </p:sp>
      <p:sp>
        <p:nvSpPr>
          <p:cNvPr id="45" name="s1_ell_44"/>
          <p:cNvSpPr/>
          <p:nvPr/>
        </p:nvSpPr>
        <p:spPr>
          <a:xfrm>
            <a:off x="10305288" y="3346704"/>
            <a:ext cx="155448" cy="155448"/>
          </a:xfrm>
          <a:prstGeom prst="ellipse">
            <a:avLst/>
          </a:prstGeom>
          <a:solidFill>
            <a:srgbClr val="00A6C8"/>
          </a:solidFill>
          <a:ln/>
        </p:spPr>
      </p:sp>
      <p:sp>
        <p:nvSpPr>
          <p:cNvPr id="46" name="s1_ell_45"/>
          <p:cNvSpPr/>
          <p:nvPr/>
        </p:nvSpPr>
        <p:spPr>
          <a:xfrm>
            <a:off x="10515600" y="3346704"/>
            <a:ext cx="155448" cy="155448"/>
          </a:xfrm>
          <a:prstGeom prst="ellipse">
            <a:avLst/>
          </a:prstGeom>
          <a:solidFill>
            <a:srgbClr val="00A6C8"/>
          </a:solidFill>
          <a:ln/>
        </p:spPr>
      </p:sp>
      <p:sp>
        <p:nvSpPr>
          <p:cNvPr id="47" name="s1_ell_46"/>
          <p:cNvSpPr/>
          <p:nvPr/>
        </p:nvSpPr>
        <p:spPr>
          <a:xfrm>
            <a:off x="10725912" y="3346704"/>
            <a:ext cx="155448" cy="155448"/>
          </a:xfrm>
          <a:prstGeom prst="ellipse">
            <a:avLst/>
          </a:prstGeom>
          <a:solidFill>
            <a:srgbClr val="00A6C8"/>
          </a:solidFill>
          <a:ln/>
        </p:spPr>
      </p:sp>
      <p:sp>
        <p:nvSpPr>
          <p:cNvPr id="48" name="s1_ell_47"/>
          <p:cNvSpPr/>
          <p:nvPr/>
        </p:nvSpPr>
        <p:spPr>
          <a:xfrm>
            <a:off x="10936224" y="3346704"/>
            <a:ext cx="155448" cy="155448"/>
          </a:xfrm>
          <a:prstGeom prst="ellipse">
            <a:avLst/>
          </a:prstGeom>
          <a:solidFill>
            <a:srgbClr val="00A6C8"/>
          </a:solidFill>
          <a:ln/>
        </p:spPr>
      </p:sp>
      <p:sp>
        <p:nvSpPr>
          <p:cNvPr id="49" name="s1_ell_48"/>
          <p:cNvSpPr/>
          <p:nvPr/>
        </p:nvSpPr>
        <p:spPr>
          <a:xfrm>
            <a:off x="11146536" y="3346704"/>
            <a:ext cx="155448" cy="155448"/>
          </a:xfrm>
          <a:prstGeom prst="ellipse">
            <a:avLst/>
          </a:prstGeom>
          <a:solidFill>
            <a:srgbClr val="FFFFFF"/>
          </a:solidFill>
          <a:ln w="9525">
            <a:solidFill>
              <a:srgbClr val="9FB3C8"/>
            </a:solidFill>
            <a:prstDash val="solid"/>
          </a:ln>
        </p:spPr>
      </p:sp>
      <p:sp>
        <p:nvSpPr>
          <p:cNvPr id="50" name="s1_ell_49"/>
          <p:cNvSpPr/>
          <p:nvPr/>
        </p:nvSpPr>
        <p:spPr>
          <a:xfrm>
            <a:off x="11356848" y="3346704"/>
            <a:ext cx="155448" cy="155448"/>
          </a:xfrm>
          <a:prstGeom prst="ellipse">
            <a:avLst/>
          </a:prstGeom>
          <a:solidFill>
            <a:srgbClr val="FFFFFF"/>
          </a:solidFill>
          <a:ln w="9525">
            <a:solidFill>
              <a:srgbClr val="9FB3C8"/>
            </a:solidFill>
            <a:prstDash val="solid"/>
          </a:ln>
        </p:spPr>
      </p:sp>
      <p:sp>
        <p:nvSpPr>
          <p:cNvPr id="51" name="s1_ell_50"/>
          <p:cNvSpPr/>
          <p:nvPr/>
        </p:nvSpPr>
        <p:spPr>
          <a:xfrm>
            <a:off x="9464040" y="3575304"/>
            <a:ext cx="155448" cy="155448"/>
          </a:xfrm>
          <a:prstGeom prst="ellipse">
            <a:avLst/>
          </a:prstGeom>
          <a:solidFill>
            <a:srgbClr val="FFFFFF"/>
          </a:solidFill>
          <a:ln w="9525">
            <a:solidFill>
              <a:srgbClr val="9FB3C8"/>
            </a:solidFill>
            <a:prstDash val="solid"/>
          </a:ln>
        </p:spPr>
      </p:sp>
      <p:sp>
        <p:nvSpPr>
          <p:cNvPr id="52" name="s1_ell_51"/>
          <p:cNvSpPr/>
          <p:nvPr/>
        </p:nvSpPr>
        <p:spPr>
          <a:xfrm>
            <a:off x="9674352" y="3575304"/>
            <a:ext cx="155448" cy="155448"/>
          </a:xfrm>
          <a:prstGeom prst="ellipse">
            <a:avLst/>
          </a:prstGeom>
          <a:solidFill>
            <a:srgbClr val="FFFFFF"/>
          </a:solidFill>
          <a:ln w="9525">
            <a:solidFill>
              <a:srgbClr val="9FB3C8"/>
            </a:solidFill>
            <a:prstDash val="solid"/>
          </a:ln>
        </p:spPr>
      </p:sp>
      <p:sp>
        <p:nvSpPr>
          <p:cNvPr id="53" name="s1_ell_52"/>
          <p:cNvSpPr/>
          <p:nvPr/>
        </p:nvSpPr>
        <p:spPr>
          <a:xfrm>
            <a:off x="9884664" y="3575304"/>
            <a:ext cx="155448" cy="155448"/>
          </a:xfrm>
          <a:prstGeom prst="ellipse">
            <a:avLst/>
          </a:prstGeom>
          <a:solidFill>
            <a:srgbClr val="FFFFFF"/>
          </a:solidFill>
          <a:ln w="9525">
            <a:solidFill>
              <a:srgbClr val="9FB3C8"/>
            </a:solidFill>
            <a:prstDash val="solid"/>
          </a:ln>
        </p:spPr>
      </p:sp>
      <p:sp>
        <p:nvSpPr>
          <p:cNvPr id="54" name="s1_ell_53"/>
          <p:cNvSpPr/>
          <p:nvPr/>
        </p:nvSpPr>
        <p:spPr>
          <a:xfrm>
            <a:off x="10094976" y="3575304"/>
            <a:ext cx="155448" cy="155448"/>
          </a:xfrm>
          <a:prstGeom prst="ellipse">
            <a:avLst/>
          </a:prstGeom>
          <a:solidFill>
            <a:srgbClr val="FFFFFF"/>
          </a:solidFill>
          <a:ln w="9525">
            <a:solidFill>
              <a:srgbClr val="9FB3C8"/>
            </a:solidFill>
            <a:prstDash val="solid"/>
          </a:ln>
        </p:spPr>
      </p:sp>
      <p:sp>
        <p:nvSpPr>
          <p:cNvPr id="55" name="s1_ell_54"/>
          <p:cNvSpPr/>
          <p:nvPr/>
        </p:nvSpPr>
        <p:spPr>
          <a:xfrm>
            <a:off x="10305288" y="3575304"/>
            <a:ext cx="155448" cy="155448"/>
          </a:xfrm>
          <a:prstGeom prst="ellipse">
            <a:avLst/>
          </a:prstGeom>
          <a:solidFill>
            <a:srgbClr val="FFFFFF"/>
          </a:solidFill>
          <a:ln w="9525">
            <a:solidFill>
              <a:srgbClr val="9FB3C8"/>
            </a:solidFill>
            <a:prstDash val="solid"/>
          </a:ln>
        </p:spPr>
      </p:sp>
      <p:sp>
        <p:nvSpPr>
          <p:cNvPr id="56" name="s1_ell_55"/>
          <p:cNvSpPr/>
          <p:nvPr/>
        </p:nvSpPr>
        <p:spPr>
          <a:xfrm>
            <a:off x="10515600" y="3575304"/>
            <a:ext cx="155448" cy="155448"/>
          </a:xfrm>
          <a:prstGeom prst="ellipse">
            <a:avLst/>
          </a:prstGeom>
          <a:solidFill>
            <a:srgbClr val="FFFFFF"/>
          </a:solidFill>
          <a:ln w="9525">
            <a:solidFill>
              <a:srgbClr val="9FB3C8"/>
            </a:solidFill>
            <a:prstDash val="solid"/>
          </a:ln>
        </p:spPr>
      </p:sp>
      <p:sp>
        <p:nvSpPr>
          <p:cNvPr id="57" name="s1_ell_56"/>
          <p:cNvSpPr/>
          <p:nvPr/>
        </p:nvSpPr>
        <p:spPr>
          <a:xfrm>
            <a:off x="10725912" y="3575304"/>
            <a:ext cx="155448" cy="155448"/>
          </a:xfrm>
          <a:prstGeom prst="ellipse">
            <a:avLst/>
          </a:prstGeom>
          <a:solidFill>
            <a:srgbClr val="FFFFFF"/>
          </a:solidFill>
          <a:ln w="9525">
            <a:solidFill>
              <a:srgbClr val="9FB3C8"/>
            </a:solidFill>
            <a:prstDash val="solid"/>
          </a:ln>
        </p:spPr>
      </p:sp>
      <p:sp>
        <p:nvSpPr>
          <p:cNvPr id="58" name="s1_ell_57"/>
          <p:cNvSpPr/>
          <p:nvPr/>
        </p:nvSpPr>
        <p:spPr>
          <a:xfrm>
            <a:off x="10936224" y="3575304"/>
            <a:ext cx="155448" cy="155448"/>
          </a:xfrm>
          <a:prstGeom prst="ellipse">
            <a:avLst/>
          </a:prstGeom>
          <a:solidFill>
            <a:srgbClr val="FFFFFF"/>
          </a:solidFill>
          <a:ln w="9525">
            <a:solidFill>
              <a:srgbClr val="9FB3C8"/>
            </a:solidFill>
            <a:prstDash val="solid"/>
          </a:ln>
        </p:spPr>
      </p:sp>
      <p:sp>
        <p:nvSpPr>
          <p:cNvPr id="59" name="s1_ell_58"/>
          <p:cNvSpPr/>
          <p:nvPr/>
        </p:nvSpPr>
        <p:spPr>
          <a:xfrm>
            <a:off x="11146536" y="3575304"/>
            <a:ext cx="155448" cy="155448"/>
          </a:xfrm>
          <a:prstGeom prst="ellipse">
            <a:avLst/>
          </a:prstGeom>
          <a:solidFill>
            <a:srgbClr val="FFFFFF"/>
          </a:solidFill>
          <a:ln w="9525">
            <a:solidFill>
              <a:srgbClr val="9FB3C8"/>
            </a:solidFill>
            <a:prstDash val="solid"/>
          </a:ln>
        </p:spPr>
      </p:sp>
      <p:sp>
        <p:nvSpPr>
          <p:cNvPr id="60" name="s1_ell_59"/>
          <p:cNvSpPr/>
          <p:nvPr/>
        </p:nvSpPr>
        <p:spPr>
          <a:xfrm>
            <a:off x="11356848" y="3575304"/>
            <a:ext cx="155448" cy="155448"/>
          </a:xfrm>
          <a:prstGeom prst="ellipse">
            <a:avLst/>
          </a:prstGeom>
          <a:solidFill>
            <a:srgbClr val="FFFFFF"/>
          </a:solidFill>
          <a:ln w="9525">
            <a:solidFill>
              <a:srgbClr val="9FB3C8"/>
            </a:solidFill>
            <a:prstDash val="solid"/>
          </a:ln>
        </p:spPr>
      </p:sp>
      <p:sp>
        <p:nvSpPr>
          <p:cNvPr id="61" name="s1_text_60"/>
          <p:cNvSpPr txBox="1"/>
          <p:nvPr/>
        </p:nvSpPr>
        <p:spPr>
          <a:xfrm>
            <a:off x="548640" y="4114800"/>
            <a:ext cx="2788920" cy="685800"/>
          </a:xfrm>
          <a:prstGeom prst="rect">
            <a:avLst/>
          </a:prstGeom>
          <a:noFill/>
          <a:ln/>
        </p:spPr>
        <p:txBody>
          <a:bodyPr wrap="square" lIns="0" tIns="0" rIns="0" bIns="0" rtlCol="0" anchor="t"/>
          <a:lstStyle/>
          <a:p>
            <a:pPr algn="l" indent="0" marL="0">
              <a:buNone/>
            </a:pPr>
            <a:r>
              <a:rPr lang="en-US" sz="1700" b="1" dirty="0">
                <a:solidFill>
                  <a:srgbClr val="102A43"/>
                </a:solidFill>
                <a:latin typeface="Aptos" pitchFamily="34" charset="0"/>
                <a:ea typeface="Aptos" pitchFamily="34" charset="-122"/>
                <a:cs typeface="Aptos" pitchFamily="34" charset="-120"/>
              </a:rPr>
              <a:t>Engine-mean score</a:t>
            </a:r>
            <a:endParaRPr lang="en-US" sz="1700" dirty="0"/>
          </a:p>
          <a:p>
            <a:pPr algn="l" indent="0" marL="0">
              <a:buNone/>
            </a:pPr>
            <a:r>
              <a:rPr lang="en-US" sz="1100" b="1" dirty="0">
                <a:solidFill>
                  <a:srgbClr val="9A6700"/>
                </a:solidFill>
                <a:latin typeface="Aptos" pitchFamily="34" charset="0"/>
                <a:ea typeface="Aptos" pitchFamily="34" charset="-122"/>
                <a:cs typeface="Aptos" pitchFamily="34" charset="-120"/>
              </a:rPr>
              <a:t>POST-CLOSURE · EXPLORATORY</a:t>
            </a:r>
            <a:endParaRPr lang="en-US" sz="1700" dirty="0"/>
          </a:p>
        </p:txBody>
      </p:sp>
      <p:sp>
        <p:nvSpPr>
          <p:cNvPr id="62" name="s1_rect_61"/>
          <p:cNvSpPr/>
          <p:nvPr/>
        </p:nvSpPr>
        <p:spPr>
          <a:xfrm>
            <a:off x="3429000" y="4187952"/>
            <a:ext cx="2026164" cy="411480"/>
          </a:xfrm>
          <a:prstGeom prst="rect">
            <a:avLst/>
          </a:prstGeom>
          <a:solidFill>
            <a:srgbClr val="F3A712">
              <a:alpha val="65000"/>
            </a:srgbClr>
          </a:solidFill>
          <a:ln/>
        </p:spPr>
      </p:sp>
      <p:sp>
        <p:nvSpPr>
          <p:cNvPr id="63" name="s1_text_62"/>
          <p:cNvSpPr txBox="1"/>
          <p:nvPr/>
        </p:nvSpPr>
        <p:spPr>
          <a:xfrm>
            <a:off x="5546604" y="4224528"/>
            <a:ext cx="91440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100.72</a:t>
            </a:r>
            <a:endParaRPr lang="en-US" sz="1600" dirty="0"/>
          </a:p>
        </p:txBody>
      </p:sp>
      <p:sp>
        <p:nvSpPr>
          <p:cNvPr id="64" name="s1_text_63"/>
          <p:cNvSpPr txBox="1"/>
          <p:nvPr/>
        </p:nvSpPr>
        <p:spPr>
          <a:xfrm>
            <a:off x="8001000" y="4206240"/>
            <a:ext cx="1371600" cy="365760"/>
          </a:xfrm>
          <a:prstGeom prst="rect">
            <a:avLst/>
          </a:prstGeom>
          <a:noFill/>
          <a:ln/>
        </p:spPr>
        <p:txBody>
          <a:bodyPr wrap="square" lIns="0" tIns="0" rIns="0" bIns="0" rtlCol="0" anchor="t"/>
          <a:lstStyle/>
          <a:p>
            <a:pPr algn="l" indent="0" marL="0">
              <a:buNone/>
            </a:pPr>
            <a:r>
              <a:rPr lang="en-US" sz="2000" b="1" dirty="0">
                <a:solidFill>
                  <a:srgbClr val="102A43"/>
                </a:solidFill>
                <a:latin typeface="Aptos" pitchFamily="34" charset="0"/>
                <a:ea typeface="Aptos" pitchFamily="34" charset="-122"/>
                <a:cs typeface="Aptos" pitchFamily="34" charset="-120"/>
              </a:rPr>
              <a:t>96/100</a:t>
            </a:r>
            <a:endParaRPr lang="en-US" sz="2000" dirty="0"/>
          </a:p>
        </p:txBody>
      </p:sp>
      <p:sp>
        <p:nvSpPr>
          <p:cNvPr id="65" name="s1_ell_64"/>
          <p:cNvSpPr/>
          <p:nvPr/>
        </p:nvSpPr>
        <p:spPr>
          <a:xfrm>
            <a:off x="9464040" y="4169664"/>
            <a:ext cx="155448" cy="155448"/>
          </a:xfrm>
          <a:prstGeom prst="ellipse">
            <a:avLst/>
          </a:prstGeom>
          <a:solidFill>
            <a:srgbClr val="00A6C8"/>
          </a:solidFill>
          <a:ln/>
        </p:spPr>
      </p:sp>
      <p:sp>
        <p:nvSpPr>
          <p:cNvPr id="66" name="s1_ell_65"/>
          <p:cNvSpPr/>
          <p:nvPr/>
        </p:nvSpPr>
        <p:spPr>
          <a:xfrm>
            <a:off x="9674352" y="4169664"/>
            <a:ext cx="155448" cy="155448"/>
          </a:xfrm>
          <a:prstGeom prst="ellipse">
            <a:avLst/>
          </a:prstGeom>
          <a:solidFill>
            <a:srgbClr val="00A6C8"/>
          </a:solidFill>
          <a:ln/>
        </p:spPr>
      </p:sp>
      <p:sp>
        <p:nvSpPr>
          <p:cNvPr id="67" name="s1_ell_66"/>
          <p:cNvSpPr/>
          <p:nvPr/>
        </p:nvSpPr>
        <p:spPr>
          <a:xfrm>
            <a:off x="9884664" y="4169664"/>
            <a:ext cx="155448" cy="155448"/>
          </a:xfrm>
          <a:prstGeom prst="ellipse">
            <a:avLst/>
          </a:prstGeom>
          <a:solidFill>
            <a:srgbClr val="00A6C8"/>
          </a:solidFill>
          <a:ln/>
        </p:spPr>
      </p:sp>
      <p:sp>
        <p:nvSpPr>
          <p:cNvPr id="68" name="s1_ell_67"/>
          <p:cNvSpPr/>
          <p:nvPr/>
        </p:nvSpPr>
        <p:spPr>
          <a:xfrm>
            <a:off x="10094976" y="4169664"/>
            <a:ext cx="155448" cy="155448"/>
          </a:xfrm>
          <a:prstGeom prst="ellipse">
            <a:avLst/>
          </a:prstGeom>
          <a:solidFill>
            <a:srgbClr val="00A6C8"/>
          </a:solidFill>
          <a:ln/>
        </p:spPr>
      </p:sp>
      <p:sp>
        <p:nvSpPr>
          <p:cNvPr id="69" name="s1_ell_68"/>
          <p:cNvSpPr/>
          <p:nvPr/>
        </p:nvSpPr>
        <p:spPr>
          <a:xfrm>
            <a:off x="10305288" y="4169664"/>
            <a:ext cx="155448" cy="155448"/>
          </a:xfrm>
          <a:prstGeom prst="ellipse">
            <a:avLst/>
          </a:prstGeom>
          <a:solidFill>
            <a:srgbClr val="00A6C8"/>
          </a:solidFill>
          <a:ln/>
        </p:spPr>
      </p:sp>
      <p:sp>
        <p:nvSpPr>
          <p:cNvPr id="70" name="s1_ell_69"/>
          <p:cNvSpPr/>
          <p:nvPr/>
        </p:nvSpPr>
        <p:spPr>
          <a:xfrm>
            <a:off x="10515600" y="4169664"/>
            <a:ext cx="155448" cy="155448"/>
          </a:xfrm>
          <a:prstGeom prst="ellipse">
            <a:avLst/>
          </a:prstGeom>
          <a:solidFill>
            <a:srgbClr val="00A6C8"/>
          </a:solidFill>
          <a:ln/>
        </p:spPr>
      </p:sp>
      <p:sp>
        <p:nvSpPr>
          <p:cNvPr id="71" name="s1_ell_70"/>
          <p:cNvSpPr/>
          <p:nvPr/>
        </p:nvSpPr>
        <p:spPr>
          <a:xfrm>
            <a:off x="10725912" y="4169664"/>
            <a:ext cx="155448" cy="155448"/>
          </a:xfrm>
          <a:prstGeom prst="ellipse">
            <a:avLst/>
          </a:prstGeom>
          <a:solidFill>
            <a:srgbClr val="00A6C8"/>
          </a:solidFill>
          <a:ln/>
        </p:spPr>
      </p:sp>
      <p:sp>
        <p:nvSpPr>
          <p:cNvPr id="72" name="s1_ell_71"/>
          <p:cNvSpPr/>
          <p:nvPr/>
        </p:nvSpPr>
        <p:spPr>
          <a:xfrm>
            <a:off x="10936224" y="4169664"/>
            <a:ext cx="155448" cy="155448"/>
          </a:xfrm>
          <a:prstGeom prst="ellipse">
            <a:avLst/>
          </a:prstGeom>
          <a:solidFill>
            <a:srgbClr val="00A6C8"/>
          </a:solidFill>
          <a:ln/>
        </p:spPr>
      </p:sp>
      <p:sp>
        <p:nvSpPr>
          <p:cNvPr id="73" name="s1_ell_72"/>
          <p:cNvSpPr/>
          <p:nvPr/>
        </p:nvSpPr>
        <p:spPr>
          <a:xfrm>
            <a:off x="11146536" y="4169664"/>
            <a:ext cx="155448" cy="155448"/>
          </a:xfrm>
          <a:prstGeom prst="ellipse">
            <a:avLst/>
          </a:prstGeom>
          <a:solidFill>
            <a:srgbClr val="FFFFFF"/>
          </a:solidFill>
          <a:ln w="9525">
            <a:solidFill>
              <a:srgbClr val="9FB3C8"/>
            </a:solidFill>
            <a:prstDash val="solid"/>
          </a:ln>
        </p:spPr>
      </p:sp>
      <p:sp>
        <p:nvSpPr>
          <p:cNvPr id="74" name="s1_ell_73"/>
          <p:cNvSpPr/>
          <p:nvPr/>
        </p:nvSpPr>
        <p:spPr>
          <a:xfrm>
            <a:off x="11356848" y="4169664"/>
            <a:ext cx="155448" cy="155448"/>
          </a:xfrm>
          <a:prstGeom prst="ellipse">
            <a:avLst/>
          </a:prstGeom>
          <a:solidFill>
            <a:srgbClr val="FFFFFF"/>
          </a:solidFill>
          <a:ln w="9525">
            <a:solidFill>
              <a:srgbClr val="9FB3C8"/>
            </a:solidFill>
            <a:prstDash val="solid"/>
          </a:ln>
        </p:spPr>
      </p:sp>
      <p:sp>
        <p:nvSpPr>
          <p:cNvPr id="75" name="s1_ell_74"/>
          <p:cNvSpPr/>
          <p:nvPr/>
        </p:nvSpPr>
        <p:spPr>
          <a:xfrm>
            <a:off x="9464040" y="4398264"/>
            <a:ext cx="155448" cy="155448"/>
          </a:xfrm>
          <a:prstGeom prst="ellipse">
            <a:avLst/>
          </a:prstGeom>
          <a:solidFill>
            <a:srgbClr val="FFFFFF"/>
          </a:solidFill>
          <a:ln w="9525">
            <a:solidFill>
              <a:srgbClr val="9FB3C8"/>
            </a:solidFill>
            <a:prstDash val="solid"/>
          </a:ln>
        </p:spPr>
      </p:sp>
      <p:sp>
        <p:nvSpPr>
          <p:cNvPr id="76" name="s1_ell_75"/>
          <p:cNvSpPr/>
          <p:nvPr/>
        </p:nvSpPr>
        <p:spPr>
          <a:xfrm>
            <a:off x="9674352" y="4398264"/>
            <a:ext cx="155448" cy="155448"/>
          </a:xfrm>
          <a:prstGeom prst="ellipse">
            <a:avLst/>
          </a:prstGeom>
          <a:solidFill>
            <a:srgbClr val="FFFFFF"/>
          </a:solidFill>
          <a:ln w="9525">
            <a:solidFill>
              <a:srgbClr val="9FB3C8"/>
            </a:solidFill>
            <a:prstDash val="solid"/>
          </a:ln>
        </p:spPr>
      </p:sp>
      <p:sp>
        <p:nvSpPr>
          <p:cNvPr id="77" name="s1_ell_76"/>
          <p:cNvSpPr/>
          <p:nvPr/>
        </p:nvSpPr>
        <p:spPr>
          <a:xfrm>
            <a:off x="9884664" y="4398264"/>
            <a:ext cx="155448" cy="155448"/>
          </a:xfrm>
          <a:prstGeom prst="ellipse">
            <a:avLst/>
          </a:prstGeom>
          <a:solidFill>
            <a:srgbClr val="FFFFFF"/>
          </a:solidFill>
          <a:ln w="9525">
            <a:solidFill>
              <a:srgbClr val="9FB3C8"/>
            </a:solidFill>
            <a:prstDash val="solid"/>
          </a:ln>
        </p:spPr>
      </p:sp>
      <p:sp>
        <p:nvSpPr>
          <p:cNvPr id="78" name="s1_ell_77"/>
          <p:cNvSpPr/>
          <p:nvPr/>
        </p:nvSpPr>
        <p:spPr>
          <a:xfrm>
            <a:off x="10094976" y="4398264"/>
            <a:ext cx="155448" cy="155448"/>
          </a:xfrm>
          <a:prstGeom prst="ellipse">
            <a:avLst/>
          </a:prstGeom>
          <a:solidFill>
            <a:srgbClr val="FFFFFF"/>
          </a:solidFill>
          <a:ln w="9525">
            <a:solidFill>
              <a:srgbClr val="9FB3C8"/>
            </a:solidFill>
            <a:prstDash val="solid"/>
          </a:ln>
        </p:spPr>
      </p:sp>
      <p:sp>
        <p:nvSpPr>
          <p:cNvPr id="79" name="s1_ell_78"/>
          <p:cNvSpPr/>
          <p:nvPr/>
        </p:nvSpPr>
        <p:spPr>
          <a:xfrm>
            <a:off x="10305288" y="4398264"/>
            <a:ext cx="155448" cy="155448"/>
          </a:xfrm>
          <a:prstGeom prst="ellipse">
            <a:avLst/>
          </a:prstGeom>
          <a:solidFill>
            <a:srgbClr val="FFFFFF"/>
          </a:solidFill>
          <a:ln w="9525">
            <a:solidFill>
              <a:srgbClr val="9FB3C8"/>
            </a:solidFill>
            <a:prstDash val="solid"/>
          </a:ln>
        </p:spPr>
      </p:sp>
      <p:sp>
        <p:nvSpPr>
          <p:cNvPr id="80" name="s1_ell_79"/>
          <p:cNvSpPr/>
          <p:nvPr/>
        </p:nvSpPr>
        <p:spPr>
          <a:xfrm>
            <a:off x="10515600" y="4398264"/>
            <a:ext cx="155448" cy="155448"/>
          </a:xfrm>
          <a:prstGeom prst="ellipse">
            <a:avLst/>
          </a:prstGeom>
          <a:solidFill>
            <a:srgbClr val="FFFFFF"/>
          </a:solidFill>
          <a:ln w="9525">
            <a:solidFill>
              <a:srgbClr val="9FB3C8"/>
            </a:solidFill>
            <a:prstDash val="solid"/>
          </a:ln>
        </p:spPr>
      </p:sp>
      <p:sp>
        <p:nvSpPr>
          <p:cNvPr id="81" name="s1_ell_80"/>
          <p:cNvSpPr/>
          <p:nvPr/>
        </p:nvSpPr>
        <p:spPr>
          <a:xfrm>
            <a:off x="10725912" y="4398264"/>
            <a:ext cx="155448" cy="155448"/>
          </a:xfrm>
          <a:prstGeom prst="ellipse">
            <a:avLst/>
          </a:prstGeom>
          <a:solidFill>
            <a:srgbClr val="FFFFFF"/>
          </a:solidFill>
          <a:ln w="9525">
            <a:solidFill>
              <a:srgbClr val="9FB3C8"/>
            </a:solidFill>
            <a:prstDash val="solid"/>
          </a:ln>
        </p:spPr>
      </p:sp>
      <p:sp>
        <p:nvSpPr>
          <p:cNvPr id="82" name="s1_ell_81"/>
          <p:cNvSpPr/>
          <p:nvPr/>
        </p:nvSpPr>
        <p:spPr>
          <a:xfrm>
            <a:off x="10936224" y="4398264"/>
            <a:ext cx="155448" cy="155448"/>
          </a:xfrm>
          <a:prstGeom prst="ellipse">
            <a:avLst/>
          </a:prstGeom>
          <a:solidFill>
            <a:srgbClr val="FFFFFF"/>
          </a:solidFill>
          <a:ln w="9525">
            <a:solidFill>
              <a:srgbClr val="9FB3C8"/>
            </a:solidFill>
            <a:prstDash val="solid"/>
          </a:ln>
        </p:spPr>
      </p:sp>
      <p:sp>
        <p:nvSpPr>
          <p:cNvPr id="83" name="s1_ell_82"/>
          <p:cNvSpPr/>
          <p:nvPr/>
        </p:nvSpPr>
        <p:spPr>
          <a:xfrm>
            <a:off x="11146536" y="4398264"/>
            <a:ext cx="155448" cy="155448"/>
          </a:xfrm>
          <a:prstGeom prst="ellipse">
            <a:avLst/>
          </a:prstGeom>
          <a:solidFill>
            <a:srgbClr val="FFFFFF"/>
          </a:solidFill>
          <a:ln w="9525">
            <a:solidFill>
              <a:srgbClr val="9FB3C8"/>
            </a:solidFill>
            <a:prstDash val="solid"/>
          </a:ln>
        </p:spPr>
      </p:sp>
      <p:sp>
        <p:nvSpPr>
          <p:cNvPr id="84" name="s1_ell_83"/>
          <p:cNvSpPr/>
          <p:nvPr/>
        </p:nvSpPr>
        <p:spPr>
          <a:xfrm>
            <a:off x="11356848" y="4398264"/>
            <a:ext cx="155448" cy="155448"/>
          </a:xfrm>
          <a:prstGeom prst="ellipse">
            <a:avLst/>
          </a:prstGeom>
          <a:solidFill>
            <a:srgbClr val="FFFFFF"/>
          </a:solidFill>
          <a:ln w="9525">
            <a:solidFill>
              <a:srgbClr val="9FB3C8"/>
            </a:solidFill>
            <a:prstDash val="solid"/>
          </a:ln>
        </p:spPr>
      </p:sp>
      <p:sp>
        <p:nvSpPr>
          <p:cNvPr id="85" name="s2_rect_84"/>
          <p:cNvSpPr/>
          <p:nvPr/>
        </p:nvSpPr>
        <p:spPr>
          <a:xfrm>
            <a:off x="548640" y="5029200"/>
            <a:ext cx="11091672" cy="1051560"/>
          </a:xfrm>
          <a:prstGeom prst="roundRect">
            <a:avLst>
              <a:gd name="adj" fmla="val 6957"/>
            </a:avLst>
          </a:prstGeom>
          <a:solidFill>
            <a:srgbClr val="FEF4DE"/>
          </a:solidFill>
          <a:ln/>
        </p:spPr>
      </p:sp>
      <p:sp>
        <p:nvSpPr>
          <p:cNvPr id="86" name="s2_text_85"/>
          <p:cNvSpPr txBox="1"/>
          <p:nvPr/>
        </p:nvSpPr>
        <p:spPr>
          <a:xfrm>
            <a:off x="777240" y="5120640"/>
            <a:ext cx="10698480" cy="914400"/>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Narrower scores cut mean width by 42–45% but fully covered only 8 of 20 validation trajectories.</a:t>
            </a:r>
            <a:endParaRPr lang="en-US" sz="1600" dirty="0"/>
          </a:p>
          <a:p>
            <a:pPr algn="l" indent="0" marL="0">
              <a:buNone/>
            </a:pPr>
            <a:r>
              <a:rPr lang="en-US" sz="1500" dirty="0">
                <a:solidFill>
                  <a:srgbClr val="102A43"/>
                </a:solidFill>
                <a:latin typeface="Aptos" pitchFamily="34" charset="0"/>
                <a:ea typeface="Aptos" pitchFamily="34" charset="-122"/>
                <a:cs typeface="Aptos" pitchFamily="34" charset="-120"/>
              </a:rPr>
              <a:t>Exploratory comparisons — not replacements for the frozen analysis. 100/100 is observed coverage, not a guarantee.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7" fill="hold">
                      <p:stCondLst>
                        <p:cond delay="indefinite"/>
                      </p:stCondLst>
                      <p:childTnLst>
                        <p:par>
                          <p:cTn id="14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7"/>
                                        </p:tgtEl>
                                        <p:attrNameLst>
                                          <p:attrName>style.visibility</p:attrName>
                                        </p:attrNameLst>
                                      </p:cBhvr>
                                      <p:to>
                                        <p:strVal val="visible"/>
                                      </p:to>
                                    </p:set>
                                    <p:animEffect transition="in" filter="fade">
                                      <p:cBhvr>
                                        <p:cTn id="5" dur="400"/>
                                        <p:tgtEl>
                                          <p:spTgt spid="3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38"/>
                                        </p:tgtEl>
                                        <p:attrNameLst>
                                          <p:attrName>style.visibility</p:attrName>
                                        </p:attrNameLst>
                                      </p:cBhvr>
                                      <p:to>
                                        <p:strVal val="visible"/>
                                      </p:to>
                                    </p:set>
                                    <p:animEffect transition="in" filter="fade">
                                      <p:cBhvr>
                                        <p:cTn id="8" dur="400"/>
                                        <p:tgtEl>
                                          <p:spTgt spid="3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00"/>
                                        <p:tgtEl>
                                          <p:spTgt spid="3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400"/>
                                        <p:tgtEl>
                                          <p:spTgt spid="4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400"/>
                                        <p:tgtEl>
                                          <p:spTgt spid="4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4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400"/>
                                        <p:tgtEl>
                                          <p:spTgt spid="4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fade">
                                      <p:cBhvr>
                                        <p:cTn id="26" dur="400"/>
                                        <p:tgtEl>
                                          <p:spTgt spid="4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fade">
                                      <p:cBhvr>
                                        <p:cTn id="29" dur="400"/>
                                        <p:tgtEl>
                                          <p:spTgt spid="4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400"/>
                                        <p:tgtEl>
                                          <p:spTgt spid="4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400"/>
                                        <p:tgtEl>
                                          <p:spTgt spid="4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400"/>
                                        <p:tgtEl>
                                          <p:spTgt spid="4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400"/>
                                        <p:tgtEl>
                                          <p:spTgt spid="4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400"/>
                                        <p:tgtEl>
                                          <p:spTgt spid="5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400"/>
                                        <p:tgtEl>
                                          <p:spTgt spid="5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400"/>
                                        <p:tgtEl>
                                          <p:spTgt spid="5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400"/>
                                        <p:tgtEl>
                                          <p:spTgt spid="5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fade">
                                      <p:cBhvr>
                                        <p:cTn id="56" dur="400"/>
                                        <p:tgtEl>
                                          <p:spTgt spid="5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fade">
                                      <p:cBhvr>
                                        <p:cTn id="59" dur="400"/>
                                        <p:tgtEl>
                                          <p:spTgt spid="5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6"/>
                                        </p:tgtEl>
                                        <p:attrNameLst>
                                          <p:attrName>style.visibility</p:attrName>
                                        </p:attrNameLst>
                                      </p:cBhvr>
                                      <p:to>
                                        <p:strVal val="visible"/>
                                      </p:to>
                                    </p:set>
                                    <p:animEffect transition="in" filter="fade">
                                      <p:cBhvr>
                                        <p:cTn id="62" dur="400"/>
                                        <p:tgtEl>
                                          <p:spTgt spid="5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fade">
                                      <p:cBhvr>
                                        <p:cTn id="65" dur="400"/>
                                        <p:tgtEl>
                                          <p:spTgt spid="5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fade">
                                      <p:cBhvr>
                                        <p:cTn id="68" dur="400"/>
                                        <p:tgtEl>
                                          <p:spTgt spid="5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fade">
                                      <p:cBhvr>
                                        <p:cTn id="71" dur="400"/>
                                        <p:tgtEl>
                                          <p:spTgt spid="5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400"/>
                                        <p:tgtEl>
                                          <p:spTgt spid="6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1"/>
                                        </p:tgtEl>
                                        <p:attrNameLst>
                                          <p:attrName>style.visibility</p:attrName>
                                        </p:attrNameLst>
                                      </p:cBhvr>
                                      <p:to>
                                        <p:strVal val="visible"/>
                                      </p:to>
                                    </p:set>
                                    <p:animEffect transition="in" filter="fade">
                                      <p:cBhvr>
                                        <p:cTn id="77" dur="400"/>
                                        <p:tgtEl>
                                          <p:spTgt spid="6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fade">
                                      <p:cBhvr>
                                        <p:cTn id="80" dur="400"/>
                                        <p:tgtEl>
                                          <p:spTgt spid="6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fade">
                                      <p:cBhvr>
                                        <p:cTn id="83" dur="400"/>
                                        <p:tgtEl>
                                          <p:spTgt spid="6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4"/>
                                        </p:tgtEl>
                                        <p:attrNameLst>
                                          <p:attrName>style.visibility</p:attrName>
                                        </p:attrNameLst>
                                      </p:cBhvr>
                                      <p:to>
                                        <p:strVal val="visible"/>
                                      </p:to>
                                    </p:set>
                                    <p:animEffect transition="in" filter="fade">
                                      <p:cBhvr>
                                        <p:cTn id="86" dur="400"/>
                                        <p:tgtEl>
                                          <p:spTgt spid="6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65"/>
                                        </p:tgtEl>
                                        <p:attrNameLst>
                                          <p:attrName>style.visibility</p:attrName>
                                        </p:attrNameLst>
                                      </p:cBhvr>
                                      <p:to>
                                        <p:strVal val="visible"/>
                                      </p:to>
                                    </p:set>
                                    <p:animEffect transition="in" filter="fade">
                                      <p:cBhvr>
                                        <p:cTn id="89" dur="400"/>
                                        <p:tgtEl>
                                          <p:spTgt spid="6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6"/>
                                        </p:tgtEl>
                                        <p:attrNameLst>
                                          <p:attrName>style.visibility</p:attrName>
                                        </p:attrNameLst>
                                      </p:cBhvr>
                                      <p:to>
                                        <p:strVal val="visible"/>
                                      </p:to>
                                    </p:set>
                                    <p:animEffect transition="in" filter="fade">
                                      <p:cBhvr>
                                        <p:cTn id="92" dur="400"/>
                                        <p:tgtEl>
                                          <p:spTgt spid="6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7"/>
                                        </p:tgtEl>
                                        <p:attrNameLst>
                                          <p:attrName>style.visibility</p:attrName>
                                        </p:attrNameLst>
                                      </p:cBhvr>
                                      <p:to>
                                        <p:strVal val="visible"/>
                                      </p:to>
                                    </p:set>
                                    <p:animEffect transition="in" filter="fade">
                                      <p:cBhvr>
                                        <p:cTn id="95" dur="400"/>
                                        <p:tgtEl>
                                          <p:spTgt spid="6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fade">
                                      <p:cBhvr>
                                        <p:cTn id="98" dur="400"/>
                                        <p:tgtEl>
                                          <p:spTgt spid="6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400"/>
                                        <p:tgtEl>
                                          <p:spTgt spid="6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0"/>
                                        </p:tgtEl>
                                        <p:attrNameLst>
                                          <p:attrName>style.visibility</p:attrName>
                                        </p:attrNameLst>
                                      </p:cBhvr>
                                      <p:to>
                                        <p:strVal val="visible"/>
                                      </p:to>
                                    </p:set>
                                    <p:animEffect transition="in" filter="fade">
                                      <p:cBhvr>
                                        <p:cTn id="104" dur="400"/>
                                        <p:tgtEl>
                                          <p:spTgt spid="7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1"/>
                                        </p:tgtEl>
                                        <p:attrNameLst>
                                          <p:attrName>style.visibility</p:attrName>
                                        </p:attrNameLst>
                                      </p:cBhvr>
                                      <p:to>
                                        <p:strVal val="visible"/>
                                      </p:to>
                                    </p:set>
                                    <p:animEffect transition="in" filter="fade">
                                      <p:cBhvr>
                                        <p:cTn id="107" dur="400"/>
                                        <p:tgtEl>
                                          <p:spTgt spid="7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72"/>
                                        </p:tgtEl>
                                        <p:attrNameLst>
                                          <p:attrName>style.visibility</p:attrName>
                                        </p:attrNameLst>
                                      </p:cBhvr>
                                      <p:to>
                                        <p:strVal val="visible"/>
                                      </p:to>
                                    </p:set>
                                    <p:animEffect transition="in" filter="fade">
                                      <p:cBhvr>
                                        <p:cTn id="110" dur="400"/>
                                        <p:tgtEl>
                                          <p:spTgt spid="7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73"/>
                                        </p:tgtEl>
                                        <p:attrNameLst>
                                          <p:attrName>style.visibility</p:attrName>
                                        </p:attrNameLst>
                                      </p:cBhvr>
                                      <p:to>
                                        <p:strVal val="visible"/>
                                      </p:to>
                                    </p:set>
                                    <p:animEffect transition="in" filter="fade">
                                      <p:cBhvr>
                                        <p:cTn id="113" dur="400"/>
                                        <p:tgtEl>
                                          <p:spTgt spid="7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animEffect transition="in" filter="fade">
                                      <p:cBhvr>
                                        <p:cTn id="116" dur="400"/>
                                        <p:tgtEl>
                                          <p:spTgt spid="7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75"/>
                                        </p:tgtEl>
                                        <p:attrNameLst>
                                          <p:attrName>style.visibility</p:attrName>
                                        </p:attrNameLst>
                                      </p:cBhvr>
                                      <p:to>
                                        <p:strVal val="visible"/>
                                      </p:to>
                                    </p:set>
                                    <p:animEffect transition="in" filter="fade">
                                      <p:cBhvr>
                                        <p:cTn id="119" dur="400"/>
                                        <p:tgtEl>
                                          <p:spTgt spid="7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76"/>
                                        </p:tgtEl>
                                        <p:attrNameLst>
                                          <p:attrName>style.visibility</p:attrName>
                                        </p:attrNameLst>
                                      </p:cBhvr>
                                      <p:to>
                                        <p:strVal val="visible"/>
                                      </p:to>
                                    </p:set>
                                    <p:animEffect transition="in" filter="fade">
                                      <p:cBhvr>
                                        <p:cTn id="122" dur="400"/>
                                        <p:tgtEl>
                                          <p:spTgt spid="76"/>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77"/>
                                        </p:tgtEl>
                                        <p:attrNameLst>
                                          <p:attrName>style.visibility</p:attrName>
                                        </p:attrNameLst>
                                      </p:cBhvr>
                                      <p:to>
                                        <p:strVal val="visible"/>
                                      </p:to>
                                    </p:set>
                                    <p:animEffect transition="in" filter="fade">
                                      <p:cBhvr>
                                        <p:cTn id="125" dur="400"/>
                                        <p:tgtEl>
                                          <p:spTgt spid="7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78"/>
                                        </p:tgtEl>
                                        <p:attrNameLst>
                                          <p:attrName>style.visibility</p:attrName>
                                        </p:attrNameLst>
                                      </p:cBhvr>
                                      <p:to>
                                        <p:strVal val="visible"/>
                                      </p:to>
                                    </p:set>
                                    <p:animEffect transition="in" filter="fade">
                                      <p:cBhvr>
                                        <p:cTn id="128" dur="400"/>
                                        <p:tgtEl>
                                          <p:spTgt spid="78"/>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79"/>
                                        </p:tgtEl>
                                        <p:attrNameLst>
                                          <p:attrName>style.visibility</p:attrName>
                                        </p:attrNameLst>
                                      </p:cBhvr>
                                      <p:to>
                                        <p:strVal val="visible"/>
                                      </p:to>
                                    </p:set>
                                    <p:animEffect transition="in" filter="fade">
                                      <p:cBhvr>
                                        <p:cTn id="131" dur="400"/>
                                        <p:tgtEl>
                                          <p:spTgt spid="7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80"/>
                                        </p:tgtEl>
                                        <p:attrNameLst>
                                          <p:attrName>style.visibility</p:attrName>
                                        </p:attrNameLst>
                                      </p:cBhvr>
                                      <p:to>
                                        <p:strVal val="visible"/>
                                      </p:to>
                                    </p:set>
                                    <p:animEffect transition="in" filter="fade">
                                      <p:cBhvr>
                                        <p:cTn id="134" dur="400"/>
                                        <p:tgtEl>
                                          <p:spTgt spid="8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81"/>
                                        </p:tgtEl>
                                        <p:attrNameLst>
                                          <p:attrName>style.visibility</p:attrName>
                                        </p:attrNameLst>
                                      </p:cBhvr>
                                      <p:to>
                                        <p:strVal val="visible"/>
                                      </p:to>
                                    </p:set>
                                    <p:animEffect transition="in" filter="fade">
                                      <p:cBhvr>
                                        <p:cTn id="137" dur="400"/>
                                        <p:tgtEl>
                                          <p:spTgt spid="81"/>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82"/>
                                        </p:tgtEl>
                                        <p:attrNameLst>
                                          <p:attrName>style.visibility</p:attrName>
                                        </p:attrNameLst>
                                      </p:cBhvr>
                                      <p:to>
                                        <p:strVal val="visible"/>
                                      </p:to>
                                    </p:set>
                                    <p:animEffect transition="in" filter="fade">
                                      <p:cBhvr>
                                        <p:cTn id="140" dur="400"/>
                                        <p:tgtEl>
                                          <p:spTgt spid="8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83"/>
                                        </p:tgtEl>
                                        <p:attrNameLst>
                                          <p:attrName>style.visibility</p:attrName>
                                        </p:attrNameLst>
                                      </p:cBhvr>
                                      <p:to>
                                        <p:strVal val="visible"/>
                                      </p:to>
                                    </p:set>
                                    <p:animEffect transition="in" filter="fade">
                                      <p:cBhvr>
                                        <p:cTn id="143" dur="400"/>
                                        <p:tgtEl>
                                          <p:spTgt spid="83"/>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84"/>
                                        </p:tgtEl>
                                        <p:attrNameLst>
                                          <p:attrName>style.visibility</p:attrName>
                                        </p:attrNameLst>
                                      </p:cBhvr>
                                      <p:to>
                                        <p:strVal val="visible"/>
                                      </p:to>
                                    </p:set>
                                    <p:animEffect transition="in" filter="fade">
                                      <p:cBhvr>
                                        <p:cTn id="146" dur="400"/>
                                        <p:tgtEl>
                                          <p:spTgt spid="84"/>
                                        </p:tgtEl>
                                      </p:cBhvr>
                                    </p:animEffect>
                                  </p:childTnLst>
                                </p:cTn>
                              </p:par>
                            </p:childTnLst>
                          </p:cTn>
                        </p:par>
                      </p:childTnLst>
                    </p:cTn>
                  </p:par>
                  <p:par>
                    <p:cTn id="155" fill="hold">
                      <p:stCondLst>
                        <p:cond delay="indefinite"/>
                      </p:stCondLst>
                      <p:childTnLst>
                        <p:par>
                          <p:cTn id="156"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85"/>
                                        </p:tgtEl>
                                        <p:attrNameLst>
                                          <p:attrName>style.visibility</p:attrName>
                                        </p:attrNameLst>
                                      </p:cBhvr>
                                      <p:to>
                                        <p:strVal val="visible"/>
                                      </p:to>
                                    </p:set>
                                    <p:animEffect transition="in" filter="fade">
                                      <p:cBhvr>
                                        <p:cTn id="151" dur="400"/>
                                        <p:tgtEl>
                                          <p:spTgt spid="85"/>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86"/>
                                        </p:tgtEl>
                                        <p:attrNameLst>
                                          <p:attrName>style.visibility</p:attrName>
                                        </p:attrNameLst>
                                      </p:cBhvr>
                                      <p:to>
                                        <p:strVal val="visible"/>
                                      </p:to>
                                    </p:set>
                                    <p:animEffect transition="in" filter="fade">
                                      <p:cBhvr>
                                        <p:cTn id="154" dur="4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4 · EVALUATION AND RESULTS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SHAP traces how the model overestimated Engine 18</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Local: Table 5.9 · global: Table 5.8 (§5.8; Lundberg and Lee, 2017) · ‘other 13’ = derived remainder</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global SHAP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failure cases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9 / 13</a:t>
            </a:r>
            <a:endParaRPr lang="en-US" sz="1100" dirty="0"/>
          </a:p>
        </p:txBody>
      </p:sp>
      <p:sp>
        <p:nvSpPr>
          <p:cNvPr id="8" name="s0_text_7"/>
          <p:cNvSpPr txBox="1"/>
          <p:nvPr/>
        </p:nvSpPr>
        <p:spPr>
          <a:xfrm>
            <a:off x="548640" y="1298448"/>
            <a:ext cx="8138160" cy="310896"/>
          </a:xfrm>
          <a:prstGeom prst="rect">
            <a:avLst/>
          </a:prstGeom>
          <a:noFill/>
          <a:ln/>
        </p:spPr>
        <p:txBody>
          <a:bodyPr wrap="square" lIns="0" tIns="0" rIns="0" bIns="0" rtlCol="0" anchor="t"/>
          <a:lstStyle/>
          <a:p>
            <a:pPr algn="l" indent="0" marL="0">
              <a:buNone/>
            </a:pPr>
            <a:r>
              <a:rPr lang="en-US" sz="1500" b="1" dirty="0">
                <a:solidFill>
                  <a:srgbClr val="627D98"/>
                </a:solidFill>
                <a:latin typeface="Aptos" pitchFamily="34" charset="0"/>
                <a:ea typeface="Aptos" pitchFamily="34" charset="-122"/>
                <a:cs typeface="Aptos" pitchFamily="34" charset="-120"/>
              </a:rPr>
              <a:t>TreeSHAP contributions · Engine 18 · cycles</a:t>
            </a:r>
            <a:endParaRPr lang="en-US" sz="1500" dirty="0"/>
          </a:p>
        </p:txBody>
      </p:sp>
      <p:sp>
        <p:nvSpPr>
          <p:cNvPr id="9" name="s0_text_8"/>
          <p:cNvSpPr txBox="1"/>
          <p:nvPr/>
        </p:nvSpPr>
        <p:spPr>
          <a:xfrm>
            <a:off x="548640" y="1755648"/>
            <a:ext cx="2331720" cy="329184"/>
          </a:xfrm>
          <a:prstGeom prst="rect">
            <a:avLst/>
          </a:prstGeom>
          <a:noFill/>
          <a:ln/>
        </p:spPr>
        <p:txBody>
          <a:bodyPr wrap="square" lIns="0" tIns="0" rIns="0" bIns="0" rtlCol="0" anchor="t"/>
          <a:lstStyle/>
          <a:p>
            <a:pPr algn="r" indent="0" marL="0">
              <a:buNone/>
            </a:pPr>
            <a:r>
              <a:rPr lang="en-US" sz="1600" b="1" dirty="0">
                <a:solidFill>
                  <a:srgbClr val="102A43"/>
                </a:solidFill>
                <a:latin typeface="Aptos" pitchFamily="34" charset="0"/>
                <a:ea typeface="Aptos" pitchFamily="34" charset="-122"/>
                <a:cs typeface="Aptos" pitchFamily="34" charset="-120"/>
              </a:rPr>
              <a:t>Model baseline</a:t>
            </a:r>
            <a:endParaRPr lang="en-US" sz="1600" dirty="0"/>
          </a:p>
        </p:txBody>
      </p:sp>
      <p:sp>
        <p:nvSpPr>
          <p:cNvPr id="10" name="s0_rect_9"/>
          <p:cNvSpPr/>
          <p:nvPr/>
        </p:nvSpPr>
        <p:spPr>
          <a:xfrm>
            <a:off x="2971800" y="1719072"/>
            <a:ext cx="4930445" cy="384048"/>
          </a:xfrm>
          <a:prstGeom prst="rect">
            <a:avLst/>
          </a:prstGeom>
          <a:solidFill>
            <a:srgbClr val="BCCCDC"/>
          </a:solidFill>
          <a:ln/>
        </p:spPr>
      </p:sp>
      <p:sp>
        <p:nvSpPr>
          <p:cNvPr id="11" name="s0_text_10"/>
          <p:cNvSpPr txBox="1"/>
          <p:nvPr/>
        </p:nvSpPr>
        <p:spPr>
          <a:xfrm>
            <a:off x="7993685" y="1755648"/>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107.84</a:t>
            </a:r>
            <a:endParaRPr lang="en-US" sz="1600" dirty="0"/>
          </a:p>
        </p:txBody>
      </p:sp>
      <p:sp>
        <p:nvSpPr>
          <p:cNvPr id="12" name="s1_text_11"/>
          <p:cNvSpPr txBox="1"/>
          <p:nvPr/>
        </p:nvSpPr>
        <p:spPr>
          <a:xfrm>
            <a:off x="548640" y="2267712"/>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Age (cycles)</a:t>
            </a:r>
            <a:endParaRPr lang="en-US" sz="1600" dirty="0"/>
          </a:p>
        </p:txBody>
      </p:sp>
      <p:sp>
        <p:nvSpPr>
          <p:cNvPr id="13" name="s1_rect_12"/>
          <p:cNvSpPr/>
          <p:nvPr/>
        </p:nvSpPr>
        <p:spPr>
          <a:xfrm>
            <a:off x="6617513" y="2231136"/>
            <a:ext cx="1284732" cy="384048"/>
          </a:xfrm>
          <a:prstGeom prst="rect">
            <a:avLst/>
          </a:prstGeom>
          <a:solidFill>
            <a:srgbClr val="00A6C8"/>
          </a:solidFill>
          <a:ln/>
        </p:spPr>
      </p:sp>
      <p:sp>
        <p:nvSpPr>
          <p:cNvPr id="14" name="s1_text_13"/>
          <p:cNvSpPr txBox="1"/>
          <p:nvPr/>
        </p:nvSpPr>
        <p:spPr>
          <a:xfrm>
            <a:off x="7993685" y="2267712"/>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−28.1</a:t>
            </a:r>
            <a:endParaRPr lang="en-US" sz="1600" dirty="0"/>
          </a:p>
        </p:txBody>
      </p:sp>
      <p:sp>
        <p:nvSpPr>
          <p:cNvPr id="15" name="s1_line_14"/>
          <p:cNvSpPr/>
          <p:nvPr/>
        </p:nvSpPr>
        <p:spPr>
          <a:xfrm>
            <a:off x="7902245" y="2103120"/>
            <a:ext cx="91" cy="128016"/>
          </a:xfrm>
          <a:prstGeom prst="line">
            <a:avLst/>
          </a:prstGeom>
          <a:noFill/>
          <a:ln w="9525">
            <a:solidFill>
              <a:srgbClr val="9FB3C8"/>
            </a:solidFill>
            <a:prstDash val="dash"/>
          </a:ln>
        </p:spPr>
      </p:sp>
      <p:sp>
        <p:nvSpPr>
          <p:cNvPr id="16" name="s1_text_15"/>
          <p:cNvSpPr txBox="1"/>
          <p:nvPr/>
        </p:nvSpPr>
        <p:spPr>
          <a:xfrm>
            <a:off x="548640" y="2779776"/>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Ps30 (s11)</a:t>
            </a:r>
            <a:endParaRPr lang="en-US" sz="1600" dirty="0"/>
          </a:p>
        </p:txBody>
      </p:sp>
      <p:sp>
        <p:nvSpPr>
          <p:cNvPr id="17" name="s1_rect_16"/>
          <p:cNvSpPr/>
          <p:nvPr/>
        </p:nvSpPr>
        <p:spPr>
          <a:xfrm>
            <a:off x="6059729" y="2743200"/>
            <a:ext cx="557784" cy="384048"/>
          </a:xfrm>
          <a:prstGeom prst="rect">
            <a:avLst/>
          </a:prstGeom>
          <a:solidFill>
            <a:srgbClr val="00A6C8"/>
          </a:solidFill>
          <a:ln/>
        </p:spPr>
      </p:sp>
      <p:sp>
        <p:nvSpPr>
          <p:cNvPr id="18" name="s1_text_17"/>
          <p:cNvSpPr txBox="1"/>
          <p:nvPr/>
        </p:nvSpPr>
        <p:spPr>
          <a:xfrm>
            <a:off x="6708953" y="2779776"/>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−12.2</a:t>
            </a:r>
            <a:endParaRPr lang="en-US" sz="1600" dirty="0"/>
          </a:p>
        </p:txBody>
      </p:sp>
      <p:sp>
        <p:nvSpPr>
          <p:cNvPr id="19" name="s1_line_18"/>
          <p:cNvSpPr/>
          <p:nvPr/>
        </p:nvSpPr>
        <p:spPr>
          <a:xfrm>
            <a:off x="6617513" y="2615184"/>
            <a:ext cx="91" cy="128016"/>
          </a:xfrm>
          <a:prstGeom prst="line">
            <a:avLst/>
          </a:prstGeom>
          <a:noFill/>
          <a:ln w="9525">
            <a:solidFill>
              <a:srgbClr val="9FB3C8"/>
            </a:solidFill>
            <a:prstDash val="dash"/>
          </a:ln>
        </p:spPr>
      </p:sp>
      <p:sp>
        <p:nvSpPr>
          <p:cNvPr id="20" name="s1_text_19"/>
          <p:cNvSpPr txBox="1"/>
          <p:nvPr/>
        </p:nvSpPr>
        <p:spPr>
          <a:xfrm>
            <a:off x="548640" y="3291840"/>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T50 (s4)</a:t>
            </a:r>
            <a:endParaRPr lang="en-US" sz="1600" dirty="0"/>
          </a:p>
        </p:txBody>
      </p:sp>
      <p:sp>
        <p:nvSpPr>
          <p:cNvPr id="21" name="s1_rect_20"/>
          <p:cNvSpPr/>
          <p:nvPr/>
        </p:nvSpPr>
        <p:spPr>
          <a:xfrm>
            <a:off x="5538521" y="3255264"/>
            <a:ext cx="521208" cy="384048"/>
          </a:xfrm>
          <a:prstGeom prst="rect">
            <a:avLst/>
          </a:prstGeom>
          <a:solidFill>
            <a:srgbClr val="00A6C8"/>
          </a:solidFill>
          <a:ln/>
        </p:spPr>
      </p:sp>
      <p:sp>
        <p:nvSpPr>
          <p:cNvPr id="22" name="s1_text_21"/>
          <p:cNvSpPr txBox="1"/>
          <p:nvPr/>
        </p:nvSpPr>
        <p:spPr>
          <a:xfrm>
            <a:off x="6151169" y="3291840"/>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−11.4</a:t>
            </a:r>
            <a:endParaRPr lang="en-US" sz="1600" dirty="0"/>
          </a:p>
        </p:txBody>
      </p:sp>
      <p:sp>
        <p:nvSpPr>
          <p:cNvPr id="23" name="s1_line_22"/>
          <p:cNvSpPr/>
          <p:nvPr/>
        </p:nvSpPr>
        <p:spPr>
          <a:xfrm>
            <a:off x="6059729" y="3127248"/>
            <a:ext cx="91" cy="128016"/>
          </a:xfrm>
          <a:prstGeom prst="line">
            <a:avLst/>
          </a:prstGeom>
          <a:noFill/>
          <a:ln w="9525">
            <a:solidFill>
              <a:srgbClr val="9FB3C8"/>
            </a:solidFill>
            <a:prstDash val="dash"/>
          </a:ln>
        </p:spPr>
      </p:sp>
      <p:sp>
        <p:nvSpPr>
          <p:cNvPr id="24" name="s2_text_23"/>
          <p:cNvSpPr txBox="1"/>
          <p:nvPr/>
        </p:nvSpPr>
        <p:spPr>
          <a:xfrm>
            <a:off x="548640" y="3803904"/>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Nc core speed (s9)</a:t>
            </a:r>
            <a:endParaRPr lang="en-US" sz="1600" dirty="0"/>
          </a:p>
        </p:txBody>
      </p:sp>
      <p:sp>
        <p:nvSpPr>
          <p:cNvPr id="25" name="s2_rect_24"/>
          <p:cNvSpPr/>
          <p:nvPr/>
        </p:nvSpPr>
        <p:spPr>
          <a:xfrm>
            <a:off x="5538521" y="3767328"/>
            <a:ext cx="256032" cy="384048"/>
          </a:xfrm>
          <a:prstGeom prst="rect">
            <a:avLst/>
          </a:prstGeom>
          <a:solidFill>
            <a:srgbClr val="E45756"/>
          </a:solidFill>
          <a:ln/>
        </p:spPr>
      </p:sp>
      <p:sp>
        <p:nvSpPr>
          <p:cNvPr id="26" name="s2_text_25"/>
          <p:cNvSpPr txBox="1"/>
          <p:nvPr/>
        </p:nvSpPr>
        <p:spPr>
          <a:xfrm>
            <a:off x="5885993" y="3803904"/>
            <a:ext cx="1097280" cy="329184"/>
          </a:xfrm>
          <a:prstGeom prst="rect">
            <a:avLst/>
          </a:prstGeom>
          <a:noFill/>
          <a:ln/>
        </p:spPr>
        <p:txBody>
          <a:bodyPr wrap="square" lIns="0" tIns="0" rIns="0" bIns="0" rtlCol="0" anchor="t"/>
          <a:lstStyle/>
          <a:p>
            <a:pPr algn="l" indent="0" marL="0">
              <a:buNone/>
            </a:pPr>
            <a:r>
              <a:rPr lang="en-US" sz="1600" b="1" dirty="0">
                <a:solidFill>
                  <a:srgbClr val="E45756"/>
                </a:solidFill>
                <a:latin typeface="Aptos" pitchFamily="34" charset="0"/>
                <a:ea typeface="Aptos" pitchFamily="34" charset="-122"/>
                <a:cs typeface="Aptos" pitchFamily="34" charset="-120"/>
              </a:rPr>
              <a:t>+5.6</a:t>
            </a:r>
            <a:endParaRPr lang="en-US" sz="1600" dirty="0"/>
          </a:p>
        </p:txBody>
      </p:sp>
      <p:sp>
        <p:nvSpPr>
          <p:cNvPr id="27" name="s2_line_26"/>
          <p:cNvSpPr/>
          <p:nvPr/>
        </p:nvSpPr>
        <p:spPr>
          <a:xfrm>
            <a:off x="5538521" y="3639312"/>
            <a:ext cx="91" cy="128016"/>
          </a:xfrm>
          <a:prstGeom prst="line">
            <a:avLst/>
          </a:prstGeom>
          <a:noFill/>
          <a:ln w="9525">
            <a:solidFill>
              <a:srgbClr val="9FB3C8"/>
            </a:solidFill>
            <a:prstDash val="dash"/>
          </a:ln>
        </p:spPr>
      </p:sp>
      <p:sp>
        <p:nvSpPr>
          <p:cNvPr id="28" name="s2_text_27"/>
          <p:cNvSpPr txBox="1"/>
          <p:nvPr/>
        </p:nvSpPr>
        <p:spPr>
          <a:xfrm>
            <a:off x="548640" y="4315968"/>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NRc (s14)</a:t>
            </a:r>
            <a:endParaRPr lang="en-US" sz="1600" dirty="0"/>
          </a:p>
        </p:txBody>
      </p:sp>
      <p:sp>
        <p:nvSpPr>
          <p:cNvPr id="29" name="s2_rect_28"/>
          <p:cNvSpPr/>
          <p:nvPr/>
        </p:nvSpPr>
        <p:spPr>
          <a:xfrm>
            <a:off x="5794553" y="4279392"/>
            <a:ext cx="210312" cy="384048"/>
          </a:xfrm>
          <a:prstGeom prst="rect">
            <a:avLst/>
          </a:prstGeom>
          <a:solidFill>
            <a:srgbClr val="E45756"/>
          </a:solidFill>
          <a:ln/>
        </p:spPr>
      </p:sp>
      <p:sp>
        <p:nvSpPr>
          <p:cNvPr id="30" name="s2_text_29"/>
          <p:cNvSpPr txBox="1"/>
          <p:nvPr/>
        </p:nvSpPr>
        <p:spPr>
          <a:xfrm>
            <a:off x="6096305" y="4315968"/>
            <a:ext cx="1097280" cy="329184"/>
          </a:xfrm>
          <a:prstGeom prst="rect">
            <a:avLst/>
          </a:prstGeom>
          <a:noFill/>
          <a:ln/>
        </p:spPr>
        <p:txBody>
          <a:bodyPr wrap="square" lIns="0" tIns="0" rIns="0" bIns="0" rtlCol="0" anchor="t"/>
          <a:lstStyle/>
          <a:p>
            <a:pPr algn="l" indent="0" marL="0">
              <a:buNone/>
            </a:pPr>
            <a:r>
              <a:rPr lang="en-US" sz="1600" b="1" dirty="0">
                <a:solidFill>
                  <a:srgbClr val="E45756"/>
                </a:solidFill>
                <a:latin typeface="Aptos" pitchFamily="34" charset="0"/>
                <a:ea typeface="Aptos" pitchFamily="34" charset="-122"/>
                <a:cs typeface="Aptos" pitchFamily="34" charset="-120"/>
              </a:rPr>
              <a:t>+4.6</a:t>
            </a:r>
            <a:endParaRPr lang="en-US" sz="1600" dirty="0"/>
          </a:p>
        </p:txBody>
      </p:sp>
      <p:sp>
        <p:nvSpPr>
          <p:cNvPr id="31" name="s2_line_30"/>
          <p:cNvSpPr/>
          <p:nvPr/>
        </p:nvSpPr>
        <p:spPr>
          <a:xfrm>
            <a:off x="5794553" y="4151376"/>
            <a:ext cx="91" cy="128016"/>
          </a:xfrm>
          <a:prstGeom prst="line">
            <a:avLst/>
          </a:prstGeom>
          <a:noFill/>
          <a:ln w="9525">
            <a:solidFill>
              <a:srgbClr val="9FB3C8"/>
            </a:solidFill>
            <a:prstDash val="dash"/>
          </a:ln>
        </p:spPr>
      </p:sp>
      <p:sp>
        <p:nvSpPr>
          <p:cNvPr id="32" name="s3_text_31"/>
          <p:cNvSpPr txBox="1"/>
          <p:nvPr/>
        </p:nvSpPr>
        <p:spPr>
          <a:xfrm>
            <a:off x="548640" y="4828032"/>
            <a:ext cx="2331720" cy="329184"/>
          </a:xfrm>
          <a:prstGeom prst="rect">
            <a:avLst/>
          </a:prstGeom>
          <a:noFill/>
          <a:ln/>
        </p:spPr>
        <p:txBody>
          <a:bodyPr wrap="square" lIns="0" tIns="0" rIns="0" bIns="0" rtlCol="0" anchor="t"/>
          <a:lstStyle/>
          <a:p>
            <a:pPr algn="r" indent="0" marL="0">
              <a:buNone/>
            </a:pPr>
            <a:r>
              <a:rPr lang="en-US" sz="1600" dirty="0">
                <a:solidFill>
                  <a:srgbClr val="102A43"/>
                </a:solidFill>
                <a:latin typeface="Aptos" pitchFamily="34" charset="0"/>
                <a:ea typeface="Aptos" pitchFamily="34" charset="-122"/>
                <a:cs typeface="Aptos" pitchFamily="34" charset="-120"/>
              </a:rPr>
              <a:t>Other 13 features</a:t>
            </a:r>
            <a:endParaRPr lang="en-US" sz="1600" dirty="0"/>
          </a:p>
        </p:txBody>
      </p:sp>
      <p:sp>
        <p:nvSpPr>
          <p:cNvPr id="33" name="s3_rect_32"/>
          <p:cNvSpPr/>
          <p:nvPr/>
        </p:nvSpPr>
        <p:spPr>
          <a:xfrm>
            <a:off x="5920740" y="4791456"/>
            <a:ext cx="84125" cy="384048"/>
          </a:xfrm>
          <a:prstGeom prst="rect">
            <a:avLst/>
          </a:prstGeom>
          <a:solidFill>
            <a:srgbClr val="D2DCE6"/>
          </a:solidFill>
          <a:ln/>
        </p:spPr>
      </p:sp>
      <p:sp>
        <p:nvSpPr>
          <p:cNvPr id="34" name="s3_text_33"/>
          <p:cNvSpPr txBox="1"/>
          <p:nvPr/>
        </p:nvSpPr>
        <p:spPr>
          <a:xfrm>
            <a:off x="6096305" y="4828032"/>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 −1.8</a:t>
            </a:r>
            <a:endParaRPr lang="en-US" sz="1600" dirty="0"/>
          </a:p>
        </p:txBody>
      </p:sp>
      <p:sp>
        <p:nvSpPr>
          <p:cNvPr id="35" name="s3_line_34"/>
          <p:cNvSpPr/>
          <p:nvPr/>
        </p:nvSpPr>
        <p:spPr>
          <a:xfrm>
            <a:off x="5920740" y="4663440"/>
            <a:ext cx="91" cy="128016"/>
          </a:xfrm>
          <a:prstGeom prst="line">
            <a:avLst/>
          </a:prstGeom>
          <a:noFill/>
          <a:ln w="9525">
            <a:solidFill>
              <a:srgbClr val="9FB3C8"/>
            </a:solidFill>
            <a:prstDash val="dash"/>
          </a:ln>
        </p:spPr>
      </p:sp>
      <p:sp>
        <p:nvSpPr>
          <p:cNvPr id="36" name="s3_text_35"/>
          <p:cNvSpPr txBox="1"/>
          <p:nvPr/>
        </p:nvSpPr>
        <p:spPr>
          <a:xfrm>
            <a:off x="548640" y="5340096"/>
            <a:ext cx="2331720" cy="329184"/>
          </a:xfrm>
          <a:prstGeom prst="rect">
            <a:avLst/>
          </a:prstGeom>
          <a:noFill/>
          <a:ln/>
        </p:spPr>
        <p:txBody>
          <a:bodyPr wrap="square" lIns="0" tIns="0" rIns="0" bIns="0" rtlCol="0" anchor="t"/>
          <a:lstStyle/>
          <a:p>
            <a:pPr algn="r" indent="0" marL="0">
              <a:buNone/>
            </a:pPr>
            <a:r>
              <a:rPr lang="en-US" sz="1600" b="1" dirty="0">
                <a:solidFill>
                  <a:srgbClr val="102A43"/>
                </a:solidFill>
                <a:latin typeface="Aptos" pitchFamily="34" charset="0"/>
                <a:ea typeface="Aptos" pitchFamily="34" charset="-122"/>
                <a:cs typeface="Aptos" pitchFamily="34" charset="-120"/>
              </a:rPr>
              <a:t>Prediction</a:t>
            </a:r>
            <a:endParaRPr lang="en-US" sz="1600" dirty="0"/>
          </a:p>
        </p:txBody>
      </p:sp>
      <p:sp>
        <p:nvSpPr>
          <p:cNvPr id="37" name="s3_rect_36"/>
          <p:cNvSpPr/>
          <p:nvPr/>
        </p:nvSpPr>
        <p:spPr>
          <a:xfrm>
            <a:off x="2971800" y="5303520"/>
            <a:ext cx="2948940" cy="384048"/>
          </a:xfrm>
          <a:prstGeom prst="rect">
            <a:avLst/>
          </a:prstGeom>
          <a:solidFill>
            <a:srgbClr val="007E99"/>
          </a:solidFill>
          <a:ln/>
        </p:spPr>
      </p:sp>
      <p:sp>
        <p:nvSpPr>
          <p:cNvPr id="38" name="s3_text_37"/>
          <p:cNvSpPr txBox="1"/>
          <p:nvPr/>
        </p:nvSpPr>
        <p:spPr>
          <a:xfrm>
            <a:off x="6012180" y="5340096"/>
            <a:ext cx="1097280" cy="329184"/>
          </a:xfrm>
          <a:prstGeom prst="rect">
            <a:avLst/>
          </a:prstGeom>
          <a:noFill/>
          <a:ln/>
        </p:spPr>
        <p:txBody>
          <a:bodyPr wrap="square" lIns="0" tIns="0" rIns="0" bIns="0" rtlCol="0" anchor="t"/>
          <a:lstStyle/>
          <a:p>
            <a:pPr algn="l" indent="0" marL="0">
              <a:buNone/>
            </a:pPr>
            <a:r>
              <a:rPr lang="en-US" sz="1600" b="1" dirty="0">
                <a:solidFill>
                  <a:srgbClr val="102A43"/>
                </a:solidFill>
                <a:latin typeface="Aptos" pitchFamily="34" charset="0"/>
                <a:ea typeface="Aptos" pitchFamily="34" charset="-122"/>
                <a:cs typeface="Aptos" pitchFamily="34" charset="-120"/>
              </a:rPr>
              <a:t>64.5</a:t>
            </a:r>
            <a:endParaRPr lang="en-US" sz="1600" dirty="0"/>
          </a:p>
        </p:txBody>
      </p:sp>
      <p:sp>
        <p:nvSpPr>
          <p:cNvPr id="39" name="s4_line_38"/>
          <p:cNvSpPr/>
          <p:nvPr/>
        </p:nvSpPr>
        <p:spPr>
          <a:xfrm>
            <a:off x="4251960" y="1645920"/>
            <a:ext cx="91" cy="4206240"/>
          </a:xfrm>
          <a:prstGeom prst="line">
            <a:avLst/>
          </a:prstGeom>
          <a:noFill/>
          <a:ln w="25400">
            <a:solidFill>
              <a:srgbClr val="E45756"/>
            </a:solidFill>
            <a:prstDash val="dash"/>
          </a:ln>
        </p:spPr>
      </p:sp>
      <p:sp>
        <p:nvSpPr>
          <p:cNvPr id="40" name="s4_text_39"/>
          <p:cNvSpPr txBox="1"/>
          <p:nvPr/>
        </p:nvSpPr>
        <p:spPr>
          <a:xfrm>
            <a:off x="4343400" y="5870448"/>
            <a:ext cx="2377440" cy="292608"/>
          </a:xfrm>
          <a:prstGeom prst="rect">
            <a:avLst/>
          </a:prstGeom>
          <a:noFill/>
          <a:ln/>
        </p:spPr>
        <p:txBody>
          <a:bodyPr wrap="square" lIns="0" tIns="0" rIns="0" bIns="0" rtlCol="0" anchor="t"/>
          <a:lstStyle/>
          <a:p>
            <a:pPr algn="l" indent="0" marL="0">
              <a:buNone/>
            </a:pPr>
            <a:r>
              <a:rPr lang="en-US" sz="1500" b="1" dirty="0">
                <a:solidFill>
                  <a:srgbClr val="E45756"/>
                </a:solidFill>
                <a:latin typeface="Aptos" pitchFamily="34" charset="0"/>
                <a:ea typeface="Aptos" pitchFamily="34" charset="-122"/>
                <a:cs typeface="Aptos" pitchFamily="34" charset="-120"/>
              </a:rPr>
              <a:t>true RUL 28</a:t>
            </a:r>
            <a:endParaRPr lang="en-US" sz="1500" dirty="0"/>
          </a:p>
        </p:txBody>
      </p:sp>
      <p:sp>
        <p:nvSpPr>
          <p:cNvPr id="41" name="s0_rect_40"/>
          <p:cNvSpPr/>
          <p:nvPr/>
        </p:nvSpPr>
        <p:spPr>
          <a:xfrm>
            <a:off x="8915400" y="1298448"/>
            <a:ext cx="2724912" cy="1965960"/>
          </a:xfrm>
          <a:prstGeom prst="roundRect">
            <a:avLst>
              <a:gd name="adj" fmla="val 3721"/>
            </a:avLst>
          </a:prstGeom>
          <a:solidFill>
            <a:srgbClr val="FFFFFF"/>
          </a:solidFill>
          <a:ln w="12700">
            <a:solidFill>
              <a:srgbClr val="D9E2EC"/>
            </a:solidFill>
            <a:prstDash val="solid"/>
          </a:ln>
        </p:spPr>
      </p:sp>
      <p:sp>
        <p:nvSpPr>
          <p:cNvPr id="42" name="s0_text_41"/>
          <p:cNvSpPr txBox="1"/>
          <p:nvPr/>
        </p:nvSpPr>
        <p:spPr>
          <a:xfrm>
            <a:off x="9116568" y="1417320"/>
            <a:ext cx="2377440" cy="2468880"/>
          </a:xfrm>
          <a:prstGeom prst="rect">
            <a:avLst/>
          </a:prstGeom>
          <a:noFill/>
          <a:ln/>
        </p:spPr>
        <p:txBody>
          <a:bodyPr wrap="square" lIns="0" tIns="0" rIns="0" bIns="0" rtlCol="0" anchor="t"/>
          <a:lstStyle/>
          <a:p>
            <a:pPr algn="l" indent="0" marL="0">
              <a:spcAft>
                <a:spcPts val="400"/>
              </a:spcAft>
              <a:buNone/>
            </a:pPr>
            <a:r>
              <a:rPr lang="en-US" sz="1600" b="1" dirty="0">
                <a:solidFill>
                  <a:srgbClr val="102A43"/>
                </a:solidFill>
                <a:latin typeface="Aptos" pitchFamily="34" charset="0"/>
                <a:ea typeface="Aptos" pitchFamily="34" charset="-122"/>
                <a:cs typeface="Aptos" pitchFamily="34" charset="-120"/>
              </a:rPr>
              <a:t>TreeSHAP checks</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100 endpoints × 18 predictors</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Additivity error &lt; 10⁻¹² cycles</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Baseline 107.84 cycles</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Age ranked 1st globally (mean |SHAP| 24.76)</a:t>
            </a:r>
            <a:endParaRPr lang="en-US" sz="1600" dirty="0"/>
          </a:p>
        </p:txBody>
      </p:sp>
      <p:sp>
        <p:nvSpPr>
          <p:cNvPr id="43" name="s4_rect_42"/>
          <p:cNvSpPr/>
          <p:nvPr/>
        </p:nvSpPr>
        <p:spPr>
          <a:xfrm>
            <a:off x="8915400" y="3429000"/>
            <a:ext cx="2724912" cy="1325880"/>
          </a:xfrm>
          <a:prstGeom prst="roundRect">
            <a:avLst>
              <a:gd name="adj" fmla="val 5517"/>
            </a:avLst>
          </a:prstGeom>
          <a:solidFill>
            <a:srgbClr val="FCE8E8"/>
          </a:solidFill>
          <a:ln/>
        </p:spPr>
      </p:sp>
      <p:sp>
        <p:nvSpPr>
          <p:cNvPr id="44" name="s4_text_43"/>
          <p:cNvSpPr txBox="1"/>
          <p:nvPr/>
        </p:nvSpPr>
        <p:spPr>
          <a:xfrm>
            <a:off x="9116568" y="3538728"/>
            <a:ext cx="2377440" cy="1143000"/>
          </a:xfrm>
          <a:prstGeom prst="rect">
            <a:avLst/>
          </a:prstGeom>
          <a:noFill/>
          <a:ln/>
        </p:spPr>
        <p:txBody>
          <a:bodyPr wrap="square" lIns="0" tIns="0" rIns="0" bIns="0" rtlCol="0" anchor="t"/>
          <a:lstStyle/>
          <a:p>
            <a:pPr algn="l" indent="0" marL="0">
              <a:buNone/>
            </a:pPr>
            <a:r>
              <a:rPr lang="en-US" sz="1600" b="1" dirty="0">
                <a:solidFill>
                  <a:srgbClr val="E45756"/>
                </a:solidFill>
                <a:latin typeface="Aptos" pitchFamily="34" charset="0"/>
                <a:ea typeface="Aptos" pitchFamily="34" charset="-122"/>
                <a:cs typeface="Aptos" pitchFamily="34" charset="-120"/>
              </a:rPr>
              <a:t>Explains the fitted model's output — not mechanical or physical causation.</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00"/>
                                        <p:tgtEl>
                                          <p:spTgt spid="23"/>
                                        </p:tgtEl>
                                      </p:cBhvr>
                                    </p:animEffect>
                                  </p:childTnLst>
                                </p:cTn>
                              </p:par>
                            </p:childTnLst>
                          </p:cTn>
                        </p:par>
                      </p:childTnLst>
                    </p:cTn>
                  </p:par>
                  <p:par>
                    <p:cTn id="65" fill="hold">
                      <p:stCondLst>
                        <p:cond delay="indefinite"/>
                      </p:stCondLst>
                      <p:childTnLst>
                        <p:par>
                          <p:cTn id="66"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0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0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00"/>
                                        <p:tgtEl>
                                          <p:spTgt spid="3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00"/>
                                        <p:tgtEl>
                                          <p:spTgt spid="31"/>
                                        </p:tgtEl>
                                      </p:cBhvr>
                                    </p:animEffect>
                                  </p:childTnLst>
                                </p:cTn>
                              </p:par>
                            </p:childTnLst>
                          </p:cTn>
                        </p:par>
                      </p:childTnLst>
                    </p:cTn>
                  </p:par>
                  <p:par>
                    <p:cTn id="88" fill="hold">
                      <p:stCondLst>
                        <p:cond delay="indefinite"/>
                      </p:stCondLst>
                      <p:childTnLst>
                        <p:par>
                          <p:cTn id="89"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00"/>
                                        <p:tgtEl>
                                          <p:spTgt spid="3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400"/>
                                        <p:tgtEl>
                                          <p:spTgt spid="3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40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4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400"/>
                                        <p:tgtEl>
                                          <p:spTgt spid="3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400"/>
                                        <p:tgtEl>
                                          <p:spTgt spid="3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400"/>
                                        <p:tgtEl>
                                          <p:spTgt spid="38"/>
                                        </p:tgtEl>
                                      </p:cBhvr>
                                    </p:animEffect>
                                  </p:childTnLst>
                                </p:cTn>
                              </p:par>
                            </p:childTnLst>
                          </p:cTn>
                        </p:par>
                      </p:childTnLst>
                    </p:cTn>
                  </p:par>
                  <p:par>
                    <p:cTn id="102" fill="hold">
                      <p:stCondLst>
                        <p:cond delay="indefinite"/>
                      </p:stCondLst>
                      <p:childTnLst>
                        <p:par>
                          <p:cTn id="103"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4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400"/>
                                        <p:tgtEl>
                                          <p:spTgt spid="4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400"/>
                                        <p:tgtEl>
                                          <p:spTgt spid="4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fade">
                                      <p:cBhvr>
                                        <p:cTn id="101"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3" grpId="0" animBg="1"/>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4 · EVALUATION AND RESULTS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High recall came with a heavy review burden</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5.10, Figure 5.10 (§5.9) · offline, post-closure · classes from stipulated thresholds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denominators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row warning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10 / 13</a:t>
            </a:r>
            <a:endParaRPr lang="en-US" sz="1100" dirty="0"/>
          </a:p>
        </p:txBody>
      </p:sp>
      <p:sp>
        <p:nvSpPr>
          <p:cNvPr id="8" name="s1_text_7"/>
          <p:cNvSpPr txBox="1"/>
          <p:nvPr/>
        </p:nvSpPr>
        <p:spPr>
          <a:xfrm>
            <a:off x="548640" y="1298448"/>
            <a:ext cx="5394960" cy="310896"/>
          </a:xfrm>
          <a:prstGeom prst="rect">
            <a:avLst/>
          </a:prstGeom>
          <a:noFill/>
          <a:ln/>
        </p:spPr>
        <p:txBody>
          <a:bodyPr wrap="square" lIns="0" tIns="0" rIns="0" bIns="0" rtlCol="0" anchor="t"/>
          <a:lstStyle/>
          <a:p>
            <a:pPr algn="l" indent="0" marL="0">
              <a:buNone/>
            </a:pPr>
            <a:r>
              <a:rPr lang="en-US" sz="1500" b="1" dirty="0">
                <a:solidFill>
                  <a:srgbClr val="627D98"/>
                </a:solidFill>
                <a:latin typeface="Aptos" pitchFamily="34" charset="0"/>
                <a:ea typeface="Aptos" pitchFamily="34" charset="-122"/>
                <a:cs typeface="Aptos" pitchFamily="34" charset="-120"/>
              </a:rPr>
              <a:t>Point-only triage · 100 official endpoints</a:t>
            </a:r>
            <a:endParaRPr lang="en-US" sz="1500" dirty="0"/>
          </a:p>
        </p:txBody>
      </p:sp>
      <p:sp>
        <p:nvSpPr>
          <p:cNvPr id="9" name="s1_rect_8"/>
          <p:cNvSpPr/>
          <p:nvPr/>
        </p:nvSpPr>
        <p:spPr>
          <a:xfrm>
            <a:off x="548640" y="1737360"/>
            <a:ext cx="3344875" cy="502920"/>
          </a:xfrm>
          <a:prstGeom prst="rect">
            <a:avLst/>
          </a:prstGeom>
          <a:solidFill>
            <a:srgbClr val="9FB3C8"/>
          </a:solidFill>
          <a:ln/>
        </p:spPr>
      </p:sp>
      <p:sp>
        <p:nvSpPr>
          <p:cNvPr id="10" name="s1_rect_9"/>
          <p:cNvSpPr/>
          <p:nvPr/>
        </p:nvSpPr>
        <p:spPr>
          <a:xfrm>
            <a:off x="3893515" y="1737360"/>
            <a:ext cx="1834286" cy="502920"/>
          </a:xfrm>
          <a:prstGeom prst="rect">
            <a:avLst/>
          </a:prstGeom>
          <a:solidFill>
            <a:srgbClr val="E45756"/>
          </a:solidFill>
          <a:ln/>
        </p:spPr>
      </p:sp>
      <p:sp>
        <p:nvSpPr>
          <p:cNvPr id="11" name="s1_rect_10"/>
          <p:cNvSpPr/>
          <p:nvPr/>
        </p:nvSpPr>
        <p:spPr>
          <a:xfrm>
            <a:off x="5727802" y="1737360"/>
            <a:ext cx="215798" cy="502920"/>
          </a:xfrm>
          <a:prstGeom prst="rect">
            <a:avLst/>
          </a:prstGeom>
          <a:solidFill>
            <a:srgbClr val="D9E2EC"/>
          </a:solidFill>
          <a:ln/>
        </p:spPr>
      </p:sp>
      <p:sp>
        <p:nvSpPr>
          <p:cNvPr id="12" name="s1_text_11"/>
          <p:cNvSpPr txBox="1"/>
          <p:nvPr/>
        </p:nvSpPr>
        <p:spPr>
          <a:xfrm>
            <a:off x="548640" y="2286000"/>
            <a:ext cx="3291840" cy="27432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62 correct</a:t>
            </a:r>
            <a:endParaRPr lang="en-US" sz="1400" dirty="0"/>
          </a:p>
        </p:txBody>
      </p:sp>
      <p:sp>
        <p:nvSpPr>
          <p:cNvPr id="13" name="s1_text_12"/>
          <p:cNvSpPr txBox="1"/>
          <p:nvPr/>
        </p:nvSpPr>
        <p:spPr>
          <a:xfrm>
            <a:off x="3893515" y="2286000"/>
            <a:ext cx="2011680" cy="274320"/>
          </a:xfrm>
          <a:prstGeom prst="rect">
            <a:avLst/>
          </a:prstGeom>
          <a:noFill/>
          <a:ln/>
        </p:spPr>
        <p:txBody>
          <a:bodyPr wrap="square" lIns="0" tIns="0" rIns="0" bIns="0" rtlCol="0" anchor="t"/>
          <a:lstStyle/>
          <a:p>
            <a:pPr algn="l" indent="0" marL="0">
              <a:buNone/>
            </a:pPr>
            <a:r>
              <a:rPr lang="en-US" sz="1400" b="1" dirty="0">
                <a:solidFill>
                  <a:srgbClr val="E45756"/>
                </a:solidFill>
                <a:latin typeface="Aptos" pitchFamily="34" charset="0"/>
                <a:ea typeface="Aptos" pitchFamily="34" charset="-122"/>
                <a:cs typeface="Aptos" pitchFamily="34" charset="-120"/>
              </a:rPr>
              <a:t>34 under-triaged</a:t>
            </a:r>
            <a:endParaRPr lang="en-US" sz="1400" dirty="0"/>
          </a:p>
        </p:txBody>
      </p:sp>
      <p:sp>
        <p:nvSpPr>
          <p:cNvPr id="14" name="s1_text_13"/>
          <p:cNvSpPr txBox="1"/>
          <p:nvPr/>
        </p:nvSpPr>
        <p:spPr>
          <a:xfrm>
            <a:off x="548640" y="2697480"/>
            <a:ext cx="5394960" cy="731520"/>
          </a:xfrm>
          <a:prstGeom prst="rect">
            <a:avLst/>
          </a:prstGeom>
          <a:noFill/>
          <a:ln/>
        </p:spPr>
        <p:txBody>
          <a:bodyPr wrap="square" lIns="0" tIns="0" rIns="0" bIns="0" rtlCol="0" anchor="t"/>
          <a:lstStyle/>
          <a:p>
            <a:pPr algn="l" indent="0" marL="0">
              <a:buNone/>
            </a:pPr>
            <a:r>
              <a:rPr lang="en-US" sz="4000" b="1" dirty="0">
                <a:solidFill>
                  <a:srgbClr val="E45756"/>
                </a:solidFill>
                <a:latin typeface="Aptos" pitchFamily="34" charset="0"/>
                <a:ea typeface="Aptos" pitchFamily="34" charset="-122"/>
                <a:cs typeface="Aptos" pitchFamily="34" charset="-120"/>
              </a:rPr>
              <a:t>34/100</a:t>
            </a:r>
            <a:pPr algn="l" indent="0" marL="0">
              <a:buNone/>
            </a:pPr>
            <a:r>
              <a:rPr lang="en-US" sz="1800" dirty="0">
                <a:solidFill>
                  <a:srgbClr val="102A43"/>
                </a:solidFill>
                <a:latin typeface="Aptos" pitchFamily="34" charset="0"/>
                <a:ea typeface="Aptos" pitchFamily="34" charset="-122"/>
                <a:cs typeface="Aptos" pitchFamily="34" charset="-120"/>
              </a:rPr>
              <a:t>  under-triaged</a:t>
            </a:r>
            <a:endParaRPr lang="en-US" sz="4000" dirty="0"/>
          </a:p>
        </p:txBody>
      </p:sp>
      <p:sp>
        <p:nvSpPr>
          <p:cNvPr id="15" name="s1_text_14"/>
          <p:cNvSpPr txBox="1"/>
          <p:nvPr/>
        </p:nvSpPr>
        <p:spPr>
          <a:xfrm>
            <a:off x="548640" y="3429000"/>
            <a:ext cx="5394960" cy="566928"/>
          </a:xfrm>
          <a:prstGeom prst="rect">
            <a:avLst/>
          </a:prstGeom>
          <a:noFill/>
          <a:ln/>
        </p:spPr>
        <p:txBody>
          <a:bodyPr wrap="square" lIns="0" tIns="0" rIns="0" bIns="0" rtlCol="0" anchor="t"/>
          <a:lstStyle/>
          <a:p>
            <a:pPr algn="l" indent="0" marL="0">
              <a:buNone/>
            </a:pPr>
            <a:r>
              <a:rPr lang="en-US" sz="1600" dirty="0">
                <a:solidFill>
                  <a:srgbClr val="102A43"/>
                </a:solidFill>
                <a:latin typeface="Aptos" pitchFamily="34" charset="0"/>
                <a:ea typeface="Aptos" pitchFamily="34" charset="-122"/>
                <a:cs typeface="Aptos" pitchFamily="34" charset="-120"/>
              </a:rPr>
              <a:t>including 9 of 25 truly CRITICAL engines not labelled CRITICAL</a:t>
            </a:r>
            <a:endParaRPr lang="en-US" sz="1600" dirty="0"/>
          </a:p>
        </p:txBody>
      </p:sp>
      <p:sp>
        <p:nvSpPr>
          <p:cNvPr id="16" name="s2_text_15"/>
          <p:cNvSpPr txBox="1"/>
          <p:nvPr/>
        </p:nvSpPr>
        <p:spPr>
          <a:xfrm>
            <a:off x="6400800" y="1298448"/>
            <a:ext cx="5239512" cy="310896"/>
          </a:xfrm>
          <a:prstGeom prst="rect">
            <a:avLst/>
          </a:prstGeom>
          <a:noFill/>
          <a:ln/>
        </p:spPr>
        <p:txBody>
          <a:bodyPr wrap="square" lIns="0" tIns="0" rIns="0" bIns="0" rtlCol="0" anchor="t"/>
          <a:lstStyle/>
          <a:p>
            <a:pPr algn="l" indent="0" marL="0">
              <a:buNone/>
            </a:pPr>
            <a:r>
              <a:rPr lang="en-US" sz="1500" b="1" dirty="0">
                <a:solidFill>
                  <a:srgbClr val="627D98"/>
                </a:solidFill>
                <a:latin typeface="Aptos" pitchFamily="34" charset="0"/>
                <a:ea typeface="Aptos" pitchFamily="34" charset="-122"/>
                <a:cs typeface="Aptos" pitchFamily="34" charset="-120"/>
              </a:rPr>
              <a:t>Offline lower-bound guard · same 100 endpoints</a:t>
            </a:r>
            <a:endParaRPr lang="en-US" sz="1500" dirty="0"/>
          </a:p>
        </p:txBody>
      </p:sp>
      <p:sp>
        <p:nvSpPr>
          <p:cNvPr id="17" name="s2_rect_16"/>
          <p:cNvSpPr/>
          <p:nvPr/>
        </p:nvSpPr>
        <p:spPr>
          <a:xfrm>
            <a:off x="6400800" y="1691640"/>
            <a:ext cx="2542032" cy="1463040"/>
          </a:xfrm>
          <a:prstGeom prst="roundRect">
            <a:avLst>
              <a:gd name="adj" fmla="val 5000"/>
            </a:avLst>
          </a:prstGeom>
          <a:solidFill>
            <a:srgbClr val="E2F4F1"/>
          </a:solidFill>
          <a:ln/>
        </p:spPr>
      </p:sp>
      <p:sp>
        <p:nvSpPr>
          <p:cNvPr id="18" name="s2_text_17"/>
          <p:cNvSpPr txBox="1"/>
          <p:nvPr/>
        </p:nvSpPr>
        <p:spPr>
          <a:xfrm>
            <a:off x="6583680" y="1783080"/>
            <a:ext cx="2194560" cy="1325880"/>
          </a:xfrm>
          <a:prstGeom prst="rect">
            <a:avLst/>
          </a:prstGeom>
          <a:noFill/>
          <a:ln/>
        </p:spPr>
        <p:txBody>
          <a:bodyPr wrap="square" lIns="0" tIns="0" rIns="0" bIns="0" rtlCol="0" anchor="t"/>
          <a:lstStyle/>
          <a:p>
            <a:pPr algn="l" indent="0" marL="0">
              <a:buNone/>
            </a:pPr>
            <a:r>
              <a:rPr lang="en-US" sz="4000" b="1" dirty="0">
                <a:solidFill>
                  <a:srgbClr val="0B7A6A"/>
                </a:solidFill>
                <a:latin typeface="Aptos" pitchFamily="34" charset="0"/>
                <a:ea typeface="Aptos" pitchFamily="34" charset="-122"/>
                <a:cs typeface="Aptos" pitchFamily="34" charset="-120"/>
              </a:rPr>
              <a:t>39/39</a:t>
            </a:r>
            <a:endParaRPr lang="en-US" sz="4000" dirty="0"/>
          </a:p>
          <a:p>
            <a:pPr algn="l" indent="0" marL="0">
              <a:buNone/>
            </a:pPr>
            <a:r>
              <a:rPr lang="en-US" sz="1400" dirty="0">
                <a:solidFill>
                  <a:srgbClr val="102A43"/>
                </a:solidFill>
                <a:latin typeface="Aptos" pitchFamily="34" charset="0"/>
                <a:ea typeface="Aptos" pitchFamily="34" charset="-122"/>
                <a:cs typeface="Aptos" pitchFamily="34" charset="-120"/>
              </a:rPr>
              <a:t>truly CRITICAL-or-HIGH sent to review</a:t>
            </a:r>
            <a:endParaRPr lang="en-US" sz="4000" dirty="0"/>
          </a:p>
        </p:txBody>
      </p:sp>
      <p:sp>
        <p:nvSpPr>
          <p:cNvPr id="19" name="s2_rect_18"/>
          <p:cNvSpPr/>
          <p:nvPr/>
        </p:nvSpPr>
        <p:spPr>
          <a:xfrm>
            <a:off x="9098280" y="1691640"/>
            <a:ext cx="2542032" cy="1463040"/>
          </a:xfrm>
          <a:prstGeom prst="roundRect">
            <a:avLst>
              <a:gd name="adj" fmla="val 5000"/>
            </a:avLst>
          </a:prstGeom>
          <a:solidFill>
            <a:srgbClr val="FEF4DE"/>
          </a:solidFill>
          <a:ln/>
        </p:spPr>
      </p:sp>
      <p:sp>
        <p:nvSpPr>
          <p:cNvPr id="20" name="s2_text_19"/>
          <p:cNvSpPr txBox="1"/>
          <p:nvPr/>
        </p:nvSpPr>
        <p:spPr>
          <a:xfrm>
            <a:off x="9281160" y="1783080"/>
            <a:ext cx="2194560" cy="1325880"/>
          </a:xfrm>
          <a:prstGeom prst="rect">
            <a:avLst/>
          </a:prstGeom>
          <a:noFill/>
          <a:ln/>
        </p:spPr>
        <p:txBody>
          <a:bodyPr wrap="square" lIns="0" tIns="0" rIns="0" bIns="0" rtlCol="0" anchor="t"/>
          <a:lstStyle/>
          <a:p>
            <a:pPr algn="l" indent="0" marL="0">
              <a:buNone/>
            </a:pPr>
            <a:r>
              <a:rPr lang="en-US" sz="4000" b="1" dirty="0">
                <a:solidFill>
                  <a:srgbClr val="9A6700"/>
                </a:solidFill>
                <a:latin typeface="Aptos" pitchFamily="34" charset="0"/>
                <a:ea typeface="Aptos" pitchFamily="34" charset="-122"/>
                <a:cs typeface="Aptos" pitchFamily="34" charset="-120"/>
              </a:rPr>
              <a:t>81/100</a:t>
            </a:r>
            <a:endParaRPr lang="en-US" sz="4000" dirty="0"/>
          </a:p>
          <a:p>
            <a:pPr algn="l" indent="0" marL="0">
              <a:buNone/>
            </a:pPr>
            <a:r>
              <a:rPr lang="en-US" sz="1400" dirty="0">
                <a:solidFill>
                  <a:srgbClr val="102A43"/>
                </a:solidFill>
                <a:latin typeface="Aptos" pitchFamily="34" charset="0"/>
                <a:ea typeface="Aptos" pitchFamily="34" charset="-122"/>
                <a:cs typeface="Aptos" pitchFamily="34" charset="-120"/>
              </a:rPr>
              <a:t>endpoints sent to review</a:t>
            </a:r>
            <a:endParaRPr lang="en-US" sz="4000" dirty="0"/>
          </a:p>
        </p:txBody>
      </p:sp>
      <p:sp>
        <p:nvSpPr>
          <p:cNvPr id="21" name="s3_rect_20"/>
          <p:cNvSpPr/>
          <p:nvPr/>
        </p:nvSpPr>
        <p:spPr>
          <a:xfrm>
            <a:off x="6400800" y="3383280"/>
            <a:ext cx="2043410" cy="457200"/>
          </a:xfrm>
          <a:prstGeom prst="rect">
            <a:avLst/>
          </a:prstGeom>
          <a:solidFill>
            <a:srgbClr val="0E9F8A"/>
          </a:solidFill>
          <a:ln/>
        </p:spPr>
      </p:sp>
      <p:sp>
        <p:nvSpPr>
          <p:cNvPr id="22" name="s3_rect_21"/>
          <p:cNvSpPr/>
          <p:nvPr/>
        </p:nvSpPr>
        <p:spPr>
          <a:xfrm>
            <a:off x="8444210" y="3383280"/>
            <a:ext cx="2200595" cy="457200"/>
          </a:xfrm>
          <a:prstGeom prst="rect">
            <a:avLst/>
          </a:prstGeom>
          <a:solidFill>
            <a:srgbClr val="F3A712"/>
          </a:solidFill>
          <a:ln/>
        </p:spPr>
      </p:sp>
      <p:sp>
        <p:nvSpPr>
          <p:cNvPr id="23" name="s3_rect_22"/>
          <p:cNvSpPr/>
          <p:nvPr/>
        </p:nvSpPr>
        <p:spPr>
          <a:xfrm>
            <a:off x="10644805" y="3383280"/>
            <a:ext cx="995507" cy="457200"/>
          </a:xfrm>
          <a:prstGeom prst="rect">
            <a:avLst/>
          </a:prstGeom>
          <a:solidFill>
            <a:srgbClr val="FFFFFF"/>
          </a:solidFill>
          <a:ln w="12700">
            <a:solidFill>
              <a:srgbClr val="9FB3C8"/>
            </a:solidFill>
            <a:prstDash val="solid"/>
          </a:ln>
        </p:spPr>
      </p:sp>
      <p:sp>
        <p:nvSpPr>
          <p:cNvPr id="24" name="s3_text_23"/>
          <p:cNvSpPr txBox="1"/>
          <p:nvPr/>
        </p:nvSpPr>
        <p:spPr>
          <a:xfrm>
            <a:off x="6400800" y="3886200"/>
            <a:ext cx="2103120" cy="274320"/>
          </a:xfrm>
          <a:prstGeom prst="rect">
            <a:avLst/>
          </a:prstGeom>
          <a:noFill/>
          <a:ln/>
        </p:spPr>
        <p:txBody>
          <a:bodyPr wrap="square" lIns="0" tIns="0" rIns="0" bIns="0" rtlCol="0" anchor="t"/>
          <a:lstStyle/>
          <a:p>
            <a:pPr algn="l" indent="0" marL="0">
              <a:buNone/>
            </a:pPr>
            <a:r>
              <a:rPr lang="en-US" sz="1300" b="1" dirty="0">
                <a:solidFill>
                  <a:srgbClr val="0B7A6A"/>
                </a:solidFill>
                <a:latin typeface="Aptos" pitchFamily="34" charset="0"/>
                <a:ea typeface="Aptos" pitchFamily="34" charset="-122"/>
                <a:cs typeface="Aptos" pitchFamily="34" charset="-120"/>
              </a:rPr>
              <a:t>39 truly high-risk</a:t>
            </a:r>
            <a:endParaRPr lang="en-US" sz="1300" dirty="0"/>
          </a:p>
        </p:txBody>
      </p:sp>
      <p:sp>
        <p:nvSpPr>
          <p:cNvPr id="25" name="s3_text_24"/>
          <p:cNvSpPr txBox="1"/>
          <p:nvPr/>
        </p:nvSpPr>
        <p:spPr>
          <a:xfrm>
            <a:off x="8444210" y="3886200"/>
            <a:ext cx="2103120" cy="274320"/>
          </a:xfrm>
          <a:prstGeom prst="rect">
            <a:avLst/>
          </a:prstGeom>
          <a:noFill/>
          <a:ln/>
        </p:spPr>
        <p:txBody>
          <a:bodyPr wrap="square" lIns="0" tIns="0" rIns="0" bIns="0" rtlCol="0" anchor="t"/>
          <a:lstStyle/>
          <a:p>
            <a:pPr algn="l" indent="0" marL="0">
              <a:buNone/>
            </a:pPr>
            <a:r>
              <a:rPr lang="en-US" sz="1300" b="1" dirty="0">
                <a:solidFill>
                  <a:srgbClr val="9A6700"/>
                </a:solidFill>
                <a:latin typeface="Aptos" pitchFamily="34" charset="0"/>
                <a:ea typeface="Aptos" pitchFamily="34" charset="-122"/>
                <a:cs typeface="Aptos" pitchFamily="34" charset="-120"/>
              </a:rPr>
              <a:t>42 other reviewed</a:t>
            </a:r>
            <a:endParaRPr lang="en-US" sz="1300" dirty="0"/>
          </a:p>
        </p:txBody>
      </p:sp>
      <p:sp>
        <p:nvSpPr>
          <p:cNvPr id="26" name="s3_text_25"/>
          <p:cNvSpPr txBox="1"/>
          <p:nvPr/>
        </p:nvSpPr>
        <p:spPr>
          <a:xfrm>
            <a:off x="10370485" y="3886200"/>
            <a:ext cx="1280160" cy="274320"/>
          </a:xfrm>
          <a:prstGeom prst="rect">
            <a:avLst/>
          </a:prstGeom>
          <a:noFill/>
          <a:ln/>
        </p:spPr>
        <p:txBody>
          <a:bodyPr wrap="square" lIns="0" tIns="0" rIns="0" bIns="0" rtlCol="0" anchor="t"/>
          <a:lstStyle/>
          <a:p>
            <a:pPr algn="r" indent="0" marL="0">
              <a:buNone/>
            </a:pPr>
            <a:r>
              <a:rPr lang="en-US" sz="1300" dirty="0">
                <a:solidFill>
                  <a:srgbClr val="627D98"/>
                </a:solidFill>
                <a:latin typeface="Aptos" pitchFamily="34" charset="0"/>
                <a:ea typeface="Aptos" pitchFamily="34" charset="-122"/>
                <a:cs typeface="Aptos" pitchFamily="34" charset="-120"/>
              </a:rPr>
              <a:t>19 not</a:t>
            </a:r>
            <a:endParaRPr lang="en-US" sz="1300" dirty="0"/>
          </a:p>
        </p:txBody>
      </p:sp>
      <p:sp>
        <p:nvSpPr>
          <p:cNvPr id="27" name="s3_text_26"/>
          <p:cNvSpPr txBox="1"/>
          <p:nvPr/>
        </p:nvSpPr>
        <p:spPr>
          <a:xfrm>
            <a:off x="6400800" y="4206240"/>
            <a:ext cx="5239512" cy="329184"/>
          </a:xfrm>
          <a:prstGeom prst="rect">
            <a:avLst/>
          </a:prstGeom>
          <a:noFill/>
          <a:ln/>
        </p:spPr>
        <p:txBody>
          <a:bodyPr wrap="square" lIns="0" tIns="0" rIns="0" bIns="0" rtlCol="0" anchor="t"/>
          <a:lstStyle/>
          <a:p>
            <a:pPr algn="l" indent="0" marL="0">
              <a:buNone/>
            </a:pPr>
            <a:r>
              <a:rPr lang="en-US" sz="1500" dirty="0">
                <a:solidFill>
                  <a:srgbClr val="102A43"/>
                </a:solidFill>
                <a:latin typeface="Aptos" pitchFamily="34" charset="0"/>
                <a:ea typeface="Aptos" pitchFamily="34" charset="-122"/>
                <a:cs typeface="Aptos" pitchFamily="34" charset="-120"/>
              </a:rPr>
              <a:t>47 of the 81 entered through the interval rule alone</a:t>
            </a:r>
            <a:endParaRPr lang="en-US" sz="1500" dirty="0"/>
          </a:p>
        </p:txBody>
      </p:sp>
      <p:sp>
        <p:nvSpPr>
          <p:cNvPr id="28" name="s4_rect_27"/>
          <p:cNvSpPr/>
          <p:nvPr/>
        </p:nvSpPr>
        <p:spPr>
          <a:xfrm>
            <a:off x="548640" y="4754880"/>
            <a:ext cx="11091672" cy="1325880"/>
          </a:xfrm>
          <a:prstGeom prst="roundRect">
            <a:avLst>
              <a:gd name="adj" fmla="val 5517"/>
            </a:avLst>
          </a:prstGeom>
          <a:solidFill>
            <a:srgbClr val="FFFFFF"/>
          </a:solidFill>
          <a:ln w="19050">
            <a:solidFill>
              <a:srgbClr val="F3A712"/>
            </a:solidFill>
            <a:prstDash val="solid"/>
          </a:ln>
        </p:spPr>
      </p:sp>
      <p:sp>
        <p:nvSpPr>
          <p:cNvPr id="29" name="s4_text_28"/>
          <p:cNvSpPr txBox="1"/>
          <p:nvPr/>
        </p:nvSpPr>
        <p:spPr>
          <a:xfrm>
            <a:off x="777240" y="4846320"/>
            <a:ext cx="10698480" cy="1188720"/>
          </a:xfrm>
          <a:prstGeom prst="rect">
            <a:avLst/>
          </a:prstGeom>
          <a:noFill/>
          <a:ln/>
        </p:spPr>
        <p:txBody>
          <a:bodyPr wrap="square" lIns="0" tIns="0" rIns="0" bIns="0" rtlCol="0" anchor="t"/>
          <a:lstStyle/>
          <a:p>
            <a:pPr algn="l" indent="0" marL="0">
              <a:buNone/>
            </a:pPr>
            <a:r>
              <a:rPr lang="en-US" sz="1500" b="1" dirty="0">
                <a:solidFill>
                  <a:srgbClr val="102A43"/>
                </a:solidFill>
                <a:latin typeface="Aptos" pitchFamily="34" charset="0"/>
                <a:ea typeface="Aptos" pitchFamily="34" charset="-122"/>
                <a:cs typeface="Aptos" pitchFamily="34" charset="-120"/>
              </a:rPr>
              <a:t>Validation rows — repeated observations of 20 engines, not independent engines: </a:t>
            </a:r>
            <a:pPr algn="l" indent="0" marL="0">
              <a:buNone/>
            </a:pPr>
            <a:r>
              <a:rPr lang="en-US" sz="1500" dirty="0">
                <a:solidFill>
                  <a:srgbClr val="102A43"/>
                </a:solidFill>
                <a:latin typeface="Aptos" pitchFamily="34" charset="0"/>
                <a:ea typeface="Aptos" pitchFamily="34" charset="-122"/>
                <a:cs typeface="Aptos" pitchFamily="34" charset="-120"/>
              </a:rPr>
              <a:t>2,578/4,217 referred · 2/1,220 truly CRITICAL-or-HIGH rows missed.</a:t>
            </a:r>
            <a:endParaRPr lang="en-US" sz="1500" dirty="0"/>
          </a:p>
          <a:p>
            <a:pPr algn="l" indent="0" marL="0">
              <a:buNone/>
            </a:pPr>
            <a:r>
              <a:rPr lang="en-US" sz="1500" b="1" dirty="0">
                <a:solidFill>
                  <a:srgbClr val="E45756"/>
                </a:solidFill>
                <a:latin typeface="Aptos" pitchFamily="34" charset="0"/>
                <a:ea typeface="Aptos" pitchFamily="34" charset="-122"/>
                <a:cs typeface="Aptos" pitchFamily="34" charset="-120"/>
              </a:rPr>
              <a:t>Never pooled with endpoints. Offline and retrospective, not n8n routing. 39/39 is an observed count, not a measured safety rate.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childTnLst>
                          </p:cTn>
                        </p:par>
                      </p:childTnLst>
                    </p:cTn>
                  </p:par>
                  <p:par>
                    <p:cTn id="44" fill="hold">
                      <p:stCondLst>
                        <p:cond delay="indefinite"/>
                      </p:stCondLst>
                      <p:childTnLst>
                        <p:par>
                          <p:cTn id="45"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67" fill="hold">
                      <p:stCondLst>
                        <p:cond delay="indefinite"/>
                      </p:stCondLst>
                      <p:childTnLst>
                        <p:par>
                          <p:cTn id="68"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400"/>
                                        <p:tgtEl>
                                          <p:spTgt spid="27"/>
                                        </p:tgtEl>
                                      </p:cBhvr>
                                    </p:animEffect>
                                  </p:childTnLst>
                                </p:cTn>
                              </p:par>
                            </p:childTnLst>
                          </p:cTn>
                        </p:par>
                      </p:childTnLst>
                    </p:cTn>
                  </p:par>
                  <p:par>
                    <p:cTn id="75" fill="hold">
                      <p:stCondLst>
                        <p:cond delay="indefinite"/>
                      </p:stCondLst>
                      <p:childTnLst>
                        <p:par>
                          <p:cTn id="76"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4 · EVALUATION — SEPARATE PROTOTYPE</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Policy stays deterministic; the human decides</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§4.10, §5.10, Tables 5.11 and A.1 · fixed payload: no notebook, live model, sensor feed or dynamic SHAP</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topology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routes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4" action="ppaction://hlinksldjump" tooltip="Go to slide">
                  <a:extLst>
                    <a:ext uri="{A12FA001-AC4F-418D-AE19-62706E023703}">
                      <ahyp:hlinkClr xmlns:ahyp="http://schemas.microsoft.com/office/drawing/2018/hyperlinkcolor" val="tx"/>
                    </a:ext>
                  </a:extLst>
                </a:hlinkClick>
              </a:rPr>
              <a:t>invalid MODIFY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11 / 13</a:t>
            </a:r>
            <a:endParaRPr lang="en-US" sz="1100" dirty="0"/>
          </a:p>
        </p:txBody>
      </p:sp>
      <p:sp>
        <p:nvSpPr>
          <p:cNvPr id="8" name="s1_rect_7"/>
          <p:cNvSpPr/>
          <p:nvPr/>
        </p:nvSpPr>
        <p:spPr>
          <a:xfrm>
            <a:off x="548640" y="1298448"/>
            <a:ext cx="11091672" cy="1207008"/>
          </a:xfrm>
          <a:prstGeom prst="roundRect">
            <a:avLst>
              <a:gd name="adj" fmla="val 6061"/>
            </a:avLst>
          </a:prstGeom>
          <a:solidFill>
            <a:srgbClr val="FFFFFF"/>
          </a:solidFill>
          <a:ln w="19050">
            <a:solidFill>
              <a:srgbClr val="00A6C8"/>
            </a:solidFill>
            <a:prstDash val="solid"/>
          </a:ln>
        </p:spPr>
      </p:sp>
      <p:sp>
        <p:nvSpPr>
          <p:cNvPr id="9" name="s1_text_8"/>
          <p:cNvSpPr txBox="1"/>
          <p:nvPr/>
        </p:nvSpPr>
        <p:spPr>
          <a:xfrm>
            <a:off x="749808" y="1353312"/>
            <a:ext cx="8229600" cy="274320"/>
          </a:xfrm>
          <a:prstGeom prst="rect">
            <a:avLst/>
          </a:prstGeom>
          <a:noFill/>
          <a:ln/>
        </p:spPr>
        <p:txBody>
          <a:bodyPr wrap="square" lIns="0" tIns="0" rIns="0" bIns="0" rtlCol="0" anchor="t"/>
          <a:lstStyle/>
          <a:p>
            <a:pPr algn="l" indent="0" marL="0">
              <a:buNone/>
            </a:pPr>
            <a:r>
              <a:rPr lang="en-US" sz="1300" b="1" dirty="0">
                <a:solidFill>
                  <a:srgbClr val="007E99"/>
                </a:solidFill>
                <a:latin typeface="Aptos" pitchFamily="34" charset="0"/>
                <a:ea typeface="Aptos" pitchFamily="34" charset="-122"/>
                <a:cs typeface="Aptos" pitchFamily="34" charset="-120"/>
              </a:rPr>
              <a:t>TRACK A · EVALUATED ANALYTICAL PIPELINE (offline notebook)</a:t>
            </a:r>
            <a:endParaRPr lang="en-US" sz="1300" dirty="0"/>
          </a:p>
        </p:txBody>
      </p:sp>
      <p:sp>
        <p:nvSpPr>
          <p:cNvPr id="10" name="s1_rect_9"/>
          <p:cNvSpPr/>
          <p:nvPr/>
        </p:nvSpPr>
        <p:spPr>
          <a:xfrm>
            <a:off x="749808" y="1700784"/>
            <a:ext cx="1627632" cy="676656"/>
          </a:xfrm>
          <a:prstGeom prst="roundRect">
            <a:avLst>
              <a:gd name="adj" fmla="val 8108"/>
            </a:avLst>
          </a:prstGeom>
          <a:solidFill>
            <a:srgbClr val="E3F5FA"/>
          </a:solidFill>
          <a:ln w="9525">
            <a:solidFill>
              <a:srgbClr val="00A6C8"/>
            </a:solidFill>
            <a:prstDash val="solid"/>
          </a:ln>
        </p:spPr>
      </p:sp>
      <p:sp>
        <p:nvSpPr>
          <p:cNvPr id="11" name="s1_text_10"/>
          <p:cNvSpPr txBox="1"/>
          <p:nvPr/>
        </p:nvSpPr>
        <p:spPr>
          <a:xfrm>
            <a:off x="7955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FD001 data</a:t>
            </a:r>
            <a:endParaRPr lang="en-US" sz="1400" dirty="0"/>
          </a:p>
        </p:txBody>
      </p:sp>
      <p:sp>
        <p:nvSpPr>
          <p:cNvPr id="12" name="s1_line_11"/>
          <p:cNvSpPr/>
          <p:nvPr/>
        </p:nvSpPr>
        <p:spPr>
          <a:xfrm>
            <a:off x="2395728" y="2039112"/>
            <a:ext cx="173736" cy="91"/>
          </a:xfrm>
          <a:prstGeom prst="line">
            <a:avLst/>
          </a:prstGeom>
          <a:noFill/>
          <a:ln w="25400">
            <a:solidFill>
              <a:srgbClr val="00A6C8"/>
            </a:solidFill>
            <a:prstDash val="solid"/>
            <a:tailEnd type="triangle"/>
          </a:ln>
        </p:spPr>
      </p:sp>
      <p:sp>
        <p:nvSpPr>
          <p:cNvPr id="13" name="s1_rect_12"/>
          <p:cNvSpPr/>
          <p:nvPr/>
        </p:nvSpPr>
        <p:spPr>
          <a:xfrm>
            <a:off x="2578608" y="1700784"/>
            <a:ext cx="1627632" cy="676656"/>
          </a:xfrm>
          <a:prstGeom prst="roundRect">
            <a:avLst>
              <a:gd name="adj" fmla="val 8108"/>
            </a:avLst>
          </a:prstGeom>
          <a:solidFill>
            <a:srgbClr val="E3F5FA"/>
          </a:solidFill>
          <a:ln w="9525">
            <a:solidFill>
              <a:srgbClr val="00A6C8"/>
            </a:solidFill>
            <a:prstDash val="solid"/>
          </a:ln>
        </p:spPr>
      </p:sp>
      <p:sp>
        <p:nvSpPr>
          <p:cNvPr id="14" name="s1_text_13"/>
          <p:cNvSpPr txBox="1"/>
          <p:nvPr/>
        </p:nvSpPr>
        <p:spPr>
          <a:xfrm>
            <a:off x="26243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Engine-safe split</a:t>
            </a:r>
            <a:endParaRPr lang="en-US" sz="1400" dirty="0"/>
          </a:p>
        </p:txBody>
      </p:sp>
      <p:sp>
        <p:nvSpPr>
          <p:cNvPr id="15" name="s2_line_14"/>
          <p:cNvSpPr/>
          <p:nvPr/>
        </p:nvSpPr>
        <p:spPr>
          <a:xfrm>
            <a:off x="4224528" y="2039112"/>
            <a:ext cx="173736" cy="91"/>
          </a:xfrm>
          <a:prstGeom prst="line">
            <a:avLst/>
          </a:prstGeom>
          <a:noFill/>
          <a:ln w="25400">
            <a:solidFill>
              <a:srgbClr val="00A6C8"/>
            </a:solidFill>
            <a:prstDash val="solid"/>
            <a:tailEnd type="triangle"/>
          </a:ln>
        </p:spPr>
      </p:sp>
      <p:sp>
        <p:nvSpPr>
          <p:cNvPr id="16" name="s2_rect_15"/>
          <p:cNvSpPr/>
          <p:nvPr/>
        </p:nvSpPr>
        <p:spPr>
          <a:xfrm>
            <a:off x="4407408" y="1700784"/>
            <a:ext cx="1627632" cy="676656"/>
          </a:xfrm>
          <a:prstGeom prst="roundRect">
            <a:avLst>
              <a:gd name="adj" fmla="val 8108"/>
            </a:avLst>
          </a:prstGeom>
          <a:solidFill>
            <a:srgbClr val="E3F5FA"/>
          </a:solidFill>
          <a:ln w="9525">
            <a:solidFill>
              <a:srgbClr val="00A6C8"/>
            </a:solidFill>
            <a:prstDash val="solid"/>
          </a:ln>
        </p:spPr>
      </p:sp>
      <p:sp>
        <p:nvSpPr>
          <p:cNvPr id="17" name="s2_text_16"/>
          <p:cNvSpPr txBox="1"/>
          <p:nvPr/>
        </p:nvSpPr>
        <p:spPr>
          <a:xfrm>
            <a:off x="44531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Frozen Random Forest</a:t>
            </a:r>
            <a:endParaRPr lang="en-US" sz="1400" dirty="0"/>
          </a:p>
        </p:txBody>
      </p:sp>
      <p:sp>
        <p:nvSpPr>
          <p:cNvPr id="18" name="s2_line_17"/>
          <p:cNvSpPr/>
          <p:nvPr/>
        </p:nvSpPr>
        <p:spPr>
          <a:xfrm>
            <a:off x="6053328" y="2039112"/>
            <a:ext cx="173736" cy="91"/>
          </a:xfrm>
          <a:prstGeom prst="line">
            <a:avLst/>
          </a:prstGeom>
          <a:noFill/>
          <a:ln w="25400">
            <a:solidFill>
              <a:srgbClr val="00A6C8"/>
            </a:solidFill>
            <a:prstDash val="solid"/>
            <a:tailEnd type="triangle"/>
          </a:ln>
        </p:spPr>
      </p:sp>
      <p:sp>
        <p:nvSpPr>
          <p:cNvPr id="19" name="s2_rect_18"/>
          <p:cNvSpPr/>
          <p:nvPr/>
        </p:nvSpPr>
        <p:spPr>
          <a:xfrm>
            <a:off x="6236208" y="1700784"/>
            <a:ext cx="1627632" cy="676656"/>
          </a:xfrm>
          <a:prstGeom prst="roundRect">
            <a:avLst>
              <a:gd name="adj" fmla="val 8108"/>
            </a:avLst>
          </a:prstGeom>
          <a:solidFill>
            <a:srgbClr val="E3F5FA"/>
          </a:solidFill>
          <a:ln w="9525">
            <a:solidFill>
              <a:srgbClr val="00A6C8"/>
            </a:solidFill>
            <a:prstDash val="solid"/>
          </a:ln>
        </p:spPr>
      </p:sp>
      <p:sp>
        <p:nvSpPr>
          <p:cNvPr id="20" name="s2_text_19"/>
          <p:cNvSpPr txBox="1"/>
          <p:nvPr/>
        </p:nvSpPr>
        <p:spPr>
          <a:xfrm>
            <a:off x="62819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Conformal interval</a:t>
            </a:r>
            <a:endParaRPr lang="en-US" sz="1400" dirty="0"/>
          </a:p>
        </p:txBody>
      </p:sp>
      <p:sp>
        <p:nvSpPr>
          <p:cNvPr id="21" name="s3_line_20"/>
          <p:cNvSpPr/>
          <p:nvPr/>
        </p:nvSpPr>
        <p:spPr>
          <a:xfrm>
            <a:off x="7882128" y="2039112"/>
            <a:ext cx="173736" cy="91"/>
          </a:xfrm>
          <a:prstGeom prst="line">
            <a:avLst/>
          </a:prstGeom>
          <a:noFill/>
          <a:ln w="25400">
            <a:solidFill>
              <a:srgbClr val="00A6C8"/>
            </a:solidFill>
            <a:prstDash val="solid"/>
            <a:tailEnd type="triangle"/>
          </a:ln>
        </p:spPr>
      </p:sp>
      <p:sp>
        <p:nvSpPr>
          <p:cNvPr id="22" name="s3_rect_21"/>
          <p:cNvSpPr/>
          <p:nvPr/>
        </p:nvSpPr>
        <p:spPr>
          <a:xfrm>
            <a:off x="8065008" y="1700784"/>
            <a:ext cx="1627632" cy="676656"/>
          </a:xfrm>
          <a:prstGeom prst="roundRect">
            <a:avLst>
              <a:gd name="adj" fmla="val 8108"/>
            </a:avLst>
          </a:prstGeom>
          <a:solidFill>
            <a:srgbClr val="E3F5FA"/>
          </a:solidFill>
          <a:ln w="9525">
            <a:solidFill>
              <a:srgbClr val="00A6C8"/>
            </a:solidFill>
            <a:prstDash val="solid"/>
          </a:ln>
        </p:spPr>
      </p:sp>
      <p:sp>
        <p:nvSpPr>
          <p:cNvPr id="23" name="s3_text_22"/>
          <p:cNvSpPr txBox="1"/>
          <p:nvPr/>
        </p:nvSpPr>
        <p:spPr>
          <a:xfrm>
            <a:off x="81107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SHAP explanation</a:t>
            </a:r>
            <a:endParaRPr lang="en-US" sz="1400" dirty="0"/>
          </a:p>
        </p:txBody>
      </p:sp>
      <p:sp>
        <p:nvSpPr>
          <p:cNvPr id="24" name="s3_line_23"/>
          <p:cNvSpPr/>
          <p:nvPr/>
        </p:nvSpPr>
        <p:spPr>
          <a:xfrm>
            <a:off x="9710928" y="2039112"/>
            <a:ext cx="173736" cy="91"/>
          </a:xfrm>
          <a:prstGeom prst="line">
            <a:avLst/>
          </a:prstGeom>
          <a:noFill/>
          <a:ln w="25400">
            <a:solidFill>
              <a:srgbClr val="00A6C8"/>
            </a:solidFill>
            <a:prstDash val="solid"/>
            <a:tailEnd type="triangle"/>
          </a:ln>
        </p:spPr>
      </p:sp>
      <p:sp>
        <p:nvSpPr>
          <p:cNvPr id="25" name="s3_rect_24"/>
          <p:cNvSpPr/>
          <p:nvPr/>
        </p:nvSpPr>
        <p:spPr>
          <a:xfrm>
            <a:off x="9893808" y="1700784"/>
            <a:ext cx="1627632" cy="676656"/>
          </a:xfrm>
          <a:prstGeom prst="roundRect">
            <a:avLst>
              <a:gd name="adj" fmla="val 8108"/>
            </a:avLst>
          </a:prstGeom>
          <a:solidFill>
            <a:srgbClr val="E3F5FA"/>
          </a:solidFill>
          <a:ln w="9525">
            <a:solidFill>
              <a:srgbClr val="00A6C8"/>
            </a:solidFill>
            <a:prstDash val="solid"/>
          </a:ln>
        </p:spPr>
      </p:sp>
      <p:sp>
        <p:nvSpPr>
          <p:cNvPr id="26" name="s3_text_25"/>
          <p:cNvSpPr txBox="1"/>
          <p:nvPr/>
        </p:nvSpPr>
        <p:spPr>
          <a:xfrm>
            <a:off x="9939528" y="1700784"/>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Offline review-policy audit</a:t>
            </a:r>
            <a:endParaRPr lang="en-US" sz="1400" dirty="0"/>
          </a:p>
        </p:txBody>
      </p:sp>
      <p:sp>
        <p:nvSpPr>
          <p:cNvPr id="27" name="s4_line_26"/>
          <p:cNvSpPr/>
          <p:nvPr/>
        </p:nvSpPr>
        <p:spPr>
          <a:xfrm>
            <a:off x="548640" y="2743200"/>
            <a:ext cx="11091672" cy="91"/>
          </a:xfrm>
          <a:prstGeom prst="line">
            <a:avLst/>
          </a:prstGeom>
          <a:noFill/>
          <a:ln w="19050">
            <a:solidFill>
              <a:srgbClr val="E45756"/>
            </a:solidFill>
            <a:prstDash val="dash"/>
          </a:ln>
        </p:spPr>
      </p:sp>
      <p:sp>
        <p:nvSpPr>
          <p:cNvPr id="28" name="s4_rect_27"/>
          <p:cNvSpPr/>
          <p:nvPr/>
        </p:nvSpPr>
        <p:spPr>
          <a:xfrm>
            <a:off x="2651760" y="2578608"/>
            <a:ext cx="6858000" cy="329184"/>
          </a:xfrm>
          <a:prstGeom prst="rect">
            <a:avLst/>
          </a:prstGeom>
          <a:solidFill>
            <a:srgbClr val="F7FAFC"/>
          </a:solidFill>
          <a:ln/>
        </p:spPr>
      </p:sp>
      <p:sp>
        <p:nvSpPr>
          <p:cNvPr id="29" name="s4_text_28"/>
          <p:cNvSpPr txBox="1"/>
          <p:nvPr/>
        </p:nvSpPr>
        <p:spPr>
          <a:xfrm>
            <a:off x="2651760" y="2578608"/>
            <a:ext cx="6858000" cy="329184"/>
          </a:xfrm>
          <a:prstGeom prst="rect">
            <a:avLst/>
          </a:prstGeom>
          <a:noFill/>
          <a:ln/>
        </p:spPr>
        <p:txBody>
          <a:bodyPr wrap="square" lIns="0" tIns="0" rIns="0" bIns="0" rtlCol="0" anchor="ctr"/>
          <a:lstStyle/>
          <a:p>
            <a:pPr algn="ctr" indent="0" marL="0">
              <a:buNone/>
            </a:pPr>
            <a:r>
              <a:rPr lang="en-US" sz="1400" b="1" dirty="0">
                <a:solidFill>
                  <a:srgbClr val="E45756"/>
                </a:solidFill>
                <a:latin typeface="Aptos" pitchFamily="34" charset="0"/>
                <a:ea typeface="Aptos" pitchFamily="34" charset="-122"/>
                <a:cs typeface="Aptos" pitchFamily="34" charset="-120"/>
              </a:rPr>
              <a:t>No live connection implemented · Track B runs on a fixed illustrative payload</a:t>
            </a:r>
            <a:endParaRPr lang="en-US" sz="1400" dirty="0"/>
          </a:p>
        </p:txBody>
      </p:sp>
      <p:sp>
        <p:nvSpPr>
          <p:cNvPr id="30" name="s5_rect_29"/>
          <p:cNvSpPr/>
          <p:nvPr/>
        </p:nvSpPr>
        <p:spPr>
          <a:xfrm>
            <a:off x="548640" y="2980944"/>
            <a:ext cx="11091672" cy="1207008"/>
          </a:xfrm>
          <a:prstGeom prst="roundRect">
            <a:avLst>
              <a:gd name="adj" fmla="val 6061"/>
            </a:avLst>
          </a:prstGeom>
          <a:solidFill>
            <a:srgbClr val="FFFFFF"/>
          </a:solidFill>
          <a:ln w="19050">
            <a:solidFill>
              <a:srgbClr val="0E9F8A"/>
            </a:solidFill>
            <a:prstDash val="solid"/>
          </a:ln>
        </p:spPr>
      </p:sp>
      <p:sp>
        <p:nvSpPr>
          <p:cNvPr id="31" name="s5_text_30"/>
          <p:cNvSpPr txBox="1"/>
          <p:nvPr/>
        </p:nvSpPr>
        <p:spPr>
          <a:xfrm>
            <a:off x="749808" y="3035808"/>
            <a:ext cx="9144000" cy="274320"/>
          </a:xfrm>
          <a:prstGeom prst="rect">
            <a:avLst/>
          </a:prstGeom>
          <a:noFill/>
          <a:ln/>
        </p:spPr>
        <p:txBody>
          <a:bodyPr wrap="square" lIns="0" tIns="0" rIns="0" bIns="0" rtlCol="0" anchor="t"/>
          <a:lstStyle/>
          <a:p>
            <a:pPr algn="l" indent="0" marL="0">
              <a:buNone/>
            </a:pPr>
            <a:r>
              <a:rPr lang="en-US" sz="1300" b="1" dirty="0">
                <a:solidFill>
                  <a:srgbClr val="0B7A6A"/>
                </a:solidFill>
                <a:latin typeface="Aptos" pitchFamily="34" charset="0"/>
                <a:ea typeface="Aptos" pitchFamily="34" charset="-122"/>
                <a:cs typeface="Aptos" pitchFamily="34" charset="-120"/>
              </a:rPr>
              <a:t>TRACK B · SEPARATELY TESTED n8n PROTOTYPE (22 nodes)</a:t>
            </a:r>
            <a:endParaRPr lang="en-US" sz="1300" dirty="0"/>
          </a:p>
        </p:txBody>
      </p:sp>
      <p:sp>
        <p:nvSpPr>
          <p:cNvPr id="32" name="s5_rect_31"/>
          <p:cNvSpPr/>
          <p:nvPr/>
        </p:nvSpPr>
        <p:spPr>
          <a:xfrm>
            <a:off x="749808" y="3383280"/>
            <a:ext cx="1627632" cy="676656"/>
          </a:xfrm>
          <a:prstGeom prst="roundRect">
            <a:avLst>
              <a:gd name="adj" fmla="val 8108"/>
            </a:avLst>
          </a:prstGeom>
          <a:solidFill>
            <a:srgbClr val="E2F4F1"/>
          </a:solidFill>
          <a:ln w="9525">
            <a:solidFill>
              <a:srgbClr val="0E9F8A"/>
            </a:solidFill>
            <a:prstDash val="solid"/>
          </a:ln>
        </p:spPr>
      </p:sp>
      <p:sp>
        <p:nvSpPr>
          <p:cNvPr id="33" name="s5_text_32"/>
          <p:cNvSpPr txBox="1"/>
          <p:nvPr/>
        </p:nvSpPr>
        <p:spPr>
          <a:xfrm>
            <a:off x="795528" y="3383280"/>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Fixed illustrative payload</a:t>
            </a:r>
            <a:endParaRPr lang="en-US" sz="1400" dirty="0"/>
          </a:p>
        </p:txBody>
      </p:sp>
      <p:sp>
        <p:nvSpPr>
          <p:cNvPr id="34" name="s5_line_33"/>
          <p:cNvSpPr/>
          <p:nvPr/>
        </p:nvSpPr>
        <p:spPr>
          <a:xfrm>
            <a:off x="2395728" y="3721608"/>
            <a:ext cx="173736" cy="91"/>
          </a:xfrm>
          <a:prstGeom prst="line">
            <a:avLst/>
          </a:prstGeom>
          <a:noFill/>
          <a:ln w="25400">
            <a:solidFill>
              <a:srgbClr val="0E9F8A"/>
            </a:solidFill>
            <a:prstDash val="solid"/>
            <a:tailEnd type="triangle"/>
          </a:ln>
        </p:spPr>
      </p:sp>
      <p:sp>
        <p:nvSpPr>
          <p:cNvPr id="35" name="s5_rect_34"/>
          <p:cNvSpPr/>
          <p:nvPr/>
        </p:nvSpPr>
        <p:spPr>
          <a:xfrm>
            <a:off x="2578608" y="3383280"/>
            <a:ext cx="1627632" cy="676656"/>
          </a:xfrm>
          <a:prstGeom prst="roundRect">
            <a:avLst>
              <a:gd name="adj" fmla="val 8108"/>
            </a:avLst>
          </a:prstGeom>
          <a:solidFill>
            <a:srgbClr val="E2F4F1"/>
          </a:solidFill>
          <a:ln w="9525">
            <a:solidFill>
              <a:srgbClr val="0E9F8A"/>
            </a:solidFill>
            <a:prstDash val="solid"/>
          </a:ln>
        </p:spPr>
      </p:sp>
      <p:sp>
        <p:nvSpPr>
          <p:cNvPr id="36" name="s5_text_35"/>
          <p:cNvSpPr txBox="1"/>
          <p:nvPr/>
        </p:nvSpPr>
        <p:spPr>
          <a:xfrm>
            <a:off x="2624328" y="3383280"/>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Provenance validation</a:t>
            </a:r>
            <a:endParaRPr lang="en-US" sz="1400" dirty="0"/>
          </a:p>
        </p:txBody>
      </p:sp>
      <p:sp>
        <p:nvSpPr>
          <p:cNvPr id="37" name="s5_line_36"/>
          <p:cNvSpPr/>
          <p:nvPr/>
        </p:nvSpPr>
        <p:spPr>
          <a:xfrm>
            <a:off x="4224528" y="3721608"/>
            <a:ext cx="173736" cy="91"/>
          </a:xfrm>
          <a:prstGeom prst="line">
            <a:avLst/>
          </a:prstGeom>
          <a:noFill/>
          <a:ln w="25400">
            <a:solidFill>
              <a:srgbClr val="0E9F8A"/>
            </a:solidFill>
            <a:prstDash val="solid"/>
            <a:tailEnd type="triangle"/>
          </a:ln>
        </p:spPr>
      </p:sp>
      <p:sp>
        <p:nvSpPr>
          <p:cNvPr id="38" name="s5_rect_37"/>
          <p:cNvSpPr/>
          <p:nvPr/>
        </p:nvSpPr>
        <p:spPr>
          <a:xfrm>
            <a:off x="4407408" y="3383280"/>
            <a:ext cx="1627632" cy="676656"/>
          </a:xfrm>
          <a:prstGeom prst="roundRect">
            <a:avLst>
              <a:gd name="adj" fmla="val 8108"/>
            </a:avLst>
          </a:prstGeom>
          <a:solidFill>
            <a:srgbClr val="E2F4F1"/>
          </a:solidFill>
          <a:ln w="9525">
            <a:solidFill>
              <a:srgbClr val="0E9F8A"/>
            </a:solidFill>
            <a:prstDash val="solid"/>
          </a:ln>
        </p:spPr>
      </p:sp>
      <p:sp>
        <p:nvSpPr>
          <p:cNvPr id="39" name="s5_text_38"/>
          <p:cNvSpPr txBox="1"/>
          <p:nvPr/>
        </p:nvSpPr>
        <p:spPr>
          <a:xfrm>
            <a:off x="4453128" y="3383280"/>
            <a:ext cx="1536192" cy="676656"/>
          </a:xfrm>
          <a:prstGeom prst="rect">
            <a:avLst/>
          </a:prstGeom>
          <a:noFill/>
          <a:ln/>
        </p:spPr>
        <p:txBody>
          <a:bodyPr wrap="square" lIns="0" tIns="0" rIns="0" bIns="0" rtlCol="0" anchor="ctr"/>
          <a:lstStyle/>
          <a:p>
            <a:pPr algn="ctr" indent="0" marL="0">
              <a:buNone/>
            </a:pPr>
            <a:r>
              <a:rPr lang="en-US" sz="1200" b="1" dirty="0">
                <a:solidFill>
                  <a:srgbClr val="102A43"/>
                </a:solidFill>
                <a:latin typeface="Aptos" pitchFamily="34" charset="0"/>
                <a:ea typeface="Aptos" pitchFamily="34" charset="-122"/>
                <a:cs typeface="Aptos" pitchFamily="34" charset="-120"/>
              </a:rPr>
              <a:t>DEMO_POLICY_V1</a:t>
            </a:r>
            <a:endParaRPr lang="en-US" sz="1200" dirty="0"/>
          </a:p>
          <a:p>
            <a:pPr algn="ctr" indent="0" marL="0">
              <a:buNone/>
            </a:pPr>
            <a:r>
              <a:rPr lang="en-US" sz="1300" b="1" dirty="0">
                <a:solidFill>
                  <a:srgbClr val="102A43"/>
                </a:solidFill>
                <a:latin typeface="Aptos" pitchFamily="34" charset="0"/>
                <a:ea typeface="Aptos" pitchFamily="34" charset="-122"/>
                <a:cs typeface="Aptos" pitchFamily="34" charset="-120"/>
              </a:rPr>
              <a:t>deterministic policy</a:t>
            </a:r>
            <a:endParaRPr lang="en-US" sz="1200" dirty="0"/>
          </a:p>
        </p:txBody>
      </p:sp>
      <p:sp>
        <p:nvSpPr>
          <p:cNvPr id="40" name="s6_line_39"/>
          <p:cNvSpPr/>
          <p:nvPr/>
        </p:nvSpPr>
        <p:spPr>
          <a:xfrm>
            <a:off x="6053328" y="3721608"/>
            <a:ext cx="173736" cy="91"/>
          </a:xfrm>
          <a:prstGeom prst="line">
            <a:avLst/>
          </a:prstGeom>
          <a:noFill/>
          <a:ln w="25400">
            <a:solidFill>
              <a:srgbClr val="0E9F8A"/>
            </a:solidFill>
            <a:prstDash val="solid"/>
            <a:tailEnd type="triangle"/>
          </a:ln>
        </p:spPr>
      </p:sp>
      <p:sp>
        <p:nvSpPr>
          <p:cNvPr id="41" name="s6_rect_40"/>
          <p:cNvSpPr/>
          <p:nvPr/>
        </p:nvSpPr>
        <p:spPr>
          <a:xfrm>
            <a:off x="6236208" y="3383280"/>
            <a:ext cx="1627632" cy="676656"/>
          </a:xfrm>
          <a:prstGeom prst="roundRect">
            <a:avLst>
              <a:gd name="adj" fmla="val 8108"/>
            </a:avLst>
          </a:prstGeom>
          <a:solidFill>
            <a:srgbClr val="E2F4F1"/>
          </a:solidFill>
          <a:ln w="9525">
            <a:solidFill>
              <a:srgbClr val="0E9F8A"/>
            </a:solidFill>
            <a:prstDash val="solid"/>
          </a:ln>
        </p:spPr>
      </p:sp>
      <p:sp>
        <p:nvSpPr>
          <p:cNvPr id="42" name="s6_text_41"/>
          <p:cNvSpPr txBox="1"/>
          <p:nvPr/>
        </p:nvSpPr>
        <p:spPr>
          <a:xfrm>
            <a:off x="6281928" y="3383280"/>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Qwen3 1.7B narration</a:t>
            </a:r>
            <a:endParaRPr lang="en-US" sz="1400" dirty="0"/>
          </a:p>
        </p:txBody>
      </p:sp>
      <p:sp>
        <p:nvSpPr>
          <p:cNvPr id="43" name="s6_line_42"/>
          <p:cNvSpPr/>
          <p:nvPr/>
        </p:nvSpPr>
        <p:spPr>
          <a:xfrm>
            <a:off x="7882128" y="3721608"/>
            <a:ext cx="173736" cy="91"/>
          </a:xfrm>
          <a:prstGeom prst="line">
            <a:avLst/>
          </a:prstGeom>
          <a:noFill/>
          <a:ln w="25400">
            <a:solidFill>
              <a:srgbClr val="0E9F8A"/>
            </a:solidFill>
            <a:prstDash val="solid"/>
            <a:tailEnd type="triangle"/>
          </a:ln>
        </p:spPr>
      </p:sp>
      <p:sp>
        <p:nvSpPr>
          <p:cNvPr id="44" name="s6_rect_43"/>
          <p:cNvSpPr/>
          <p:nvPr/>
        </p:nvSpPr>
        <p:spPr>
          <a:xfrm>
            <a:off x="8065008" y="3383280"/>
            <a:ext cx="1627632" cy="676656"/>
          </a:xfrm>
          <a:prstGeom prst="roundRect">
            <a:avLst>
              <a:gd name="adj" fmla="val 8108"/>
            </a:avLst>
          </a:prstGeom>
          <a:solidFill>
            <a:srgbClr val="0E9F8A"/>
          </a:solidFill>
          <a:ln w="9525">
            <a:solidFill>
              <a:srgbClr val="0E9F8A"/>
            </a:solidFill>
            <a:prstDash val="solid"/>
          </a:ln>
        </p:spPr>
      </p:sp>
      <p:sp>
        <p:nvSpPr>
          <p:cNvPr id="45" name="s6_text_44"/>
          <p:cNvSpPr txBox="1"/>
          <p:nvPr/>
        </p:nvSpPr>
        <p:spPr>
          <a:xfrm>
            <a:off x="8110728" y="3383280"/>
            <a:ext cx="1536192" cy="676656"/>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Human review form</a:t>
            </a:r>
            <a:endParaRPr lang="en-US" sz="1400" dirty="0"/>
          </a:p>
        </p:txBody>
      </p:sp>
      <p:sp>
        <p:nvSpPr>
          <p:cNvPr id="46" name="s6_line_45"/>
          <p:cNvSpPr/>
          <p:nvPr/>
        </p:nvSpPr>
        <p:spPr>
          <a:xfrm>
            <a:off x="9710928" y="3721608"/>
            <a:ext cx="173736" cy="91"/>
          </a:xfrm>
          <a:prstGeom prst="line">
            <a:avLst/>
          </a:prstGeom>
          <a:noFill/>
          <a:ln w="25400">
            <a:solidFill>
              <a:srgbClr val="0E9F8A"/>
            </a:solidFill>
            <a:prstDash val="solid"/>
            <a:tailEnd type="triangle"/>
          </a:ln>
        </p:spPr>
      </p:sp>
      <p:sp>
        <p:nvSpPr>
          <p:cNvPr id="47" name="s6_rect_46"/>
          <p:cNvSpPr/>
          <p:nvPr/>
        </p:nvSpPr>
        <p:spPr>
          <a:xfrm>
            <a:off x="9893808" y="3383280"/>
            <a:ext cx="1627632" cy="676656"/>
          </a:xfrm>
          <a:prstGeom prst="roundRect">
            <a:avLst>
              <a:gd name="adj" fmla="val 8108"/>
            </a:avLst>
          </a:prstGeom>
          <a:solidFill>
            <a:srgbClr val="E2F4F1"/>
          </a:solidFill>
          <a:ln w="9525">
            <a:solidFill>
              <a:srgbClr val="0E9F8A"/>
            </a:solidFill>
            <a:prstDash val="solid"/>
          </a:ln>
        </p:spPr>
      </p:sp>
      <p:sp>
        <p:nvSpPr>
          <p:cNvPr id="48" name="s6_text_47"/>
          <p:cNvSpPr txBox="1"/>
          <p:nvPr/>
        </p:nvSpPr>
        <p:spPr>
          <a:xfrm>
            <a:off x="9939528" y="3383280"/>
            <a:ext cx="1536192" cy="676656"/>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PostgreSQL + JSON audit</a:t>
            </a:r>
            <a:endParaRPr lang="en-US" sz="1400" dirty="0"/>
          </a:p>
        </p:txBody>
      </p:sp>
      <p:sp>
        <p:nvSpPr>
          <p:cNvPr id="49" name="s7_line_48"/>
          <p:cNvSpPr/>
          <p:nvPr/>
        </p:nvSpPr>
        <p:spPr>
          <a:xfrm flipH="1">
            <a:off x="5349240" y="4078224"/>
            <a:ext cx="3529584" cy="365760"/>
          </a:xfrm>
          <a:prstGeom prst="line">
            <a:avLst/>
          </a:prstGeom>
          <a:noFill/>
          <a:ln w="15875">
            <a:solidFill>
              <a:srgbClr val="0E9F8A"/>
            </a:solidFill>
            <a:prstDash val="solid"/>
          </a:ln>
        </p:spPr>
      </p:sp>
      <p:sp>
        <p:nvSpPr>
          <p:cNvPr id="50" name="s7_rect_49"/>
          <p:cNvSpPr/>
          <p:nvPr/>
        </p:nvSpPr>
        <p:spPr>
          <a:xfrm>
            <a:off x="4526280" y="4462272"/>
            <a:ext cx="1645920" cy="713232"/>
          </a:xfrm>
          <a:prstGeom prst="roundRect">
            <a:avLst>
              <a:gd name="adj" fmla="val 7692"/>
            </a:avLst>
          </a:prstGeom>
          <a:solidFill>
            <a:srgbClr val="E2F4F1"/>
          </a:solidFill>
          <a:ln w="12700">
            <a:solidFill>
              <a:srgbClr val="0E9F8A"/>
            </a:solidFill>
            <a:prstDash val="solid"/>
          </a:ln>
        </p:spPr>
      </p:sp>
      <p:sp>
        <p:nvSpPr>
          <p:cNvPr id="51" name="s7_text_50"/>
          <p:cNvSpPr txBox="1"/>
          <p:nvPr/>
        </p:nvSpPr>
        <p:spPr>
          <a:xfrm>
            <a:off x="4572000" y="4498848"/>
            <a:ext cx="1554480" cy="658368"/>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APPROVE</a:t>
            </a:r>
            <a:endParaRPr lang="en-US" sz="1400" dirty="0"/>
          </a:p>
          <a:p>
            <a:pPr algn="ctr" indent="0" marL="0">
              <a:buNone/>
            </a:pPr>
            <a:r>
              <a:rPr lang="en-US" sz="1200" dirty="0">
                <a:solidFill>
                  <a:srgbClr val="627D98"/>
                </a:solidFill>
                <a:latin typeface="Aptos" pitchFamily="34" charset="0"/>
                <a:ea typeface="Aptos" pitchFamily="34" charset="-122"/>
                <a:cs typeface="Aptos" pitchFamily="34" charset="-120"/>
              </a:rPr>
              <a:t>2 exported records</a:t>
            </a:r>
            <a:endParaRPr lang="en-US" sz="1400" dirty="0"/>
          </a:p>
        </p:txBody>
      </p:sp>
      <p:sp>
        <p:nvSpPr>
          <p:cNvPr id="52" name="s7_line_51"/>
          <p:cNvSpPr/>
          <p:nvPr/>
        </p:nvSpPr>
        <p:spPr>
          <a:xfrm flipH="1">
            <a:off x="7150608" y="4078224"/>
            <a:ext cx="1728216" cy="365760"/>
          </a:xfrm>
          <a:prstGeom prst="line">
            <a:avLst/>
          </a:prstGeom>
          <a:noFill/>
          <a:ln w="15875">
            <a:solidFill>
              <a:srgbClr val="0E9F8A"/>
            </a:solidFill>
            <a:prstDash val="solid"/>
          </a:ln>
        </p:spPr>
      </p:sp>
      <p:sp>
        <p:nvSpPr>
          <p:cNvPr id="53" name="s7_rect_52"/>
          <p:cNvSpPr/>
          <p:nvPr/>
        </p:nvSpPr>
        <p:spPr>
          <a:xfrm>
            <a:off x="6327648" y="4462272"/>
            <a:ext cx="1645920" cy="713232"/>
          </a:xfrm>
          <a:prstGeom prst="roundRect">
            <a:avLst>
              <a:gd name="adj" fmla="val 7692"/>
            </a:avLst>
          </a:prstGeom>
          <a:solidFill>
            <a:srgbClr val="E2F4F1"/>
          </a:solidFill>
          <a:ln w="12700">
            <a:solidFill>
              <a:srgbClr val="0E9F8A"/>
            </a:solidFill>
            <a:prstDash val="solid"/>
          </a:ln>
        </p:spPr>
      </p:sp>
      <p:sp>
        <p:nvSpPr>
          <p:cNvPr id="54" name="s7_text_53"/>
          <p:cNvSpPr txBox="1"/>
          <p:nvPr/>
        </p:nvSpPr>
        <p:spPr>
          <a:xfrm>
            <a:off x="6373368" y="4498848"/>
            <a:ext cx="1554480" cy="658368"/>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REJECT</a:t>
            </a:r>
            <a:endParaRPr lang="en-US" sz="1400" dirty="0"/>
          </a:p>
          <a:p>
            <a:pPr algn="ctr" indent="0" marL="0">
              <a:buNone/>
            </a:pPr>
            <a:r>
              <a:rPr lang="en-US" sz="1200" dirty="0">
                <a:solidFill>
                  <a:srgbClr val="627D98"/>
                </a:solidFill>
                <a:latin typeface="Aptos" pitchFamily="34" charset="0"/>
                <a:ea typeface="Aptos" pitchFamily="34" charset="-122"/>
                <a:cs typeface="Aptos" pitchFamily="34" charset="-120"/>
              </a:rPr>
              <a:t>1 exported record</a:t>
            </a:r>
            <a:endParaRPr lang="en-US" sz="1400" dirty="0"/>
          </a:p>
        </p:txBody>
      </p:sp>
      <p:sp>
        <p:nvSpPr>
          <p:cNvPr id="55" name="s7_line_54"/>
          <p:cNvSpPr/>
          <p:nvPr/>
        </p:nvSpPr>
        <p:spPr>
          <a:xfrm>
            <a:off x="8878824" y="4078224"/>
            <a:ext cx="73152" cy="365760"/>
          </a:xfrm>
          <a:prstGeom prst="line">
            <a:avLst/>
          </a:prstGeom>
          <a:noFill/>
          <a:ln w="15875">
            <a:solidFill>
              <a:srgbClr val="0E9F8A"/>
            </a:solidFill>
            <a:prstDash val="solid"/>
          </a:ln>
        </p:spPr>
      </p:sp>
      <p:sp>
        <p:nvSpPr>
          <p:cNvPr id="56" name="s7_rect_55"/>
          <p:cNvSpPr/>
          <p:nvPr/>
        </p:nvSpPr>
        <p:spPr>
          <a:xfrm>
            <a:off x="8129016" y="4462272"/>
            <a:ext cx="1645920" cy="713232"/>
          </a:xfrm>
          <a:prstGeom prst="roundRect">
            <a:avLst>
              <a:gd name="adj" fmla="val 7692"/>
            </a:avLst>
          </a:prstGeom>
          <a:solidFill>
            <a:srgbClr val="E2F4F1"/>
          </a:solidFill>
          <a:ln w="12700">
            <a:solidFill>
              <a:srgbClr val="0E9F8A"/>
            </a:solidFill>
            <a:prstDash val="solid"/>
          </a:ln>
        </p:spPr>
      </p:sp>
      <p:sp>
        <p:nvSpPr>
          <p:cNvPr id="57" name="s7_text_56"/>
          <p:cNvSpPr txBox="1"/>
          <p:nvPr/>
        </p:nvSpPr>
        <p:spPr>
          <a:xfrm>
            <a:off x="8174736" y="4498848"/>
            <a:ext cx="1554480" cy="658368"/>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MODIFY (valid)</a:t>
            </a:r>
            <a:endParaRPr lang="en-US" sz="1400" dirty="0"/>
          </a:p>
          <a:p>
            <a:pPr algn="ctr" indent="0" marL="0">
              <a:buNone/>
            </a:pPr>
            <a:r>
              <a:rPr lang="en-US" sz="1200" dirty="0">
                <a:solidFill>
                  <a:srgbClr val="627D98"/>
                </a:solidFill>
                <a:latin typeface="Aptos" pitchFamily="34" charset="0"/>
                <a:ea typeface="Aptos" pitchFamily="34" charset="-122"/>
                <a:cs typeface="Aptos" pitchFamily="34" charset="-120"/>
              </a:rPr>
              <a:t>1 exported record</a:t>
            </a:r>
            <a:endParaRPr lang="en-US" sz="1400" dirty="0"/>
          </a:p>
        </p:txBody>
      </p:sp>
      <p:sp>
        <p:nvSpPr>
          <p:cNvPr id="58" name="s7_line_57"/>
          <p:cNvSpPr/>
          <p:nvPr/>
        </p:nvSpPr>
        <p:spPr>
          <a:xfrm>
            <a:off x="8878824" y="4078224"/>
            <a:ext cx="1874520" cy="365760"/>
          </a:xfrm>
          <a:prstGeom prst="line">
            <a:avLst/>
          </a:prstGeom>
          <a:noFill/>
          <a:ln w="15875">
            <a:solidFill>
              <a:srgbClr val="F3A712"/>
            </a:solidFill>
            <a:prstDash val="dash"/>
          </a:ln>
        </p:spPr>
      </p:sp>
      <p:sp>
        <p:nvSpPr>
          <p:cNvPr id="59" name="s7_rect_58"/>
          <p:cNvSpPr/>
          <p:nvPr/>
        </p:nvSpPr>
        <p:spPr>
          <a:xfrm>
            <a:off x="9930384" y="4462272"/>
            <a:ext cx="1645920" cy="713232"/>
          </a:xfrm>
          <a:prstGeom prst="roundRect">
            <a:avLst>
              <a:gd name="adj" fmla="val 7692"/>
            </a:avLst>
          </a:prstGeom>
          <a:solidFill>
            <a:srgbClr val="FEF4DE"/>
          </a:solidFill>
          <a:ln w="12700">
            <a:solidFill>
              <a:srgbClr val="F3A712"/>
            </a:solidFill>
            <a:prstDash val="dash"/>
          </a:ln>
        </p:spPr>
      </p:sp>
      <p:sp>
        <p:nvSpPr>
          <p:cNvPr id="60" name="s7_text_59"/>
          <p:cNvSpPr txBox="1"/>
          <p:nvPr/>
        </p:nvSpPr>
        <p:spPr>
          <a:xfrm>
            <a:off x="9976104" y="4498848"/>
            <a:ext cx="1554480" cy="658368"/>
          </a:xfrm>
          <a:prstGeom prst="rect">
            <a:avLst/>
          </a:prstGeom>
          <a:noFill/>
          <a:ln/>
        </p:spPr>
        <p:txBody>
          <a:bodyPr wrap="square" lIns="0" tIns="0" rIns="0" bIns="0" rtlCol="0" anchor="ctr"/>
          <a:lstStyle/>
          <a:p>
            <a:pPr algn="ctr" indent="0" marL="0">
              <a:buNone/>
            </a:pPr>
            <a:r>
              <a:rPr lang="en-US" sz="1400" b="1" dirty="0">
                <a:solidFill>
                  <a:srgbClr val="102A43"/>
                </a:solidFill>
                <a:latin typeface="Aptos" pitchFamily="34" charset="0"/>
                <a:ea typeface="Aptos" pitchFamily="34" charset="-122"/>
                <a:cs typeface="Aptos" pitchFamily="34" charset="-120"/>
              </a:rPr>
              <a:t>MODIFY (invalid)</a:t>
            </a:r>
            <a:endParaRPr lang="en-US" sz="1400" dirty="0"/>
          </a:p>
          <a:p>
            <a:pPr algn="ctr" indent="0" marL="0">
              <a:buNone/>
            </a:pPr>
            <a:r>
              <a:rPr lang="en-US" sz="1200" dirty="0">
                <a:solidFill>
                  <a:srgbClr val="627D98"/>
                </a:solidFill>
                <a:latin typeface="Aptos" pitchFamily="34" charset="0"/>
                <a:ea typeface="Aptos" pitchFamily="34" charset="-122"/>
                <a:cs typeface="Aptos" pitchFamily="34" charset="-120"/>
              </a:rPr>
              <a:t>route trace only</a:t>
            </a:r>
            <a:endParaRPr lang="en-US" sz="1400" dirty="0"/>
          </a:p>
        </p:txBody>
      </p:sp>
      <p:sp>
        <p:nvSpPr>
          <p:cNvPr id="61" name="s7_text_60"/>
          <p:cNvSpPr txBox="1"/>
          <p:nvPr/>
        </p:nvSpPr>
        <p:spPr>
          <a:xfrm>
            <a:off x="4526280" y="5321808"/>
            <a:ext cx="7114032" cy="731520"/>
          </a:xfrm>
          <a:prstGeom prst="rect">
            <a:avLst/>
          </a:prstGeom>
          <a:noFill/>
          <a:ln/>
        </p:spPr>
        <p:txBody>
          <a:bodyPr wrap="square" lIns="0" tIns="0" rIns="0" bIns="0" rtlCol="0" anchor="t"/>
          <a:lstStyle/>
          <a:p>
            <a:pPr algn="l" indent="0" marL="0">
              <a:buNone/>
            </a:pPr>
            <a:r>
              <a:rPr lang="en-US" sz="1500" b="1" dirty="0">
                <a:solidFill>
                  <a:srgbClr val="0B7A6A"/>
                </a:solidFill>
                <a:latin typeface="Aptos" pitchFamily="34" charset="0"/>
                <a:ea typeface="Aptos" pitchFamily="34" charset="-122"/>
                <a:cs typeface="Aptos" pitchFamily="34" charset="-120"/>
              </a:rPr>
              <a:t>Deterministic policy fixes priority and proposed action before narration; the reviewer has final authority.</a:t>
            </a:r>
            <a:endParaRPr lang="en-US" sz="1500" dirty="0"/>
          </a:p>
        </p:txBody>
      </p:sp>
      <p:sp>
        <p:nvSpPr>
          <p:cNvPr id="62" name="s8_rect_61"/>
          <p:cNvSpPr/>
          <p:nvPr/>
        </p:nvSpPr>
        <p:spPr>
          <a:xfrm>
            <a:off x="548640" y="4425696"/>
            <a:ext cx="3749040" cy="1691640"/>
          </a:xfrm>
          <a:prstGeom prst="roundRect">
            <a:avLst>
              <a:gd name="adj" fmla="val 4324"/>
            </a:avLst>
          </a:prstGeom>
          <a:solidFill>
            <a:srgbClr val="FFFFFF"/>
          </a:solidFill>
          <a:ln w="12700">
            <a:solidFill>
              <a:srgbClr val="D9E2EC"/>
            </a:solidFill>
            <a:prstDash val="solid"/>
          </a:ln>
        </p:spPr>
      </p:sp>
      <p:sp>
        <p:nvSpPr>
          <p:cNvPr id="63" name="s8_text_62"/>
          <p:cNvSpPr txBox="1"/>
          <p:nvPr/>
        </p:nvSpPr>
        <p:spPr>
          <a:xfrm>
            <a:off x="731520" y="4498848"/>
            <a:ext cx="3429000" cy="1572768"/>
          </a:xfrm>
          <a:prstGeom prst="rect">
            <a:avLst/>
          </a:prstGeom>
          <a:noFill/>
          <a:ln/>
        </p:spPr>
        <p:txBody>
          <a:bodyPr wrap="square" lIns="0" tIns="0" rIns="0" bIns="0" rtlCol="0" anchor="t"/>
          <a:lstStyle/>
          <a:p>
            <a:pPr algn="l" indent="0" marL="0">
              <a:buNone/>
            </a:pPr>
            <a:r>
              <a:rPr lang="en-US" sz="1400" b="1" dirty="0">
                <a:solidFill>
                  <a:srgbClr val="102A43"/>
                </a:solidFill>
                <a:latin typeface="Aptos" pitchFamily="34" charset="0"/>
                <a:ea typeface="Aptos" pitchFamily="34" charset="-122"/>
                <a:cs typeface="Aptos" pitchFamily="34" charset="-120"/>
              </a:rPr>
              <a:t>Qwen3 1.7B · temperature 0</a:t>
            </a:r>
            <a:endParaRPr lang="en-US" sz="1400" dirty="0"/>
          </a:p>
          <a:p>
            <a:pPr algn="l" indent="0" marL="0">
              <a:buNone/>
            </a:pPr>
            <a:r>
              <a:rPr lang="en-US" sz="1300" dirty="0">
                <a:solidFill>
                  <a:srgbClr val="102A43"/>
                </a:solidFill>
                <a:latin typeface="Aptos" pitchFamily="34" charset="0"/>
                <a:ea typeface="Aptos" pitchFamily="34" charset="-122"/>
                <a:cs typeface="Aptos" pitchFamily="34" charset="-120"/>
              </a:rPr>
              <a:t>Narrates the supplied evidence only</a:t>
            </a:r>
            <a:endParaRPr lang="en-US" sz="1400" dirty="0"/>
          </a:p>
          <a:p>
            <a:pPr algn="l" indent="0" marL="0">
              <a:buNone/>
            </a:pPr>
            <a:r>
              <a:rPr lang="en-US" sz="1300" dirty="0">
                <a:solidFill>
                  <a:srgbClr val="E45756"/>
                </a:solidFill>
                <a:latin typeface="Aptos" pitchFamily="34" charset="0"/>
                <a:ea typeface="Aptos" pitchFamily="34" charset="-122"/>
                <a:cs typeface="Aptos" pitchFamily="34" charset="-120"/>
              </a:rPr>
              <a:t>Cannot change values</a:t>
            </a:r>
            <a:endParaRPr lang="en-US" sz="1400" dirty="0"/>
          </a:p>
          <a:p>
            <a:pPr algn="l" indent="0" marL="0">
              <a:buNone/>
            </a:pPr>
            <a:r>
              <a:rPr lang="en-US" sz="1300" dirty="0">
                <a:solidFill>
                  <a:srgbClr val="E45756"/>
                </a:solidFill>
                <a:latin typeface="Aptos" pitchFamily="34" charset="0"/>
                <a:ea typeface="Aptos" pitchFamily="34" charset="-122"/>
                <a:cs typeface="Aptos" pitchFamily="34" charset="-120"/>
              </a:rPr>
              <a:t>Cannot assign the priority</a:t>
            </a:r>
            <a:endParaRPr lang="en-US" sz="1400" dirty="0"/>
          </a:p>
          <a:p>
            <a:pPr algn="l" indent="0" marL="0">
              <a:buNone/>
            </a:pPr>
            <a:r>
              <a:rPr lang="en-US" sz="1300" dirty="0">
                <a:solidFill>
                  <a:srgbClr val="E45756"/>
                </a:solidFill>
                <a:latin typeface="Aptos" pitchFamily="34" charset="0"/>
                <a:ea typeface="Aptos" pitchFamily="34" charset="-122"/>
                <a:cs typeface="Aptos" pitchFamily="34" charset="-120"/>
              </a:rPr>
              <a:t>Cannot choose the decision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00"/>
                                        <p:tgtEl>
                                          <p:spTgt spid="14"/>
                                        </p:tgtEl>
                                      </p:cBhvr>
                                    </p:animEffect>
                                  </p:childTnLst>
                                </p:cTn>
                              </p:par>
                            </p:childTnLst>
                          </p:cTn>
                        </p:par>
                      </p:childTnLst>
                    </p:cTn>
                  </p:par>
                  <p:par>
                    <p:cTn id="44" fill="hold">
                      <p:stCondLst>
                        <p:cond delay="indefinite"/>
                      </p:stCondLst>
                      <p:childTnLst>
                        <p:par>
                          <p:cTn id="4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64" fill="hold">
                      <p:stCondLst>
                        <p:cond delay="indefinite"/>
                      </p:stCondLst>
                      <p:childTnLst>
                        <p:par>
                          <p:cTn id="6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00"/>
                                        <p:tgtEl>
                                          <p:spTgt spid="26"/>
                                        </p:tgtEl>
                                      </p:cBhvr>
                                    </p:animEffect>
                                  </p:childTnLst>
                                </p:cTn>
                              </p:par>
                            </p:childTnLst>
                          </p:cTn>
                        </p:par>
                      </p:childTnLst>
                    </p:cTn>
                  </p:par>
                  <p:par>
                    <p:cTn id="75" fill="hold">
                      <p:stCondLst>
                        <p:cond delay="indefinite"/>
                      </p:stCondLst>
                      <p:childTnLst>
                        <p:par>
                          <p:cTn id="76"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00"/>
                                        <p:tgtEl>
                                          <p:spTgt spid="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00"/>
                                        <p:tgtEl>
                                          <p:spTgt spid="2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00"/>
                                        <p:tgtEl>
                                          <p:spTgt spid="29"/>
                                        </p:tgtEl>
                                      </p:cBhvr>
                                    </p:animEffect>
                                  </p:childTnLst>
                                </p:cTn>
                              </p:par>
                            </p:childTnLst>
                          </p:cTn>
                        </p:par>
                      </p:childTnLst>
                    </p:cTn>
                  </p:par>
                  <p:par>
                    <p:cTn id="107" fill="hold">
                      <p:stCondLst>
                        <p:cond delay="indefinite"/>
                      </p:stCondLst>
                      <p:childTnLst>
                        <p:par>
                          <p:cTn id="108"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0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4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4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400"/>
                                        <p:tgtEl>
                                          <p:spTgt spid="39"/>
                                        </p:tgtEl>
                                      </p:cBhvr>
                                    </p:animEffect>
                                  </p:childTnLst>
                                </p:cTn>
                              </p:par>
                            </p:childTnLst>
                          </p:cTn>
                        </p:par>
                      </p:childTnLst>
                    </p:cTn>
                  </p:par>
                  <p:par>
                    <p:cTn id="136" fill="hold">
                      <p:stCondLst>
                        <p:cond delay="indefinite"/>
                      </p:stCondLst>
                      <p:childTnLst>
                        <p:par>
                          <p:cTn id="137"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40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400"/>
                                        <p:tgtEl>
                                          <p:spTgt spid="4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40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400"/>
                                        <p:tgtEl>
                                          <p:spTgt spid="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400"/>
                                        <p:tgtEl>
                                          <p:spTgt spid="4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400"/>
                                        <p:tgtEl>
                                          <p:spTgt spid="45"/>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400"/>
                                        <p:tgtEl>
                                          <p:spTgt spid="4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7"/>
                                        </p:tgtEl>
                                        <p:attrNameLst>
                                          <p:attrName>style.visibility</p:attrName>
                                        </p:attrNameLst>
                                      </p:cBhvr>
                                      <p:to>
                                        <p:strVal val="visible"/>
                                      </p:to>
                                    </p:set>
                                    <p:animEffect transition="in" filter="fade">
                                      <p:cBhvr>
                                        <p:cTn id="132" dur="400"/>
                                        <p:tgtEl>
                                          <p:spTgt spid="4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400"/>
                                        <p:tgtEl>
                                          <p:spTgt spid="48"/>
                                        </p:tgtEl>
                                      </p:cBhvr>
                                    </p:animEffect>
                                  </p:childTnLst>
                                </p:cTn>
                              </p:par>
                            </p:childTnLst>
                          </p:cTn>
                        </p:par>
                      </p:childTnLst>
                    </p:cTn>
                  </p:par>
                  <p:par>
                    <p:cTn id="177" fill="hold">
                      <p:stCondLst>
                        <p:cond delay="indefinite"/>
                      </p:stCondLst>
                      <p:childTnLst>
                        <p:par>
                          <p:cTn id="178"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fade">
                                      <p:cBhvr>
                                        <p:cTn id="140" dur="400"/>
                                        <p:tgtEl>
                                          <p:spTgt spid="49"/>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fade">
                                      <p:cBhvr>
                                        <p:cTn id="143" dur="400"/>
                                        <p:tgtEl>
                                          <p:spTgt spid="50"/>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1"/>
                                        </p:tgtEl>
                                        <p:attrNameLst>
                                          <p:attrName>style.visibility</p:attrName>
                                        </p:attrNameLst>
                                      </p:cBhvr>
                                      <p:to>
                                        <p:strVal val="visible"/>
                                      </p:to>
                                    </p:set>
                                    <p:animEffect transition="in" filter="fade">
                                      <p:cBhvr>
                                        <p:cTn id="146" dur="400"/>
                                        <p:tgtEl>
                                          <p:spTgt spid="51"/>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2"/>
                                        </p:tgtEl>
                                        <p:attrNameLst>
                                          <p:attrName>style.visibility</p:attrName>
                                        </p:attrNameLst>
                                      </p:cBhvr>
                                      <p:to>
                                        <p:strVal val="visible"/>
                                      </p:to>
                                    </p:set>
                                    <p:animEffect transition="in" filter="fade">
                                      <p:cBhvr>
                                        <p:cTn id="149" dur="400"/>
                                        <p:tgtEl>
                                          <p:spTgt spid="52"/>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3"/>
                                        </p:tgtEl>
                                        <p:attrNameLst>
                                          <p:attrName>style.visibility</p:attrName>
                                        </p:attrNameLst>
                                      </p:cBhvr>
                                      <p:to>
                                        <p:strVal val="visible"/>
                                      </p:to>
                                    </p:set>
                                    <p:animEffect transition="in" filter="fade">
                                      <p:cBhvr>
                                        <p:cTn id="152" dur="400"/>
                                        <p:tgtEl>
                                          <p:spTgt spid="53"/>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4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4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4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4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400"/>
                                        <p:tgtEl>
                                          <p:spTgt spid="58"/>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4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400"/>
                                        <p:tgtEl>
                                          <p:spTgt spid="60"/>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61"/>
                                        </p:tgtEl>
                                        <p:attrNameLst>
                                          <p:attrName>style.visibility</p:attrName>
                                        </p:attrNameLst>
                                      </p:cBhvr>
                                      <p:to>
                                        <p:strVal val="visible"/>
                                      </p:to>
                                    </p:set>
                                    <p:animEffect transition="in" filter="fade">
                                      <p:cBhvr>
                                        <p:cTn id="176" dur="400"/>
                                        <p:tgtEl>
                                          <p:spTgt spid="61"/>
                                        </p:tgtEl>
                                      </p:cBhvr>
                                    </p:animEffect>
                                  </p:childTnLst>
                                </p:cTn>
                              </p:par>
                            </p:childTnLst>
                          </p:cTn>
                        </p:par>
                      </p:childTnLst>
                    </p:cTn>
                  </p:par>
                  <p:par>
                    <p:cTn id="185" fill="hold">
                      <p:stCondLst>
                        <p:cond delay="indefinite"/>
                      </p:stCondLst>
                      <p:childTnLst>
                        <p:par>
                          <p:cTn id="186"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400"/>
                                        <p:tgtEl>
                                          <p:spTgt spid="62"/>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3"/>
                                        </p:tgtEl>
                                        <p:attrNameLst>
                                          <p:attrName>style.visibility</p:attrName>
                                        </p:attrNameLst>
                                      </p:cBhvr>
                                      <p:to>
                                        <p:strVal val="visible"/>
                                      </p:to>
                                    </p:set>
                                    <p:animEffect transition="in" filter="fade">
                                      <p:cBhvr>
                                        <p:cTn id="184"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00A6C8"/>
                </a:solidFill>
                <a:latin typeface="Aptos" pitchFamily="34" charset="0"/>
                <a:ea typeface="Aptos" pitchFamily="34" charset="-122"/>
                <a:cs typeface="Aptos" pitchFamily="34" charset="-120"/>
              </a:rPr>
              <a:t>5 · CONCLUSION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Three conclusions, bounded by clear limits</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§6.6, §7.1–7.4, Table 6.1</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provenance ↗</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claims boundary ↗</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12 / 13</a:t>
            </a:r>
            <a:endParaRPr lang="en-US" sz="1100" dirty="0"/>
          </a:p>
        </p:txBody>
      </p:sp>
      <p:sp>
        <p:nvSpPr>
          <p:cNvPr id="8" name="s1_rect_7"/>
          <p:cNvSpPr/>
          <p:nvPr/>
        </p:nvSpPr>
        <p:spPr>
          <a:xfrm>
            <a:off x="548640" y="1298448"/>
            <a:ext cx="3593592" cy="2377440"/>
          </a:xfrm>
          <a:prstGeom prst="roundRect">
            <a:avLst>
              <a:gd name="adj" fmla="val 3077"/>
            </a:avLst>
          </a:prstGeom>
          <a:solidFill>
            <a:srgbClr val="FFFFFF"/>
          </a:solidFill>
          <a:ln w="19050">
            <a:solidFill>
              <a:srgbClr val="00A6C8"/>
            </a:solidFill>
            <a:prstDash val="solid"/>
          </a:ln>
        </p:spPr>
      </p:sp>
      <p:sp>
        <p:nvSpPr>
          <p:cNvPr id="9" name="s1_text_8"/>
          <p:cNvSpPr txBox="1"/>
          <p:nvPr/>
        </p:nvSpPr>
        <p:spPr>
          <a:xfrm>
            <a:off x="749808" y="1408176"/>
            <a:ext cx="3200400" cy="274320"/>
          </a:xfrm>
          <a:prstGeom prst="rect">
            <a:avLst/>
          </a:prstGeom>
          <a:noFill/>
          <a:ln/>
        </p:spPr>
        <p:txBody>
          <a:bodyPr wrap="square" lIns="0" tIns="0" rIns="0" bIns="0" rtlCol="0" anchor="t"/>
          <a:lstStyle/>
          <a:p>
            <a:pPr algn="l" indent="0" marL="0">
              <a:buNone/>
            </a:pPr>
            <a:r>
              <a:rPr lang="en-US" sz="1300" b="1" dirty="0">
                <a:solidFill>
                  <a:srgbClr val="007E99"/>
                </a:solidFill>
                <a:latin typeface="Aptos" pitchFamily="34" charset="0"/>
                <a:ea typeface="Aptos" pitchFamily="34" charset="-122"/>
                <a:cs typeface="Aptos" pitchFamily="34" charset="-120"/>
              </a:rPr>
              <a:t>1 · ACCURACY</a:t>
            </a:r>
            <a:endParaRPr lang="en-US" sz="1300" dirty="0"/>
          </a:p>
        </p:txBody>
      </p:sp>
      <p:sp>
        <p:nvSpPr>
          <p:cNvPr id="10" name="s1_text_9"/>
          <p:cNvSpPr txBox="1"/>
          <p:nvPr/>
        </p:nvSpPr>
        <p:spPr>
          <a:xfrm>
            <a:off x="749808" y="1700784"/>
            <a:ext cx="3246120" cy="566928"/>
          </a:xfrm>
          <a:prstGeom prst="rect">
            <a:avLst/>
          </a:prstGeom>
          <a:noFill/>
          <a:ln/>
        </p:spPr>
        <p:txBody>
          <a:bodyPr wrap="square" lIns="0" tIns="0" rIns="0" bIns="0" rtlCol="0" anchor="t"/>
          <a:lstStyle/>
          <a:p>
            <a:pPr algn="l" indent="0" marL="0">
              <a:buNone/>
            </a:pPr>
            <a:r>
              <a:rPr lang="en-US" sz="3000" b="1" dirty="0">
                <a:solidFill>
                  <a:srgbClr val="007E99"/>
                </a:solidFill>
                <a:latin typeface="Aptos" pitchFamily="34" charset="0"/>
                <a:ea typeface="Aptos" pitchFamily="34" charset="-122"/>
                <a:cs typeface="Aptos" pitchFamily="34" charset="-120"/>
              </a:rPr>
              <a:t>18.88</a:t>
            </a:r>
            <a:pPr algn="l" indent="0" marL="0">
              <a:buNone/>
            </a:pPr>
            <a:r>
              <a:rPr lang="en-US" sz="1400" dirty="0">
                <a:solidFill>
                  <a:srgbClr val="627D98"/>
                </a:solidFill>
                <a:latin typeface="Aptos" pitchFamily="34" charset="0"/>
                <a:ea typeface="Aptos" pitchFamily="34" charset="-122"/>
                <a:cs typeface="Aptos" pitchFamily="34" charset="-120"/>
              </a:rPr>
              <a:t> cycles MAE</a:t>
            </a:r>
            <a:endParaRPr lang="en-US" sz="3000" dirty="0"/>
          </a:p>
        </p:txBody>
      </p:sp>
      <p:sp>
        <p:nvSpPr>
          <p:cNvPr id="11" name="s1_text_10"/>
          <p:cNvSpPr txBox="1"/>
          <p:nvPr/>
        </p:nvSpPr>
        <p:spPr>
          <a:xfrm>
            <a:off x="749808" y="2331720"/>
            <a:ext cx="3200400" cy="1280160"/>
          </a:xfrm>
          <a:prstGeom prst="rect">
            <a:avLst/>
          </a:prstGeom>
          <a:noFill/>
          <a:ln/>
        </p:spPr>
        <p:txBody>
          <a:bodyPr wrap="square" lIns="0" tIns="0" rIns="0" bIns="0" rtlCol="0" anchor="t"/>
          <a:lstStyle/>
          <a:p>
            <a:pPr algn="l" indent="0" marL="0">
              <a:buNone/>
            </a:pPr>
            <a:r>
              <a:rPr lang="en-US" sz="1500" dirty="0">
                <a:solidFill>
                  <a:srgbClr val="102A43"/>
                </a:solidFill>
                <a:latin typeface="Aptos" pitchFamily="34" charset="0"/>
                <a:ea typeface="Aptos" pitchFamily="34" charset="-122"/>
                <a:cs typeface="Aptos" pitchFamily="34" charset="-120"/>
              </a:rPr>
              <a:t>Selected by a frozen PHM tie-break after a near tie; bias +10.90 cycles is optimistic.</a:t>
            </a:r>
            <a:endParaRPr lang="en-US" sz="1500" dirty="0"/>
          </a:p>
        </p:txBody>
      </p:sp>
      <p:sp>
        <p:nvSpPr>
          <p:cNvPr id="12" name="s2_rect_11"/>
          <p:cNvSpPr/>
          <p:nvPr/>
        </p:nvSpPr>
        <p:spPr>
          <a:xfrm>
            <a:off x="4297680" y="1298448"/>
            <a:ext cx="3593592" cy="2377440"/>
          </a:xfrm>
          <a:prstGeom prst="roundRect">
            <a:avLst>
              <a:gd name="adj" fmla="val 3077"/>
            </a:avLst>
          </a:prstGeom>
          <a:solidFill>
            <a:srgbClr val="FFFFFF"/>
          </a:solidFill>
          <a:ln w="19050">
            <a:solidFill>
              <a:srgbClr val="F3A712"/>
            </a:solidFill>
            <a:prstDash val="solid"/>
          </a:ln>
        </p:spPr>
      </p:sp>
      <p:sp>
        <p:nvSpPr>
          <p:cNvPr id="13" name="s2_text_12"/>
          <p:cNvSpPr txBox="1"/>
          <p:nvPr/>
        </p:nvSpPr>
        <p:spPr>
          <a:xfrm>
            <a:off x="4498848" y="1408176"/>
            <a:ext cx="3200400" cy="274320"/>
          </a:xfrm>
          <a:prstGeom prst="rect">
            <a:avLst/>
          </a:prstGeom>
          <a:noFill/>
          <a:ln/>
        </p:spPr>
        <p:txBody>
          <a:bodyPr wrap="square" lIns="0" tIns="0" rIns="0" bIns="0" rtlCol="0" anchor="t"/>
          <a:lstStyle/>
          <a:p>
            <a:pPr algn="l" indent="0" marL="0">
              <a:buNone/>
            </a:pPr>
            <a:r>
              <a:rPr lang="en-US" sz="1300" b="1" dirty="0">
                <a:solidFill>
                  <a:srgbClr val="9A6700"/>
                </a:solidFill>
                <a:latin typeface="Aptos" pitchFamily="34" charset="0"/>
                <a:ea typeface="Aptos" pitchFamily="34" charset="-122"/>
                <a:cs typeface="Aptos" pitchFamily="34" charset="-120"/>
              </a:rPr>
              <a:t>2 · UNCERTAINTY</a:t>
            </a:r>
            <a:endParaRPr lang="en-US" sz="1300" dirty="0"/>
          </a:p>
        </p:txBody>
      </p:sp>
      <p:sp>
        <p:nvSpPr>
          <p:cNvPr id="14" name="s2_text_13"/>
          <p:cNvSpPr txBox="1"/>
          <p:nvPr/>
        </p:nvSpPr>
        <p:spPr>
          <a:xfrm>
            <a:off x="4498848" y="1700784"/>
            <a:ext cx="3246120" cy="566928"/>
          </a:xfrm>
          <a:prstGeom prst="rect">
            <a:avLst/>
          </a:prstGeom>
          <a:noFill/>
          <a:ln/>
        </p:spPr>
        <p:txBody>
          <a:bodyPr wrap="square" lIns="0" tIns="0" rIns="0" bIns="0" rtlCol="0" anchor="t"/>
          <a:lstStyle/>
          <a:p>
            <a:pPr algn="l" indent="0" marL="0">
              <a:buNone/>
            </a:pPr>
            <a:r>
              <a:rPr lang="en-US" sz="3000" b="1" dirty="0">
                <a:solidFill>
                  <a:srgbClr val="9A6700"/>
                </a:solidFill>
                <a:latin typeface="Aptos" pitchFamily="34" charset="0"/>
                <a:ea typeface="Aptos" pitchFamily="34" charset="-122"/>
                <a:cs typeface="Aptos" pitchFamily="34" charset="-120"/>
              </a:rPr>
              <a:t>182.46</a:t>
            </a:r>
            <a:pPr algn="l" indent="0" marL="0">
              <a:buNone/>
            </a:pPr>
            <a:r>
              <a:rPr lang="en-US" sz="1400" dirty="0">
                <a:solidFill>
                  <a:srgbClr val="627D98"/>
                </a:solidFill>
                <a:latin typeface="Aptos" pitchFamily="34" charset="0"/>
                <a:ea typeface="Aptos" pitchFamily="34" charset="-122"/>
                <a:cs typeface="Aptos" pitchFamily="34" charset="-120"/>
              </a:rPr>
              <a:t> cycles wide</a:t>
            </a:r>
            <a:endParaRPr lang="en-US" sz="3000" dirty="0"/>
          </a:p>
        </p:txBody>
      </p:sp>
      <p:sp>
        <p:nvSpPr>
          <p:cNvPr id="15" name="s2_text_14"/>
          <p:cNvSpPr txBox="1"/>
          <p:nvPr/>
        </p:nvSpPr>
        <p:spPr>
          <a:xfrm>
            <a:off x="4498848" y="2331720"/>
            <a:ext cx="3200400" cy="1280160"/>
          </a:xfrm>
          <a:prstGeom prst="rect">
            <a:avLst/>
          </a:prstGeom>
          <a:noFill/>
          <a:ln/>
        </p:spPr>
        <p:txBody>
          <a:bodyPr wrap="square" lIns="0" tIns="0" rIns="0" bIns="0" rtlCol="0" anchor="t"/>
          <a:lstStyle/>
          <a:p>
            <a:pPr algn="l" indent="0" marL="0">
              <a:buNone/>
            </a:pPr>
            <a:r>
              <a:rPr lang="en-US" sz="1500" dirty="0">
                <a:solidFill>
                  <a:srgbClr val="102A43"/>
                </a:solidFill>
                <a:latin typeface="Aptos" pitchFamily="34" charset="0"/>
                <a:ea typeface="Aptos" pitchFamily="34" charset="-122"/>
                <a:cs typeface="Aptos" pitchFamily="34" charset="-120"/>
              </a:rPr>
              <a:t>Whole-engine intervals protected trajectories but were too wide; 63% of lower bounds clipped.</a:t>
            </a:r>
            <a:endParaRPr lang="en-US" sz="1500" dirty="0"/>
          </a:p>
        </p:txBody>
      </p:sp>
      <p:sp>
        <p:nvSpPr>
          <p:cNvPr id="16" name="s3_rect_15"/>
          <p:cNvSpPr/>
          <p:nvPr/>
        </p:nvSpPr>
        <p:spPr>
          <a:xfrm>
            <a:off x="8046720" y="1298448"/>
            <a:ext cx="3593592" cy="2377440"/>
          </a:xfrm>
          <a:prstGeom prst="roundRect">
            <a:avLst>
              <a:gd name="adj" fmla="val 3077"/>
            </a:avLst>
          </a:prstGeom>
          <a:solidFill>
            <a:srgbClr val="FFFFFF"/>
          </a:solidFill>
          <a:ln w="19050">
            <a:solidFill>
              <a:srgbClr val="0E9F8A"/>
            </a:solidFill>
            <a:prstDash val="solid"/>
          </a:ln>
        </p:spPr>
      </p:sp>
      <p:sp>
        <p:nvSpPr>
          <p:cNvPr id="17" name="s3_text_16"/>
          <p:cNvSpPr txBox="1"/>
          <p:nvPr/>
        </p:nvSpPr>
        <p:spPr>
          <a:xfrm>
            <a:off x="8247888" y="1408176"/>
            <a:ext cx="3200400" cy="274320"/>
          </a:xfrm>
          <a:prstGeom prst="rect">
            <a:avLst/>
          </a:prstGeom>
          <a:noFill/>
          <a:ln/>
        </p:spPr>
        <p:txBody>
          <a:bodyPr wrap="square" lIns="0" tIns="0" rIns="0" bIns="0" rtlCol="0" anchor="t"/>
          <a:lstStyle/>
          <a:p>
            <a:pPr algn="l" indent="0" marL="0">
              <a:buNone/>
            </a:pPr>
            <a:r>
              <a:rPr lang="en-US" sz="1300" b="1" dirty="0">
                <a:solidFill>
                  <a:srgbClr val="0B7A6A"/>
                </a:solidFill>
                <a:latin typeface="Aptos" pitchFamily="34" charset="0"/>
                <a:ea typeface="Aptos" pitchFamily="34" charset="-122"/>
                <a:cs typeface="Aptos" pitchFamily="34" charset="-120"/>
              </a:rPr>
              <a:t>3 · HUMAN REVIEW</a:t>
            </a:r>
            <a:endParaRPr lang="en-US" sz="1300" dirty="0"/>
          </a:p>
        </p:txBody>
      </p:sp>
      <p:sp>
        <p:nvSpPr>
          <p:cNvPr id="18" name="s3_text_17"/>
          <p:cNvSpPr txBox="1"/>
          <p:nvPr/>
        </p:nvSpPr>
        <p:spPr>
          <a:xfrm>
            <a:off x="8247888" y="1700784"/>
            <a:ext cx="3246120" cy="566928"/>
          </a:xfrm>
          <a:prstGeom prst="rect">
            <a:avLst/>
          </a:prstGeom>
          <a:noFill/>
          <a:ln/>
        </p:spPr>
        <p:txBody>
          <a:bodyPr wrap="square" lIns="0" tIns="0" rIns="0" bIns="0" rtlCol="0" anchor="t"/>
          <a:lstStyle/>
          <a:p>
            <a:pPr algn="l" indent="0" marL="0">
              <a:buNone/>
            </a:pPr>
            <a:r>
              <a:rPr lang="en-US" sz="3000" b="1" dirty="0">
                <a:solidFill>
                  <a:srgbClr val="0B7A6A"/>
                </a:solidFill>
                <a:latin typeface="Aptos" pitchFamily="34" charset="0"/>
                <a:ea typeface="Aptos" pitchFamily="34" charset="-122"/>
                <a:cs typeface="Aptos" pitchFamily="34" charset="-120"/>
              </a:rPr>
              <a:t>39/39</a:t>
            </a:r>
            <a:pPr algn="l" indent="0" marL="0">
              <a:buNone/>
            </a:pPr>
            <a:r>
              <a:rPr lang="en-US" sz="1400" dirty="0">
                <a:solidFill>
                  <a:srgbClr val="627D98"/>
                </a:solidFill>
                <a:latin typeface="Aptos" pitchFamily="34" charset="0"/>
                <a:ea typeface="Aptos" pitchFamily="34" charset="-122"/>
                <a:cs typeface="Aptos" pitchFamily="34" charset="-120"/>
              </a:rPr>
              <a:t>  at 81/100 reviewed</a:t>
            </a:r>
            <a:endParaRPr lang="en-US" sz="3000" dirty="0"/>
          </a:p>
        </p:txBody>
      </p:sp>
      <p:sp>
        <p:nvSpPr>
          <p:cNvPr id="19" name="s3_text_18"/>
          <p:cNvSpPr txBox="1"/>
          <p:nvPr/>
        </p:nvSpPr>
        <p:spPr>
          <a:xfrm>
            <a:off x="8247888" y="2331720"/>
            <a:ext cx="3200400" cy="1280160"/>
          </a:xfrm>
          <a:prstGeom prst="rect">
            <a:avLst/>
          </a:prstGeom>
          <a:noFill/>
          <a:ln/>
        </p:spPr>
        <p:txBody>
          <a:bodyPr wrap="square" lIns="0" tIns="0" rIns="0" bIns="0" rtlCol="0" anchor="t"/>
          <a:lstStyle/>
          <a:p>
            <a:pPr algn="l" indent="0" marL="0">
              <a:buNone/>
            </a:pPr>
            <a:r>
              <a:rPr lang="en-US" sz="1500" dirty="0">
                <a:solidFill>
                  <a:srgbClr val="102A43"/>
                </a:solidFill>
                <a:latin typeface="Aptos" pitchFamily="34" charset="0"/>
                <a:ea typeface="Aptos" pitchFamily="34" charset="-122"/>
                <a:cs typeface="Aptos" pitchFamily="34" charset="-120"/>
              </a:rPr>
              <a:t>All observed high-risk endpoints reviewed, at heavy workload; the prototype kept policy deterministic and the human in charge.</a:t>
            </a:r>
            <a:endParaRPr lang="en-US" sz="1500" dirty="0"/>
          </a:p>
        </p:txBody>
      </p:sp>
      <p:sp>
        <p:nvSpPr>
          <p:cNvPr id="20" name="s4_rect_19"/>
          <p:cNvSpPr/>
          <p:nvPr/>
        </p:nvSpPr>
        <p:spPr>
          <a:xfrm>
            <a:off x="548640" y="3858768"/>
            <a:ext cx="6903720" cy="2240280"/>
          </a:xfrm>
          <a:prstGeom prst="roundRect">
            <a:avLst>
              <a:gd name="adj" fmla="val 3265"/>
            </a:avLst>
          </a:prstGeom>
          <a:solidFill>
            <a:srgbClr val="FCE8E8"/>
          </a:solidFill>
          <a:ln/>
        </p:spPr>
      </p:sp>
      <p:sp>
        <p:nvSpPr>
          <p:cNvPr id="21" name="s4_text_20"/>
          <p:cNvSpPr txBox="1"/>
          <p:nvPr/>
        </p:nvSpPr>
        <p:spPr>
          <a:xfrm>
            <a:off x="777240" y="3950208"/>
            <a:ext cx="6492240" cy="2103120"/>
          </a:xfrm>
          <a:prstGeom prst="rect">
            <a:avLst/>
          </a:prstGeom>
          <a:noFill/>
          <a:ln/>
        </p:spPr>
        <p:txBody>
          <a:bodyPr wrap="square" lIns="0" tIns="0" rIns="0" bIns="0" rtlCol="0" anchor="t"/>
          <a:lstStyle/>
          <a:p>
            <a:pPr algn="l" indent="0" marL="0">
              <a:spcAft>
                <a:spcPts val="400"/>
              </a:spcAft>
              <a:buNone/>
            </a:pPr>
            <a:r>
              <a:rPr lang="en-US" sz="1600" b="1" dirty="0">
                <a:solidFill>
                  <a:srgbClr val="E45756"/>
                </a:solidFill>
                <a:latin typeface="Aptos" pitchFamily="34" charset="0"/>
                <a:ea typeface="Aptos" pitchFamily="34" charset="-122"/>
                <a:cs typeface="Aptos" pitchFamily="34" charset="-120"/>
              </a:rPr>
              <a:t>Limits</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Secondary simulated FD001 · one regime, one fault mode · 20 calibration engines · stipulated thresholds · no qualified-technician study · no live model-to-workflow link · historical provenance gaps</a:t>
            </a:r>
            <a:endParaRPr lang="en-US" sz="1600" dirty="0"/>
          </a:p>
          <a:p>
            <a:pPr algn="l" indent="0" marL="0">
              <a:spcAft>
                <a:spcPts val="400"/>
              </a:spcAft>
              <a:buNone/>
            </a:pPr>
            <a:r>
              <a:rPr lang="en-US" sz="1400" b="1" dirty="0">
                <a:solidFill>
                  <a:srgbClr val="102A43"/>
                </a:solidFill>
                <a:latin typeface="Aptos" pitchFamily="34" charset="0"/>
                <a:ea typeface="Aptos" pitchFamily="34" charset="-122"/>
                <a:cs typeface="Aptos" pitchFamily="34" charset="-120"/>
              </a:rPr>
              <a:t>Not claimed: field effectiveness · validated operational safety · production readiness · aircraft-maintenance certification</a:t>
            </a:r>
            <a:endParaRPr lang="en-US" sz="1600" dirty="0"/>
          </a:p>
        </p:txBody>
      </p:sp>
      <p:sp>
        <p:nvSpPr>
          <p:cNvPr id="22" name="s4_rect_21"/>
          <p:cNvSpPr/>
          <p:nvPr/>
        </p:nvSpPr>
        <p:spPr>
          <a:xfrm>
            <a:off x="7635240" y="3858768"/>
            <a:ext cx="4005072" cy="2240280"/>
          </a:xfrm>
          <a:prstGeom prst="roundRect">
            <a:avLst>
              <a:gd name="adj" fmla="val 3265"/>
            </a:avLst>
          </a:prstGeom>
          <a:solidFill>
            <a:srgbClr val="E3F5FA"/>
          </a:solidFill>
          <a:ln/>
        </p:spPr>
      </p:sp>
      <p:sp>
        <p:nvSpPr>
          <p:cNvPr id="23" name="s4_text_22"/>
          <p:cNvSpPr txBox="1"/>
          <p:nvPr/>
        </p:nvSpPr>
        <p:spPr>
          <a:xfrm>
            <a:off x="7845552" y="3950208"/>
            <a:ext cx="3611880" cy="2103120"/>
          </a:xfrm>
          <a:prstGeom prst="rect">
            <a:avLst/>
          </a:prstGeom>
          <a:noFill/>
          <a:ln/>
        </p:spPr>
        <p:txBody>
          <a:bodyPr wrap="square" lIns="0" tIns="0" rIns="0" bIns="0" rtlCol="0" anchor="t"/>
          <a:lstStyle/>
          <a:p>
            <a:pPr algn="l" indent="0" marL="0">
              <a:spcAft>
                <a:spcPts val="400"/>
              </a:spcAft>
              <a:buNone/>
            </a:pPr>
            <a:r>
              <a:rPr lang="en-US" sz="1600" b="1" dirty="0">
                <a:solidFill>
                  <a:srgbClr val="007E99"/>
                </a:solidFill>
                <a:latin typeface="Aptos" pitchFamily="34" charset="0"/>
                <a:ea typeface="Aptos" pitchFamily="34" charset="-122"/>
                <a:cs typeface="Aptos" pitchFamily="34" charset="-120"/>
              </a:rPr>
              <a:t>Next test</a:t>
            </a:r>
            <a:endParaRPr lang="en-US" sz="1600" dirty="0"/>
          </a:p>
          <a:p>
            <a:pPr algn="l" indent="0" marL="0">
              <a:spcAft>
                <a:spcPts val="400"/>
              </a:spcAft>
              <a:buNone/>
            </a:pPr>
            <a:r>
              <a:rPr lang="en-US" sz="1400" dirty="0">
                <a:solidFill>
                  <a:srgbClr val="102A43"/>
                </a:solidFill>
                <a:latin typeface="Aptos" pitchFamily="34" charset="0"/>
                <a:ea typeface="Aptos" pitchFamily="34" charset="-122"/>
                <a:cs typeface="Aptos" pitchFamily="34" charset="-120"/>
              </a:rPr>
              <a:t>Fresh engine regimes · conditional or group-aware uncertainty · bias correction on new engines · live authenticated interface · qualified reviewers with workload and automation-bias study · immutable provenance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00"/>
                                        <p:tgtEl>
                                          <p:spTgt spid="19"/>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0_img_1" descr="Illustrative turbofan schematic, not a validated engine simulation">    </p:cNvPr>
          <p:cNvPicPr>
            <a:picLocks noChangeAspect="1"/>
          </p:cNvPicPr>
          <p:nvPr/>
        </p:nvPicPr>
        <p:blipFill>
          <a:blip r:embed="rId1"/>
          <a:stretch>
            <a:fillRect/>
          </a:stretch>
        </p:blipFill>
        <p:spPr>
          <a:xfrm>
            <a:off x="2194560" y="685800"/>
            <a:ext cx="7772400" cy="3236976"/>
          </a:xfrm>
          <a:prstGeom prst="rect">
            <a:avLst/>
          </a:prstGeom>
        </p:spPr>
      </p:pic>
      <p:sp>
        <p:nvSpPr>
          <p:cNvPr id="3" name="s0_text_2"/>
          <p:cNvSpPr txBox="1"/>
          <p:nvPr/>
        </p:nvSpPr>
        <p:spPr>
          <a:xfrm>
            <a:off x="2194560" y="3931920"/>
            <a:ext cx="7772400" cy="274320"/>
          </a:xfrm>
          <a:prstGeom prst="rect">
            <a:avLst/>
          </a:prstGeom>
          <a:noFill/>
          <a:ln/>
        </p:spPr>
        <p:txBody>
          <a:bodyPr wrap="square" lIns="0" tIns="0" rIns="0" bIns="0" rtlCol="0" anchor="t"/>
          <a:lstStyle/>
          <a:p>
            <a:pPr algn="ctr" indent="0" marL="0">
              <a:buNone/>
            </a:pPr>
            <a:r>
              <a:rPr lang="en-US" sz="1100" i="1" dirty="0">
                <a:solidFill>
                  <a:srgbClr val="627D98"/>
                </a:solidFill>
                <a:latin typeface="Aptos" pitchFamily="34" charset="0"/>
                <a:ea typeface="Aptos" pitchFamily="34" charset="-122"/>
                <a:cs typeface="Aptos" pitchFamily="34" charset="-120"/>
              </a:rPr>
              <a:t>Illustrative turbofan schematic — not a validated engine simulation</a:t>
            </a:r>
            <a:endParaRPr lang="en-US" sz="1100" dirty="0"/>
          </a:p>
        </p:txBody>
      </p:sp>
      <p:sp>
        <p:nvSpPr>
          <p:cNvPr id="4" name="s0_text_3"/>
          <p:cNvSpPr txBox="1"/>
          <p:nvPr/>
        </p:nvSpPr>
        <p:spPr>
          <a:xfrm>
            <a:off x="914400" y="4389120"/>
            <a:ext cx="10360152" cy="731520"/>
          </a:xfrm>
          <a:prstGeom prst="rect">
            <a:avLst/>
          </a:prstGeom>
          <a:noFill/>
          <a:ln/>
        </p:spPr>
        <p:txBody>
          <a:bodyPr wrap="square" lIns="0" tIns="0" rIns="0" bIns="0" rtlCol="0" anchor="t"/>
          <a:lstStyle/>
          <a:p>
            <a:pPr algn="ctr" indent="0" marL="0">
              <a:buNone/>
            </a:pPr>
            <a:r>
              <a:rPr lang="en-US" sz="4000" b="1" dirty="0">
                <a:solidFill>
                  <a:srgbClr val="102A43"/>
                </a:solidFill>
                <a:latin typeface="Aptos Display" pitchFamily="34" charset="0"/>
                <a:ea typeface="Aptos Display" pitchFamily="34" charset="-122"/>
                <a:cs typeface="Aptos Display" pitchFamily="34" charset="-120"/>
              </a:rPr>
              <a:t>Thank you — Questions</a:t>
            </a:r>
            <a:endParaRPr lang="en-US" sz="4000" dirty="0"/>
          </a:p>
        </p:txBody>
      </p:sp>
      <p:sp>
        <p:nvSpPr>
          <p:cNvPr id="5" name="s0_text_4"/>
          <p:cNvSpPr txBox="1"/>
          <p:nvPr/>
        </p:nvSpPr>
        <p:spPr>
          <a:xfrm>
            <a:off x="914400" y="5166360"/>
            <a:ext cx="10360152" cy="365760"/>
          </a:xfrm>
          <a:prstGeom prst="rect">
            <a:avLst/>
          </a:prstGeom>
          <a:noFill/>
          <a:ln/>
        </p:spPr>
        <p:txBody>
          <a:bodyPr wrap="square" lIns="0" tIns="0" rIns="0" bIns="0" rtlCol="0" anchor="t"/>
          <a:lstStyle/>
          <a:p>
            <a:pPr algn="ctr" indent="0" marL="0">
              <a:buNone/>
            </a:pPr>
            <a:r>
              <a:rPr lang="en-US" sz="1600" dirty="0">
                <a:solidFill>
                  <a:srgbClr val="627D98"/>
                </a:solidFill>
                <a:latin typeface="Aptos" pitchFamily="34" charset="0"/>
                <a:ea typeface="Aptos" pitchFamily="34" charset="-122"/>
                <a:cs typeface="Aptos" pitchFamily="34" charset="-120"/>
              </a:rPr>
              <a:t>Ranitabh Mallick  ·  Supervisor: Dr Hiba Khalid  ·  GISMA University of Applied Sciences</a:t>
            </a:r>
            <a:endParaRPr lang="en-US" sz="1600" dirty="0"/>
          </a:p>
        </p:txBody>
      </p:sp>
      <p:sp>
        <p:nvSpPr>
          <p:cNvPr id="6" name="s0_text_5"/>
          <p:cNvSpPr txBox="1"/>
          <p:nvPr/>
        </p:nvSpPr>
        <p:spPr>
          <a:xfrm>
            <a:off x="914400" y="5623560"/>
            <a:ext cx="10360152" cy="365760"/>
          </a:xfrm>
          <a:prstGeom prst="rect">
            <a:avLst/>
          </a:prstGeom>
          <a:noFill/>
          <a:ln/>
        </p:spPr>
        <p:txBody>
          <a:bodyPr wrap="square" lIns="0" tIns="0" rIns="0" bIns="0" rtlCol="0" anchor="t"/>
          <a:lstStyle/>
          <a:p>
            <a:pPr algn="ctr" indent="0" marL="0">
              <a:buNone/>
            </a:pPr>
            <a:r>
              <a:rPr lang="en-US" sz="16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Backup slides: index ↗</a:t>
            </a:r>
            <a:endParaRPr lang="en-US" sz="1600" dirty="0"/>
          </a:p>
        </p:txBody>
      </p:sp>
      <p:sp>
        <p:nvSpPr>
          <p:cNvPr id="7" name="s0_line_6"/>
          <p:cNvSpPr/>
          <p:nvPr/>
        </p:nvSpPr>
        <p:spPr>
          <a:xfrm>
            <a:off x="548640" y="6291072"/>
            <a:ext cx="11091672" cy="91"/>
          </a:xfrm>
          <a:prstGeom prst="line">
            <a:avLst/>
          </a:prstGeom>
          <a:noFill/>
          <a:ln w="9525">
            <a:solidFill>
              <a:srgbClr val="D9E2EC"/>
            </a:solidFill>
            <a:prstDash val="solid"/>
          </a:ln>
        </p:spPr>
      </p:sp>
      <p:sp>
        <p:nvSpPr>
          <p:cNvPr id="8" name="s0_text_7"/>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13 / 13</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SLIDES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800" b="1" dirty="0">
                <a:solidFill>
                  <a:srgbClr val="102A43"/>
                </a:solidFill>
                <a:latin typeface="Aptos Display" pitchFamily="34" charset="0"/>
                <a:ea typeface="Aptos Display" pitchFamily="34" charset="-122"/>
                <a:cs typeface="Aptos Display" pitchFamily="34" charset="-120"/>
              </a:rPr>
              <a:t>Evidence for questions — select a topic</a:t>
            </a:r>
            <a:endParaRPr lang="en-US" sz="28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rect_4"/>
          <p:cNvSpPr/>
          <p:nvPr/>
        </p:nvSpPr>
        <p:spPr>
          <a:xfrm>
            <a:off x="548640" y="1325880"/>
            <a:ext cx="3611880" cy="438912"/>
          </a:xfrm>
          <a:prstGeom prst="roundRect">
            <a:avLst>
              <a:gd name="adj" fmla="val 10417"/>
            </a:avLst>
          </a:prstGeom>
          <a:solidFill>
            <a:srgbClr val="FFFFFF"/>
          </a:solidFill>
          <a:ln w="12700">
            <a:solidFill>
              <a:srgbClr val="D9E2EC"/>
            </a:solidFill>
            <a:prstDash val="solid"/>
          </a:ln>
        </p:spPr>
      </p:sp>
      <p:sp>
        <p:nvSpPr>
          <p:cNvPr id="6" name="s0_text_5"/>
          <p:cNvSpPr txBox="1"/>
          <p:nvPr/>
        </p:nvSpPr>
        <p:spPr>
          <a:xfrm>
            <a:off x="685800" y="139903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  </a:t>
            </a:r>
            <a:pPr algn="l" indent="0" marL="0">
              <a:buNone/>
            </a:pPr>
            <a:r>
              <a:rPr lang="en-US" sz="1400" u="sng" dirty="0">
                <a:solidFill>
                  <a:srgbClr val="102A43"/>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Research questions and answers</a:t>
            </a:r>
            <a:endParaRPr lang="en-US" sz="1400" dirty="0"/>
          </a:p>
        </p:txBody>
      </p:sp>
      <p:sp>
        <p:nvSpPr>
          <p:cNvPr id="7" name="s0_rect_6"/>
          <p:cNvSpPr/>
          <p:nvPr/>
        </p:nvSpPr>
        <p:spPr>
          <a:xfrm>
            <a:off x="548640" y="1837944"/>
            <a:ext cx="3611880" cy="438912"/>
          </a:xfrm>
          <a:prstGeom prst="roundRect">
            <a:avLst>
              <a:gd name="adj" fmla="val 10417"/>
            </a:avLst>
          </a:prstGeom>
          <a:solidFill>
            <a:srgbClr val="FFFFFF"/>
          </a:solidFill>
          <a:ln w="12700">
            <a:solidFill>
              <a:srgbClr val="D9E2EC"/>
            </a:solidFill>
            <a:prstDash val="solid"/>
          </a:ln>
        </p:spPr>
      </p:sp>
      <p:sp>
        <p:nvSpPr>
          <p:cNvPr id="8" name="s0_text_7"/>
          <p:cNvSpPr txBox="1"/>
          <p:nvPr/>
        </p:nvSpPr>
        <p:spPr>
          <a:xfrm>
            <a:off x="685800" y="191109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  </a:t>
            </a:r>
            <a:pPr algn="l" indent="0" marL="0">
              <a:buNone/>
            </a:pPr>
            <a:r>
              <a:rPr lang="en-US" sz="1400" u="sng" dirty="0">
                <a:solidFill>
                  <a:srgbClr val="102A43"/>
                </a:solidFill>
                <a:latin typeface="Aptos" pitchFamily="34" charset="0"/>
                <a:ea typeface="Aptos" pitchFamily="34" charset="-122"/>
                <a:cs typeface="Aptos" pitchFamily="34" charset="-120"/>
                <a:hlinkClick r:id="rId3" action="ppaction://hlinksldjump" tooltip="Go to slide">
                  <a:extLst>
                    <a:ext uri="{A12FA001-AC4F-418D-AE19-62706E023703}">
                      <ahyp:hlinkClr xmlns:ahyp="http://schemas.microsoft.com/office/drawing/2018/hyperlinkcolor" val="tx"/>
                    </a:ext>
                  </a:extLst>
                </a:hlinkClick>
              </a:rPr>
              <a:t>Objectives → evidence</a:t>
            </a:r>
            <a:endParaRPr lang="en-US" sz="1400" dirty="0"/>
          </a:p>
        </p:txBody>
      </p:sp>
      <p:sp>
        <p:nvSpPr>
          <p:cNvPr id="9" name="s0_rect_8"/>
          <p:cNvSpPr/>
          <p:nvPr/>
        </p:nvSpPr>
        <p:spPr>
          <a:xfrm>
            <a:off x="548640" y="2350008"/>
            <a:ext cx="3611880" cy="438912"/>
          </a:xfrm>
          <a:prstGeom prst="roundRect">
            <a:avLst>
              <a:gd name="adj" fmla="val 10417"/>
            </a:avLst>
          </a:prstGeom>
          <a:solidFill>
            <a:srgbClr val="FFFFFF"/>
          </a:solidFill>
          <a:ln w="12700">
            <a:solidFill>
              <a:srgbClr val="D9E2EC"/>
            </a:solidFill>
            <a:prstDash val="solid"/>
          </a:ln>
        </p:spPr>
      </p:sp>
      <p:sp>
        <p:nvSpPr>
          <p:cNvPr id="10" name="s0_text_9"/>
          <p:cNvSpPr txBox="1"/>
          <p:nvPr/>
        </p:nvSpPr>
        <p:spPr>
          <a:xfrm>
            <a:off x="685800" y="2423160"/>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B3  </a:t>
            </a:r>
            <a:pPr algn="l" indent="0" marL="0">
              <a:buNone/>
            </a:pPr>
            <a:r>
              <a:rPr lang="en-US" sz="1400" u="sng" dirty="0">
                <a:solidFill>
                  <a:srgbClr val="102A43"/>
                </a:solidFill>
                <a:latin typeface="Aptos" pitchFamily="34" charset="0"/>
                <a:ea typeface="Aptos" pitchFamily="34" charset="-122"/>
                <a:cs typeface="Aptos" pitchFamily="34" charset="-120"/>
                <a:hlinkClick r:id="rId4" action="ppaction://hlinksldjump" tooltip="Go to slide">
                  <a:extLst>
                    <a:ext uri="{A12FA001-AC4F-418D-AE19-62706E023703}">
                      <ahyp:hlinkClr xmlns:ahyp="http://schemas.microsoft.com/office/drawing/2018/hyperlinkcolor" val="tx"/>
                    </a:ext>
                  </a:extLst>
                </a:hlinkClick>
              </a:rPr>
              <a:t>Partitions and leakage controls</a:t>
            </a:r>
            <a:endParaRPr lang="en-US" sz="1400" dirty="0"/>
          </a:p>
        </p:txBody>
      </p:sp>
      <p:sp>
        <p:nvSpPr>
          <p:cNvPr id="11" name="s0_rect_10"/>
          <p:cNvSpPr/>
          <p:nvPr/>
        </p:nvSpPr>
        <p:spPr>
          <a:xfrm>
            <a:off x="548640" y="2862072"/>
            <a:ext cx="3611880" cy="438912"/>
          </a:xfrm>
          <a:prstGeom prst="roundRect">
            <a:avLst>
              <a:gd name="adj" fmla="val 10417"/>
            </a:avLst>
          </a:prstGeom>
          <a:solidFill>
            <a:srgbClr val="FFFFFF"/>
          </a:solidFill>
          <a:ln w="12700">
            <a:solidFill>
              <a:srgbClr val="D9E2EC"/>
            </a:solidFill>
            <a:prstDash val="solid"/>
          </a:ln>
        </p:spPr>
      </p:sp>
      <p:sp>
        <p:nvSpPr>
          <p:cNvPr id="12" name="s0_text_11"/>
          <p:cNvSpPr txBox="1"/>
          <p:nvPr/>
        </p:nvSpPr>
        <p:spPr>
          <a:xfrm>
            <a:off x="685800" y="2935224"/>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B4  </a:t>
            </a:r>
            <a:pPr algn="l" indent="0" marL="0">
              <a:buNone/>
            </a:pPr>
            <a:r>
              <a:rPr lang="en-US" sz="1400" u="sng" dirty="0">
                <a:solidFill>
                  <a:srgbClr val="102A43"/>
                </a:solidFill>
                <a:latin typeface="Aptos" pitchFamily="34" charset="0"/>
                <a:ea typeface="Aptos" pitchFamily="34" charset="-122"/>
                <a:cs typeface="Aptos" pitchFamily="34" charset="-120"/>
                <a:hlinkClick r:id="rId5" action="ppaction://hlinksldjump" tooltip="Go to slide">
                  <a:extLst>
                    <a:ext uri="{A12FA001-AC4F-418D-AE19-62706E023703}">
                      <ahyp:hlinkClr xmlns:ahyp="http://schemas.microsoft.com/office/drawing/2018/hyperlinkcolor" val="tx"/>
                    </a:ext>
                  </a:extLst>
                </a:hlinkClick>
              </a:rPr>
              <a:t>Full model comparison</a:t>
            </a:r>
            <a:endParaRPr lang="en-US" sz="1400" dirty="0"/>
          </a:p>
        </p:txBody>
      </p:sp>
      <p:sp>
        <p:nvSpPr>
          <p:cNvPr id="13" name="s0_rect_12"/>
          <p:cNvSpPr/>
          <p:nvPr/>
        </p:nvSpPr>
        <p:spPr>
          <a:xfrm>
            <a:off x="548640" y="3374136"/>
            <a:ext cx="3611880" cy="438912"/>
          </a:xfrm>
          <a:prstGeom prst="roundRect">
            <a:avLst>
              <a:gd name="adj" fmla="val 10417"/>
            </a:avLst>
          </a:prstGeom>
          <a:solidFill>
            <a:srgbClr val="FFFFFF"/>
          </a:solidFill>
          <a:ln w="12700">
            <a:solidFill>
              <a:srgbClr val="D9E2EC"/>
            </a:solidFill>
            <a:prstDash val="solid"/>
          </a:ln>
        </p:spPr>
      </p:sp>
      <p:sp>
        <p:nvSpPr>
          <p:cNvPr id="14" name="s0_text_13"/>
          <p:cNvSpPr txBox="1"/>
          <p:nvPr/>
        </p:nvSpPr>
        <p:spPr>
          <a:xfrm>
            <a:off x="685800" y="3447288"/>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B5  </a:t>
            </a:r>
            <a:pPr algn="l" indent="0" marL="0">
              <a:buNone/>
            </a:pPr>
            <a:r>
              <a:rPr lang="en-US" sz="1400" u="sng" dirty="0">
                <a:solidFill>
                  <a:srgbClr val="102A43"/>
                </a:solidFill>
                <a:latin typeface="Aptos" pitchFamily="34" charset="0"/>
                <a:ea typeface="Aptos" pitchFamily="34" charset="-122"/>
                <a:cs typeface="Aptos" pitchFamily="34" charset="-120"/>
                <a:hlinkClick r:id="rId6" action="ppaction://hlinksldjump" tooltip="Go to slide">
                  <a:extLst>
                    <a:ext uri="{A12FA001-AC4F-418D-AE19-62706E023703}">
                      <ahyp:hlinkClr xmlns:ahyp="http://schemas.microsoft.com/office/drawing/2018/hyperlinkcolor" val="tx"/>
                    </a:ext>
                  </a:extLst>
                </a:hlinkClick>
              </a:rPr>
              <a:t>RF and XGBoost configurations</a:t>
            </a:r>
            <a:endParaRPr lang="en-US" sz="1400" dirty="0"/>
          </a:p>
        </p:txBody>
      </p:sp>
      <p:sp>
        <p:nvSpPr>
          <p:cNvPr id="15" name="s0_rect_14"/>
          <p:cNvSpPr/>
          <p:nvPr/>
        </p:nvSpPr>
        <p:spPr>
          <a:xfrm>
            <a:off x="548640" y="3886200"/>
            <a:ext cx="3611880" cy="438912"/>
          </a:xfrm>
          <a:prstGeom prst="roundRect">
            <a:avLst>
              <a:gd name="adj" fmla="val 10417"/>
            </a:avLst>
          </a:prstGeom>
          <a:solidFill>
            <a:srgbClr val="FFFFFF"/>
          </a:solidFill>
          <a:ln w="12700">
            <a:solidFill>
              <a:srgbClr val="D9E2EC"/>
            </a:solidFill>
            <a:prstDash val="solid"/>
          </a:ln>
        </p:spPr>
      </p:sp>
      <p:sp>
        <p:nvSpPr>
          <p:cNvPr id="16" name="s0_text_15"/>
          <p:cNvSpPr txBox="1"/>
          <p:nvPr/>
        </p:nvSpPr>
        <p:spPr>
          <a:xfrm>
            <a:off x="685800" y="395935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B6  </a:t>
            </a:r>
            <a:pPr algn="l" indent="0" marL="0">
              <a:buNone/>
            </a:pPr>
            <a:r>
              <a:rPr lang="en-US" sz="1400" u="sng" dirty="0">
                <a:solidFill>
                  <a:srgbClr val="102A43"/>
                </a:solidFill>
                <a:latin typeface="Aptos" pitchFamily="34" charset="0"/>
                <a:ea typeface="Aptos" pitchFamily="34" charset="-122"/>
                <a:cs typeface="Aptos" pitchFamily="34" charset="-120"/>
                <a:hlinkClick r:id="rId7" action="ppaction://hlinksldjump" tooltip="Go to slide">
                  <a:extLst>
                    <a:ext uri="{A12FA001-AC4F-418D-AE19-62706E023703}">
                      <ahyp:hlinkClr xmlns:ahyp="http://schemas.microsoft.com/office/drawing/2018/hyperlinkcolor" val="tx"/>
                    </a:ext>
                  </a:extLst>
                </a:hlinkClick>
              </a:rPr>
              <a:t>Equivalence band and PHM tie-break</a:t>
            </a:r>
            <a:endParaRPr lang="en-US" sz="1400" dirty="0"/>
          </a:p>
        </p:txBody>
      </p:sp>
      <p:sp>
        <p:nvSpPr>
          <p:cNvPr id="17" name="s0_rect_16"/>
          <p:cNvSpPr/>
          <p:nvPr/>
        </p:nvSpPr>
        <p:spPr>
          <a:xfrm>
            <a:off x="548640" y="4398264"/>
            <a:ext cx="3611880" cy="438912"/>
          </a:xfrm>
          <a:prstGeom prst="roundRect">
            <a:avLst>
              <a:gd name="adj" fmla="val 10417"/>
            </a:avLst>
          </a:prstGeom>
          <a:solidFill>
            <a:srgbClr val="FFFFFF"/>
          </a:solidFill>
          <a:ln w="12700">
            <a:solidFill>
              <a:srgbClr val="D9E2EC"/>
            </a:solidFill>
            <a:prstDash val="solid"/>
          </a:ln>
        </p:spPr>
      </p:sp>
      <p:sp>
        <p:nvSpPr>
          <p:cNvPr id="18" name="s0_text_17"/>
          <p:cNvSpPr txBox="1"/>
          <p:nvPr/>
        </p:nvSpPr>
        <p:spPr>
          <a:xfrm>
            <a:off x="685800" y="447141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B7  </a:t>
            </a:r>
            <a:pPr algn="l" indent="0" marL="0">
              <a:buNone/>
            </a:pPr>
            <a:r>
              <a:rPr lang="en-US" sz="1400" u="sng" dirty="0">
                <a:solidFill>
                  <a:srgbClr val="102A43"/>
                </a:solidFill>
                <a:latin typeface="Aptos" pitchFamily="34" charset="0"/>
                <a:ea typeface="Aptos" pitchFamily="34" charset="-122"/>
                <a:cs typeface="Aptos" pitchFamily="34" charset="-120"/>
                <a:hlinkClick r:id="rId8" action="ppaction://hlinksldjump" tooltip="Go to slide">
                  <a:extLst>
                    <a:ext uri="{A12FA001-AC4F-418D-AE19-62706E023703}">
                      <ahyp:hlinkClr xmlns:ahyp="http://schemas.microsoft.com/office/drawing/2018/hyperlinkcolor" val="tx"/>
                    </a:ext>
                  </a:extLst>
                </a:hlinkClick>
              </a:rPr>
              <a:t>Conformal score and rank</a:t>
            </a:r>
            <a:endParaRPr lang="en-US" sz="1400" dirty="0"/>
          </a:p>
        </p:txBody>
      </p:sp>
      <p:sp>
        <p:nvSpPr>
          <p:cNvPr id="19" name="s0_rect_18"/>
          <p:cNvSpPr/>
          <p:nvPr/>
        </p:nvSpPr>
        <p:spPr>
          <a:xfrm>
            <a:off x="548640" y="4910328"/>
            <a:ext cx="3611880" cy="438912"/>
          </a:xfrm>
          <a:prstGeom prst="roundRect">
            <a:avLst>
              <a:gd name="adj" fmla="val 10417"/>
            </a:avLst>
          </a:prstGeom>
          <a:solidFill>
            <a:srgbClr val="FFFFFF"/>
          </a:solidFill>
          <a:ln w="12700">
            <a:solidFill>
              <a:srgbClr val="D9E2EC"/>
            </a:solidFill>
            <a:prstDash val="solid"/>
          </a:ln>
        </p:spPr>
      </p:sp>
      <p:sp>
        <p:nvSpPr>
          <p:cNvPr id="20" name="s0_text_19"/>
          <p:cNvSpPr txBox="1"/>
          <p:nvPr/>
        </p:nvSpPr>
        <p:spPr>
          <a:xfrm>
            <a:off x="685800" y="4983480"/>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B8  </a:t>
            </a:r>
            <a:pPr algn="l" indent="0" marL="0">
              <a:buNone/>
            </a:pPr>
            <a:r>
              <a:rPr lang="en-US" sz="1400" u="sng" dirty="0">
                <a:solidFill>
                  <a:srgbClr val="102A43"/>
                </a:solidFill>
                <a:latin typeface="Aptos" pitchFamily="34" charset="0"/>
                <a:ea typeface="Aptos" pitchFamily="34" charset="-122"/>
                <a:cs typeface="Aptos" pitchFamily="34" charset="-120"/>
                <a:hlinkClick r:id="rId9" action="ppaction://hlinksldjump" tooltip="Go to slide">
                  <a:extLst>
                    <a:ext uri="{A12FA001-AC4F-418D-AE19-62706E023703}">
                      <ahyp:hlinkClr xmlns:ahyp="http://schemas.microsoft.com/office/drawing/2018/hyperlinkcolor" val="tx"/>
                    </a:ext>
                  </a:extLst>
                </a:hlinkClick>
              </a:rPr>
              <a:t>Bootstrap and confidence intervals</a:t>
            </a:r>
            <a:endParaRPr lang="en-US" sz="1400" dirty="0"/>
          </a:p>
        </p:txBody>
      </p:sp>
      <p:sp>
        <p:nvSpPr>
          <p:cNvPr id="21" name="s0_rect_20"/>
          <p:cNvSpPr/>
          <p:nvPr/>
        </p:nvSpPr>
        <p:spPr>
          <a:xfrm>
            <a:off x="548640" y="5422392"/>
            <a:ext cx="3611880" cy="438912"/>
          </a:xfrm>
          <a:prstGeom prst="roundRect">
            <a:avLst>
              <a:gd name="adj" fmla="val 10417"/>
            </a:avLst>
          </a:prstGeom>
          <a:solidFill>
            <a:srgbClr val="FFFFFF"/>
          </a:solidFill>
          <a:ln w="12700">
            <a:solidFill>
              <a:srgbClr val="D9E2EC"/>
            </a:solidFill>
            <a:prstDash val="solid"/>
          </a:ln>
        </p:spPr>
      </p:sp>
      <p:sp>
        <p:nvSpPr>
          <p:cNvPr id="22" name="s0_text_21"/>
          <p:cNvSpPr txBox="1"/>
          <p:nvPr/>
        </p:nvSpPr>
        <p:spPr>
          <a:xfrm>
            <a:off x="685800" y="5495544"/>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B9  </a:t>
            </a:r>
            <a:pPr algn="l" indent="0" marL="0">
              <a:buNone/>
            </a:pPr>
            <a:r>
              <a:rPr lang="en-US" sz="1400" u="sng" dirty="0">
                <a:solidFill>
                  <a:srgbClr val="102A43"/>
                </a:solidFill>
                <a:latin typeface="Aptos" pitchFamily="34" charset="0"/>
                <a:ea typeface="Aptos" pitchFamily="34" charset="-122"/>
                <a:cs typeface="Aptos" pitchFamily="34" charset="-120"/>
                <a:hlinkClick r:id="rId10" action="ppaction://hlinksldjump" tooltip="Go to slide">
                  <a:extLst>
                    <a:ext uri="{A12FA001-AC4F-418D-AE19-62706E023703}">
                      <ahyp:hlinkClr xmlns:ahyp="http://schemas.microsoft.com/office/drawing/2018/hyperlinkcolor" val="tx"/>
                    </a:ext>
                  </a:extLst>
                </a:hlinkClick>
              </a:rPr>
              <a:t>Uncapped target vs capped sensitivity</a:t>
            </a:r>
            <a:endParaRPr lang="en-US" sz="1400" dirty="0"/>
          </a:p>
        </p:txBody>
      </p:sp>
      <p:sp>
        <p:nvSpPr>
          <p:cNvPr id="23" name="s0_rect_22"/>
          <p:cNvSpPr/>
          <p:nvPr/>
        </p:nvSpPr>
        <p:spPr>
          <a:xfrm>
            <a:off x="4297680" y="1325880"/>
            <a:ext cx="3611880" cy="438912"/>
          </a:xfrm>
          <a:prstGeom prst="roundRect">
            <a:avLst>
              <a:gd name="adj" fmla="val 10417"/>
            </a:avLst>
          </a:prstGeom>
          <a:solidFill>
            <a:srgbClr val="FFFFFF"/>
          </a:solidFill>
          <a:ln w="12700">
            <a:solidFill>
              <a:srgbClr val="D9E2EC"/>
            </a:solidFill>
            <a:prstDash val="solid"/>
          </a:ln>
        </p:spPr>
      </p:sp>
      <p:sp>
        <p:nvSpPr>
          <p:cNvPr id="24" name="s0_text_23"/>
          <p:cNvSpPr txBox="1"/>
          <p:nvPr/>
        </p:nvSpPr>
        <p:spPr>
          <a:xfrm>
            <a:off x="4434840" y="139903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B10  </a:t>
            </a:r>
            <a:pPr algn="l" indent="0" marL="0">
              <a:buNone/>
            </a:pPr>
            <a:r>
              <a:rPr lang="en-US" sz="1400" u="sng" dirty="0">
                <a:solidFill>
                  <a:srgbClr val="102A43"/>
                </a:solidFill>
                <a:latin typeface="Aptos" pitchFamily="34" charset="0"/>
                <a:ea typeface="Aptos" pitchFamily="34" charset="-122"/>
                <a:cs typeface="Aptos" pitchFamily="34" charset="-120"/>
                <a:hlinkClick r:id="rId11" action="ppaction://hlinksldjump" tooltip="Go to slide">
                  <a:extLst>
                    <a:ext uri="{A12FA001-AC4F-418D-AE19-62706E023703}">
                      <ahyp:hlinkClr xmlns:ahyp="http://schemas.microsoft.com/office/drawing/2018/hyperlinkcolor" val="tx"/>
                    </a:ext>
                  </a:extLst>
                </a:hlinkClick>
              </a:rPr>
              <a:t>Feature ablation</a:t>
            </a:r>
            <a:endParaRPr lang="en-US" sz="1400" dirty="0"/>
          </a:p>
        </p:txBody>
      </p:sp>
      <p:sp>
        <p:nvSpPr>
          <p:cNvPr id="25" name="s0_rect_24"/>
          <p:cNvSpPr/>
          <p:nvPr/>
        </p:nvSpPr>
        <p:spPr>
          <a:xfrm>
            <a:off x="4297680" y="1837944"/>
            <a:ext cx="3611880" cy="438912"/>
          </a:xfrm>
          <a:prstGeom prst="roundRect">
            <a:avLst>
              <a:gd name="adj" fmla="val 10417"/>
            </a:avLst>
          </a:prstGeom>
          <a:solidFill>
            <a:srgbClr val="FFFFFF"/>
          </a:solidFill>
          <a:ln w="12700">
            <a:solidFill>
              <a:srgbClr val="D9E2EC"/>
            </a:solidFill>
            <a:prstDash val="solid"/>
          </a:ln>
        </p:spPr>
      </p:sp>
      <p:sp>
        <p:nvSpPr>
          <p:cNvPr id="26" name="s0_text_25"/>
          <p:cNvSpPr txBox="1"/>
          <p:nvPr/>
        </p:nvSpPr>
        <p:spPr>
          <a:xfrm>
            <a:off x="4434840" y="191109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B11  </a:t>
            </a:r>
            <a:pPr algn="l" indent="0" marL="0">
              <a:buNone/>
            </a:pPr>
            <a:r>
              <a:rPr lang="en-US" sz="1400" u="sng" dirty="0">
                <a:solidFill>
                  <a:srgbClr val="102A43"/>
                </a:solidFill>
                <a:latin typeface="Aptos" pitchFamily="34" charset="0"/>
                <a:ea typeface="Aptos" pitchFamily="34" charset="-122"/>
                <a:cs typeface="Aptos" pitchFamily="34" charset="-120"/>
                <a:hlinkClick r:id="rId12" action="ppaction://hlinksldjump" tooltip="Go to slide">
                  <a:extLst>
                    <a:ext uri="{A12FA001-AC4F-418D-AE19-62706E023703}">
                      <ahyp:hlinkClr xmlns:ahyp="http://schemas.microsoft.com/office/drawing/2018/hyperlinkcolor" val="tx"/>
                    </a:ext>
                  </a:extLst>
                </a:hlinkClick>
              </a:rPr>
              <a:t>Conformal-score ablation</a:t>
            </a:r>
            <a:endParaRPr lang="en-US" sz="1400" dirty="0"/>
          </a:p>
        </p:txBody>
      </p:sp>
      <p:sp>
        <p:nvSpPr>
          <p:cNvPr id="27" name="s0_rect_26"/>
          <p:cNvSpPr/>
          <p:nvPr/>
        </p:nvSpPr>
        <p:spPr>
          <a:xfrm>
            <a:off x="4297680" y="2350008"/>
            <a:ext cx="3611880" cy="438912"/>
          </a:xfrm>
          <a:prstGeom prst="roundRect">
            <a:avLst>
              <a:gd name="adj" fmla="val 10417"/>
            </a:avLst>
          </a:prstGeom>
          <a:solidFill>
            <a:srgbClr val="FFFFFF"/>
          </a:solidFill>
          <a:ln w="12700">
            <a:solidFill>
              <a:srgbClr val="D9E2EC"/>
            </a:solidFill>
            <a:prstDash val="solid"/>
          </a:ln>
        </p:spPr>
      </p:sp>
      <p:sp>
        <p:nvSpPr>
          <p:cNvPr id="28" name="s0_text_27"/>
          <p:cNvSpPr txBox="1"/>
          <p:nvPr/>
        </p:nvSpPr>
        <p:spPr>
          <a:xfrm>
            <a:off x="4434840" y="2423160"/>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B12  </a:t>
            </a:r>
            <a:pPr algn="l" indent="0" marL="0">
              <a:buNone/>
            </a:pPr>
            <a:r>
              <a:rPr lang="en-US" sz="1400" u="sng" dirty="0">
                <a:solidFill>
                  <a:srgbClr val="102A43"/>
                </a:solidFill>
                <a:latin typeface="Aptos" pitchFamily="34" charset="0"/>
                <a:ea typeface="Aptos" pitchFamily="34" charset="-122"/>
                <a:cs typeface="Aptos" pitchFamily="34" charset="-120"/>
                <a:hlinkClick r:id="rId13" action="ppaction://hlinksldjump" tooltip="Go to slide">
                  <a:extLst>
                    <a:ext uri="{A12FA001-AC4F-418D-AE19-62706E023703}">
                      <ahyp:hlinkClr xmlns:ahyp="http://schemas.microsoft.com/office/drawing/2018/hyperlinkcolor" val="tx"/>
                    </a:ext>
                  </a:extLst>
                </a:hlinkClick>
              </a:rPr>
              <a:t>Global SHAP and additivity</a:t>
            </a:r>
            <a:endParaRPr lang="en-US" sz="1400" dirty="0"/>
          </a:p>
        </p:txBody>
      </p:sp>
      <p:sp>
        <p:nvSpPr>
          <p:cNvPr id="29" name="s0_rect_28"/>
          <p:cNvSpPr/>
          <p:nvPr/>
        </p:nvSpPr>
        <p:spPr>
          <a:xfrm>
            <a:off x="4297680" y="2862072"/>
            <a:ext cx="3611880" cy="438912"/>
          </a:xfrm>
          <a:prstGeom prst="roundRect">
            <a:avLst>
              <a:gd name="adj" fmla="val 10417"/>
            </a:avLst>
          </a:prstGeom>
          <a:solidFill>
            <a:srgbClr val="FFFFFF"/>
          </a:solidFill>
          <a:ln w="12700">
            <a:solidFill>
              <a:srgbClr val="D9E2EC"/>
            </a:solidFill>
            <a:prstDash val="solid"/>
          </a:ln>
        </p:spPr>
      </p:sp>
      <p:sp>
        <p:nvSpPr>
          <p:cNvPr id="30" name="s0_text_29"/>
          <p:cNvSpPr txBox="1"/>
          <p:nvPr/>
        </p:nvSpPr>
        <p:spPr>
          <a:xfrm>
            <a:off x="4434840" y="2935224"/>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B13  </a:t>
            </a:r>
            <a:pPr algn="l" indent="0" marL="0">
              <a:buNone/>
            </a:pPr>
            <a:r>
              <a:rPr lang="en-US" sz="1400" u="sng" dirty="0">
                <a:solidFill>
                  <a:srgbClr val="102A43"/>
                </a:solidFill>
                <a:latin typeface="Aptos" pitchFamily="34" charset="0"/>
                <a:ea typeface="Aptos" pitchFamily="34" charset="-122"/>
                <a:cs typeface="Aptos" pitchFamily="34" charset="-120"/>
                <a:hlinkClick r:id="rId14" action="ppaction://hlinksldjump" tooltip="Go to slide">
                  <a:extLst>
                    <a:ext uri="{A12FA001-AC4F-418D-AE19-62706E023703}">
                      <ahyp:hlinkClr xmlns:ahyp="http://schemas.microsoft.com/office/drawing/2018/hyperlinkcolor" val="tx"/>
                    </a:ext>
                  </a:extLst>
                </a:hlinkClick>
              </a:rPr>
              <a:t>Local SHAP failure cases</a:t>
            </a:r>
            <a:endParaRPr lang="en-US" sz="1400" dirty="0"/>
          </a:p>
        </p:txBody>
      </p:sp>
      <p:sp>
        <p:nvSpPr>
          <p:cNvPr id="31" name="s0_rect_30"/>
          <p:cNvSpPr/>
          <p:nvPr/>
        </p:nvSpPr>
        <p:spPr>
          <a:xfrm>
            <a:off x="4297680" y="3374136"/>
            <a:ext cx="3611880" cy="438912"/>
          </a:xfrm>
          <a:prstGeom prst="roundRect">
            <a:avLst>
              <a:gd name="adj" fmla="val 10417"/>
            </a:avLst>
          </a:prstGeom>
          <a:solidFill>
            <a:srgbClr val="FFFFFF"/>
          </a:solidFill>
          <a:ln w="12700">
            <a:solidFill>
              <a:srgbClr val="D9E2EC"/>
            </a:solidFill>
            <a:prstDash val="solid"/>
          </a:ln>
        </p:spPr>
      </p:sp>
      <p:sp>
        <p:nvSpPr>
          <p:cNvPr id="32" name="s0_text_31"/>
          <p:cNvSpPr txBox="1"/>
          <p:nvPr/>
        </p:nvSpPr>
        <p:spPr>
          <a:xfrm>
            <a:off x="4434840" y="3447288"/>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B14  </a:t>
            </a:r>
            <a:pPr algn="l" indent="0" marL="0">
              <a:buNone/>
            </a:pPr>
            <a:r>
              <a:rPr lang="en-US" sz="1400" u="sng" dirty="0">
                <a:solidFill>
                  <a:srgbClr val="102A43"/>
                </a:solidFill>
                <a:latin typeface="Aptos" pitchFamily="34" charset="0"/>
                <a:ea typeface="Aptos" pitchFamily="34" charset="-122"/>
                <a:cs typeface="Aptos" pitchFamily="34" charset="-120"/>
                <a:hlinkClick r:id="rId15" action="ppaction://hlinksldjump" tooltip="Go to slide">
                  <a:extLst>
                    <a:ext uri="{A12FA001-AC4F-418D-AE19-62706E023703}">
                      <ahyp:hlinkClr xmlns:ahyp="http://schemas.microsoft.com/office/drawing/2018/hyperlinkcolor" val="tx"/>
                    </a:ext>
                  </a:extLst>
                </a:hlinkClick>
              </a:rPr>
              <a:t>Triage classes and denominators</a:t>
            </a:r>
            <a:endParaRPr lang="en-US" sz="1400" dirty="0"/>
          </a:p>
        </p:txBody>
      </p:sp>
      <p:sp>
        <p:nvSpPr>
          <p:cNvPr id="33" name="s0_rect_32"/>
          <p:cNvSpPr/>
          <p:nvPr/>
        </p:nvSpPr>
        <p:spPr>
          <a:xfrm>
            <a:off x="4297680" y="3886200"/>
            <a:ext cx="3611880" cy="438912"/>
          </a:xfrm>
          <a:prstGeom prst="roundRect">
            <a:avLst>
              <a:gd name="adj" fmla="val 10417"/>
            </a:avLst>
          </a:prstGeom>
          <a:solidFill>
            <a:srgbClr val="FFFFFF"/>
          </a:solidFill>
          <a:ln w="12700">
            <a:solidFill>
              <a:srgbClr val="D9E2EC"/>
            </a:solidFill>
            <a:prstDash val="solid"/>
          </a:ln>
        </p:spPr>
      </p:sp>
      <p:sp>
        <p:nvSpPr>
          <p:cNvPr id="34" name="s0_text_33"/>
          <p:cNvSpPr txBox="1"/>
          <p:nvPr/>
        </p:nvSpPr>
        <p:spPr>
          <a:xfrm>
            <a:off x="4434840" y="395935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B15  </a:t>
            </a:r>
            <a:pPr algn="l" indent="0" marL="0">
              <a:buNone/>
            </a:pPr>
            <a:r>
              <a:rPr lang="en-US" sz="1400" u="sng" dirty="0">
                <a:solidFill>
                  <a:srgbClr val="102A43"/>
                </a:solidFill>
                <a:latin typeface="Aptos" pitchFamily="34" charset="0"/>
                <a:ea typeface="Aptos" pitchFamily="34" charset="-122"/>
                <a:cs typeface="Aptos" pitchFamily="34" charset="-120"/>
                <a:hlinkClick r:id="rId16" action="ppaction://hlinksldjump" tooltip="Go to slide">
                  <a:extLst>
                    <a:ext uri="{A12FA001-AC4F-418D-AE19-62706E023703}">
                      <ahyp:hlinkClr xmlns:ahyp="http://schemas.microsoft.com/office/drawing/2018/hyperlinkcolor" val="tx"/>
                    </a:ext>
                  </a:extLst>
                </a:hlinkClick>
              </a:rPr>
              <a:t>Endpoints vs validation rows</a:t>
            </a:r>
            <a:endParaRPr lang="en-US" sz="1400" dirty="0"/>
          </a:p>
        </p:txBody>
      </p:sp>
      <p:sp>
        <p:nvSpPr>
          <p:cNvPr id="35" name="s0_rect_34"/>
          <p:cNvSpPr/>
          <p:nvPr/>
        </p:nvSpPr>
        <p:spPr>
          <a:xfrm>
            <a:off x="4297680" y="4398264"/>
            <a:ext cx="3611880" cy="438912"/>
          </a:xfrm>
          <a:prstGeom prst="roundRect">
            <a:avLst>
              <a:gd name="adj" fmla="val 10417"/>
            </a:avLst>
          </a:prstGeom>
          <a:solidFill>
            <a:srgbClr val="FFFFFF"/>
          </a:solidFill>
          <a:ln w="12700">
            <a:solidFill>
              <a:srgbClr val="D9E2EC"/>
            </a:solidFill>
            <a:prstDash val="solid"/>
          </a:ln>
        </p:spPr>
      </p:sp>
      <p:sp>
        <p:nvSpPr>
          <p:cNvPr id="36" name="s0_text_35"/>
          <p:cNvSpPr txBox="1"/>
          <p:nvPr/>
        </p:nvSpPr>
        <p:spPr>
          <a:xfrm>
            <a:off x="4434840" y="447141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B16  </a:t>
            </a:r>
            <a:pPr algn="l" indent="0" marL="0">
              <a:buNone/>
            </a:pPr>
            <a:r>
              <a:rPr lang="en-US" sz="1400" u="sng" dirty="0">
                <a:solidFill>
                  <a:srgbClr val="102A43"/>
                </a:solidFill>
                <a:latin typeface="Aptos" pitchFamily="34" charset="0"/>
                <a:ea typeface="Aptos" pitchFamily="34" charset="-122"/>
                <a:cs typeface="Aptos" pitchFamily="34" charset="-120"/>
                <a:hlinkClick r:id="rId17" action="ppaction://hlinksldjump" tooltip="Go to slide">
                  <a:extLst>
                    <a:ext uri="{A12FA001-AC4F-418D-AE19-62706E023703}">
                      <ahyp:hlinkClr xmlns:ahyp="http://schemas.microsoft.com/office/drawing/2018/hyperlinkcolor" val="tx"/>
                    </a:ext>
                  </a:extLst>
                </a:hlinkClick>
              </a:rPr>
              <a:t>n8n topology</a:t>
            </a:r>
            <a:endParaRPr lang="en-US" sz="1400" dirty="0"/>
          </a:p>
        </p:txBody>
      </p:sp>
      <p:sp>
        <p:nvSpPr>
          <p:cNvPr id="37" name="s0_rect_36"/>
          <p:cNvSpPr/>
          <p:nvPr/>
        </p:nvSpPr>
        <p:spPr>
          <a:xfrm>
            <a:off x="4297680" y="4910328"/>
            <a:ext cx="3611880" cy="438912"/>
          </a:xfrm>
          <a:prstGeom prst="roundRect">
            <a:avLst>
              <a:gd name="adj" fmla="val 10417"/>
            </a:avLst>
          </a:prstGeom>
          <a:solidFill>
            <a:srgbClr val="FFFFFF"/>
          </a:solidFill>
          <a:ln w="12700">
            <a:solidFill>
              <a:srgbClr val="D9E2EC"/>
            </a:solidFill>
            <a:prstDash val="solid"/>
          </a:ln>
        </p:spPr>
      </p:sp>
      <p:sp>
        <p:nvSpPr>
          <p:cNvPr id="38" name="s0_text_37"/>
          <p:cNvSpPr txBox="1"/>
          <p:nvPr/>
        </p:nvSpPr>
        <p:spPr>
          <a:xfrm>
            <a:off x="4434840" y="4983480"/>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B17  </a:t>
            </a:r>
            <a:pPr algn="l" indent="0" marL="0">
              <a:buNone/>
            </a:pPr>
            <a:r>
              <a:rPr lang="en-US" sz="1400" u="sng" dirty="0">
                <a:solidFill>
                  <a:srgbClr val="102A43"/>
                </a:solidFill>
                <a:latin typeface="Aptos" pitchFamily="34" charset="0"/>
                <a:ea typeface="Aptos" pitchFamily="34" charset="-122"/>
                <a:cs typeface="Aptos" pitchFamily="34" charset="-120"/>
                <a:hlinkClick r:id="rId18" action="ppaction://hlinksldjump" tooltip="Go to slide">
                  <a:extLst>
                    <a:ext uri="{A12FA001-AC4F-418D-AE19-62706E023703}">
                      <ahyp:hlinkClr xmlns:ahyp="http://schemas.microsoft.com/office/drawing/2018/hyperlinkcolor" val="tx"/>
                    </a:ext>
                  </a:extLst>
                </a:hlinkClick>
              </a:rPr>
              <a:t>Decision-route evidence</a:t>
            </a:r>
            <a:endParaRPr lang="en-US" sz="1400" dirty="0"/>
          </a:p>
        </p:txBody>
      </p:sp>
      <p:sp>
        <p:nvSpPr>
          <p:cNvPr id="39" name="s0_rect_38"/>
          <p:cNvSpPr/>
          <p:nvPr/>
        </p:nvSpPr>
        <p:spPr>
          <a:xfrm>
            <a:off x="4297680" y="5422392"/>
            <a:ext cx="3611880" cy="438912"/>
          </a:xfrm>
          <a:prstGeom prst="roundRect">
            <a:avLst>
              <a:gd name="adj" fmla="val 10417"/>
            </a:avLst>
          </a:prstGeom>
          <a:solidFill>
            <a:srgbClr val="FFFFFF"/>
          </a:solidFill>
          <a:ln w="12700">
            <a:solidFill>
              <a:srgbClr val="D9E2EC"/>
            </a:solidFill>
            <a:prstDash val="solid"/>
          </a:ln>
        </p:spPr>
      </p:sp>
      <p:sp>
        <p:nvSpPr>
          <p:cNvPr id="40" name="s0_text_39"/>
          <p:cNvSpPr txBox="1"/>
          <p:nvPr/>
        </p:nvSpPr>
        <p:spPr>
          <a:xfrm>
            <a:off x="4434840" y="5495544"/>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B18  </a:t>
            </a:r>
            <a:pPr algn="l" indent="0" marL="0">
              <a:buNone/>
            </a:pPr>
            <a:r>
              <a:rPr lang="en-US" sz="1400" u="sng" dirty="0">
                <a:solidFill>
                  <a:srgbClr val="102A43"/>
                </a:solidFill>
                <a:latin typeface="Aptos" pitchFamily="34" charset="0"/>
                <a:ea typeface="Aptos" pitchFamily="34" charset="-122"/>
                <a:cs typeface="Aptos" pitchFamily="34" charset="-120"/>
                <a:hlinkClick r:id="rId19" action="ppaction://hlinksldjump" tooltip="Go to slide">
                  <a:extLst>
                    <a:ext uri="{A12FA001-AC4F-418D-AE19-62706E023703}">
                      <ahyp:hlinkClr xmlns:ahyp="http://schemas.microsoft.com/office/drawing/2018/hyperlinkcolor" val="tx"/>
                    </a:ext>
                  </a:extLst>
                </a:hlinkClick>
              </a:rPr>
              <a:t>Audit-record fields</a:t>
            </a:r>
            <a:endParaRPr lang="en-US" sz="1400" dirty="0"/>
          </a:p>
        </p:txBody>
      </p:sp>
      <p:sp>
        <p:nvSpPr>
          <p:cNvPr id="41" name="s0_rect_40"/>
          <p:cNvSpPr/>
          <p:nvPr/>
        </p:nvSpPr>
        <p:spPr>
          <a:xfrm>
            <a:off x="8046720" y="1325880"/>
            <a:ext cx="3611880" cy="438912"/>
          </a:xfrm>
          <a:prstGeom prst="roundRect">
            <a:avLst>
              <a:gd name="adj" fmla="val 10417"/>
            </a:avLst>
          </a:prstGeom>
          <a:solidFill>
            <a:srgbClr val="FFFFFF"/>
          </a:solidFill>
          <a:ln w="12700">
            <a:solidFill>
              <a:srgbClr val="D9E2EC"/>
            </a:solidFill>
            <a:prstDash val="solid"/>
          </a:ln>
        </p:spPr>
      </p:sp>
      <p:sp>
        <p:nvSpPr>
          <p:cNvPr id="42" name="s0_text_41"/>
          <p:cNvSpPr txBox="1"/>
          <p:nvPr/>
        </p:nvSpPr>
        <p:spPr>
          <a:xfrm>
            <a:off x="8183880" y="139903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B19  </a:t>
            </a:r>
            <a:pPr algn="l" indent="0" marL="0">
              <a:buNone/>
            </a:pPr>
            <a:r>
              <a:rPr lang="en-US" sz="1400" u="sng" dirty="0">
                <a:solidFill>
                  <a:srgbClr val="102A43"/>
                </a:solidFill>
                <a:latin typeface="Aptos" pitchFamily="34" charset="0"/>
                <a:ea typeface="Aptos" pitchFamily="34" charset="-122"/>
                <a:cs typeface="Aptos" pitchFamily="34" charset="-120"/>
                <a:hlinkClick r:id="rId20" action="ppaction://hlinksldjump" tooltip="Go to slide">
                  <a:extLst>
                    <a:ext uri="{A12FA001-AC4F-418D-AE19-62706E023703}">
                      <ahyp:hlinkClr xmlns:ahyp="http://schemas.microsoft.com/office/drawing/2018/hyperlinkcolor" val="tx"/>
                    </a:ext>
                  </a:extLst>
                </a:hlinkClick>
              </a:rPr>
              <a:t>Invalid-MODIFY limitation</a:t>
            </a:r>
            <a:endParaRPr lang="en-US" sz="1400" dirty="0"/>
          </a:p>
        </p:txBody>
      </p:sp>
      <p:sp>
        <p:nvSpPr>
          <p:cNvPr id="43" name="s0_rect_42"/>
          <p:cNvSpPr/>
          <p:nvPr/>
        </p:nvSpPr>
        <p:spPr>
          <a:xfrm>
            <a:off x="8046720" y="1837944"/>
            <a:ext cx="3611880" cy="438912"/>
          </a:xfrm>
          <a:prstGeom prst="roundRect">
            <a:avLst>
              <a:gd name="adj" fmla="val 10417"/>
            </a:avLst>
          </a:prstGeom>
          <a:solidFill>
            <a:srgbClr val="FFFFFF"/>
          </a:solidFill>
          <a:ln w="12700">
            <a:solidFill>
              <a:srgbClr val="D9E2EC"/>
            </a:solidFill>
            <a:prstDash val="solid"/>
          </a:ln>
        </p:spPr>
      </p:sp>
      <p:sp>
        <p:nvSpPr>
          <p:cNvPr id="44" name="s0_text_43"/>
          <p:cNvSpPr txBox="1"/>
          <p:nvPr/>
        </p:nvSpPr>
        <p:spPr>
          <a:xfrm>
            <a:off x="8183880" y="191109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B20  </a:t>
            </a:r>
            <a:pPr algn="l" indent="0" marL="0">
              <a:buNone/>
            </a:pPr>
            <a:r>
              <a:rPr lang="en-US" sz="1400" u="sng" dirty="0">
                <a:solidFill>
                  <a:srgbClr val="102A43"/>
                </a:solidFill>
                <a:latin typeface="Aptos" pitchFamily="34" charset="0"/>
                <a:ea typeface="Aptos" pitchFamily="34" charset="-122"/>
                <a:cs typeface="Aptos" pitchFamily="34" charset="-120"/>
                <a:hlinkClick r:id="rId21" action="ppaction://hlinksldjump" tooltip="Go to slide">
                  <a:extLst>
                    <a:ext uri="{A12FA001-AC4F-418D-AE19-62706E023703}">
                      <ahyp:hlinkClr xmlns:ahyp="http://schemas.microsoft.com/office/drawing/2018/hyperlinkcolor" val="tx"/>
                    </a:ext>
                  </a:extLst>
                </a:hlinkClick>
              </a:rPr>
              <a:t>Reproducibility environment</a:t>
            </a:r>
            <a:endParaRPr lang="en-US" sz="1400" dirty="0"/>
          </a:p>
        </p:txBody>
      </p:sp>
      <p:sp>
        <p:nvSpPr>
          <p:cNvPr id="45" name="s0_rect_44"/>
          <p:cNvSpPr/>
          <p:nvPr/>
        </p:nvSpPr>
        <p:spPr>
          <a:xfrm>
            <a:off x="8046720" y="2350008"/>
            <a:ext cx="3611880" cy="438912"/>
          </a:xfrm>
          <a:prstGeom prst="roundRect">
            <a:avLst>
              <a:gd name="adj" fmla="val 10417"/>
            </a:avLst>
          </a:prstGeom>
          <a:solidFill>
            <a:srgbClr val="FFFFFF"/>
          </a:solidFill>
          <a:ln w="12700">
            <a:solidFill>
              <a:srgbClr val="D9E2EC"/>
            </a:solidFill>
            <a:prstDash val="solid"/>
          </a:ln>
        </p:spPr>
      </p:sp>
      <p:sp>
        <p:nvSpPr>
          <p:cNvPr id="46" name="s0_text_45"/>
          <p:cNvSpPr txBox="1"/>
          <p:nvPr/>
        </p:nvSpPr>
        <p:spPr>
          <a:xfrm>
            <a:off x="8183880" y="2423160"/>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B21  </a:t>
            </a:r>
            <a:pPr algn="l" indent="0" marL="0">
              <a:buNone/>
            </a:pPr>
            <a:r>
              <a:rPr lang="en-US" sz="1400" u="sng" dirty="0">
                <a:solidFill>
                  <a:srgbClr val="102A43"/>
                </a:solidFill>
                <a:latin typeface="Aptos" pitchFamily="34" charset="0"/>
                <a:ea typeface="Aptos" pitchFamily="34" charset="-122"/>
                <a:cs typeface="Aptos" pitchFamily="34" charset="-120"/>
                <a:hlinkClick r:id="rId22" action="ppaction://hlinksldjump" tooltip="Go to slide">
                  <a:extLst>
                    <a:ext uri="{A12FA001-AC4F-418D-AE19-62706E023703}">
                      <ahyp:hlinkClr xmlns:ahyp="http://schemas.microsoft.com/office/drawing/2018/hyperlinkcolor" val="tx"/>
                    </a:ext>
                  </a:extLst>
                </a:hlinkClick>
              </a:rPr>
              <a:t>Provenance limitations</a:t>
            </a:r>
            <a:endParaRPr lang="en-US" sz="1400" dirty="0"/>
          </a:p>
        </p:txBody>
      </p:sp>
      <p:sp>
        <p:nvSpPr>
          <p:cNvPr id="47" name="s0_rect_46"/>
          <p:cNvSpPr/>
          <p:nvPr/>
        </p:nvSpPr>
        <p:spPr>
          <a:xfrm>
            <a:off x="8046720" y="2862072"/>
            <a:ext cx="3611880" cy="438912"/>
          </a:xfrm>
          <a:prstGeom prst="roundRect">
            <a:avLst>
              <a:gd name="adj" fmla="val 10417"/>
            </a:avLst>
          </a:prstGeom>
          <a:solidFill>
            <a:srgbClr val="FFFFFF"/>
          </a:solidFill>
          <a:ln w="12700">
            <a:solidFill>
              <a:srgbClr val="D9E2EC"/>
            </a:solidFill>
            <a:prstDash val="solid"/>
          </a:ln>
        </p:spPr>
      </p:sp>
      <p:sp>
        <p:nvSpPr>
          <p:cNvPr id="48" name="s0_text_47"/>
          <p:cNvSpPr txBox="1"/>
          <p:nvPr/>
        </p:nvSpPr>
        <p:spPr>
          <a:xfrm>
            <a:off x="8183880" y="2935224"/>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B22  </a:t>
            </a:r>
            <a:pPr algn="l" indent="0" marL="0">
              <a:buNone/>
            </a:pPr>
            <a:r>
              <a:rPr lang="en-US" sz="1400" u="sng" dirty="0">
                <a:solidFill>
                  <a:srgbClr val="102A43"/>
                </a:solidFill>
                <a:latin typeface="Aptos" pitchFamily="34" charset="0"/>
                <a:ea typeface="Aptos" pitchFamily="34" charset="-122"/>
                <a:cs typeface="Aptos" pitchFamily="34" charset="-120"/>
                <a:hlinkClick r:id="rId23" action="ppaction://hlinksldjump" tooltip="Go to slide">
                  <a:extLst>
                    <a:ext uri="{A12FA001-AC4F-418D-AE19-62706E023703}">
                      <ahyp:hlinkClr xmlns:ahyp="http://schemas.microsoft.com/office/drawing/2018/hyperlinkcolor" val="tx"/>
                    </a:ext>
                  </a:extLst>
                </a:hlinkClick>
              </a:rPr>
              <a:t>Standards as design references</a:t>
            </a:r>
            <a:endParaRPr lang="en-US" sz="1400" dirty="0"/>
          </a:p>
        </p:txBody>
      </p:sp>
      <p:sp>
        <p:nvSpPr>
          <p:cNvPr id="49" name="s0_rect_48"/>
          <p:cNvSpPr/>
          <p:nvPr/>
        </p:nvSpPr>
        <p:spPr>
          <a:xfrm>
            <a:off x="8046720" y="3374136"/>
            <a:ext cx="3611880" cy="438912"/>
          </a:xfrm>
          <a:prstGeom prst="roundRect">
            <a:avLst>
              <a:gd name="adj" fmla="val 10417"/>
            </a:avLst>
          </a:prstGeom>
          <a:solidFill>
            <a:srgbClr val="FFFFFF"/>
          </a:solidFill>
          <a:ln w="12700">
            <a:solidFill>
              <a:srgbClr val="D9E2EC"/>
            </a:solidFill>
            <a:prstDash val="solid"/>
          </a:ln>
        </p:spPr>
      </p:sp>
      <p:sp>
        <p:nvSpPr>
          <p:cNvPr id="50" name="s0_text_49"/>
          <p:cNvSpPr txBox="1"/>
          <p:nvPr/>
        </p:nvSpPr>
        <p:spPr>
          <a:xfrm>
            <a:off x="8183880" y="3447288"/>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B23  </a:t>
            </a:r>
            <a:pPr algn="l" indent="0" marL="0">
              <a:buNone/>
            </a:pPr>
            <a:r>
              <a:rPr lang="en-US" sz="1400" u="sng" dirty="0">
                <a:solidFill>
                  <a:srgbClr val="102A43"/>
                </a:solidFill>
                <a:latin typeface="Aptos" pitchFamily="34" charset="0"/>
                <a:ea typeface="Aptos" pitchFamily="34" charset="-122"/>
                <a:cs typeface="Aptos" pitchFamily="34" charset="-120"/>
                <a:hlinkClick r:id="rId24" action="ppaction://hlinksldjump" tooltip="Go to slide">
                  <a:extLst>
                    <a:ext uri="{A12FA001-AC4F-418D-AE19-62706E023703}">
                      <ahyp:hlinkClr xmlns:ahyp="http://schemas.microsoft.com/office/drawing/2018/hyperlinkcolor" val="tx"/>
                    </a:ext>
                  </a:extLst>
                </a:hlinkClick>
              </a:rPr>
              <a:t>Scope and claims boundary</a:t>
            </a:r>
            <a:endParaRPr lang="en-US" sz="1400" dirty="0"/>
          </a:p>
        </p:txBody>
      </p:sp>
      <p:sp>
        <p:nvSpPr>
          <p:cNvPr id="51" name="s0_rect_50"/>
          <p:cNvSpPr/>
          <p:nvPr/>
        </p:nvSpPr>
        <p:spPr>
          <a:xfrm>
            <a:off x="8046720" y="3886200"/>
            <a:ext cx="3611880" cy="438912"/>
          </a:xfrm>
          <a:prstGeom prst="roundRect">
            <a:avLst>
              <a:gd name="adj" fmla="val 10417"/>
            </a:avLst>
          </a:prstGeom>
          <a:solidFill>
            <a:srgbClr val="FFFFFF"/>
          </a:solidFill>
          <a:ln w="12700">
            <a:solidFill>
              <a:srgbClr val="D9E2EC"/>
            </a:solidFill>
            <a:prstDash val="solid"/>
          </a:ln>
        </p:spPr>
      </p:sp>
      <p:sp>
        <p:nvSpPr>
          <p:cNvPr id="52" name="s0_text_51"/>
          <p:cNvSpPr txBox="1"/>
          <p:nvPr/>
        </p:nvSpPr>
        <p:spPr>
          <a:xfrm>
            <a:off x="8183880" y="3959352"/>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B24  </a:t>
            </a:r>
            <a:pPr algn="l" indent="0" marL="0">
              <a:buNone/>
            </a:pPr>
            <a:r>
              <a:rPr lang="en-US" sz="1400" u="sng" dirty="0">
                <a:solidFill>
                  <a:srgbClr val="102A43"/>
                </a:solidFill>
                <a:latin typeface="Aptos" pitchFamily="34" charset="0"/>
                <a:ea typeface="Aptos" pitchFamily="34" charset="-122"/>
                <a:cs typeface="Aptos" pitchFamily="34" charset="-120"/>
                <a:hlinkClick r:id="rId25" action="ppaction://hlinksldjump" tooltip="Go to slide">
                  <a:extLst>
                    <a:ext uri="{A12FA001-AC4F-418D-AE19-62706E023703}">
                      <ahyp:hlinkClr xmlns:ahyp="http://schemas.microsoft.com/office/drawing/2018/hyperlinkcolor" val="tx"/>
                    </a:ext>
                  </a:extLst>
                </a:hlinkClick>
              </a:rPr>
              <a:t>Verified references</a:t>
            </a:r>
            <a:endParaRPr lang="en-US" sz="1400" dirty="0"/>
          </a:p>
        </p:txBody>
      </p:sp>
      <p:sp>
        <p:nvSpPr>
          <p:cNvPr id="53" name="s0_rect_52"/>
          <p:cNvSpPr/>
          <p:nvPr/>
        </p:nvSpPr>
        <p:spPr>
          <a:xfrm>
            <a:off x="8046720" y="4398264"/>
            <a:ext cx="3611880" cy="438912"/>
          </a:xfrm>
          <a:prstGeom prst="roundRect">
            <a:avLst>
              <a:gd name="adj" fmla="val 10417"/>
            </a:avLst>
          </a:prstGeom>
          <a:solidFill>
            <a:srgbClr val="FFFFFF"/>
          </a:solidFill>
          <a:ln w="12700">
            <a:solidFill>
              <a:srgbClr val="D9E2EC"/>
            </a:solidFill>
            <a:prstDash val="solid"/>
          </a:ln>
        </p:spPr>
      </p:sp>
      <p:sp>
        <p:nvSpPr>
          <p:cNvPr id="54" name="s0_text_53"/>
          <p:cNvSpPr txBox="1"/>
          <p:nvPr/>
        </p:nvSpPr>
        <p:spPr>
          <a:xfrm>
            <a:off x="8183880" y="4471416"/>
            <a:ext cx="3383280" cy="310896"/>
          </a:xfrm>
          <a:prstGeom prst="rect">
            <a:avLst/>
          </a:prstGeom>
          <a:noFill/>
          <a:ln/>
        </p:spPr>
        <p:txBody>
          <a:bodyPr wrap="square" lIns="0" tIns="0" rIns="0" bIns="0" rtlCol="0" anchor="t"/>
          <a:lstStyle/>
          <a:p>
            <a:pPr algn="l" indent="0" marL="0">
              <a:buNone/>
            </a:pPr>
            <a:r>
              <a:rPr lang="en-US" sz="1400" b="1" dirty="0">
                <a:solidFill>
                  <a:srgbClr val="9A6700"/>
                </a:solidFill>
                <a:latin typeface="Aptos" pitchFamily="34" charset="0"/>
                <a:ea typeface="Aptos" pitchFamily="34" charset="-122"/>
                <a:cs typeface="Aptos" pitchFamily="34" charset="-120"/>
              </a:rPr>
              <a:t>B25  </a:t>
            </a:r>
            <a:pPr algn="l" indent="0" marL="0">
              <a:buNone/>
            </a:pPr>
            <a:r>
              <a:rPr lang="en-US" sz="1400" u="sng" dirty="0">
                <a:solidFill>
                  <a:srgbClr val="102A43"/>
                </a:solidFill>
                <a:latin typeface="Aptos" pitchFamily="34" charset="0"/>
                <a:ea typeface="Aptos" pitchFamily="34" charset="-122"/>
                <a:cs typeface="Aptos" pitchFamily="34" charset="-120"/>
                <a:hlinkClick r:id="rId26" action="ppaction://hlinksldjump" tooltip="Go to slide">
                  <a:extLst>
                    <a:ext uri="{A12FA001-AC4F-418D-AE19-62706E023703}">
                      <ahyp:hlinkClr xmlns:ahyp="http://schemas.microsoft.com/office/drawing/2018/hyperlinkcolor" val="tx"/>
                    </a:ext>
                  </a:extLst>
                </a:hlinkClick>
              </a:rPr>
              <a:t>Repository</a:t>
            </a:r>
            <a:endParaRPr lang="en-US" sz="1400" dirty="0"/>
          </a:p>
        </p:txBody>
      </p:sp>
      <p:sp>
        <p:nvSpPr>
          <p:cNvPr id="55" name="s0_line_54"/>
          <p:cNvSpPr/>
          <p:nvPr/>
        </p:nvSpPr>
        <p:spPr>
          <a:xfrm>
            <a:off x="548640" y="6291072"/>
            <a:ext cx="11091672" cy="91"/>
          </a:xfrm>
          <a:prstGeom prst="line">
            <a:avLst/>
          </a:prstGeom>
          <a:noFill/>
          <a:ln w="9525">
            <a:solidFill>
              <a:srgbClr val="D9E2EC"/>
            </a:solidFill>
            <a:prstDash val="solid"/>
          </a:ln>
        </p:spPr>
      </p:sp>
      <p:sp>
        <p:nvSpPr>
          <p:cNvPr id="56" name="s0_text_55"/>
          <p:cNvSpPr txBox="1"/>
          <p:nvPr/>
        </p:nvSpPr>
        <p:spPr>
          <a:xfrm>
            <a:off x="548640" y="6382512"/>
            <a:ext cx="10058400" cy="292608"/>
          </a:xfrm>
          <a:prstGeom prst="rect">
            <a:avLst/>
          </a:prstGeom>
          <a:noFill/>
          <a:ln/>
        </p:spPr>
        <p:txBody>
          <a:bodyPr wrap="square" lIns="0" tIns="0" rIns="0" bIns="0" rtlCol="0" anchor="t"/>
          <a:lstStyle/>
          <a:p>
            <a:pPr algn="l" indent="0" marL="0">
              <a:buNone/>
            </a:pPr>
            <a:r>
              <a:rPr lang="en-US" sz="1200" b="1" u="sng" dirty="0">
                <a:solidFill>
                  <a:srgbClr val="00A6C8"/>
                </a:solidFill>
                <a:latin typeface="Aptos" pitchFamily="34" charset="0"/>
                <a:ea typeface="Aptos" pitchFamily="34" charset="-122"/>
                <a:cs typeface="Aptos" pitchFamily="34" charset="-120"/>
                <a:hlinkClick r:id="rId27" action="ppaction://hlinksldjump" tooltip="Go to slide">
                  <a:extLst>
                    <a:ext uri="{A12FA001-AC4F-418D-AE19-62706E023703}">
                      <ahyp:hlinkClr xmlns:ahyp="http://schemas.microsoft.com/office/drawing/2018/hyperlinkcolor" val="tx"/>
                    </a:ext>
                  </a:extLst>
                </a:hlinkClick>
              </a:rPr>
              <a:t>↩ Conclusions (slide 12)</a:t>
            </a:r>
            <a:pPr algn="l" indent="0" marL="0">
              <a:buNone/>
            </a:pPr>
            <a:r>
              <a:rPr lang="en-US" sz="1200" dirty="0">
                <a:solidFill>
                  <a:srgbClr val="102A43"/>
                </a:solidFill>
                <a:latin typeface="Aptos" pitchFamily="34" charset="0"/>
                <a:ea typeface="Aptos" pitchFamily="34" charset="-122"/>
                <a:cs typeface="Aptos" pitchFamily="34" charset="-120"/>
              </a:rPr>
              <a:t>     </a:t>
            </a:r>
            <a:pPr algn="l" indent="0" marL="0">
              <a:buNone/>
            </a:pPr>
            <a:r>
              <a:rPr lang="en-US" sz="1200" b="1" u="sng" dirty="0">
                <a:solidFill>
                  <a:srgbClr val="00A6C8"/>
                </a:solidFill>
                <a:latin typeface="Aptos" pitchFamily="34" charset="0"/>
                <a:ea typeface="Aptos" pitchFamily="34" charset="-122"/>
                <a:cs typeface="Aptos" pitchFamily="34" charset="-120"/>
                <a:hlinkClick r:id="rId28" action="ppaction://hlinksldjump" tooltip="Go to slide">
                  <a:extLst>
                    <a:ext uri="{A12FA001-AC4F-418D-AE19-62706E023703}">
                      <ahyp:hlinkClr xmlns:ahyp="http://schemas.microsoft.com/office/drawing/2018/hyperlinkcolor" val="tx"/>
                    </a:ext>
                  </a:extLst>
                </a:hlinkClick>
              </a:rPr>
              <a:t>↩ Questions (slide 13)</a:t>
            </a:r>
            <a:endParaRPr lang="en-US" sz="12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 · RESEARCH QUESTIONS AND ANSWERS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Four research questions and their bounded answers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1.2 (§1.3); answers §7.2</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a:t>
            </a:r>
            <a:endParaRPr lang="en-US" sz="1100" dirty="0"/>
          </a:p>
        </p:txBody>
      </p:sp>
      <p:graphicFrame>
        <p:nvGraphicFramePr>
          <p:cNvPr id="16"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685800"/>
                <a:gridCol w="5852160"/>
                <a:gridCol w="4553712"/>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RQ</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Question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Answer (§7.2)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RQ1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How accurately can lightweight ML models estimate RUL for FD001 under an engine-level, leakage-controlled design, relative to a naive age-only baseline, and which feature groups drive that accuracy?</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Test MAE 18.88, RMSE 25.73, bias +10.90 cycles; PHM tie-break selected RF despite near-equal validation RMSE vs age alone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RQ2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How can engine-block conformal prediction provide RUL intervals with a transparent finite-sample rule, and what coverage–precision trade-off does it create?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q̂ 107.90 covered 100/100 endpoints, mean width 182.46; narrower scores covered only 8/20 validation trajectories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RQ3</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What do SHAP explanations reveal about the selected model, and how can they be read against turbofan physics without being mistaken for causal evidence?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Exact reconstruction; age dominant; local core-speed contributions — not physical causes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RQ4</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How can prediction, uncertainty and explanation be translated into CRITICAL/HIGH/MEDIUM/LOW triage with mandatory human review, and how safe and burdensome is it?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Point triage under-triaged 34/100; offline guard caught 39/39 with 81/100 reviews; prototype records three decision types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 · OBJECTIVES → EVIDENCE</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Six objectives map to specific evidence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1.1 (§1.3)</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a:t>
            </a:r>
            <a:endParaRPr lang="en-US" sz="1100" dirty="0"/>
          </a:p>
        </p:txBody>
      </p:sp>
      <p:graphicFrame>
        <p:nvGraphicFramePr>
          <p:cNvPr id="17"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548640"/>
                <a:gridCol w="5394960"/>
                <a:gridCol w="514807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ID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Objective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Evidence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Leakage-controlled, engine-level partitions and an auditable RUL target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Frozen 60/20/20 engine partitions, target checks, SHA-256 manifests (§4.3–4.5)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Compare regression models against a clear baseline under a pre-declared policy; test feature groups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Naive, Ridge, RF, XGBoost comparison; feature ablation (§5.2, §5.6)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Quantify uncertainty with a transparent, engine-aware conformal rule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Engine-block calibration, q̂ = 107.90; conformal ablation (§4.8, §5.4, §5.7)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Evaluate the frozen model once on the official test endpoints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Point, interval, lifecycle and bootstrap results, 100 engines (§5.3–5.5)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Explain predictions without causal overclaiming; relate to engine physics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 × 18 TreeSHAP matrix; local failure cases (§5.8)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Specify and audit a CRITICAL/HIGH/MEDIUM/LOW triage policy for an n8n review workflow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Triage policy, classification audit, review-burden analysis (§4.10, §5.9)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B3 · PARTITIONS AND LEAKAGE CONTROLS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Each engine had exactly one role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4.1 (§4.5); leakage: Kaufman et al. (2012)</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B3</a:t>
            </a:r>
            <a:endParaRPr lang="en-US" sz="1100" dirty="0"/>
          </a:p>
        </p:txBody>
      </p:sp>
      <p:graphicFrame>
        <p:nvGraphicFramePr>
          <p:cNvPr id="18"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011680"/>
                <a:gridCol w="914400"/>
                <a:gridCol w="1737360"/>
                <a:gridCol w="3291840"/>
                <a:gridCol w="313639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Partition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Engines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Rows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Role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Prohibited use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Model training</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12,310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Fit scaler and models; grouped CV for tuning</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Any claim of held-out performance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Validation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4,217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Compare frozen candidates; select point model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Calibration; retuning after selection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Conformal calibration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4,104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One nonconformity score per engine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Model selection; method shopping</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Official test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13,096 (100 endpoints)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Once-only final evaluation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Reselection, retraining, recalibration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365760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Controls: fixed seed-42 engine shuffle without rerolling or stratification · scaler fitted on training engines only · Phase 6 policy froze model hash, feature order, q̂, metrics, lifecycle groups and the last-observed-row rule before the 100 official RUL values were read.</a:t>
            </a:r>
            <a:endParaRPr lang="en-US" sz="14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B4 · FULL MODEL COMPARISON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Full validation comparison: a near tie on mean engine RMSE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5.1 (§5.2) · 20 validation engines, 4,217 rows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B4</a:t>
            </a:r>
            <a:endParaRPr lang="en-US" sz="1100" dirty="0"/>
          </a:p>
        </p:txBody>
      </p:sp>
      <p:graphicFrame>
        <p:nvGraphicFramePr>
          <p:cNvPr id="19"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828800"/>
                <a:gridCol w="1325880"/>
                <a:gridCol w="1417320"/>
                <a:gridCol w="1234440"/>
                <a:gridCol w="1188720"/>
                <a:gridCol w="1097280"/>
                <a:gridCol w="1417320"/>
                <a:gridCol w="158191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Model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Mean engine RMSE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Median engine RMSE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Pooled RMSE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Pooled MAE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Bias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Over-estimation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Mean PHM</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Random Forest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29.479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26.458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33.073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25.324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+0.96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54.2%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83.67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Naive age-only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29.556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21.109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41.135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31.106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−19.33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33.3%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156.44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XGBoost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31.156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29.471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34.348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26.664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53.5%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101.15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Ridge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31.516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26.076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34.295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26.251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+0.44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54.1%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157.53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356616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Selection used mean engine RMSE with a 1% practical-equivalence band, then the mean PHM penalty. Other columns are descriptive. The age rule's much lower median engine RMSE and strongly negative bias show it errs pessimistically.</a:t>
            </a:r>
            <a:endParaRPr lang="en-US" sz="14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B5 · RF AND XGBOOST CONFIGURATIONS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Frozen configurations from grouped cross-validation</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4.3 (§4.7)</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B5</a:t>
            </a:r>
            <a:endParaRPr lang="en-US" sz="1100" dirty="0"/>
          </a:p>
        </p:txBody>
      </p:sp>
      <p:graphicFrame>
        <p:nvGraphicFramePr>
          <p:cNvPr id="20"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737360"/>
                <a:gridCol w="2286000"/>
                <a:gridCol w="3108960"/>
                <a:gridCol w="395935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Model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Role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Training-only selection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Frozen configuration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Naive age-only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Non-sensor baseline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Median training lifetime (195 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ŷ = max(195 − time_in_cycles, 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Ridge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Regularised linear comparator</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11 α values, grouped 5-fold CV</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α = 0.0001 (grid boundary)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Random Forest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Non-linear bagged trees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 candidates, grouped 5-fold CV, 150 trees per fold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depth 8, min. leaf 10, max_features 0.5, 500 trees, seed 42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XGBoost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Regularised boosted trees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 candidates, grouped 5-fold CV</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depth 3, learning rate 0.03, min. child weight 5, 400 rounds, subsample 0.8, colsample 0.8, λ = 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411480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Ridge standardisation fitted on training engines only; tree models used raw inputs; outputs clipped at 0; no retuning after configurations were fixed.</a:t>
            </a:r>
            <a:endParaRPr lang="en-US" sz="14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B6 · EQUIVALENCE BAND AND PHM TIE-BREAK</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Selection: equivalence band first, asymmetric penalty second</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§2.4.2, §4.7, §5.2; PHM score after Saxena et al. (2008a)</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B6</a:t>
            </a:r>
            <a:endParaRPr lang="en-US" sz="1100" dirty="0"/>
          </a:p>
        </p:txBody>
      </p:sp>
      <p:sp>
        <p:nvSpPr>
          <p:cNvPr id="8" name="s0_text_7"/>
          <p:cNvSpPr txBox="1"/>
          <p:nvPr/>
        </p:nvSpPr>
        <p:spPr>
          <a:xfrm>
            <a:off x="548640" y="1325880"/>
            <a:ext cx="5486400" cy="4480560"/>
          </a:xfrm>
          <a:prstGeom prst="rect">
            <a:avLst/>
          </a:prstGeom>
          <a:noFill/>
          <a:ln/>
        </p:spPr>
        <p:txBody>
          <a:bodyPr wrap="square" lIns="0" tIns="0" rIns="0" bIns="0" rtlCol="0" anchor="t"/>
          <a:lstStyle/>
          <a:p>
            <a:pPr algn="l" indent="0" marL="0">
              <a:spcAft>
                <a:spcPts val="400"/>
              </a:spcAft>
              <a:buNone/>
            </a:pPr>
            <a:r>
              <a:rPr lang="en-US" sz="1800" b="1" dirty="0">
                <a:solidFill>
                  <a:srgbClr val="102A43"/>
                </a:solidFill>
                <a:latin typeface="Aptos" pitchFamily="34" charset="0"/>
                <a:ea typeface="Aptos" pitchFamily="34" charset="-122"/>
                <a:cs typeface="Aptos" pitchFamily="34" charset="-120"/>
              </a:rPr>
              <a:t>Rule 1 — practical equivalence</a:t>
            </a:r>
            <a:endParaRPr lang="en-US" sz="1800" dirty="0"/>
          </a:p>
          <a:p>
            <a:pPr algn="l" indent="0" marL="0">
              <a:spcAft>
                <a:spcPts val="400"/>
              </a:spcAft>
              <a:buNone/>
            </a:pPr>
            <a:r>
              <a:rPr lang="en-US" sz="1600" dirty="0">
                <a:solidFill>
                  <a:srgbClr val="102A43"/>
                </a:solidFill>
                <a:latin typeface="Aptos" pitchFamily="34" charset="0"/>
                <a:ea typeface="Aptos" pitchFamily="34" charset="-122"/>
                <a:cs typeface="Aptos" pitchFamily="34" charset="-120"/>
              </a:rPr>
              <a:t>Candidates whose mean engine RMSE lies within 1% of the best are treated as equivalent.</a:t>
            </a:r>
            <a:endParaRPr lang="en-US" sz="1800" dirty="0"/>
          </a:p>
          <a:p>
            <a:pPr algn="l" indent="0" marL="0">
              <a:spcAft>
                <a:spcPts val="400"/>
              </a:spcAft>
              <a:buNone/>
            </a:pPr>
            <a:r>
              <a:rPr lang="en-US" sz="1600" b="1" dirty="0">
                <a:solidFill>
                  <a:srgbClr val="007E99"/>
                </a:solidFill>
                <a:latin typeface="Aptos" pitchFamily="34" charset="0"/>
                <a:ea typeface="Aptos" pitchFamily="34" charset="-122"/>
                <a:cs typeface="Aptos" pitchFamily="34" charset="-120"/>
              </a:rPr>
              <a:t>RF 29.479 vs naive 29.556: ratio 1.0026 → within 1%</a:t>
            </a:r>
            <a:endParaRPr lang="en-US" sz="1800" dirty="0"/>
          </a:p>
          <a:p>
            <a:pPr algn="l" indent="0" marL="0">
              <a:spcAft>
                <a:spcPts val="400"/>
              </a:spcAft>
              <a:buNone/>
            </a:pPr>
            <a:r>
              <a:rPr lang="en-US" sz="1600" dirty="0">
                <a:solidFill>
                  <a:srgbClr val="102A43"/>
                </a:solidFill>
                <a:latin typeface="Aptos" pitchFamily="34" charset="0"/>
                <a:ea typeface="Aptos" pitchFamily="34" charset="-122"/>
                <a:cs typeface="Aptos" pitchFamily="34" charset="-120"/>
              </a:rPr>
              <a:t>XGBoost 31.156 and Ridge 31.516: outside the band</a:t>
            </a:r>
            <a:endParaRPr lang="en-US" sz="1800" dirty="0"/>
          </a:p>
          <a:p>
            <a:pPr algn="l" indent="0" marL="0">
              <a:spcAft>
                <a:spcPts val="400"/>
              </a:spcAft>
              <a:buNone/>
            </a:pPr>
            <a:r>
              <a:rPr lang="en-US" sz="1000" dirty="0">
                <a:solidFill>
                  <a:srgbClr val="102A43"/>
                </a:solidFill>
                <a:latin typeface="Aptos" pitchFamily="34" charset="0"/>
                <a:ea typeface="Aptos" pitchFamily="34" charset="-122"/>
                <a:cs typeface="Aptos" pitchFamily="34" charset="-120"/>
              </a:rPr>
              <a:t> </a:t>
            </a:r>
            <a:endParaRPr lang="en-US" sz="1800" dirty="0"/>
          </a:p>
          <a:p>
            <a:pPr algn="l" indent="0" marL="0">
              <a:spcAft>
                <a:spcPts val="400"/>
              </a:spcAft>
              <a:buNone/>
            </a:pPr>
            <a:r>
              <a:rPr lang="en-US" sz="1800" b="1" dirty="0">
                <a:solidFill>
                  <a:srgbClr val="102A43"/>
                </a:solidFill>
                <a:latin typeface="Aptos" pitchFamily="34" charset="0"/>
                <a:ea typeface="Aptos" pitchFamily="34" charset="-122"/>
                <a:cs typeface="Aptos" pitchFamily="34" charset="-120"/>
              </a:rPr>
              <a:t>Rule 2 — tie-break</a:t>
            </a:r>
            <a:endParaRPr lang="en-US" sz="1800" dirty="0"/>
          </a:p>
          <a:p>
            <a:pPr algn="l" indent="0" marL="0">
              <a:spcAft>
                <a:spcPts val="400"/>
              </a:spcAft>
              <a:buNone/>
            </a:pPr>
            <a:r>
              <a:rPr lang="en-US" sz="1600" dirty="0">
                <a:solidFill>
                  <a:srgbClr val="102A43"/>
                </a:solidFill>
                <a:latin typeface="Aptos" pitchFamily="34" charset="0"/>
                <a:ea typeface="Aptos" pitchFamily="34" charset="-122"/>
                <a:cs typeface="Aptos" pitchFamily="34" charset="-120"/>
              </a:rPr>
              <a:t>Lowest mean PHM penalty among equivalent candidates: RF 83.67 vs naive 156.44.</a:t>
            </a:r>
            <a:endParaRPr lang="en-US" sz="1800" dirty="0"/>
          </a:p>
        </p:txBody>
      </p:sp>
      <p:sp>
        <p:nvSpPr>
          <p:cNvPr id="9" name="s0_rect_8"/>
          <p:cNvSpPr/>
          <p:nvPr/>
        </p:nvSpPr>
        <p:spPr>
          <a:xfrm>
            <a:off x="6400800" y="1325880"/>
            <a:ext cx="5239512" cy="2377440"/>
          </a:xfrm>
          <a:prstGeom prst="roundRect">
            <a:avLst>
              <a:gd name="adj" fmla="val 3077"/>
            </a:avLst>
          </a:prstGeom>
          <a:solidFill>
            <a:srgbClr val="FFFFFF"/>
          </a:solidFill>
          <a:ln w="12700">
            <a:solidFill>
              <a:srgbClr val="D9E2EC"/>
            </a:solidFill>
            <a:prstDash val="solid"/>
          </a:ln>
        </p:spPr>
      </p:sp>
      <p:sp>
        <p:nvSpPr>
          <p:cNvPr id="10" name="s0_text_9"/>
          <p:cNvSpPr txBox="1"/>
          <p:nvPr/>
        </p:nvSpPr>
        <p:spPr>
          <a:xfrm>
            <a:off x="6629400" y="1444752"/>
            <a:ext cx="4846320" cy="2194560"/>
          </a:xfrm>
          <a:prstGeom prst="rect">
            <a:avLst/>
          </a:prstGeom>
          <a:noFill/>
          <a:ln/>
        </p:spPr>
        <p:txBody>
          <a:bodyPr wrap="square" lIns="0" tIns="0" rIns="0" bIns="0" rtlCol="0" anchor="t"/>
          <a:lstStyle/>
          <a:p>
            <a:pPr algn="l" indent="0" marL="0">
              <a:spcAft>
                <a:spcPts val="600"/>
              </a:spcAft>
              <a:buNone/>
            </a:pPr>
            <a:r>
              <a:rPr lang="en-US" sz="1600" b="1" dirty="0">
                <a:solidFill>
                  <a:srgbClr val="102A43"/>
                </a:solidFill>
                <a:latin typeface="Aptos" pitchFamily="34" charset="0"/>
                <a:ea typeface="Aptos" pitchFamily="34" charset="-122"/>
                <a:cs typeface="Aptos" pitchFamily="34" charset="-120"/>
              </a:rPr>
              <a:t>PHM 2008 penalty, e = predicted − actual</a:t>
            </a:r>
            <a:endParaRPr lang="en-US" sz="1600" dirty="0"/>
          </a:p>
          <a:p>
            <a:pPr algn="l" indent="0" marL="0">
              <a:spcAft>
                <a:spcPts val="600"/>
              </a:spcAft>
              <a:buNone/>
            </a:pPr>
            <a:r>
              <a:rPr lang="en-US" sz="1800" dirty="0">
                <a:solidFill>
                  <a:srgbClr val="102A43"/>
                </a:solidFill>
                <a:latin typeface="Aptos" pitchFamily="34" charset="0"/>
                <a:ea typeface="Aptos" pitchFamily="34" charset="-122"/>
                <a:cs typeface="Aptos" pitchFamily="34" charset="-120"/>
              </a:rPr>
              <a:t>e ≥ 0 (late):  exp(e / 10) − 1</a:t>
            </a:r>
            <a:endParaRPr lang="en-US" sz="1600" dirty="0"/>
          </a:p>
          <a:p>
            <a:pPr algn="l" indent="0" marL="0">
              <a:spcAft>
                <a:spcPts val="600"/>
              </a:spcAft>
              <a:buNone/>
            </a:pPr>
            <a:r>
              <a:rPr lang="en-US" sz="1800" dirty="0">
                <a:solidFill>
                  <a:srgbClr val="102A43"/>
                </a:solidFill>
                <a:latin typeface="Aptos" pitchFamily="34" charset="0"/>
                <a:ea typeface="Aptos" pitchFamily="34" charset="-122"/>
                <a:cs typeface="Aptos" pitchFamily="34" charset="-120"/>
              </a:rPr>
              <a:t>e &lt; 0 (early):  exp(−e / 13) − 1</a:t>
            </a:r>
            <a:endParaRPr lang="en-US" sz="1600" dirty="0"/>
          </a:p>
          <a:p>
            <a:pPr algn="l" indent="0" marL="0">
              <a:spcAft>
                <a:spcPts val="600"/>
              </a:spcAft>
              <a:buNone/>
            </a:pPr>
            <a:r>
              <a:rPr lang="en-US" sz="1400" dirty="0">
                <a:solidFill>
                  <a:srgbClr val="627D98"/>
                </a:solidFill>
                <a:latin typeface="Aptos" pitchFamily="34" charset="0"/>
                <a:ea typeface="Aptos" pitchFamily="34" charset="-122"/>
                <a:cs typeface="Aptos" pitchFamily="34" charset="-120"/>
              </a:rPr>
              <a:t>Late, optimistic errors are penalised more steeply than early ones.</a:t>
            </a:r>
            <a:endParaRPr lang="en-US" sz="1600" dirty="0"/>
          </a:p>
        </p:txBody>
      </p:sp>
      <p:sp>
        <p:nvSpPr>
          <p:cNvPr id="11" name="s0_text_10"/>
          <p:cNvSpPr txBox="1"/>
          <p:nvPr/>
        </p:nvSpPr>
        <p:spPr>
          <a:xfrm>
            <a:off x="6400800" y="3931920"/>
            <a:ext cx="5239512" cy="137160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Ratio 29.556 / 29.479 is derived from Table 5.1. Both rules were fixed before validation results were read.</a:t>
            </a:r>
            <a:endParaRPr lang="en-US" sz="14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B7 · CONFORMAL SCORE AND RANK</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Conformal score: definition, rank and assumptions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§2.5.1, §4.8; Vovk, Gammerman and Shafer (2005); Lei et al. (2018a); Barber et al. (2023)</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B7</a:t>
            </a:r>
            <a:endParaRPr lang="en-US" sz="1100" dirty="0"/>
          </a:p>
        </p:txBody>
      </p:sp>
      <p:sp>
        <p:nvSpPr>
          <p:cNvPr id="8" name="s0_text_7"/>
          <p:cNvSpPr txBox="1"/>
          <p:nvPr/>
        </p:nvSpPr>
        <p:spPr>
          <a:xfrm>
            <a:off x="548640" y="1325880"/>
            <a:ext cx="5669280" cy="4754880"/>
          </a:xfrm>
          <a:prstGeom prst="rect">
            <a:avLst/>
          </a:prstGeom>
          <a:noFill/>
          <a:ln/>
        </p:spPr>
        <p:txBody>
          <a:bodyPr wrap="square" lIns="0" tIns="0" rIns="0" bIns="0" rtlCol="0" anchor="t"/>
          <a:lstStyle/>
          <a:p>
            <a:pPr algn="l" indent="0" marL="0">
              <a:spcAft>
                <a:spcPts val="600"/>
              </a:spcAft>
              <a:buNone/>
            </a:pPr>
            <a:r>
              <a:rPr lang="en-US" sz="1800" b="1" dirty="0">
                <a:solidFill>
                  <a:srgbClr val="102A43"/>
                </a:solidFill>
                <a:latin typeface="Aptos" pitchFamily="34" charset="0"/>
                <a:ea typeface="Aptos" pitchFamily="34" charset="-122"/>
                <a:cs typeface="Aptos" pitchFamily="34" charset="-120"/>
              </a:rPr>
              <a:t>Score</a:t>
            </a:r>
            <a:endParaRPr lang="en-US" sz="1800" dirty="0"/>
          </a:p>
          <a:p>
            <a:pPr algn="l" indent="0" marL="0">
              <a:spcAft>
                <a:spcPts val="600"/>
              </a:spcAft>
              <a:buNone/>
            </a:pPr>
            <a:r>
              <a:rPr lang="en-US" sz="1600" dirty="0">
                <a:solidFill>
                  <a:srgbClr val="102A43"/>
                </a:solidFill>
                <a:latin typeface="Aptos" pitchFamily="34" charset="0"/>
                <a:ea typeface="Aptos" pitchFamily="34" charset="-122"/>
                <a:cs typeface="Aptos" pitchFamily="34" charset="-120"/>
              </a:rPr>
              <a:t>sᵢ = maxₜ |ŷ(i, t) − y(i, t)| for each of n = 20 calibration engines</a:t>
            </a:r>
            <a:endParaRPr lang="en-US" sz="1800" dirty="0"/>
          </a:p>
          <a:p>
            <a:pPr algn="l" indent="0" marL="0">
              <a:spcAft>
                <a:spcPts val="600"/>
              </a:spcAft>
              <a:buNone/>
            </a:pPr>
            <a:r>
              <a:rPr lang="en-US" sz="1800" b="1" dirty="0">
                <a:solidFill>
                  <a:srgbClr val="102A43"/>
                </a:solidFill>
                <a:latin typeface="Aptos" pitchFamily="34" charset="0"/>
                <a:ea typeface="Aptos" pitchFamily="34" charset="-122"/>
                <a:cs typeface="Aptos" pitchFamily="34" charset="-120"/>
              </a:rPr>
              <a:t>Rank</a:t>
            </a:r>
            <a:endParaRPr lang="en-US" sz="1800" dirty="0"/>
          </a:p>
          <a:p>
            <a:pPr algn="l" indent="0" marL="0">
              <a:spcAft>
                <a:spcPts val="600"/>
              </a:spcAft>
              <a:buNone/>
            </a:pPr>
            <a:r>
              <a:rPr lang="en-US" sz="1600" dirty="0">
                <a:solidFill>
                  <a:srgbClr val="102A43"/>
                </a:solidFill>
                <a:latin typeface="Aptos" pitchFamily="34" charset="0"/>
                <a:ea typeface="Aptos" pitchFamily="34" charset="-122"/>
                <a:cs typeface="Aptos" pitchFamily="34" charset="-120"/>
              </a:rPr>
              <a:t>Finite-sample rank ⌈(n + 1)(1 − α)⌉ = ⌈21 × 0.90⌉ = 19 → 19th of 20</a:t>
            </a:r>
            <a:endParaRPr lang="en-US" sz="1800" dirty="0"/>
          </a:p>
          <a:p>
            <a:pPr algn="l" indent="0" marL="0">
              <a:spcAft>
                <a:spcPts val="600"/>
              </a:spcAft>
              <a:buNone/>
            </a:pPr>
            <a:r>
              <a:rPr lang="en-US" sz="1600" b="1" dirty="0">
                <a:solidFill>
                  <a:srgbClr val="007E99"/>
                </a:solidFill>
                <a:latin typeface="Aptos" pitchFamily="34" charset="0"/>
                <a:ea typeface="Aptos" pitchFamily="34" charset="-122"/>
                <a:cs typeface="Aptos" pitchFamily="34" charset="-120"/>
              </a:rPr>
              <a:t>q̂ = 107.8965 cycles (reported 107.90)</a:t>
            </a:r>
            <a:endParaRPr lang="en-US" sz="1800" dirty="0"/>
          </a:p>
          <a:p>
            <a:pPr algn="l" indent="0" marL="0">
              <a:spcAft>
                <a:spcPts val="600"/>
              </a:spcAft>
              <a:buNone/>
            </a:pPr>
            <a:r>
              <a:rPr lang="en-US" sz="1800" b="1" dirty="0">
                <a:solidFill>
                  <a:srgbClr val="102A43"/>
                </a:solidFill>
                <a:latin typeface="Aptos" pitchFamily="34" charset="0"/>
                <a:ea typeface="Aptos" pitchFamily="34" charset="-122"/>
                <a:cs typeface="Aptos" pitchFamily="34" charset="-120"/>
              </a:rPr>
              <a:t>Interval</a:t>
            </a:r>
            <a:endParaRPr lang="en-US" sz="1800" dirty="0"/>
          </a:p>
          <a:p>
            <a:pPr algn="l" indent="0" marL="0">
              <a:spcAft>
                <a:spcPts val="600"/>
              </a:spcAft>
              <a:buNone/>
            </a:pPr>
            <a:r>
              <a:rPr lang="en-US" sz="1600" dirty="0">
                <a:solidFill>
                  <a:srgbClr val="102A43"/>
                </a:solidFill>
                <a:latin typeface="Aptos" pitchFamily="34" charset="0"/>
                <a:ea typeface="Aptos" pitchFamily="34" charset="-122"/>
                <a:cs typeface="Aptos" pitchFamily="34" charset="-120"/>
              </a:rPr>
              <a:t>[max(ŷ − q̂, 0), ŷ + q̂]; clipping changes reported width</a:t>
            </a:r>
            <a:endParaRPr lang="en-US" sz="1800" dirty="0"/>
          </a:p>
        </p:txBody>
      </p:sp>
      <p:sp>
        <p:nvSpPr>
          <p:cNvPr id="9" name="s0_rect_8"/>
          <p:cNvSpPr/>
          <p:nvPr/>
        </p:nvSpPr>
        <p:spPr>
          <a:xfrm>
            <a:off x="6492240" y="1325880"/>
            <a:ext cx="5148072" cy="3840480"/>
          </a:xfrm>
          <a:prstGeom prst="roundRect">
            <a:avLst>
              <a:gd name="adj" fmla="val 1905"/>
            </a:avLst>
          </a:prstGeom>
          <a:solidFill>
            <a:srgbClr val="FEF4DE"/>
          </a:solidFill>
          <a:ln/>
        </p:spPr>
      </p:sp>
      <p:sp>
        <p:nvSpPr>
          <p:cNvPr id="10" name="s0_text_9"/>
          <p:cNvSpPr txBox="1"/>
          <p:nvPr/>
        </p:nvSpPr>
        <p:spPr>
          <a:xfrm>
            <a:off x="6720840" y="1444752"/>
            <a:ext cx="4754880" cy="3657600"/>
          </a:xfrm>
          <a:prstGeom prst="rect">
            <a:avLst/>
          </a:prstGeom>
          <a:noFill/>
          <a:ln/>
        </p:spPr>
        <p:txBody>
          <a:bodyPr wrap="square" lIns="0" tIns="0" rIns="0" bIns="0" rtlCol="0" anchor="t"/>
          <a:lstStyle/>
          <a:p>
            <a:pPr algn="l" indent="0" marL="0">
              <a:spcAft>
                <a:spcPts val="800"/>
              </a:spcAft>
              <a:buNone/>
            </a:pPr>
            <a:r>
              <a:rPr lang="en-US" sz="1700" b="1" dirty="0">
                <a:solidFill>
                  <a:srgbClr val="9A6700"/>
                </a:solidFill>
                <a:latin typeface="Aptos" pitchFamily="34" charset="0"/>
                <a:ea typeface="Aptos" pitchFamily="34" charset="-122"/>
                <a:cs typeface="Aptos" pitchFamily="34" charset="-120"/>
              </a:rPr>
              <a:t>Assumptions and caveats</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Coverage is marginal under exchangeable calibration and future engines</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Not guaranteed per engine, under distribution shift, or as a safety certificate</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Calibration covered 19/20 engines by construction — not independent validation</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20 engines → coarse order statistic; q̂ sensitive to one engine</a:t>
            </a:r>
            <a:endParaRPr lang="en-US" sz="17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B8 · BOOTSTRAP AND CONFIDENCE INTERVALS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Official endpoint results with bootstrap intervals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5.2 (§5.3) · 100 engines · 5,000 engine resamples of the single evaluation</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B8</a:t>
            </a:r>
            <a:endParaRPr lang="en-US" sz="1100" dirty="0"/>
          </a:p>
        </p:txBody>
      </p:sp>
      <p:graphicFrame>
        <p:nvGraphicFramePr>
          <p:cNvPr id="23"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017520"/>
                <a:gridCol w="3566160"/>
                <a:gridCol w="450799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Measure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Value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Interpretation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MAE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18.88 (95% CI 15.56–22.48)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Average absolute endpoint error</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RMSE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25.73 (CI 21.33–30.15)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Larger than MAE: a minority of large errors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R²</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0.617 (CI 0.42–0.75)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Meaningful but incomplete variance explained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Bias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+10.90 (CI 6.47–15.57)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Systematic overestimation; interval excludes zero</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Median absolute error</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14.19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Half of engines within about 14 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Over- / underestimation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69% / 31%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Overestimation dominates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Within 10 / 20 / 30 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43% / 62% / 75%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Descriptive accuracy bands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PHM penalty, total / mean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10,108.02 / 101.08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Inflated by late predictions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534924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The bootstrap quantifies sampling uncertainty of these same 100 predictions — not performance on new engines or fleets.</a:t>
            </a:r>
            <a:endParaRPr lang="en-US" sz="14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B9 · UNCAPPED TARGET VS CAPPED SENSITIVITY</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Capping changes the question, not just the score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5.5 (§5.5) · validation rows, actual-RUL scale</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B9</a:t>
            </a:r>
            <a:endParaRPr lang="en-US" sz="1100" dirty="0"/>
          </a:p>
        </p:txBody>
      </p:sp>
      <p:graphicFrame>
        <p:nvGraphicFramePr>
          <p:cNvPr id="24"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7315200" cy="914400"/>
        </p:xfrm>
        <a:graphic>
          <a:graphicData uri="http://schemas.openxmlformats.org/drawingml/2006/table">
            <a:tbl>
              <a:tblPr/>
              <a:tblGrid>
                <a:gridCol w="2194560"/>
                <a:gridCol w="1280160"/>
                <a:gridCol w="1280160"/>
                <a:gridCol w="1280160"/>
                <a:gridCol w="1280160"/>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Lifecycle stage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MAE uncapped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MAE capped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Bias uncapped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Bias capped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Critical, 0–30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7.48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7.32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+4.87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+4.68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Near-term, 31–60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19.96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18.91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+13.09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+11.95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Mid-life, 61–130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29.02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17.73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+13.72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−0.81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Early life, &gt; 130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31.03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58.01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−16.29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−58.01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8183880" y="1280160"/>
            <a:ext cx="3456432" cy="3657600"/>
          </a:xfrm>
          <a:prstGeom prst="rect">
            <a:avLst/>
          </a:prstGeom>
          <a:noFill/>
          <a:ln/>
        </p:spPr>
        <p:txBody>
          <a:bodyPr wrap="square" lIns="0" tIns="0" rIns="0" bIns="0" rtlCol="0" anchor="t"/>
          <a:lstStyle/>
          <a:p>
            <a:pPr algn="l" indent="0" marL="0">
              <a:spcAft>
                <a:spcPts val="800"/>
              </a:spcAft>
              <a:buNone/>
            </a:pPr>
            <a:r>
              <a:rPr lang="en-US" sz="1600" b="1" dirty="0">
                <a:solidFill>
                  <a:srgbClr val="102A43"/>
                </a:solidFill>
                <a:latin typeface="Aptos" pitchFamily="34" charset="0"/>
                <a:ea typeface="Aptos" pitchFamily="34" charset="-122"/>
                <a:cs typeface="Aptos" pitchFamily="34" charset="-120"/>
              </a:rPr>
              <a:t>Against actual cycles</a:t>
            </a:r>
            <a:endParaRPr lang="en-US" sz="16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Capped-130 validation RMSE 44.04 vs 33.07 uncapped</a:t>
            </a:r>
            <a:endParaRPr lang="en-US" sz="16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Capped bias −19.85; mean PHM penalty 1,440.27</a:t>
            </a:r>
            <a:endParaRPr lang="en-US" sz="1600" dirty="0"/>
          </a:p>
          <a:p>
            <a:pPr algn="l" indent="0" marL="0">
              <a:spcAft>
                <a:spcPts val="800"/>
              </a:spcAft>
              <a:buNone/>
            </a:pPr>
            <a:r>
              <a:rPr lang="en-US" sz="1500" b="1" dirty="0">
                <a:solidFill>
                  <a:srgbClr val="007E99"/>
                </a:solidFill>
                <a:latin typeface="Aptos" pitchFamily="34" charset="0"/>
                <a:ea typeface="Aptos" pitchFamily="34" charset="-122"/>
                <a:cs typeface="Aptos" pitchFamily="34" charset="-120"/>
              </a:rPr>
              <a:t>Uncapped RUL is primary; capped is sensitivity only.</a:t>
            </a:r>
            <a:endParaRPr lang="en-US" sz="16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B10 · FEATURE ABLATION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Age dominates; dropping s9/s14 is only a hypothesis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5.6 (§5.6) · post-closure · 60 modelling, 20 reused validation engines, no retuning</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B10</a:t>
            </a:r>
            <a:endParaRPr lang="en-US" sz="1100" dirty="0"/>
          </a:p>
        </p:txBody>
      </p:sp>
      <p:graphicFrame>
        <p:nvGraphicFramePr>
          <p:cNvPr id="25"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474720"/>
                <a:gridCol w="1188720"/>
                <a:gridCol w="1188720"/>
                <a:gridCol w="1371600"/>
                <a:gridCol w="1188720"/>
                <a:gridCol w="1280160"/>
                <a:gridCol w="139903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Variant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N features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Val. MAE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Pooled RMSE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Bias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Mean PHM</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Engine MAE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A0 Full model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25.32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33.07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+0.96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83.7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24.93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A1 Without time_in_cycles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31.03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41.16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+1.77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1,436.3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30.18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A2 Sensors only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31.02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41.14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+1.72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1,389.4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30.17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A3 Age only (Random Forest)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28.79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36.72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93.0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28.28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A4 Without operational settings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25.40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33.14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+0.99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84.7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25.00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A5 Without sensor_9 and sensor_14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24.03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31.76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−1.44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60.1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23.79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B0 Naive age-only rule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31.11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41.14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−19.33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156.4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28.73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480060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A5 lowered pooled RMSE about 4.0% in a single exploratory comparison on reused validation engines — it does not change the frozen model or establish general harm.</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B11 · CONFORMAL-SCORE ABLATION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Narrower conformal scores lose whole-trajectory coverage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5.7 (§5.7) · post-closure · original 20 calibration and 20 validation engines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B11</a:t>
            </a:r>
            <a:endParaRPr lang="en-US" sz="1100" dirty="0"/>
          </a:p>
        </p:txBody>
      </p:sp>
      <p:graphicFrame>
        <p:nvGraphicFramePr>
          <p:cNvPr id="26"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651760"/>
                <a:gridCol w="914400"/>
                <a:gridCol w="1463040"/>
                <a:gridCol w="1737360"/>
                <a:gridCol w="1554480"/>
                <a:gridCol w="1325880"/>
                <a:gridCol w="144475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Score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q̂</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Val. row coverage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Val. engines fully covered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Test endpoint coverage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Test mean width</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Test misses below lower bound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C0 Engine maximum (frozen)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107.90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20/20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182.46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C1 Row-level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57.70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89.7%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96%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106.34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C2 Engine mean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54.32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88.2%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96%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100.72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324612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Selecting C1 or C2 on these already examined engines would import post-closure test knowledge. Replacement needs fresh engine groups and a prespecified comparison.</a:t>
            </a:r>
            <a:endParaRPr lang="en-US" sz="14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B12 · GLOBAL SHAP AND ADDITIVITY</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Global SHAP ranks age first, then HPC pressure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5.8 (§5.8) · 100 official endpoints × 18 predictors · baseline 107.84 cycles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B12</a:t>
            </a:r>
            <a:endParaRPr lang="en-US" sz="1100" dirty="0"/>
          </a:p>
        </p:txBody>
      </p:sp>
      <p:graphicFrame>
        <p:nvGraphicFramePr>
          <p:cNvPr id="27"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8229600" cy="914400"/>
        </p:xfrm>
        <a:graphic>
          <a:graphicData uri="http://schemas.openxmlformats.org/drawingml/2006/table">
            <a:tbl>
              <a:tblPr/>
              <a:tblGrid>
                <a:gridCol w="640080"/>
                <a:gridCol w="1645920"/>
                <a:gridCol w="3200400"/>
                <a:gridCol w="1371600"/>
                <a:gridCol w="1371600"/>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Rank</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Feature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Physical meaning</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Mean |SHAP|</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Mean signed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time_in_cycles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Engine age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24.76</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−16.57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sensor_11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Ps30, HPC outlet static pressure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12.87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−1.78</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sensor_4</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T50, LPT outlet temperature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7.45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−0.68</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sensor_9</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Nc, core speed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6.05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+0.40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sensor_14</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NRc, corrected core speed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5.30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+0.55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6</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sensor_12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phi, fuel flow / Ps30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4.39</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−0.45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P30, HPC outlet pressure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3.59</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−0.77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8</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sensor_15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BPR, bypass ratio</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2.05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−0.61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9</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sensor_13</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NRf, corrected fan speed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1.03</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−0.45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sensor_8</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Nf, fan speed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0.85</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−0.48</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9052560" y="1280160"/>
            <a:ext cx="2587752" cy="4206240"/>
          </a:xfrm>
          <a:prstGeom prst="rect">
            <a:avLst/>
          </a:prstGeom>
          <a:noFill/>
          <a:ln/>
        </p:spPr>
        <p:txBody>
          <a:bodyPr wrap="square" lIns="0" tIns="0" rIns="0" bIns="0" rtlCol="0" anchor="t"/>
          <a:lstStyle/>
          <a:p>
            <a:pPr algn="l" indent="0" marL="0">
              <a:spcAft>
                <a:spcPts val="800"/>
              </a:spcAft>
              <a:buNone/>
            </a:pPr>
            <a:r>
              <a:rPr lang="en-US" sz="1600" b="1" dirty="0">
                <a:solidFill>
                  <a:srgbClr val="102A43"/>
                </a:solidFill>
                <a:latin typeface="Aptos" pitchFamily="34" charset="0"/>
                <a:ea typeface="Aptos" pitchFamily="34" charset="-122"/>
                <a:cs typeface="Aptos" pitchFamily="34" charset="-120"/>
              </a:rPr>
              <a:t>Checks</a:t>
            </a:r>
            <a:endParaRPr lang="en-US" sz="1600" dirty="0"/>
          </a:p>
          <a:p>
            <a:pPr algn="l" indent="0" marL="0">
              <a:spcAft>
                <a:spcPts val="800"/>
              </a:spcAft>
              <a:buNone/>
            </a:pPr>
            <a:r>
              <a:rPr lang="en-US" sz="1400" dirty="0">
                <a:solidFill>
                  <a:srgbClr val="102A43"/>
                </a:solidFill>
                <a:latin typeface="Aptos" pitchFamily="34" charset="0"/>
                <a:ea typeface="Aptos" pitchFamily="34" charset="-122"/>
                <a:cs typeface="Aptos" pitchFamily="34" charset="-120"/>
              </a:rPr>
              <a:t>Additivity / fidelity: max discrepancy &lt; 10⁻¹² cycles</a:t>
            </a:r>
            <a:endParaRPr lang="en-US" sz="1600" dirty="0"/>
          </a:p>
          <a:p>
            <a:pPr algn="l" indent="0" marL="0">
              <a:spcAft>
                <a:spcPts val="800"/>
              </a:spcAft>
              <a:buNone/>
            </a:pPr>
            <a:r>
              <a:rPr lang="en-US" sz="1400" dirty="0">
                <a:solidFill>
                  <a:srgbClr val="102A43"/>
                </a:solidFill>
                <a:latin typeface="Aptos" pitchFamily="34" charset="0"/>
                <a:ea typeface="Aptos" pitchFamily="34" charset="-122"/>
                <a:cs typeface="Aptos" pitchFamily="34" charset="-120"/>
              </a:rPr>
              <a:t>Units: cycles of predicted RUL</a:t>
            </a:r>
            <a:endParaRPr lang="en-US" sz="1600" dirty="0"/>
          </a:p>
          <a:p>
            <a:pPr algn="l" indent="0" marL="0">
              <a:spcAft>
                <a:spcPts val="800"/>
              </a:spcAft>
              <a:buNone/>
            </a:pPr>
            <a:r>
              <a:rPr lang="en-US" sz="1400" dirty="0">
                <a:solidFill>
                  <a:srgbClr val="102A43"/>
                </a:solidFill>
                <a:latin typeface="Aptos" pitchFamily="34" charset="0"/>
                <a:ea typeface="Aptos" pitchFamily="34" charset="-122"/>
                <a:cs typeface="Aptos" pitchFamily="34" charset="-120"/>
              </a:rPr>
              <a:t>Correlated channels can exchange credit; sensor names follow the literature mapping</a:t>
            </a:r>
            <a:endParaRPr lang="en-US" sz="1600" dirty="0"/>
          </a:p>
          <a:p>
            <a:pPr algn="l" indent="0" marL="0">
              <a:spcAft>
                <a:spcPts val="800"/>
              </a:spcAft>
              <a:buNone/>
            </a:pPr>
            <a:r>
              <a:rPr lang="en-US" sz="1400" b="1" dirty="0">
                <a:solidFill>
                  <a:srgbClr val="E45756"/>
                </a:solidFill>
                <a:latin typeface="Aptos" pitchFamily="34" charset="0"/>
                <a:ea typeface="Aptos" pitchFamily="34" charset="-122"/>
                <a:cs typeface="Aptos" pitchFamily="34" charset="-120"/>
              </a:rPr>
              <a:t>Non-causal</a:t>
            </a:r>
            <a:endParaRPr lang="en-US" sz="16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B13 · LOCAL SHAP FAILURE CASES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Four local cases: two under-triaged, two large errors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5.9 (§5.8.2) · baseline 107.84 cycles · contributions in cycles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B13</a:t>
            </a:r>
            <a:endParaRPr lang="en-US" sz="1100" dirty="0"/>
          </a:p>
        </p:txBody>
      </p:sp>
      <p:graphicFrame>
        <p:nvGraphicFramePr>
          <p:cNvPr id="28"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914400"/>
                <a:gridCol w="731520"/>
                <a:gridCol w="1005840"/>
                <a:gridCol w="1097280"/>
                <a:gridCol w="734263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Engine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Age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True RUL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Predicted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Largest contributions (cycles)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41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123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age −29.2; T50 (s4) −11.5; phi (s12) −7.9; Nc (s9) +4.3; NRf (s13) −3.0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133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28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64.5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age −28.1; Ps30 (s11) −12.2; T50 (s4) −11.4; Nc (s9) +5.6; NRc (s14) +4.6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15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76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170.5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Ps30 (s11) +18.3; NRc (s14) +9.5; T50 (s4) +8.2; Nc (s9) +7.8; phi (s12) +7.5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112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184.2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age +34.7; Ps30 (s11) +14.3; T50 (s4) +7.0; NRc (s14) +6.0; Nc (s9) +5.2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370332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Engines 41 and 18 (truly CRITICAL, point class MEDIUM): core-speed inputs partly counteracted degradation-related negative contributions. Engine 15's measured sensors looked healthy with 83 cycles left. These describe model behaviour, not a diagnosed physical cause.</a:t>
            </a:r>
            <a:endParaRPr lang="en-US" sz="14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B14 · TRIAGE CLASSES AND DENOMINATORS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Triage classes are stipulated; Rule 2 is offline only</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4.4 (§4.10.2) · thresholds are research assumptions, not maintenance-approved limits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B14</a:t>
            </a:r>
            <a:endParaRPr lang="en-US" sz="1100" dirty="0"/>
          </a:p>
        </p:txBody>
      </p:sp>
      <p:graphicFrame>
        <p:nvGraphicFramePr>
          <p:cNvPr id="29"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463040"/>
                <a:gridCol w="2011680"/>
                <a:gridCol w="4754880"/>
                <a:gridCol w="286207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Class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Rule 1 on predicted ŷ</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Proposed action (for reviewer approval)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Review requirement</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b="1" dirty="0">
                          <a:solidFill>
                            <a:srgbClr val="E45756"/>
                          </a:solidFill>
                          <a:latin typeface="Aptos" pitchFamily="34" charset="0"/>
                          <a:ea typeface="Aptos" pitchFamily="34" charset="-122"/>
                          <a:cs typeface="Aptos" pitchFamily="34" charset="-120"/>
                        </a:rPr>
                        <a:t>CRITICAL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ŷ ≤ 30 cycles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Immediate inspection planning; consider removal from service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Mandatory human review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B5443F"/>
                          </a:solidFill>
                          <a:latin typeface="Aptos" pitchFamily="34" charset="0"/>
                          <a:ea typeface="Aptos" pitchFamily="34" charset="-122"/>
                          <a:cs typeface="Aptos" pitchFamily="34" charset="-120"/>
                        </a:rPr>
                        <a:t>HIGH</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30 &lt; ŷ ≤ 60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Schedule inspection and parts within the planning horizon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Mandatory human review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MEDIUM</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60 &lt; ŷ ≤ 130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Increased monitoring; plan at the next maintenance opportunity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Routine queue unless Rule 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LOW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ŷ &gt; 130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Continue routine monitoring</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Routine queue unless Rule 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379476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Rule 2 (post-closure, offline): refer when the conformal lower bound is ≤ 30 cycles. Not implemented as n8n routing. Denominators: 100 endpoints — 25 truly CRITICAL, 39 truly CRITICAL-or-HIGH; point-only CRITICAL recall 64%.</a:t>
            </a:r>
            <a:endParaRPr lang="en-US" sz="14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B15 · ENDPOINTS VS VALIDATION ROWS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Endpoints and validation rows answer different questions</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5.10 (§5.9) · never pool the two columns into one safety statistic</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B15</a:t>
            </a:r>
            <a:endParaRPr lang="en-US" sz="1100" dirty="0"/>
          </a:p>
        </p:txBody>
      </p:sp>
      <p:graphicFrame>
        <p:nvGraphicFramePr>
          <p:cNvPr id="30"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4572000"/>
                <a:gridCol w="3108960"/>
                <a:gridCol w="341071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Measure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Endpoints (n = 100 engines)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Validation rows (n = 4,217, 20 engines)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Point-only: CRITICAL recall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80.5%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Point-only: CRITICAL or HIGH recall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77.6%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Point-only: under-triage rate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19.8%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Two rules: truly CRITICAL routed to review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Two rules: truly CRITICAL or HIGH routed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100% (39/39)</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99.8% (1,218/1,220)</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Two rules: share of all cases reviewed</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81%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61.1%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Reviewed cases truly CRITICAL or HIGH</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48.1%</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47.2%</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Routed by Rule 2 only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47%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35.6%</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548640" y="5120640"/>
            <a:ext cx="11091672" cy="640080"/>
          </a:xfrm>
          <a:prstGeom prst="rect">
            <a:avLst/>
          </a:prstGeom>
          <a:noFill/>
          <a:ln/>
        </p:spPr>
        <p:txBody>
          <a:bodyPr wrap="square" lIns="0" tIns="0" rIns="0" bIns="0" rtlCol="0" anchor="t"/>
          <a:lstStyle/>
          <a:p>
            <a:pPr algn="l" indent="0" marL="0">
              <a:buNone/>
            </a:pPr>
            <a:r>
              <a:rPr lang="en-US" sz="1400" b="1" dirty="0">
                <a:solidFill>
                  <a:srgbClr val="E45756"/>
                </a:solidFill>
                <a:latin typeface="Aptos" pitchFamily="34" charset="0"/>
                <a:ea typeface="Aptos" pitchFamily="34" charset="-122"/>
                <a:cs typeface="Aptos" pitchFamily="34" charset="-120"/>
              </a:rPr>
              <a:t>Validation rows are repeated cycle observations of the same 20 engines — not independent. Both columns are retrospective under simulated labels; neither is a field safety rate.</a:t>
            </a:r>
            <a:endParaRPr lang="en-US" sz="14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B16 · N8N TOPOLOGY</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Exported 22-node n8n workflow (THESIS_HITL_AGENTIC_V2)</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Figure 4.7 (§4.10.4) · author's n8n editor screenshot — topology, not a deployment</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B16</a:t>
            </a:r>
            <a:endParaRPr lang="en-US" sz="1100" dirty="0"/>
          </a:p>
        </p:txBody>
      </p:sp>
      <p:pic>
        <p:nvPicPr>
          <p:cNvPr id="8" name="s0_img_7" descr="n8n workflow canvas screenshot">    </p:cNvPr>
          <p:cNvPicPr>
            <a:picLocks noChangeAspect="1"/>
          </p:cNvPicPr>
          <p:nvPr/>
        </p:nvPicPr>
        <p:blipFill>
          <a:blip r:embed="rId3"/>
          <a:stretch>
            <a:fillRect/>
          </a:stretch>
        </p:blipFill>
        <p:spPr>
          <a:xfrm>
            <a:off x="548640" y="1280160"/>
            <a:ext cx="7680960" cy="3200400"/>
          </a:xfrm>
          <a:prstGeom prst="rect">
            <a:avLst/>
          </a:prstGeom>
        </p:spPr>
      </p:pic>
      <p:sp>
        <p:nvSpPr>
          <p:cNvPr id="9" name="s0_text_8"/>
          <p:cNvSpPr txBox="1"/>
          <p:nvPr/>
        </p:nvSpPr>
        <p:spPr>
          <a:xfrm>
            <a:off x="8458200" y="1280160"/>
            <a:ext cx="3182112" cy="4754880"/>
          </a:xfrm>
          <a:prstGeom prst="rect">
            <a:avLst/>
          </a:prstGeom>
          <a:noFill/>
          <a:ln/>
        </p:spPr>
        <p:txBody>
          <a:bodyPr wrap="square" lIns="0" tIns="0" rIns="0" bIns="0" rtlCol="0" anchor="t"/>
          <a:lstStyle/>
          <a:p>
            <a:pPr algn="l" indent="0" marL="0">
              <a:spcAft>
                <a:spcPts val="600"/>
              </a:spcAft>
              <a:buNone/>
            </a:pPr>
            <a:r>
              <a:rPr lang="en-US" sz="1600" b="1" dirty="0">
                <a:solidFill>
                  <a:srgbClr val="102A43"/>
                </a:solidFill>
                <a:latin typeface="Aptos" pitchFamily="34" charset="0"/>
                <a:ea typeface="Aptos" pitchFamily="34" charset="-122"/>
                <a:cs typeface="Aptos" pitchFamily="34" charset="-120"/>
              </a:rPr>
              <a:t>Groups</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Fixed PROTOTYPE_TEST input</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Evidence and provenance checks</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DEMO_POLICY_V1 (STIPULATED_RESEARCH_ASSUMPTION)</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Bounded local narration (Ollama, Qwen3 1.7B, temperature 0)</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Human form → APPROVE / REJECT / MODIFY</a:t>
            </a:r>
            <a:endParaRPr lang="en-US" sz="1600" dirty="0"/>
          </a:p>
          <a:p>
            <a:pPr algn="l" indent="0" marL="0">
              <a:spcAft>
                <a:spcPts val="600"/>
              </a:spcAft>
              <a:buNone/>
            </a:pPr>
            <a:r>
              <a:rPr lang="en-US" sz="1400" dirty="0">
                <a:solidFill>
                  <a:srgbClr val="102A43"/>
                </a:solidFill>
                <a:latin typeface="Aptos" pitchFamily="34" charset="0"/>
                <a:ea typeface="Aptos" pitchFamily="34" charset="-122"/>
                <a:cs typeface="Aptos" pitchFamily="34" charset="-120"/>
              </a:rPr>
              <a:t>PostgreSQL status + JSON audit export</a:t>
            </a:r>
            <a:endParaRPr lang="en-US" sz="1600" dirty="0"/>
          </a:p>
        </p:txBody>
      </p:sp>
      <p:sp>
        <p:nvSpPr>
          <p:cNvPr id="10" name="s0_text_9"/>
          <p:cNvSpPr txBox="1"/>
          <p:nvPr/>
        </p:nvSpPr>
        <p:spPr>
          <a:xfrm>
            <a:off x="548640" y="4754880"/>
            <a:ext cx="11091672" cy="640080"/>
          </a:xfrm>
          <a:prstGeom prst="rect">
            <a:avLst/>
          </a:prstGeom>
          <a:noFill/>
          <a:ln/>
        </p:spPr>
        <p:txBody>
          <a:bodyPr wrap="square" lIns="0" tIns="0" rIns="0" bIns="0" rtlCol="0" anchor="t"/>
          <a:lstStyle/>
          <a:p>
            <a:pPr algn="l" indent="0" marL="0">
              <a:buNone/>
            </a:pPr>
            <a:r>
              <a:rPr lang="en-US" sz="1400" dirty="0">
                <a:solidFill>
                  <a:srgbClr val="627D98"/>
                </a:solidFill>
                <a:latin typeface="Aptos" pitchFamily="34" charset="0"/>
                <a:ea typeface="Aptos" pitchFamily="34" charset="-122"/>
                <a:cs typeface="Aptos" pitchFamily="34" charset="-120"/>
              </a:rPr>
              <a:t>Connections show available routes; exported audit records show saved decisions. Neither establishes a live notebook feed, offline interval-guard routing or field reliability.</a:t>
            </a:r>
            <a:endParaRPr lang="en-US" sz="14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B17 · DECISION-ROUTE EVIDENCE</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Three human decision types were executed and exported</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5.11 (§5.10) · Figure 5.11a</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B17</a:t>
            </a:r>
            <a:endParaRPr lang="en-US" sz="1100" dirty="0"/>
          </a:p>
        </p:txBody>
      </p:sp>
      <p:graphicFrame>
        <p:nvGraphicFramePr>
          <p:cNvPr id="32"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1554480"/>
                <a:gridCol w="3474720"/>
                <a:gridCol w="1737360"/>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Branch</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Observed result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Evidence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APPROVE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Executed twice; APPROVED, override NO</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Two audit records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REJECT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Executed; REJECTED, override YES, final recommendation empty</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Audit record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MODIFY (valid)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Executed; MODIFIED, override YES, revised recommendation stored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Audit record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MODIFY (invalid)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Editor trace reaches invalid response and update nodes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Trace only; no audit JSON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pic>
        <p:nvPicPr>
          <p:cNvPr id="9" name="s0_img_8" descr="APPROVE route trace screenshot">    </p:cNvPr>
          <p:cNvPicPr>
            <a:picLocks noChangeAspect="1"/>
          </p:cNvPicPr>
          <p:nvPr/>
        </p:nvPicPr>
        <p:blipFill>
          <a:blip r:embed="rId3"/>
          <a:stretch>
            <a:fillRect/>
          </a:stretch>
        </p:blipFill>
        <p:spPr>
          <a:xfrm>
            <a:off x="7543800" y="1280160"/>
            <a:ext cx="4096512" cy="1764792"/>
          </a:xfrm>
          <a:prstGeom prst="rect">
            <a:avLst/>
          </a:prstGeom>
        </p:spPr>
      </p:pic>
      <p:sp>
        <p:nvSpPr>
          <p:cNvPr id="10" name="s0_text_9"/>
          <p:cNvSpPr txBox="1"/>
          <p:nvPr/>
        </p:nvSpPr>
        <p:spPr>
          <a:xfrm>
            <a:off x="7543800" y="3090672"/>
            <a:ext cx="4096512" cy="274320"/>
          </a:xfrm>
          <a:prstGeom prst="rect">
            <a:avLst/>
          </a:prstGeom>
          <a:noFill/>
          <a:ln/>
        </p:spPr>
        <p:txBody>
          <a:bodyPr wrap="square" lIns="0" tIns="0" rIns="0" bIns="0" rtlCol="0" anchor="t"/>
          <a:lstStyle/>
          <a:p>
            <a:pPr algn="l" indent="0" marL="0">
              <a:buNone/>
            </a:pPr>
            <a:r>
              <a:rPr lang="en-US" sz="1100" i="1" dirty="0">
                <a:solidFill>
                  <a:srgbClr val="627D98"/>
                </a:solidFill>
                <a:latin typeface="Aptos" pitchFamily="34" charset="0"/>
                <a:ea typeface="Aptos" pitchFamily="34" charset="-122"/>
                <a:cs typeface="Aptos" pitchFamily="34" charset="-120"/>
              </a:rPr>
              <a:t>APPROVE route highlighted (editor execution)</a:t>
            </a:r>
            <a:endParaRPr lang="en-US" sz="1100" dirty="0"/>
          </a:p>
        </p:txBody>
      </p:sp>
      <p:pic>
        <p:nvPicPr>
          <p:cNvPr id="11" name="s0_img_10" descr="REJECT route trace screenshot">    </p:cNvPr>
          <p:cNvPicPr>
            <a:picLocks noChangeAspect="1"/>
          </p:cNvPicPr>
          <p:nvPr/>
        </p:nvPicPr>
        <p:blipFill>
          <a:blip r:embed="rId4"/>
          <a:stretch>
            <a:fillRect/>
          </a:stretch>
        </p:blipFill>
        <p:spPr>
          <a:xfrm>
            <a:off x="7543800" y="3474720"/>
            <a:ext cx="4096512" cy="1810512"/>
          </a:xfrm>
          <a:prstGeom prst="rect">
            <a:avLst/>
          </a:prstGeom>
        </p:spPr>
      </p:pic>
      <p:sp>
        <p:nvSpPr>
          <p:cNvPr id="12" name="s0_text_11"/>
          <p:cNvSpPr txBox="1"/>
          <p:nvPr/>
        </p:nvSpPr>
        <p:spPr>
          <a:xfrm>
            <a:off x="7543800" y="5321808"/>
            <a:ext cx="4096512" cy="274320"/>
          </a:xfrm>
          <a:prstGeom prst="rect">
            <a:avLst/>
          </a:prstGeom>
          <a:noFill/>
          <a:ln/>
        </p:spPr>
        <p:txBody>
          <a:bodyPr wrap="square" lIns="0" tIns="0" rIns="0" bIns="0" rtlCol="0" anchor="t"/>
          <a:lstStyle/>
          <a:p>
            <a:pPr algn="l" indent="0" marL="0">
              <a:buNone/>
            </a:pPr>
            <a:r>
              <a:rPr lang="en-US" sz="1100" i="1" dirty="0">
                <a:solidFill>
                  <a:srgbClr val="627D98"/>
                </a:solidFill>
                <a:latin typeface="Aptos" pitchFamily="34" charset="0"/>
                <a:ea typeface="Aptos" pitchFamily="34" charset="-122"/>
                <a:cs typeface="Aptos" pitchFamily="34" charset="-120"/>
              </a:rPr>
              <a:t>REJECT route (editor execution)</a:t>
            </a:r>
            <a:endParaRPr lang="en-US" sz="11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B18 · AUDIT-RECORD FIELDS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Audit records link policy, explanation and decision</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Tables A.1 and A.2 (Appendix A) · sanitised prototype records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B18</a:t>
            </a:r>
            <a:endParaRPr lang="en-US" sz="1100" dirty="0"/>
          </a:p>
        </p:txBody>
      </p:sp>
      <p:graphicFrame>
        <p:nvGraphicFramePr>
          <p:cNvPr id="33"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1463040"/>
                <a:gridCol w="4572000"/>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Field group</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Recorded content (MODIFY example)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Request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Request id; asset id; predicted RUL 18 cycles; priority CRITICAL</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Policy</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DEMO_POLICY_V1; STIPULATED_RESEARCH_ASSUMPTION; stage critical_0_to_30; flag LOWER_BOUND_CLIPPED; rule reason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Explanation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SHAP drivers + constrained agent summary, evidence list, limitations, ‘human review required’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Human decision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MODIFY; comment; revised recommendation; status MODIFIED; override YES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Timestamps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Creation, review and completion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graphicFrame>
        <p:nvGraphicFramePr>
          <p:cNvPr id="65" name="s0_table_8"/>
          <p:cNvGraphicFramePr>
            <a:graphicFrameLocks noGrp="1"/>
          </p:cNvGraphicFramePr>
          <p:nvPr>
            <p:extLst>
              <p:ext uri="{D42A27DB-BD31-4B8C-83A1-F6EECF244321}">
                <p14:modId xmlns:p14="http://schemas.microsoft.com/office/powerpoint/2010/main" val="1579011935"/>
              </p:ext>
            </p:extLst>
          </p:nvPr>
        </p:nvGraphicFramePr>
        <p:xfrm>
          <a:off x="6812280" y="1280160"/>
          <a:ext cx="4828032" cy="914400"/>
        </p:xfrm>
        <a:graphic>
          <a:graphicData uri="http://schemas.openxmlformats.org/drawingml/2006/table">
            <a:tbl>
              <a:tblPr/>
              <a:tblGrid>
                <a:gridCol w="2450592"/>
                <a:gridCol w="1280160"/>
                <a:gridCol w="1097280"/>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Record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Decision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Override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HITL-1790096772107</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APPROVE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NO</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HITL-1790108329010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APPROVE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NO</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HITL-1790097014976</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REJECT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YES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HITL-1790094775152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MODIFY</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YES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0" name="s0_text_9"/>
          <p:cNvSpPr txBox="1"/>
          <p:nvPr/>
        </p:nvSpPr>
        <p:spPr>
          <a:xfrm>
            <a:off x="6812280" y="3886200"/>
            <a:ext cx="4828032" cy="1280160"/>
          </a:xfrm>
          <a:prstGeom prst="rect">
            <a:avLst/>
          </a:prstGeom>
          <a:noFill/>
          <a:ln/>
        </p:spPr>
        <p:txBody>
          <a:bodyPr wrap="square" lIns="0" tIns="0" rIns="0" bIns="0" rtlCol="0" anchor="t"/>
          <a:lstStyle/>
          <a:p>
            <a:pPr algn="l" indent="0" marL="0">
              <a:buNone/>
            </a:pPr>
            <a:r>
              <a:rPr lang="en-US" sz="1300" dirty="0">
                <a:solidFill>
                  <a:srgbClr val="627D98"/>
                </a:solidFill>
                <a:latin typeface="Aptos" pitchFamily="34" charset="0"/>
                <a:ea typeface="Aptos" pitchFamily="34" charset="-122"/>
                <a:cs typeface="Aptos" pitchFamily="34" charset="-120"/>
              </a:rPr>
              <a:t>A fifth, earlier placeholder APPROVE run (HITL-20260909-214406-369) is kept separate from these four agent-assisted records.</a:t>
            </a:r>
            <a:endParaRPr lang="en-US" sz="13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B19 · INVALID-MODIFY LIMITATION</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Invalid MODIFY: a route trace, not a persisted-state proof</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Figure 5.11b, Table 5.11 (§5.10)</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B19</a:t>
            </a:r>
            <a:endParaRPr lang="en-US" sz="1100" dirty="0"/>
          </a:p>
        </p:txBody>
      </p:sp>
      <p:pic>
        <p:nvPicPr>
          <p:cNvPr id="8" name="s0_img_7" descr="Invalid MODIFY route trace screenshot">    </p:cNvPr>
          <p:cNvPicPr>
            <a:picLocks noChangeAspect="1"/>
          </p:cNvPicPr>
          <p:nvPr/>
        </p:nvPicPr>
        <p:blipFill>
          <a:blip r:embed="rId3"/>
          <a:stretch>
            <a:fillRect/>
          </a:stretch>
        </p:blipFill>
        <p:spPr>
          <a:xfrm>
            <a:off x="548640" y="1280160"/>
            <a:ext cx="6766560" cy="2907792"/>
          </a:xfrm>
          <a:prstGeom prst="rect">
            <a:avLst/>
          </a:prstGeom>
        </p:spPr>
      </p:pic>
      <p:sp>
        <p:nvSpPr>
          <p:cNvPr id="9" name="s0_text_8"/>
          <p:cNvSpPr txBox="1"/>
          <p:nvPr/>
        </p:nvSpPr>
        <p:spPr>
          <a:xfrm>
            <a:off x="548640" y="4224528"/>
            <a:ext cx="6766560" cy="274320"/>
          </a:xfrm>
          <a:prstGeom prst="rect">
            <a:avLst/>
          </a:prstGeom>
          <a:noFill/>
          <a:ln/>
        </p:spPr>
        <p:txBody>
          <a:bodyPr wrap="square" lIns="0" tIns="0" rIns="0" bIns="0" rtlCol="0" anchor="t"/>
          <a:lstStyle/>
          <a:p>
            <a:pPr algn="l" indent="0" marL="0">
              <a:buNone/>
            </a:pPr>
            <a:r>
              <a:rPr lang="en-US" sz="1100" i="1" dirty="0">
                <a:solidFill>
                  <a:srgbClr val="627D98"/>
                </a:solidFill>
                <a:latin typeface="Aptos" pitchFamily="34" charset="0"/>
                <a:ea typeface="Aptos" pitchFamily="34" charset="-122"/>
                <a:cs typeface="Aptos" pitchFamily="34" charset="-120"/>
              </a:rPr>
              <a:t>Invalid-MODIFY response and update nodes highlighted (editor execution)</a:t>
            </a:r>
            <a:endParaRPr lang="en-US" sz="1100" dirty="0"/>
          </a:p>
        </p:txBody>
      </p:sp>
      <p:sp>
        <p:nvSpPr>
          <p:cNvPr id="10" name="s0_rect_9"/>
          <p:cNvSpPr/>
          <p:nvPr/>
        </p:nvSpPr>
        <p:spPr>
          <a:xfrm>
            <a:off x="7589520" y="1280160"/>
            <a:ext cx="4050792" cy="3200400"/>
          </a:xfrm>
          <a:prstGeom prst="roundRect">
            <a:avLst>
              <a:gd name="adj" fmla="val 2286"/>
            </a:avLst>
          </a:prstGeom>
          <a:solidFill>
            <a:srgbClr val="FEF4DE"/>
          </a:solidFill>
          <a:ln/>
        </p:spPr>
      </p:sp>
      <p:sp>
        <p:nvSpPr>
          <p:cNvPr id="11" name="s0_text_10"/>
          <p:cNvSpPr txBox="1"/>
          <p:nvPr/>
        </p:nvSpPr>
        <p:spPr>
          <a:xfrm>
            <a:off x="7818120" y="1417320"/>
            <a:ext cx="3657600" cy="3017520"/>
          </a:xfrm>
          <a:prstGeom prst="rect">
            <a:avLst/>
          </a:prstGeom>
          <a:noFill/>
          <a:ln/>
        </p:spPr>
        <p:txBody>
          <a:bodyPr wrap="square" lIns="0" tIns="0" rIns="0" bIns="0" rtlCol="0" anchor="t"/>
          <a:lstStyle/>
          <a:p>
            <a:pPr algn="l" indent="0" marL="0">
              <a:spcAft>
                <a:spcPts val="800"/>
              </a:spcAft>
              <a:buNone/>
            </a:pPr>
            <a:r>
              <a:rPr lang="en-US" sz="1700" b="1" dirty="0">
                <a:solidFill>
                  <a:srgbClr val="9A6700"/>
                </a:solidFill>
                <a:latin typeface="Aptos" pitchFamily="34" charset="0"/>
                <a:ea typeface="Aptos" pitchFamily="34" charset="-122"/>
                <a:cs typeface="Aptos" pitchFamily="34" charset="-120"/>
              </a:rPr>
              <a:t>What is and is not shown</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Expected: fail closed when no revised recommendation is supplied</a:t>
            </a:r>
            <a:endParaRPr lang="en-US" sz="1700" dirty="0"/>
          </a:p>
          <a:p>
            <a:pPr algn="l" indent="0" marL="0">
              <a:spcAft>
                <a:spcPts val="800"/>
              </a:spcAft>
              <a:buNone/>
            </a:pPr>
            <a:r>
              <a:rPr lang="en-US" sz="1500" dirty="0">
                <a:solidFill>
                  <a:srgbClr val="102A43"/>
                </a:solidFill>
                <a:latin typeface="Aptos" pitchFamily="34" charset="0"/>
                <a:ea typeface="Aptos" pitchFamily="34" charset="-122"/>
                <a:cs typeface="Aptos" pitchFamily="34" charset="-120"/>
              </a:rPr>
              <a:t>Shown: the editor trace reaches the invalid response and update nodes</a:t>
            </a:r>
            <a:endParaRPr lang="en-US" sz="1700" dirty="0"/>
          </a:p>
          <a:p>
            <a:pPr algn="l" indent="0" marL="0">
              <a:spcAft>
                <a:spcPts val="800"/>
              </a:spcAft>
              <a:buNone/>
            </a:pPr>
            <a:r>
              <a:rPr lang="en-US" sz="1500" b="1" dirty="0">
                <a:solidFill>
                  <a:srgbClr val="102A43"/>
                </a:solidFill>
                <a:latin typeface="Aptos" pitchFamily="34" charset="0"/>
                <a:ea typeface="Aptos" pitchFamily="34" charset="-122"/>
                <a:cs typeface="Aptos" pitchFamily="34" charset="-120"/>
              </a:rPr>
              <a:t>Not shown: a returned database row or exported audit JSON of the final state</a:t>
            </a:r>
            <a:endParaRPr lang="en-US" sz="17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B20 · REPRODUCIBILITY ENVIRONMENT</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Executed environment and independent reproduction</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4.6 (§4.12)</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B20</a:t>
            </a:r>
            <a:endParaRPr lang="en-US" sz="1100" dirty="0"/>
          </a:p>
        </p:txBody>
      </p:sp>
      <p:graphicFrame>
        <p:nvGraphicFramePr>
          <p:cNvPr id="35"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6583680" cy="914400"/>
        </p:xfrm>
        <a:graphic>
          <a:graphicData uri="http://schemas.openxmlformats.org/drawingml/2006/table">
            <a:tbl>
              <a:tblPr/>
              <a:tblGrid>
                <a:gridCol w="2560320"/>
                <a:gridCol w="4023360"/>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Component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Version / platform</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Python (original)</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3.13.15 (Google Colab, Linux)</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Python (Phase 8 reproduction)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3.12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NumPy / pandas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2.1.3 / 2.2.3</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scikit-learn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1.6.1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XGBoost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3.4.1</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SHAP</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0.52.0</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Matplotlib / seaborn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3.10.0 / 0.13.2</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Workflow layer</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n8n + PostgreSQL + local Ollama chat model; fixed evidence payload</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s0_text_8"/>
          <p:cNvSpPr txBox="1"/>
          <p:nvPr/>
        </p:nvSpPr>
        <p:spPr>
          <a:xfrm>
            <a:off x="7406640" y="1280160"/>
            <a:ext cx="4233672" cy="3657600"/>
          </a:xfrm>
          <a:prstGeom prst="rect">
            <a:avLst/>
          </a:prstGeom>
          <a:noFill/>
          <a:ln/>
        </p:spPr>
        <p:txBody>
          <a:bodyPr wrap="square" lIns="0" tIns="0" rIns="0" bIns="0" rtlCol="0" anchor="t"/>
          <a:lstStyle/>
          <a:p>
            <a:pPr algn="l" indent="0" marL="0">
              <a:buNone/>
            </a:pPr>
            <a:r>
              <a:rPr lang="en-US" sz="1500" dirty="0">
                <a:solidFill>
                  <a:srgbClr val="102A43"/>
                </a:solidFill>
                <a:latin typeface="Aptos" pitchFamily="34" charset="0"/>
                <a:ea typeface="Aptos" pitchFamily="34" charset="-122"/>
                <a:cs typeface="Aptos" pitchFamily="34" charset="-120"/>
              </a:rPr>
              <a:t>The Phase 8 reproduction restored the 60/20/20 partition with the same library versions and matched the recorded validation, calibration, test and SHAP values exactly. The two Python environments are reported separately.</a:t>
            </a:r>
            <a:endParaRPr lang="en-US" sz="15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B21 · PROVENANCE LIMITATIONS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Numbers reproduce; earlier history cannot</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§6.6, Table 6.1, declaration</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B21</a:t>
            </a:r>
            <a:endParaRPr lang="en-US" sz="1100" dirty="0"/>
          </a:p>
        </p:txBody>
      </p:sp>
      <p:sp>
        <p:nvSpPr>
          <p:cNvPr id="8" name="s0_text_7"/>
          <p:cNvSpPr txBox="1"/>
          <p:nvPr/>
        </p:nvSpPr>
        <p:spPr>
          <a:xfrm>
            <a:off x="548640" y="1325880"/>
            <a:ext cx="11091672" cy="4480560"/>
          </a:xfrm>
          <a:prstGeom prst="rect">
            <a:avLst/>
          </a:prstGeom>
          <a:noFill/>
          <a:ln/>
        </p:spPr>
        <p:txBody>
          <a:bodyPr wrap="square" lIns="0" tIns="0" rIns="0" bIns="0" rtlCol="0" anchor="t"/>
          <a:lstStyle/>
          <a:p>
            <a:pPr algn="l" indent="0" marL="0">
              <a:spcAft>
                <a:spcPts val="800"/>
              </a:spcAft>
              <a:buNone/>
            </a:pPr>
            <a:r>
              <a:rPr lang="en-US" sz="1800" b="1" dirty="0">
                <a:solidFill>
                  <a:srgbClr val="007E99"/>
                </a:solidFill>
                <a:latin typeface="Aptos" pitchFamily="34" charset="0"/>
                <a:ea typeface="Aptos" pitchFamily="34" charset="-122"/>
                <a:cs typeface="Aptos" pitchFamily="34" charset="-120"/>
              </a:rPr>
              <a:t>Reproduced</a:t>
            </a:r>
            <a:endParaRPr lang="en-US" sz="1800" dirty="0"/>
          </a:p>
          <a:p>
            <a:pPr algn="l" indent="0" marL="0">
              <a:spcAft>
                <a:spcPts val="800"/>
              </a:spcAft>
              <a:buNone/>
            </a:pPr>
            <a:r>
              <a:rPr lang="en-US" sz="1600" dirty="0">
                <a:solidFill>
                  <a:srgbClr val="102A43"/>
                </a:solidFill>
                <a:latin typeface="Aptos" pitchFamily="34" charset="0"/>
                <a:ea typeface="Aptos" pitchFamily="34" charset="-122"/>
                <a:cs typeface="Aptos" pitchFamily="34" charset="-120"/>
              </a:rPr>
              <a:t>Independent Phase 8 run restored the partition and matched q̂ and the principal validation, calibration and test metrics. The selected model hash stayed stable.</a:t>
            </a:r>
            <a:endParaRPr lang="en-US" sz="1800" dirty="0"/>
          </a:p>
          <a:p>
            <a:pPr algn="l" indent="0" marL="0">
              <a:spcAft>
                <a:spcPts val="800"/>
              </a:spcAft>
              <a:buNone/>
            </a:pPr>
            <a:r>
              <a:rPr lang="en-US" sz="1800" b="1" dirty="0">
                <a:solidFill>
                  <a:srgbClr val="E45756"/>
                </a:solidFill>
                <a:latin typeface="Aptos" pitchFamily="34" charset="0"/>
                <a:ea typeface="Aptos" pitchFamily="34" charset="-122"/>
                <a:cs typeface="Aptos" pitchFamily="34" charset="-120"/>
              </a:rPr>
              <a:t>Not reconstructable</a:t>
            </a:r>
            <a:endParaRPr lang="en-US" sz="1800" dirty="0"/>
          </a:p>
          <a:p>
            <a:pPr algn="l" indent="0" marL="0">
              <a:spcAft>
                <a:spcPts val="800"/>
              </a:spcAft>
              <a:buNone/>
            </a:pPr>
            <a:r>
              <a:rPr lang="en-US" sz="1600" dirty="0">
                <a:solidFill>
                  <a:srgbClr val="102A43"/>
                </a:solidFill>
                <a:latin typeface="Aptos" pitchFamily="34" charset="0"/>
                <a:ea typeface="Aptos" pitchFamily="34" charset="-122"/>
                <a:cs typeface="Aptos" pitchFamily="34" charset="-120"/>
              </a:rPr>
              <a:t>Five legacy Phase 5–6 artefact hashes differ from current archive bytes. The number of historical test executions is not fully verifiable, so post-closure analyses are treated as descriptive characterisation.</a:t>
            </a:r>
            <a:endParaRPr lang="en-US" sz="1800" dirty="0"/>
          </a:p>
          <a:p>
            <a:pPr algn="l" indent="0" marL="0">
              <a:spcAft>
                <a:spcPts val="800"/>
              </a:spcAft>
              <a:buNone/>
            </a:pPr>
            <a:r>
              <a:rPr lang="en-US" sz="1800" b="1" dirty="0">
                <a:solidFill>
                  <a:srgbClr val="102A43"/>
                </a:solidFill>
                <a:latin typeface="Aptos" pitchFamily="34" charset="0"/>
                <a:ea typeface="Aptos" pitchFamily="34" charset="-122"/>
                <a:cs typeface="Aptos" pitchFamily="34" charset="-120"/>
              </a:rPr>
              <a:t>Required response</a:t>
            </a:r>
            <a:endParaRPr lang="en-US" sz="1800" dirty="0"/>
          </a:p>
          <a:p>
            <a:pPr algn="l" indent="0" marL="0">
              <a:spcAft>
                <a:spcPts val="800"/>
              </a:spcAft>
              <a:buNone/>
            </a:pPr>
            <a:r>
              <a:rPr lang="en-US" sz="1600" dirty="0">
                <a:solidFill>
                  <a:srgbClr val="102A43"/>
                </a:solidFill>
                <a:latin typeface="Aptos" pitchFamily="34" charset="0"/>
                <a:ea typeface="Aptos" pitchFamily="34" charset="-122"/>
                <a:cs typeface="Aptos" pitchFamily="34" charset="-120"/>
              </a:rPr>
              <a:t>Version control with signed, immutable releases from ingestion onward; fresh data for confirmation.</a:t>
            </a:r>
            <a:endParaRPr lang="en-US" sz="18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B22 · STANDARDS AS DESIGN REFERENCES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Standards informed the design — no compliance is claimed</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2.3 (§2.6)</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B22</a:t>
            </a:r>
            <a:endParaRPr lang="en-US" sz="1100" dirty="0"/>
          </a:p>
        </p:txBody>
      </p:sp>
      <p:graphicFrame>
        <p:nvGraphicFramePr>
          <p:cNvPr id="37"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291840"/>
                <a:gridCol w="7799832"/>
              </a:tblGrid>
              <a:tr h="0">
                <a:tc>
                  <a:txBody>
                    <a:bodyPr/>
                    <a:lstStyle/>
                    <a:p>
                      <a:pPr indent="0" marL="0">
                        <a:buNone/>
                      </a:pPr>
                      <a:r>
                        <a:rPr lang="en-US" sz="1400" b="1" dirty="0">
                          <a:solidFill>
                            <a:srgbClr val="102A43"/>
                          </a:solidFill>
                          <a:latin typeface="Aptos" pitchFamily="34" charset="0"/>
                          <a:ea typeface="Aptos" pitchFamily="34" charset="-122"/>
                          <a:cs typeface="Aptos" pitchFamily="34" charset="-120"/>
                        </a:rPr>
                        <a:t>Standard or framework</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400" b="1" dirty="0">
                          <a:solidFill>
                            <a:srgbClr val="102A43"/>
                          </a:solidFill>
                          <a:latin typeface="Aptos" pitchFamily="34" charset="0"/>
                          <a:ea typeface="Aptos" pitchFamily="34" charset="-122"/>
                          <a:cs typeface="Aptos" pitchFamily="34" charset="-120"/>
                        </a:rPr>
                        <a:t>Application in this dissertation</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EN 13306:2017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Definitions of fault, failure, condition-based and predictive maintenance</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ISO 17359:2018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Monitored parameters and alert criteria that trigger review</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ISO 13374-1:2003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Pipeline blocks: acquisition → state detection → health → prognosis → advisory</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ISO 13381-1:2015</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RUL definition; confidence stated alongside a prognosis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IEEE Std 1856-2017</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Sensing, health assessment, prognostics and decision support as distinct capabilities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ISO 55000:2014; ISO 31000:2018</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Risk-based prioritisation behind the four classes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NIST AI RMF 1.0; ISO/IEC 42001:2023</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Governance via frozen policies, documented limitations, version fingerprints</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02A43"/>
                          </a:solidFill>
                          <a:latin typeface="Aptos" pitchFamily="34" charset="0"/>
                          <a:ea typeface="Aptos" pitchFamily="34" charset="-122"/>
                          <a:cs typeface="Aptos" pitchFamily="34" charset="-120"/>
                        </a:rPr>
                        <a:t>EU AI Act, Art. 14 (2024)</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02A43"/>
                          </a:solidFill>
                          <a:latin typeface="Aptos" pitchFamily="34" charset="0"/>
                          <a:ea typeface="Aptos" pitchFamily="34" charset="-122"/>
                          <a:cs typeface="Aptos" pitchFamily="34" charset="-120"/>
                        </a:rPr>
                        <a:t>Reviewer authority to approve, reject, modify or defer; no autonomous approval</a:t>
                      </a:r>
                      <a:endParaRPr lang="en-US" sz="14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B23 · SCOPE AND CLAIMS BOUNDARY</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What the framework can and cannot do</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Table 4.5 (§4.11)</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B23</a:t>
            </a:r>
            <a:endParaRPr lang="en-US" sz="1100" dirty="0"/>
          </a:p>
        </p:txBody>
      </p:sp>
      <p:graphicFrame>
        <p:nvGraphicFramePr>
          <p:cNvPr id="38" name="s0_table_7"/>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4937760"/>
                <a:gridCol w="6153912"/>
              </a:tblGrid>
              <a:tr h="0">
                <a:tc>
                  <a:txBody>
                    <a:bodyPr/>
                    <a:lstStyle/>
                    <a:p>
                      <a:pPr indent="0" marL="0">
                        <a:buNone/>
                      </a:pPr>
                      <a:r>
                        <a:rPr lang="en-US" sz="1300" b="1" dirty="0">
                          <a:solidFill>
                            <a:srgbClr val="102A43"/>
                          </a:solidFill>
                          <a:latin typeface="Aptos" pitchFamily="34" charset="0"/>
                          <a:ea typeface="Aptos" pitchFamily="34" charset="-122"/>
                          <a:cs typeface="Aptos" pitchFamily="34" charset="-120"/>
                        </a:rPr>
                        <a:t>The framework CAN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c>
                  <a:txBody>
                    <a:bodyPr/>
                    <a:lstStyle/>
                    <a:p>
                      <a:pPr indent="0" marL="0">
                        <a:buNone/>
                      </a:pPr>
                      <a:r>
                        <a:rPr lang="en-US" sz="1300" b="1" dirty="0">
                          <a:solidFill>
                            <a:srgbClr val="102A43"/>
                          </a:solidFill>
                          <a:latin typeface="Aptos" pitchFamily="34" charset="0"/>
                          <a:ea typeface="Aptos" pitchFamily="34" charset="-122"/>
                          <a:cs typeface="Aptos" pitchFamily="34" charset="-120"/>
                        </a:rPr>
                        <a:t>The framework CANNOT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6EEF5"/>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Estimate RUL for FD001-like engines from 18 cycle-level inputs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Transfer to other conditions, fault modes (FD002–FD004), engine types or real fleets without new validation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Attach a 90% interval calibrated on whole engine trajectories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Guarantee coverage for an individual engine, under distribution shift, or as a safety certificate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Show which inputs moved a prediction, and by how much</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Identify the physical cause of degradation or the failing component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Assign stipulated classes; evaluate an offline uncertainty-based review rule</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Define an approved maintenance window, cost-optimal action or airworthiness decision</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Record proposals, reviewer decisions and versions for audit</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Provide tamper-proof logging, access control, uptime or cybersecurity guarantees</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02A43"/>
                          </a:solidFill>
                          <a:latin typeface="Aptos" pitchFamily="34" charset="0"/>
                          <a:ea typeface="Aptos" pitchFamily="34" charset="-122"/>
                          <a:cs typeface="Aptos" pitchFamily="34" charset="-120"/>
                        </a:rPr>
                        <a:t>Support a qualified human reviewer</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02A43"/>
                          </a:solidFill>
                          <a:latin typeface="Aptos" pitchFamily="34" charset="0"/>
                          <a:ea typeface="Aptos" pitchFamily="34" charset="-122"/>
                          <a:cs typeface="Aptos" pitchFamily="34" charset="-120"/>
                        </a:rPr>
                        <a:t>Replace the reviewer or approve maintenance autonomously</a:t>
                      </a:r>
                      <a:endParaRPr lang="en-US" sz="1300" dirty="0">
                        <a:latin typeface="Aptos" charset="0"/>
                        <a:ea typeface="Aptos" charset="0"/>
                        <a:cs typeface="Aptos" charset="0"/>
                      </a:endParaRPr>
                    </a:p>
                  </a:txBody>
                  <a:tcPr marL="73152" marR="73152"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B24 · VERIFIED REFERENCES</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Key references (Harvard)</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Full list: dissertation References</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B24</a:t>
            </a:r>
            <a:endParaRPr lang="en-US" sz="1100" dirty="0"/>
          </a:p>
        </p:txBody>
      </p:sp>
      <p:sp>
        <p:nvSpPr>
          <p:cNvPr id="8" name="s0_text_7"/>
          <p:cNvSpPr txBox="1"/>
          <p:nvPr/>
        </p:nvSpPr>
        <p:spPr>
          <a:xfrm>
            <a:off x="548640" y="1261872"/>
            <a:ext cx="11091672" cy="4983480"/>
          </a:xfrm>
          <a:prstGeom prst="rect">
            <a:avLst/>
          </a:prstGeom>
          <a:noFill/>
          <a:ln/>
        </p:spPr>
        <p:txBody>
          <a:bodyPr wrap="square" lIns="0" tIns="0" rIns="0" bIns="0" rtlCol="0" anchor="t"/>
          <a:lstStyle/>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Angelopoulos, A.N. and Bates, S. (2023) 'Conformal prediction: a gentle introduction', Found. Trends Mach. Learn., 16(4), pp. 494–591.</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Breiman, L. (2001) 'Random forests', Machine Learning, 45(1), pp. 5–32.</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Jardine, A.K.S., Lin, D. and Banjevic, D. (2006) 'A review on machinery diagnostics and prognostics implementing CBM', MSSP, 20(7), pp. 1483–1510.</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Javanmardi, A. and Hüllermeier, E. (2023) 'Conformal prediction intervals for remaining useful lifetime estimation', IJPHM, 14(2).</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Kaufman, S. et al. (2012) 'Leakage in data mining: formulation, detection, and avoidance', ACM TKDD, 6(4), Article 15.</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Lei, J. et al. (2018a) 'Distribution-free predictive inference for regression', JASA, 113(523), pp. 1094–1111.</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Lundberg, S.M. and Lee, S.-I. (2017) 'A unified approach to interpreting model predictions', NeurIPS 30, pp. 4765–4774.</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Lundberg, S.M. et al. (2020) 'From local explanations to global understanding with explainable AI for trees', Nat. Mach. Intell., 2(1).</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Parasuraman, R., Sheridan, T.B. and Wickens, C.D. (2000) 'A model for types and levels of human interaction with automation', IEEE TSMC-A, 30(3), pp. 286–297.</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Ramasso, E. and Saxena, A. (2014) 'Performance benchmarking and analysis of prognostic methods for CMAPSS datasets', IJPHM, 5(2).</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Saxena, A. et al. (2008a) 'Damage propagation modeling for aircraft engine run-to-failure simulation', PHM 2008, pp. 1–9.</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Saxena, A. and Goebel, K. (2008) Turbofan Engine Degradation Simulation Data Set. NASA Ames Prognostics Data Repository.</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Shneiderman, B. (2020) 'Human-centered artificial intelligence: reliable, safe &amp; trustworthy', IJHCI, 36(6), pp. 495–504.</a:t>
            </a:r>
            <a:endParaRPr lang="en-US" sz="1200" dirty="0"/>
          </a:p>
          <a:p>
            <a:pPr algn="l" indent="0" marL="0">
              <a:spcAft>
                <a:spcPts val="300"/>
              </a:spcAft>
              <a:buNone/>
            </a:pPr>
            <a:r>
              <a:rPr lang="en-US" sz="1200" dirty="0">
                <a:solidFill>
                  <a:srgbClr val="102A43"/>
                </a:solidFill>
                <a:latin typeface="Aptos" pitchFamily="34" charset="0"/>
                <a:ea typeface="Aptos" pitchFamily="34" charset="-122"/>
                <a:cs typeface="Aptos" pitchFamily="34" charset="-120"/>
              </a:rPr>
              <a:t>Vollert, S., Atzmueller, M. and Theissler, A. (2021) 'Interpretable machine learning: a brief survey from the predictive maintenance perspective', ETFA 2021.</a:t>
            </a:r>
            <a:endParaRPr lang="en-US" sz="12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0_text_1"/>
          <p:cNvSpPr txBox="1"/>
          <p:nvPr/>
        </p:nvSpPr>
        <p:spPr>
          <a:xfrm>
            <a:off x="548640" y="274320"/>
            <a:ext cx="8229600" cy="274320"/>
          </a:xfrm>
          <a:prstGeom prst="rect">
            <a:avLst/>
          </a:prstGeom>
          <a:noFill/>
          <a:ln/>
        </p:spPr>
        <p:txBody>
          <a:bodyPr wrap="square" lIns="0" tIns="0" rIns="0" bIns="0" rtlCol="0" anchor="t"/>
          <a:lstStyle/>
          <a:p>
            <a:pPr algn="l" indent="0" marL="0">
              <a:buNone/>
            </a:pPr>
            <a:r>
              <a:rPr lang="en-US" sz="1200" b="1" dirty="0">
                <a:solidFill>
                  <a:srgbClr val="9A6700"/>
                </a:solidFill>
                <a:latin typeface="Aptos" pitchFamily="34" charset="0"/>
                <a:ea typeface="Aptos" pitchFamily="34" charset="-122"/>
                <a:cs typeface="Aptos" pitchFamily="34" charset="-120"/>
              </a:rPr>
              <a:t>BACKUP B25 · REPOSITORY</a:t>
            </a:r>
            <a:endParaRPr lang="en-US" sz="1200" dirty="0"/>
          </a:p>
        </p:txBody>
      </p:sp>
      <p:sp>
        <p:nvSpPr>
          <p:cNvPr id="3" name="s0_text_2"/>
          <p:cNvSpPr txBox="1"/>
          <p:nvPr/>
        </p:nvSpPr>
        <p:spPr>
          <a:xfrm>
            <a:off x="548640" y="548640"/>
            <a:ext cx="9784080" cy="566928"/>
          </a:xfrm>
          <a:prstGeom prst="rect">
            <a:avLst/>
          </a:prstGeom>
          <a:noFill/>
          <a:ln/>
        </p:spPr>
        <p:txBody>
          <a:bodyPr wrap="square" lIns="0" tIns="0" rIns="0" bIns="0" rtlCol="0" anchor="t"/>
          <a:lstStyle/>
          <a:p>
            <a:pPr algn="l" indent="0" marL="0">
              <a:buNone/>
            </a:pPr>
            <a:r>
              <a:rPr lang="en-US" sz="2500" b="1" dirty="0">
                <a:solidFill>
                  <a:srgbClr val="102A43"/>
                </a:solidFill>
                <a:latin typeface="Aptos Display" pitchFamily="34" charset="0"/>
                <a:ea typeface="Aptos Display" pitchFamily="34" charset="-122"/>
                <a:cs typeface="Aptos Display" pitchFamily="34" charset="-120"/>
              </a:rPr>
              <a:t>Dissertation repository (private)</a:t>
            </a:r>
            <a:endParaRPr lang="en-US" sz="2500" dirty="0"/>
          </a:p>
        </p:txBody>
      </p:sp>
      <p:pic>
        <p:nvPicPr>
          <p:cNvPr id="4" name="s0_img_3" descr="Illustrative turbofan schematic, not a validated engine simulation">    </p:cNvPr>
          <p:cNvPicPr>
            <a:picLocks noChangeAspect="1"/>
          </p:cNvPicPr>
          <p:nvPr/>
        </p:nvPicPr>
        <p:blipFill>
          <a:blip r:embed="rId1">
            <a:alphaModFix amt="28000"/>
          </a:blip>
          <a:stretch>
            <a:fillRect/>
          </a:stretch>
        </p:blipFill>
        <p:spPr>
          <a:xfrm>
            <a:off x="10515600" y="182880"/>
            <a:ext cx="1417320" cy="590702"/>
          </a:xfrm>
          <a:prstGeom prst="rect">
            <a:avLst/>
          </a:prstGeom>
        </p:spPr>
      </p:pic>
      <p:sp>
        <p:nvSpPr>
          <p:cNvPr id="5" name="s0_line_4"/>
          <p:cNvSpPr/>
          <p:nvPr/>
        </p:nvSpPr>
        <p:spPr>
          <a:xfrm>
            <a:off x="548640" y="6291072"/>
            <a:ext cx="11091672" cy="91"/>
          </a:xfrm>
          <a:prstGeom prst="line">
            <a:avLst/>
          </a:prstGeom>
          <a:noFill/>
          <a:ln w="9525">
            <a:solidFill>
              <a:srgbClr val="D9E2EC"/>
            </a:solidFill>
            <a:prstDash val="solid"/>
          </a:ln>
        </p:spPr>
      </p:sp>
      <p:sp>
        <p:nvSpPr>
          <p:cNvPr id="6" name="s0_text_5"/>
          <p:cNvSpPr txBox="1"/>
          <p:nvPr/>
        </p:nvSpPr>
        <p:spPr>
          <a:xfrm>
            <a:off x="548640" y="6382512"/>
            <a:ext cx="9418320" cy="292608"/>
          </a:xfrm>
          <a:prstGeom prst="rect">
            <a:avLst/>
          </a:prstGeom>
          <a:noFill/>
          <a:ln/>
        </p:spPr>
        <p:txBody>
          <a:bodyPr wrap="square" lIns="0" tIns="0" rIns="0" bIns="0" rtlCol="0" anchor="t"/>
          <a:lstStyle/>
          <a:p>
            <a:pPr algn="l" indent="0" marL="0">
              <a:buNone/>
            </a:pPr>
            <a:r>
              <a:rPr lang="en-US" sz="1100" dirty="0">
                <a:solidFill>
                  <a:srgbClr val="627D98"/>
                </a:solidFill>
                <a:latin typeface="Aptos" pitchFamily="34" charset="0"/>
                <a:ea typeface="Aptos" pitchFamily="34" charset="-122"/>
                <a:cs typeface="Aptos" pitchFamily="34" charset="-120"/>
              </a:rPr>
              <a:t>Repository stated in the dissertation; property of GISMA University — access must be requested</a:t>
            </a:r>
            <a:pPr algn="l" indent="0" marL="0">
              <a:buNone/>
            </a:pPr>
            <a:r>
              <a:rPr lang="en-US" sz="1100" dirty="0">
                <a:solidFill>
                  <a:srgbClr val="102A43"/>
                </a:solidFill>
                <a:latin typeface="Aptos" pitchFamily="34" charset="0"/>
                <a:ea typeface="Aptos" pitchFamily="34" charset="-122"/>
                <a:cs typeface="Aptos" pitchFamily="34" charset="-120"/>
              </a:rPr>
              <a:t>     </a:t>
            </a:r>
            <a:pPr algn="l" indent="0" marL="0">
              <a:buNone/>
            </a:pPr>
            <a:r>
              <a:rPr lang="en-US" sz="1100" b="1" u="sng" dirty="0">
                <a:solidFill>
                  <a:srgbClr val="00A6C8"/>
                </a:solidFill>
                <a:latin typeface="Aptos" pitchFamily="34" charset="0"/>
                <a:ea typeface="Aptos" pitchFamily="34" charset="-122"/>
                <a:cs typeface="Aptos" pitchFamily="34" charset="-120"/>
                <a:hlinkClick r:id="rId2" action="ppaction://hlinksldjump" tooltip="Go to slide">
                  <a:extLst>
                    <a:ext uri="{A12FA001-AC4F-418D-AE19-62706E023703}">
                      <ahyp:hlinkClr xmlns:ahyp="http://schemas.microsoft.com/office/drawing/2018/hyperlinkcolor" val="tx"/>
                    </a:ext>
                  </a:extLst>
                </a:hlinkClick>
              </a:rPr>
              <a:t>↩ Backup index</a:t>
            </a:r>
            <a:endParaRPr lang="en-US" sz="1100" dirty="0"/>
          </a:p>
        </p:txBody>
      </p:sp>
      <p:sp>
        <p:nvSpPr>
          <p:cNvPr id="7" name="s0_text_6"/>
          <p:cNvSpPr txBox="1"/>
          <p:nvPr/>
        </p:nvSpPr>
        <p:spPr>
          <a:xfrm>
            <a:off x="10607040" y="6382512"/>
            <a:ext cx="1033272" cy="292608"/>
          </a:xfrm>
          <a:prstGeom prst="rect">
            <a:avLst/>
          </a:prstGeom>
          <a:noFill/>
          <a:ln/>
        </p:spPr>
        <p:txBody>
          <a:bodyPr wrap="square" lIns="0" tIns="0" rIns="0" bIns="0" rtlCol="0" anchor="t"/>
          <a:lstStyle/>
          <a:p>
            <a:pPr algn="r" indent="0" marL="0">
              <a:buNone/>
            </a:pPr>
            <a:r>
              <a:rPr lang="en-US" sz="1100" dirty="0">
                <a:solidFill>
                  <a:srgbClr val="627D98"/>
                </a:solidFill>
                <a:latin typeface="Aptos" pitchFamily="34" charset="0"/>
                <a:ea typeface="Aptos" pitchFamily="34" charset="-122"/>
                <a:cs typeface="Aptos" pitchFamily="34" charset="-120"/>
              </a:rPr>
              <a:t>B25</a:t>
            </a:r>
            <a:endParaRPr lang="en-US" sz="1100" dirty="0"/>
          </a:p>
        </p:txBody>
      </p:sp>
      <p:sp>
        <p:nvSpPr>
          <p:cNvPr id="8" name="s0_rect_7"/>
          <p:cNvSpPr/>
          <p:nvPr/>
        </p:nvSpPr>
        <p:spPr>
          <a:xfrm>
            <a:off x="548640" y="1371600"/>
            <a:ext cx="11091672" cy="1097280"/>
          </a:xfrm>
          <a:prstGeom prst="roundRect">
            <a:avLst>
              <a:gd name="adj" fmla="val 6667"/>
            </a:avLst>
          </a:prstGeom>
          <a:solidFill>
            <a:srgbClr val="FFFFFF"/>
          </a:solidFill>
          <a:ln w="19050">
            <a:solidFill>
              <a:srgbClr val="00A6C8"/>
            </a:solidFill>
            <a:prstDash val="solid"/>
          </a:ln>
        </p:spPr>
      </p:sp>
      <p:sp>
        <p:nvSpPr>
          <p:cNvPr id="9" name="s0_text_8"/>
          <p:cNvSpPr txBox="1"/>
          <p:nvPr/>
        </p:nvSpPr>
        <p:spPr>
          <a:xfrm>
            <a:off x="777240" y="1481328"/>
            <a:ext cx="10698480" cy="914400"/>
          </a:xfrm>
          <a:prstGeom prst="rect">
            <a:avLst/>
          </a:prstGeom>
          <a:noFill/>
          <a:ln/>
        </p:spPr>
        <p:txBody>
          <a:bodyPr wrap="square" lIns="0" tIns="0" rIns="0" bIns="0" rtlCol="0" anchor="t"/>
          <a:lstStyle/>
          <a:p>
            <a:pPr algn="l" indent="0" marL="0">
              <a:buNone/>
            </a:pPr>
            <a:r>
              <a:rPr lang="en-US" sz="2000" b="1" dirty="0">
                <a:solidFill>
                  <a:srgbClr val="007E99"/>
                </a:solidFill>
                <a:latin typeface="Aptos" pitchFamily="34" charset="0"/>
                <a:ea typeface="Aptos" pitchFamily="34" charset="-122"/>
                <a:cs typeface="Aptos" pitchFamily="34" charset="-120"/>
              </a:rPr>
              <a:t>github.com/mranitabh/GISMA-hitl-dissertation-predictive-maintenance</a:t>
            </a:r>
            <a:endParaRPr lang="en-US" sz="2000" dirty="0"/>
          </a:p>
          <a:p>
            <a:pPr algn="l" indent="0" marL="0">
              <a:buNone/>
            </a:pPr>
            <a:r>
              <a:rPr lang="en-US" sz="1500" dirty="0">
                <a:solidFill>
                  <a:srgbClr val="627D98"/>
                </a:solidFill>
                <a:latin typeface="Aptos" pitchFamily="34" charset="0"/>
                <a:ea typeface="Aptos" pitchFamily="34" charset="-122"/>
                <a:cs typeface="Aptos" pitchFamily="34" charset="-120"/>
              </a:rPr>
              <a:t>Private dissertation repository — examiners may need to request access.</a:t>
            </a:r>
            <a:endParaRPr lang="en-US" sz="2000" dirty="0"/>
          </a:p>
        </p:txBody>
      </p:sp>
      <p:sp>
        <p:nvSpPr>
          <p:cNvPr id="10" name="s0_text_9"/>
          <p:cNvSpPr txBox="1"/>
          <p:nvPr/>
        </p:nvSpPr>
        <p:spPr>
          <a:xfrm>
            <a:off x="548640" y="2743200"/>
            <a:ext cx="11091672" cy="3200400"/>
          </a:xfrm>
          <a:prstGeom prst="rect">
            <a:avLst/>
          </a:prstGeom>
          <a:noFill/>
          <a:ln/>
        </p:spPr>
        <p:txBody>
          <a:bodyPr wrap="square" lIns="0" tIns="0" rIns="0" bIns="0" rtlCol="0" anchor="t"/>
          <a:lstStyle/>
          <a:p>
            <a:pPr algn="l" indent="0" marL="0">
              <a:spcAft>
                <a:spcPts val="600"/>
              </a:spcAft>
              <a:buNone/>
            </a:pPr>
            <a:r>
              <a:rPr lang="en-US" sz="1700" b="1" dirty="0">
                <a:solidFill>
                  <a:srgbClr val="102A43"/>
                </a:solidFill>
                <a:latin typeface="Aptos" pitchFamily="34" charset="0"/>
                <a:ea typeface="Aptos" pitchFamily="34" charset="-122"/>
                <a:cs typeface="Aptos" pitchFamily="34" charset="-120"/>
              </a:rPr>
              <a:t>Contents relevant to the viva</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executed_notebook/ — executed implementation notebook (HTML export)</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workflow/ — n8n workflow exports</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audit_examples/ — sanitised HITL audit JSON records</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screenshots/ — workflow canvas, form and route traces</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schemas/, config/ — request/response schemas and threshold policy</a:t>
            </a:r>
            <a:endParaRPr lang="en-US" sz="1700" dirty="0"/>
          </a:p>
          <a:p>
            <a:pPr algn="l" indent="0" marL="0">
              <a:spcAft>
                <a:spcPts val="600"/>
              </a:spcAft>
              <a:buNone/>
            </a:pPr>
            <a:r>
              <a:rPr lang="en-US" sz="1500" dirty="0">
                <a:solidFill>
                  <a:srgbClr val="102A43"/>
                </a:solidFill>
                <a:latin typeface="Aptos" pitchFamily="34" charset="0"/>
                <a:ea typeface="Aptos" pitchFamily="34" charset="-122"/>
                <a:cs typeface="Aptos" pitchFamily="34" charset="-120"/>
              </a:rPr>
              <a:t>presentation/ — this deck, its source, script and verification report</a:t>
            </a:r>
            <a:endParaRPr lang="en-US" sz="17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GISMA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Uncertainty-Aware, Explainable and Human-Reviewed Framework for RUL-Based Maintenance Prioritisation</dc:title>
  <dc:subject>MSc dissertation viva (M598)</dc:subject>
  <dc:creator>Ranitabh Mallick</dc:creator>
  <cp:lastModifiedBy>Ranitabh Mallick</cp:lastModifiedBy>
  <cp:revision>1</cp:revision>
  <dcterms:created xsi:type="dcterms:W3CDTF">2026-10-02T13:02:30Z</dcterms:created>
  <dcterms:modified xsi:type="dcterms:W3CDTF">2026-10-02T13:02:30Z</dcterms:modified>
</cp:coreProperties>
</file>